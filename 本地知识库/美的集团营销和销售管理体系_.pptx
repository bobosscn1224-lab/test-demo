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0"/>
  </p:notesMasterIdLst>
  <p:sldIdLst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9144000" cy="51435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8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2976" y="1020985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2976" y="2880741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88" y="361843"/>
            <a:ext cx="8229666" cy="5334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67" y="1143000"/>
            <a:ext cx="8229666" cy="35433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67" y="361843"/>
            <a:ext cx="8229666" cy="5334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188" y="1142893"/>
            <a:ext cx="3943382" cy="354332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1545" y="1143000"/>
            <a:ext cx="3950018" cy="35433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2438" y="4735830"/>
            <a:ext cx="2031683" cy="23764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67" y="361951"/>
            <a:ext cx="8229666" cy="5334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5295" y="1143000"/>
            <a:ext cx="3943382" cy="685805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905000"/>
            <a:ext cx="3943350" cy="27813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743308" y="1142784"/>
            <a:ext cx="3943382" cy="685805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743450" y="1905000"/>
            <a:ext cx="3943350" cy="278132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2438" y="4735830"/>
            <a:ext cx="2031683" cy="23764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7975" y="4735830"/>
            <a:ext cx="2032159" cy="23764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67" y="361855"/>
            <a:ext cx="8229666" cy="53340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88" y="457093"/>
            <a:ext cx="2667021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579495" y="457200"/>
            <a:ext cx="5105441" cy="4229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733550"/>
            <a:ext cx="2667000" cy="2952773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452438" y="4735830"/>
            <a:ext cx="2031683" cy="23764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60895" y="457200"/>
            <a:ext cx="1524012" cy="42291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477052" cy="42291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457200"/>
            <a:ext cx="8230076" cy="4229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453866" y="4735830"/>
            <a:ext cx="2030254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3087000" y="4735800"/>
            <a:ext cx="297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6657975" y="4735830"/>
            <a:ext cx="2033588" cy="237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75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167" y="361855"/>
            <a:ext cx="8229666" cy="5334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167" y="1143000"/>
            <a:ext cx="8229666" cy="3543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7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marR="0" indent="-171450" algn="l" defTabSz="685800" rtl="0" eaLnBrk="1" fontAlgn="auto" latinLnBrk="0" hangingPunct="1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18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27432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lang="en-US" altLang="zh-CN" sz="18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0" Type="http://schemas.openxmlformats.org/officeDocument/2006/relationships/slideLayout" Target="../slideLayouts/slideLayout1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image" Target="../media/image17.jpeg"/><Relationship Id="rId7" Type="http://schemas.openxmlformats.org/officeDocument/2006/relationships/image" Target="../media/image16.jpeg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2" Type="http://schemas.openxmlformats.org/officeDocument/2006/relationships/slideLayout" Target="../slideLayouts/slideLayout11.xml"/><Relationship Id="rId11" Type="http://schemas.openxmlformats.org/officeDocument/2006/relationships/image" Target="../media/image20.jpeg"/><Relationship Id="rId10" Type="http://schemas.openxmlformats.org/officeDocument/2006/relationships/image" Target="../media/image19.jpeg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jpeg"/><Relationship Id="rId8" Type="http://schemas.openxmlformats.org/officeDocument/2006/relationships/image" Target="../media/image28.jpeg"/><Relationship Id="rId7" Type="http://schemas.openxmlformats.org/officeDocument/2006/relationships/image" Target="../media/image27.jpeg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2" Type="http://schemas.openxmlformats.org/officeDocument/2006/relationships/slideLayout" Target="../slideLayouts/slideLayout11.xml"/><Relationship Id="rId11" Type="http://schemas.openxmlformats.org/officeDocument/2006/relationships/image" Target="../media/image31.jpeg"/><Relationship Id="rId10" Type="http://schemas.openxmlformats.org/officeDocument/2006/relationships/image" Target="../media/image30.jpeg"/><Relationship Id="rId1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jpeg"/><Relationship Id="rId8" Type="http://schemas.openxmlformats.org/officeDocument/2006/relationships/image" Target="../media/image40.jpeg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5" Type="http://schemas.openxmlformats.org/officeDocument/2006/relationships/slideLayout" Target="../slideLayouts/slideLayout11.xml"/><Relationship Id="rId14" Type="http://schemas.openxmlformats.org/officeDocument/2006/relationships/image" Target="../media/image46.jpeg"/><Relationship Id="rId13" Type="http://schemas.openxmlformats.org/officeDocument/2006/relationships/image" Target="../media/image45.jpeg"/><Relationship Id="rId12" Type="http://schemas.openxmlformats.org/officeDocument/2006/relationships/image" Target="../media/image44.jpeg"/><Relationship Id="rId11" Type="http://schemas.openxmlformats.org/officeDocument/2006/relationships/image" Target="../media/image43.png"/><Relationship Id="rId10" Type="http://schemas.openxmlformats.org/officeDocument/2006/relationships/image" Target="../media/image42.jpeg"/><Relationship Id="rId1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jpeg"/><Relationship Id="rId8" Type="http://schemas.openxmlformats.org/officeDocument/2006/relationships/image" Target="../media/image54.png"/><Relationship Id="rId7" Type="http://schemas.openxmlformats.org/officeDocument/2006/relationships/image" Target="../media/image53.jpeg"/><Relationship Id="rId6" Type="http://schemas.openxmlformats.org/officeDocument/2006/relationships/image" Target="../media/image52.jpeg"/><Relationship Id="rId5" Type="http://schemas.openxmlformats.org/officeDocument/2006/relationships/image" Target="../media/image51.jpeg"/><Relationship Id="rId4" Type="http://schemas.openxmlformats.org/officeDocument/2006/relationships/image" Target="../media/image50.jpeg"/><Relationship Id="rId3" Type="http://schemas.openxmlformats.org/officeDocument/2006/relationships/image" Target="../media/image49.jpeg"/><Relationship Id="rId23" Type="http://schemas.openxmlformats.org/officeDocument/2006/relationships/slideLayout" Target="../slideLayouts/slideLayout11.xml"/><Relationship Id="rId22" Type="http://schemas.openxmlformats.org/officeDocument/2006/relationships/image" Target="../media/image68.jpeg"/><Relationship Id="rId21" Type="http://schemas.openxmlformats.org/officeDocument/2006/relationships/image" Target="../media/image67.jpeg"/><Relationship Id="rId20" Type="http://schemas.openxmlformats.org/officeDocument/2006/relationships/image" Target="../media/image66.jpeg"/><Relationship Id="rId2" Type="http://schemas.openxmlformats.org/officeDocument/2006/relationships/image" Target="../media/image48.jpeg"/><Relationship Id="rId19" Type="http://schemas.openxmlformats.org/officeDocument/2006/relationships/image" Target="../media/image65.jpeg"/><Relationship Id="rId18" Type="http://schemas.openxmlformats.org/officeDocument/2006/relationships/image" Target="../media/image64.jpeg"/><Relationship Id="rId17" Type="http://schemas.openxmlformats.org/officeDocument/2006/relationships/image" Target="../media/image63.jpeg"/><Relationship Id="rId16" Type="http://schemas.openxmlformats.org/officeDocument/2006/relationships/image" Target="../media/image62.jpeg"/><Relationship Id="rId15" Type="http://schemas.openxmlformats.org/officeDocument/2006/relationships/image" Target="../media/image61.jpeg"/><Relationship Id="rId14" Type="http://schemas.openxmlformats.org/officeDocument/2006/relationships/image" Target="../media/image60.jpeg"/><Relationship Id="rId13" Type="http://schemas.openxmlformats.org/officeDocument/2006/relationships/image" Target="../media/image59.jpeg"/><Relationship Id="rId12" Type="http://schemas.openxmlformats.org/officeDocument/2006/relationships/image" Target="../media/image58.jpeg"/><Relationship Id="rId11" Type="http://schemas.openxmlformats.org/officeDocument/2006/relationships/image" Target="../media/image57.jpeg"/><Relationship Id="rId10" Type="http://schemas.openxmlformats.org/officeDocument/2006/relationships/image" Target="../media/image56.jpeg"/><Relationship Id="rId1" Type="http://schemas.openxmlformats.org/officeDocument/2006/relationships/image" Target="../media/image4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9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78.jpeg"/><Relationship Id="rId8" Type="http://schemas.openxmlformats.org/officeDocument/2006/relationships/image" Target="../media/image77.jpeg"/><Relationship Id="rId7" Type="http://schemas.openxmlformats.org/officeDocument/2006/relationships/image" Target="../media/image76.jpeg"/><Relationship Id="rId6" Type="http://schemas.openxmlformats.org/officeDocument/2006/relationships/image" Target="../media/image75.jpeg"/><Relationship Id="rId5" Type="http://schemas.openxmlformats.org/officeDocument/2006/relationships/image" Target="../media/image74.jpeg"/><Relationship Id="rId4" Type="http://schemas.openxmlformats.org/officeDocument/2006/relationships/image" Target="../media/image73.jpeg"/><Relationship Id="rId3" Type="http://schemas.openxmlformats.org/officeDocument/2006/relationships/image" Target="../media/image72.png"/><Relationship Id="rId2" Type="http://schemas.openxmlformats.org/officeDocument/2006/relationships/image" Target="../media/image71.jpeg"/><Relationship Id="rId17" Type="http://schemas.openxmlformats.org/officeDocument/2006/relationships/slideLayout" Target="../slideLayouts/slideLayout11.xml"/><Relationship Id="rId16" Type="http://schemas.openxmlformats.org/officeDocument/2006/relationships/image" Target="../media/image85.jpeg"/><Relationship Id="rId15" Type="http://schemas.openxmlformats.org/officeDocument/2006/relationships/image" Target="../media/image84.jpeg"/><Relationship Id="rId14" Type="http://schemas.openxmlformats.org/officeDocument/2006/relationships/image" Target="../media/image83.jpeg"/><Relationship Id="rId13" Type="http://schemas.openxmlformats.org/officeDocument/2006/relationships/image" Target="../media/image82.jpeg"/><Relationship Id="rId12" Type="http://schemas.openxmlformats.org/officeDocument/2006/relationships/image" Target="../media/image81.jpeg"/><Relationship Id="rId11" Type="http://schemas.openxmlformats.org/officeDocument/2006/relationships/image" Target="../media/image80.jpeg"/><Relationship Id="rId10" Type="http://schemas.openxmlformats.org/officeDocument/2006/relationships/image" Target="../media/image79.jpeg"/><Relationship Id="rId1" Type="http://schemas.openxmlformats.org/officeDocument/2006/relationships/image" Target="../media/image7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6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7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6.jpeg"/><Relationship Id="rId8" Type="http://schemas.openxmlformats.org/officeDocument/2006/relationships/image" Target="../media/image95.jpeg"/><Relationship Id="rId7" Type="http://schemas.openxmlformats.org/officeDocument/2006/relationships/image" Target="../media/image94.jpeg"/><Relationship Id="rId6" Type="http://schemas.openxmlformats.org/officeDocument/2006/relationships/image" Target="../media/image93.jpeg"/><Relationship Id="rId5" Type="http://schemas.openxmlformats.org/officeDocument/2006/relationships/image" Target="../media/image92.jpeg"/><Relationship Id="rId4" Type="http://schemas.openxmlformats.org/officeDocument/2006/relationships/image" Target="../media/image91.jpeg"/><Relationship Id="rId3" Type="http://schemas.openxmlformats.org/officeDocument/2006/relationships/image" Target="../media/image90.jpeg"/><Relationship Id="rId2" Type="http://schemas.openxmlformats.org/officeDocument/2006/relationships/image" Target="../media/image89.jpeg"/><Relationship Id="rId17" Type="http://schemas.openxmlformats.org/officeDocument/2006/relationships/slideLayout" Target="../slideLayouts/slideLayout11.xml"/><Relationship Id="rId16" Type="http://schemas.openxmlformats.org/officeDocument/2006/relationships/image" Target="../media/image103.jpeg"/><Relationship Id="rId15" Type="http://schemas.openxmlformats.org/officeDocument/2006/relationships/image" Target="../media/image102.jpeg"/><Relationship Id="rId14" Type="http://schemas.openxmlformats.org/officeDocument/2006/relationships/image" Target="../media/image101.jpeg"/><Relationship Id="rId13" Type="http://schemas.openxmlformats.org/officeDocument/2006/relationships/image" Target="../media/image100.jpeg"/><Relationship Id="rId12" Type="http://schemas.openxmlformats.org/officeDocument/2006/relationships/image" Target="../media/image99.jpeg"/><Relationship Id="rId11" Type="http://schemas.openxmlformats.org/officeDocument/2006/relationships/image" Target="../media/image98.jpeg"/><Relationship Id="rId10" Type="http://schemas.openxmlformats.org/officeDocument/2006/relationships/image" Target="../media/image97.jpeg"/><Relationship Id="rId1" Type="http://schemas.openxmlformats.org/officeDocument/2006/relationships/image" Target="../media/image8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2.jpeg"/><Relationship Id="rId8" Type="http://schemas.openxmlformats.org/officeDocument/2006/relationships/image" Target="../media/image111.png"/><Relationship Id="rId7" Type="http://schemas.openxmlformats.org/officeDocument/2006/relationships/image" Target="../media/image110.jpeg"/><Relationship Id="rId6" Type="http://schemas.openxmlformats.org/officeDocument/2006/relationships/image" Target="../media/image109.jpeg"/><Relationship Id="rId5" Type="http://schemas.openxmlformats.org/officeDocument/2006/relationships/image" Target="../media/image108.jpeg"/><Relationship Id="rId4" Type="http://schemas.openxmlformats.org/officeDocument/2006/relationships/image" Target="../media/image107.jpeg"/><Relationship Id="rId3" Type="http://schemas.openxmlformats.org/officeDocument/2006/relationships/image" Target="../media/image106.jpeg"/><Relationship Id="rId28" Type="http://schemas.openxmlformats.org/officeDocument/2006/relationships/slideLayout" Target="../slideLayouts/slideLayout11.xml"/><Relationship Id="rId27" Type="http://schemas.openxmlformats.org/officeDocument/2006/relationships/image" Target="../media/image130.jpeg"/><Relationship Id="rId26" Type="http://schemas.openxmlformats.org/officeDocument/2006/relationships/image" Target="../media/image129.jpeg"/><Relationship Id="rId25" Type="http://schemas.openxmlformats.org/officeDocument/2006/relationships/image" Target="../media/image128.jpeg"/><Relationship Id="rId24" Type="http://schemas.openxmlformats.org/officeDocument/2006/relationships/image" Target="../media/image127.jpeg"/><Relationship Id="rId23" Type="http://schemas.openxmlformats.org/officeDocument/2006/relationships/image" Target="../media/image126.jpeg"/><Relationship Id="rId22" Type="http://schemas.openxmlformats.org/officeDocument/2006/relationships/image" Target="../media/image125.jpeg"/><Relationship Id="rId21" Type="http://schemas.openxmlformats.org/officeDocument/2006/relationships/image" Target="../media/image124.jpeg"/><Relationship Id="rId20" Type="http://schemas.openxmlformats.org/officeDocument/2006/relationships/image" Target="../media/image123.jpeg"/><Relationship Id="rId2" Type="http://schemas.openxmlformats.org/officeDocument/2006/relationships/image" Target="../media/image105.jpeg"/><Relationship Id="rId19" Type="http://schemas.openxmlformats.org/officeDocument/2006/relationships/image" Target="../media/image122.jpeg"/><Relationship Id="rId18" Type="http://schemas.openxmlformats.org/officeDocument/2006/relationships/image" Target="../media/image121.jpeg"/><Relationship Id="rId17" Type="http://schemas.openxmlformats.org/officeDocument/2006/relationships/image" Target="../media/image120.jpeg"/><Relationship Id="rId16" Type="http://schemas.openxmlformats.org/officeDocument/2006/relationships/image" Target="../media/image119.jpeg"/><Relationship Id="rId15" Type="http://schemas.openxmlformats.org/officeDocument/2006/relationships/image" Target="../media/image118.jpeg"/><Relationship Id="rId14" Type="http://schemas.openxmlformats.org/officeDocument/2006/relationships/image" Target="../media/image117.jpeg"/><Relationship Id="rId13" Type="http://schemas.openxmlformats.org/officeDocument/2006/relationships/image" Target="../media/image116.jpeg"/><Relationship Id="rId12" Type="http://schemas.openxmlformats.org/officeDocument/2006/relationships/image" Target="../media/image115.jpeg"/><Relationship Id="rId11" Type="http://schemas.openxmlformats.org/officeDocument/2006/relationships/image" Target="../media/image114.jpeg"/><Relationship Id="rId10" Type="http://schemas.openxmlformats.org/officeDocument/2006/relationships/image" Target="../media/image113.jpeg"/><Relationship Id="rId1" Type="http://schemas.openxmlformats.org/officeDocument/2006/relationships/image" Target="../media/image104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9.jpeg"/><Relationship Id="rId8" Type="http://schemas.openxmlformats.org/officeDocument/2006/relationships/image" Target="../media/image138.jpeg"/><Relationship Id="rId7" Type="http://schemas.openxmlformats.org/officeDocument/2006/relationships/image" Target="../media/image137.jpeg"/><Relationship Id="rId6" Type="http://schemas.openxmlformats.org/officeDocument/2006/relationships/image" Target="../media/image136.jpeg"/><Relationship Id="rId5" Type="http://schemas.openxmlformats.org/officeDocument/2006/relationships/image" Target="../media/image135.jpeg"/><Relationship Id="rId4" Type="http://schemas.openxmlformats.org/officeDocument/2006/relationships/image" Target="../media/image134.png"/><Relationship Id="rId3" Type="http://schemas.openxmlformats.org/officeDocument/2006/relationships/image" Target="../media/image133.jpeg"/><Relationship Id="rId27" Type="http://schemas.openxmlformats.org/officeDocument/2006/relationships/slideLayout" Target="../slideLayouts/slideLayout11.xml"/><Relationship Id="rId26" Type="http://schemas.openxmlformats.org/officeDocument/2006/relationships/image" Target="../media/image156.jpeg"/><Relationship Id="rId25" Type="http://schemas.openxmlformats.org/officeDocument/2006/relationships/image" Target="../media/image155.jpeg"/><Relationship Id="rId24" Type="http://schemas.openxmlformats.org/officeDocument/2006/relationships/image" Target="../media/image154.jpeg"/><Relationship Id="rId23" Type="http://schemas.openxmlformats.org/officeDocument/2006/relationships/image" Target="../media/image153.jpeg"/><Relationship Id="rId22" Type="http://schemas.openxmlformats.org/officeDocument/2006/relationships/image" Target="../media/image152.jpeg"/><Relationship Id="rId21" Type="http://schemas.openxmlformats.org/officeDocument/2006/relationships/image" Target="../media/image151.jpeg"/><Relationship Id="rId20" Type="http://schemas.openxmlformats.org/officeDocument/2006/relationships/image" Target="../media/image150.jpeg"/><Relationship Id="rId2" Type="http://schemas.openxmlformats.org/officeDocument/2006/relationships/image" Target="../media/image132.png"/><Relationship Id="rId19" Type="http://schemas.openxmlformats.org/officeDocument/2006/relationships/image" Target="../media/image149.jpeg"/><Relationship Id="rId18" Type="http://schemas.openxmlformats.org/officeDocument/2006/relationships/image" Target="../media/image148.jpeg"/><Relationship Id="rId17" Type="http://schemas.openxmlformats.org/officeDocument/2006/relationships/image" Target="../media/image147.jpeg"/><Relationship Id="rId16" Type="http://schemas.openxmlformats.org/officeDocument/2006/relationships/image" Target="../media/image146.jpeg"/><Relationship Id="rId15" Type="http://schemas.openxmlformats.org/officeDocument/2006/relationships/image" Target="../media/image145.jpeg"/><Relationship Id="rId14" Type="http://schemas.openxmlformats.org/officeDocument/2006/relationships/image" Target="../media/image144.jpeg"/><Relationship Id="rId13" Type="http://schemas.openxmlformats.org/officeDocument/2006/relationships/image" Target="../media/image143.jpeg"/><Relationship Id="rId12" Type="http://schemas.openxmlformats.org/officeDocument/2006/relationships/image" Target="../media/image142.jpeg"/><Relationship Id="rId11" Type="http://schemas.openxmlformats.org/officeDocument/2006/relationships/image" Target="../media/image141.jpeg"/><Relationship Id="rId10" Type="http://schemas.openxmlformats.org/officeDocument/2006/relationships/image" Target="../media/image140.jpeg"/><Relationship Id="rId1" Type="http://schemas.openxmlformats.org/officeDocument/2006/relationships/image" Target="../media/image1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57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6.jpeg"/><Relationship Id="rId8" Type="http://schemas.openxmlformats.org/officeDocument/2006/relationships/image" Target="../media/image165.jpeg"/><Relationship Id="rId7" Type="http://schemas.openxmlformats.org/officeDocument/2006/relationships/image" Target="../media/image164.jpeg"/><Relationship Id="rId6" Type="http://schemas.openxmlformats.org/officeDocument/2006/relationships/image" Target="../media/image163.jpeg"/><Relationship Id="rId5" Type="http://schemas.openxmlformats.org/officeDocument/2006/relationships/image" Target="../media/image162.jpeg"/><Relationship Id="rId4" Type="http://schemas.openxmlformats.org/officeDocument/2006/relationships/image" Target="../media/image161.jpeg"/><Relationship Id="rId3" Type="http://schemas.openxmlformats.org/officeDocument/2006/relationships/image" Target="../media/image160.jpeg"/><Relationship Id="rId2" Type="http://schemas.openxmlformats.org/officeDocument/2006/relationships/image" Target="../media/image159.jpeg"/><Relationship Id="rId19" Type="http://schemas.openxmlformats.org/officeDocument/2006/relationships/slideLayout" Target="../slideLayouts/slideLayout11.xml"/><Relationship Id="rId18" Type="http://schemas.openxmlformats.org/officeDocument/2006/relationships/image" Target="../media/image175.jpeg"/><Relationship Id="rId17" Type="http://schemas.openxmlformats.org/officeDocument/2006/relationships/image" Target="../media/image174.jpeg"/><Relationship Id="rId16" Type="http://schemas.openxmlformats.org/officeDocument/2006/relationships/image" Target="../media/image173.jpeg"/><Relationship Id="rId15" Type="http://schemas.openxmlformats.org/officeDocument/2006/relationships/image" Target="../media/image172.jpeg"/><Relationship Id="rId14" Type="http://schemas.openxmlformats.org/officeDocument/2006/relationships/image" Target="../media/image171.jpeg"/><Relationship Id="rId13" Type="http://schemas.openxmlformats.org/officeDocument/2006/relationships/image" Target="../media/image170.jpeg"/><Relationship Id="rId12" Type="http://schemas.openxmlformats.org/officeDocument/2006/relationships/image" Target="../media/image169.jpeg"/><Relationship Id="rId11" Type="http://schemas.openxmlformats.org/officeDocument/2006/relationships/image" Target="../media/image168.jpeg"/><Relationship Id="rId10" Type="http://schemas.openxmlformats.org/officeDocument/2006/relationships/image" Target="../media/image167.jpeg"/><Relationship Id="rId1" Type="http://schemas.openxmlformats.org/officeDocument/2006/relationships/image" Target="../media/image15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2107638" y="649565"/>
            <a:ext cx="5254625" cy="474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3400" b="1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美的集团营销和</a:t>
            </a:r>
            <a:r>
              <a:rPr sz="3400" b="1" kern="0" spc="-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销售管理体</a:t>
            </a:r>
            <a:r>
              <a:rPr sz="3400" b="1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</a:t>
            </a:r>
            <a:endParaRPr sz="3400" dirty="0">
              <a:latin typeface="SimHei"/>
              <a:ea typeface="SimHei"/>
              <a:cs typeface="SimHei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2635209" y="2251438"/>
            <a:ext cx="1498083" cy="621781"/>
            <a:chOff x="0" y="0"/>
            <a:chExt cx="1498083" cy="621781"/>
          </a:xfrm>
        </p:grpSpPr>
        <p:sp>
          <p:nvSpPr>
            <p:cNvPr id="4" name="textbox 4"/>
            <p:cNvSpPr/>
            <p:nvPr/>
          </p:nvSpPr>
          <p:spPr>
            <a:xfrm>
              <a:off x="508051" y="155589"/>
              <a:ext cx="1003300" cy="3543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2590"/>
                </a:lnSpc>
              </a:pPr>
              <a:r>
                <a:rPr sz="1900" kern="0" spc="-30" dirty="0">
                  <a:solidFill>
                    <a:srgbClr val="205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439.5 </a:t>
              </a:r>
              <a:r>
                <a:rPr sz="2000" b="1" kern="0" spc="-30" baseline="11000" dirty="0">
                  <a:solidFill>
                    <a:srgbClr val="205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亿元</a:t>
              </a:r>
              <a:endParaRPr sz="2000" baseline="11000" dirty="0">
                <a:latin typeface="SimHei"/>
                <a:ea typeface="SimHei"/>
                <a:cs typeface="Sim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28212"/>
              <a:ext cx="438180" cy="419092"/>
            </a:xfrm>
            <a:prstGeom prst="rect">
              <a:avLst/>
            </a:prstGeom>
          </p:spPr>
        </p:pic>
        <p:sp>
          <p:nvSpPr>
            <p:cNvPr id="8" name="textbox 8"/>
            <p:cNvSpPr/>
            <p:nvPr/>
          </p:nvSpPr>
          <p:spPr>
            <a:xfrm>
              <a:off x="508050" y="-12700"/>
              <a:ext cx="915035" cy="135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2025年归母净利</a:t>
              </a:r>
              <a:r>
                <a:rPr sz="800" kern="0" spc="5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润</a:t>
              </a:r>
              <a:endParaRPr sz="8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622350" y="511736"/>
              <a:ext cx="159385" cy="1384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</a:pPr>
              <a:r>
                <a:rPr sz="1000" kern="0" spc="-40" dirty="0">
                  <a:solidFill>
                    <a:srgbClr val="105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14</a:t>
              </a: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2" name="textbox 12"/>
          <p:cNvSpPr/>
          <p:nvPr/>
        </p:nvSpPr>
        <p:spPr>
          <a:xfrm>
            <a:off x="2717790" y="1244976"/>
            <a:ext cx="4109084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重构增长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双高端突围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600" kern="0" spc="-6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1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领航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654080" y="4270781"/>
            <a:ext cx="7500619" cy="135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高端化战略成效显著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渠道布局加速高端渗透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考核从规模转向价值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经营质量与未来增长可期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654080" y="3051565"/>
            <a:ext cx="7399655" cy="135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规模与利润同步增长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盈利质量持续提升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自有品牌拉动全球化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自有品牌价值持续释放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143260" y="3730616"/>
            <a:ext cx="1127125" cy="404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indent="-1905" algn="l" rtl="0" eaLnBrk="0">
              <a:lnSpc>
                <a:spcPct val="111000"/>
              </a:lnSpc>
            </a:pPr>
            <a:r>
              <a:rPr sz="11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COLMO</a:t>
            </a:r>
            <a:r>
              <a:rPr sz="1100" b="1" kern="0" spc="3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近1600家</a:t>
            </a:r>
            <a:r>
              <a:rPr sz="1200" b="1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东芝650余家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060439" y="2413647"/>
            <a:ext cx="932814" cy="354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590"/>
              </a:lnSpc>
            </a:pPr>
            <a:r>
              <a:rPr sz="1900" kern="0" spc="-10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</a:t>
            </a:r>
            <a:r>
              <a:rPr sz="1900" kern="0" spc="-9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85</a:t>
            </a:r>
            <a:r>
              <a:rPr sz="1900" kern="0" spc="13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90" baseline="10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</a:t>
            </a:r>
            <a:r>
              <a:rPr sz="2100" b="1" kern="0" spc="-70" baseline="10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endParaRPr sz="2100" baseline="10000" dirty="0">
              <a:latin typeface="SimHei"/>
              <a:ea typeface="SimHei"/>
              <a:cs typeface="Sim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5257809" y="2413647"/>
            <a:ext cx="920114" cy="354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590"/>
              </a:lnSpc>
            </a:pPr>
            <a:r>
              <a:rPr sz="1900" kern="0" spc="-10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r>
              <a:rPr sz="1900" kern="0" spc="-9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59</a:t>
            </a:r>
            <a:r>
              <a:rPr sz="1900" kern="0" spc="16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b="1" kern="0" spc="-90" baseline="11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</a:t>
            </a:r>
            <a:r>
              <a:rPr sz="2000" b="1" kern="0" spc="-70" baseline="11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元</a:t>
            </a:r>
            <a:endParaRPr sz="2000" baseline="11000" dirty="0">
              <a:latin typeface="SimHei"/>
              <a:ea typeface="SimHei"/>
              <a:cs typeface="Sim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5259604" y="3812873"/>
            <a:ext cx="117411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00"/>
              </a:lnSpc>
            </a:pPr>
            <a:r>
              <a:rPr sz="1100" b="1" kern="0" spc="-9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结构品零售金额</a:t>
            </a:r>
            <a:r>
              <a:rPr sz="1100" kern="0" spc="-9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686300" y="3549632"/>
            <a:ext cx="457200" cy="44450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7362374" y="3796591"/>
            <a:ext cx="977900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500" b="1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同比+20%</a:t>
            </a:r>
            <a:r>
              <a:rPr sz="1500" kern="0" spc="10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705319" y="2273324"/>
            <a:ext cx="419161" cy="40638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38980" y="2279650"/>
            <a:ext cx="412760" cy="40638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2480" y="2273324"/>
            <a:ext cx="393649" cy="41271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870709" y="3562336"/>
            <a:ext cx="381030" cy="419092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628900" y="3549632"/>
            <a:ext cx="419069" cy="38103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2480" y="3568714"/>
            <a:ext cx="412760" cy="38097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062882" y="3775934"/>
            <a:ext cx="870585" cy="208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400" b="1" kern="0" spc="-7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双位数增长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7359650" y="2479179"/>
            <a:ext cx="57340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700" b="1" kern="0" spc="-3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&gt;45</a:t>
            </a:r>
            <a:r>
              <a:rPr sz="1700" b="1" kern="0" spc="23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700" kern="0" spc="-3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%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1092169" y="2708456"/>
            <a:ext cx="53149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900" kern="0" spc="-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▲</a:t>
            </a:r>
            <a:r>
              <a:rPr sz="1100" kern="0" spc="-1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12.1%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1060439" y="3584946"/>
            <a:ext cx="86995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双高端品牌零售额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7359648" y="2728637"/>
            <a:ext cx="7054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海外智能家居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5257810" y="3618001"/>
            <a:ext cx="68516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考核重点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5372110" y="2708456"/>
            <a:ext cx="423544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15.9%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8089890" y="4748768"/>
            <a:ext cx="65087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2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2026年6月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7359650" y="3584946"/>
            <a:ext cx="66865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合同负债增速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1060439" y="2246303"/>
            <a:ext cx="61341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2025年营收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3143260" y="3553211"/>
            <a:ext cx="55816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高端门店数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7359650" y="2235610"/>
            <a:ext cx="5022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257810" y="2245547"/>
            <a:ext cx="45339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海外营收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399044" y="2721969"/>
            <a:ext cx="13652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%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70"/>
          <p:cNvSpPr/>
          <p:nvPr/>
        </p:nvSpPr>
        <p:spPr>
          <a:xfrm>
            <a:off x="289937" y="316740"/>
            <a:ext cx="6373495" cy="325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战略背景：</a:t>
            </a:r>
            <a:r>
              <a:rPr sz="23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增量时代终结，</a:t>
            </a:r>
            <a:r>
              <a:rPr sz="2300" kern="0" spc="-4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2300" kern="0" spc="-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重构增长逻</a:t>
            </a:r>
            <a:r>
              <a:rPr sz="2300" b="1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辑。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21091" y="936298"/>
            <a:ext cx="6517005" cy="193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800" b="1" kern="0" spc="-40" baseline="-300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行业压力指标</a:t>
            </a:r>
            <a:r>
              <a:rPr sz="1100" kern="0" spc="-4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</a:t>
            </a:r>
            <a:r>
              <a:rPr sz="1100" kern="0" spc="-5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200" b="1" kern="0" spc="-5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战略定调</a:t>
            </a:r>
            <a:r>
              <a:rPr sz="1200" kern="0" spc="-5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</a:t>
            </a:r>
            <a:r>
              <a:rPr sz="1200" b="1" kern="0" spc="-5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顶层设计：三大方向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4787890" y="3886222"/>
            <a:ext cx="1231934" cy="469858"/>
            <a:chOff x="0" y="0"/>
            <a:chExt cx="1231934" cy="469858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19069" cy="469858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552490" y="22609"/>
              <a:ext cx="692150" cy="135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合同负债同比</a:t>
              </a:r>
              <a:endParaRPr sz="8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3702049" y="2424489"/>
            <a:ext cx="1527810" cy="352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3000"/>
              </a:lnSpc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未来竞争不是单一产品或渠道，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而是整体零售能力竞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争。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807170" y="2455418"/>
            <a:ext cx="816610" cy="630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80后高管上位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03000"/>
              </a:lnSpc>
              <a:spcBef>
                <a:spcPts val="0"/>
              </a:spcBef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股权激励绑定核心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组织瘦身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3702050" y="1738706"/>
            <a:ext cx="1436370" cy="354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以简化促增长，以自我颠覆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直面挑战；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746739" y="2454662"/>
            <a:ext cx="742950" cy="632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美云销直连终端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04000"/>
              </a:lnSpc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渠道一盘货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门店智能化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51690" y="1371617"/>
            <a:ext cx="622249" cy="520676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1022309" y="1330645"/>
            <a:ext cx="1089660" cy="342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57" rIns="0" bIns="0"/>
          <a:lstStyle/>
          <a:p>
            <a:pPr marL="12700" algn="l" rtl="0" eaLnBrk="0">
              <a:lnSpc>
                <a:spcPct val="120000"/>
              </a:lnSpc>
              <a:spcBef>
                <a:spcPts val="0"/>
              </a:spcBef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房地产持续低迷/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家电保有量趋于饱和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2584470" y="2970697"/>
            <a:ext cx="676910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just" rtl="0" eaLnBrk="0">
              <a:lnSpc>
                <a:spcPct val="13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同质化加剧，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品牌溢价空间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被快速蚕食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2584470" y="2188403"/>
            <a:ext cx="669925" cy="490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0000"/>
              </a:lnSpc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价格带下移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持续压缩渠道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利润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2584470" y="1395911"/>
            <a:ext cx="669925" cy="4908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存量竞争下，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份额抢夺替代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自然增长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975580" y="1390648"/>
            <a:ext cx="527060" cy="527054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1022309" y="2938183"/>
            <a:ext cx="986155" cy="328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02" rIns="0" bIns="0"/>
          <a:lstStyle/>
          <a:p>
            <a:pPr marL="12700" algn="l" rtl="0" eaLnBrk="0">
              <a:lnSpc>
                <a:spcPct val="115000"/>
              </a:lnSpc>
              <a:spcBef>
                <a:spcPts val="0"/>
              </a:spcBef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海尔、格力、小米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价格战白热化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3340130" y="4046622"/>
            <a:ext cx="919480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15"/>
              </a:lnSpc>
            </a:pPr>
            <a:r>
              <a:rPr sz="1700" kern="0" spc="-50" dirty="0">
                <a:solidFill>
                  <a:srgbClr val="205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439.5</a:t>
            </a:r>
            <a:r>
              <a:rPr sz="1700" kern="0" spc="260" dirty="0">
                <a:solidFill>
                  <a:srgbClr val="205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00" b="1" kern="0" spc="-50" baseline="1100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亿元</a:t>
            </a:r>
            <a:endParaRPr sz="1800" baseline="11000" dirty="0">
              <a:latin typeface="SimHei"/>
              <a:ea typeface="SimHei"/>
              <a:cs typeface="SimHei"/>
            </a:endParaRPr>
          </a:p>
        </p:txBody>
      </p:sp>
      <p:pic>
        <p:nvPicPr>
          <p:cNvPr id="102" name="picture 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810280" y="1390647"/>
            <a:ext cx="495238" cy="52067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1022309" y="2149316"/>
            <a:ext cx="874395" cy="33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800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空调线上均价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同比降幅&gt;10%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7886710" y="2836073"/>
            <a:ext cx="740410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不跟随低价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900"/>
              </a:lnSpc>
            </a:pP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制造与技术壁垒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1403339" y="4032250"/>
            <a:ext cx="830580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15"/>
              </a:lnSpc>
            </a:pPr>
            <a:r>
              <a:rPr sz="1700" kern="0" spc="-60" dirty="0">
                <a:solidFill>
                  <a:srgbClr val="206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4585 </a:t>
            </a:r>
            <a:r>
              <a:rPr sz="1200" b="1" kern="0" spc="-6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亿元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10" name="picture 1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73840" y="3905254"/>
            <a:ext cx="457200" cy="476236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82620" y="1377943"/>
            <a:ext cx="444489" cy="457205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838480" y="3911580"/>
            <a:ext cx="438088" cy="457205"/>
          </a:xfrm>
          <a:prstGeom prst="rect">
            <a:avLst/>
          </a:prstGeom>
        </p:spPr>
      </p:pic>
      <p:sp>
        <p:nvSpPr>
          <p:cNvPr id="116" name="textbox 116"/>
          <p:cNvSpPr/>
          <p:nvPr/>
        </p:nvSpPr>
        <p:spPr>
          <a:xfrm>
            <a:off x="7886710" y="2431004"/>
            <a:ext cx="702310" cy="324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32" rIns="0" bIns="0"/>
          <a:lstStyle/>
          <a:p>
            <a:pPr marL="12700" algn="l" rtl="0" eaLnBrk="0">
              <a:lnSpc>
                <a:spcPct val="120000"/>
              </a:lnSpc>
              <a:spcBef>
                <a:spcPts val="5"/>
              </a:spcBef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COLMO+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82620" y="2190771"/>
            <a:ext cx="469910" cy="40001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5346690" y="4109119"/>
            <a:ext cx="798830" cy="264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800" kern="0" spc="1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+20%</a:t>
            </a:r>
            <a:r>
              <a:rPr sz="1800" kern="0" spc="63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kern="0" spc="1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1800" dirty="0">
              <a:latin typeface="SimHei"/>
              <a:ea typeface="SimHei"/>
              <a:cs typeface="SimHei"/>
            </a:endParaRPr>
          </a:p>
        </p:txBody>
      </p:sp>
      <p:pic>
        <p:nvPicPr>
          <p:cNvPr id="122" name="picture 1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20709" y="3930662"/>
            <a:ext cx="393740" cy="438123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69910" y="2990842"/>
            <a:ext cx="488929" cy="349243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6781840" y="4595522"/>
            <a:ext cx="125793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渠道下沉竞争优势凸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显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4940330" y="4595039"/>
            <a:ext cx="112966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现金流锁定未来业绩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098570" y="4595522"/>
            <a:ext cx="10236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增长质量仍在改善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3092419" y="4595522"/>
            <a:ext cx="101409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盈利能力稳步提升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6841169" y="2042292"/>
            <a:ext cx="626745" cy="180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200" b="1" kern="0" spc="-2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人才换代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5784870" y="2041835"/>
            <a:ext cx="61595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-40" dirty="0">
                <a:solidFill>
                  <a:srgbClr val="206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1200" b="1" kern="0" spc="-4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变革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7939551" y="2028520"/>
            <a:ext cx="601345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-6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高端突围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421152" y="3800148"/>
            <a:ext cx="601345" cy="183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-6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成效预告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7292652" y="4087942"/>
            <a:ext cx="418465" cy="2482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700" b="1" kern="0" spc="-26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</a:t>
            </a:r>
            <a:r>
              <a:rPr sz="1700" b="1" kern="0" spc="-10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302501" y="3902886"/>
            <a:ext cx="71755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下沉渠道份额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3365459" y="3896552"/>
            <a:ext cx="6038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归母净利润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1517639" y="4315837"/>
            <a:ext cx="38925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0" dirty="0">
                <a:solidFill>
                  <a:srgbClr val="206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12.1%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1409740" y="3897878"/>
            <a:ext cx="5181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2025营收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3390879" y="4310267"/>
            <a:ext cx="33020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800" kern="0" spc="-10" dirty="0">
                <a:solidFill>
                  <a:srgbClr val="40A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▲</a:t>
            </a:r>
            <a:r>
              <a:rPr sz="800" kern="0" spc="-10" dirty="0">
                <a:solidFill>
                  <a:srgbClr val="1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14%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8680410" y="4888568"/>
            <a:ext cx="1822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-10" dirty="0">
                <a:solidFill>
                  <a:srgbClr val="1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rot="21600000">
            <a:off x="254020" y="850889"/>
            <a:ext cx="2736799" cy="3295646"/>
            <a:chOff x="0" y="0"/>
            <a:chExt cx="2736799" cy="3295646"/>
          </a:xfrm>
        </p:grpSpPr>
        <p:pic>
          <p:nvPicPr>
            <p:cNvPr id="156" name="picture 1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2736799" cy="3295646"/>
            </a:xfrm>
            <a:prstGeom prst="rect">
              <a:avLst/>
            </a:prstGeom>
          </p:spPr>
        </p:pic>
        <p:sp>
          <p:nvSpPr>
            <p:cNvPr id="158" name="textbox 158"/>
            <p:cNvSpPr/>
            <p:nvPr/>
          </p:nvSpPr>
          <p:spPr>
            <a:xfrm>
              <a:off x="203189" y="226016"/>
              <a:ext cx="2024379" cy="2910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1115" algn="l" rtl="0" eaLnBrk="0">
                <a:lnSpc>
                  <a:spcPct val="86000"/>
                </a:lnSpc>
              </a:pPr>
              <a:r>
                <a:rPr sz="9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变革前：多层级代理模式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6000"/>
                </a:lnSpc>
                <a:spcBef>
                  <a:spcPts val="265"/>
                </a:spcBef>
              </a:pPr>
              <a:r>
                <a:rPr sz="1300" kern="0" spc="70" baseline="-4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总部</a:t>
              </a:r>
              <a:r>
                <a:rPr sz="8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</a:t>
              </a:r>
              <a:r>
                <a:rPr sz="800" kern="0" spc="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35个省级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640715" algn="l" rtl="0" eaLnBrk="0">
                <a:lnSpc>
                  <a:spcPts val="1045"/>
                </a:lnSpc>
              </a:pPr>
              <a:r>
                <a:rPr sz="8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分公司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1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70865" algn="l" rtl="0" eaLnBrk="0">
                <a:lnSpc>
                  <a:spcPct val="86000"/>
                </a:lnSpc>
                <a:spcBef>
                  <a:spcPts val="280"/>
                </a:spcBef>
              </a:pPr>
              <a:r>
                <a:rPr sz="9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压货导向、链条长、反馈慢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1115" algn="l" rtl="0" eaLnBrk="0">
                <a:lnSpc>
                  <a:spcPct val="89000"/>
                </a:lnSpc>
                <a:spcBef>
                  <a:spcPts val="275"/>
                </a:spcBef>
              </a:pPr>
              <a:r>
                <a:rPr sz="900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变革后：极致扁平</a:t>
              </a:r>
              <a:r>
                <a:rPr sz="900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DTC</a:t>
              </a:r>
              <a:r>
                <a:rPr sz="900" kern="0" spc="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模式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100000"/>
                </a:lnSpc>
                <a:spcBef>
                  <a:spcPts val="255"/>
                </a:spcBef>
              </a:pPr>
              <a:r>
                <a:rPr sz="1300" kern="0" spc="60" baseline="-40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总部</a:t>
              </a:r>
              <a:r>
                <a:rPr sz="8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</a:t>
              </a: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6大核心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marL="570865" algn="l" rtl="0" eaLnBrk="0">
                <a:lnSpc>
                  <a:spcPct val="98000"/>
                </a:lnSpc>
                <a:spcBef>
                  <a:spcPts val="10"/>
                </a:spcBef>
              </a:pPr>
              <a:r>
                <a:rPr sz="8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营销平台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8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9000"/>
                </a:lnSpc>
              </a:pPr>
              <a:r>
                <a:rPr sz="900" kern="0" spc="10" dirty="0">
                  <a:solidFill>
                    <a:srgbClr val="105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零售导向、</a:t>
              </a:r>
              <a:r>
                <a:rPr sz="900" kern="0" spc="10" dirty="0">
                  <a:solidFill>
                    <a:srgbClr val="205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直连终端、响应快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5965845" y="2790825"/>
          <a:ext cx="2825115" cy="1257300"/>
        </p:xfrm>
        <a:graphic>
          <a:graphicData uri="http://schemas.openxmlformats.org/drawingml/2006/table">
            <a:tbl>
              <a:tblPr/>
              <a:tblGrid>
                <a:gridCol w="434975"/>
                <a:gridCol w="1577340"/>
                <a:gridCol w="812800"/>
              </a:tblGrid>
              <a:tr h="29527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054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冰箱/洗衣机/厨房电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器全通路整合</a:t>
                      </a:r>
                      <a:r>
                        <a:rPr sz="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800" b="1" kern="0" spc="-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少对接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56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清洁品类划入洗衣机事业部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353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800" b="1" kern="0" spc="-2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降</a:t>
                      </a:r>
                      <a:r>
                        <a:rPr sz="800" b="1" kern="0" spc="-2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成本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191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小家电全面线上化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83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-2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提效</a:t>
                      </a:r>
                      <a:r>
                        <a:rPr sz="800" b="1" kern="0" spc="-20" dirty="0">
                          <a:solidFill>
                            <a:srgbClr val="3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率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5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取消智小运营中心并入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1915" algn="l" rtl="0" eaLnBrk="0">
                        <a:lnSpc>
                          <a:spcPts val="1045"/>
                        </a:lnSpc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生活电器线上业务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83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b="1" kern="0" spc="-3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强线上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5965845" y="1216040"/>
          <a:ext cx="2825115" cy="1205865"/>
        </p:xfrm>
        <a:graphic>
          <a:graphicData uri="http://schemas.openxmlformats.org/drawingml/2006/table">
            <a:tbl>
              <a:tblPr/>
              <a:tblGrid>
                <a:gridCol w="949325"/>
                <a:gridCol w="825500"/>
                <a:gridCol w="1050290"/>
              </a:tblGrid>
              <a:tr h="212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99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区域范围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352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兼任品类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672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2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黑吉、沈阳、太原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686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空调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965" algn="l" rtl="0" eaLnBrk="0">
                        <a:lnSpc>
                          <a:spcPct val="133000"/>
                        </a:lnSpc>
                      </a:pP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品类权责从总部条线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向区域经营单元下沉，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减少跨部门协同摩擦。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石家庄等15城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6865" algn="l" rtl="0" eaLnBrk="0">
                        <a:lnSpc>
                          <a:spcPct val="91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厨热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5725" algn="l" rtl="0" eaLnBrk="0">
                        <a:lnSpc>
                          <a:spcPct val="91000"/>
                        </a:lnSpc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其他城市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081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多品类整合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4" name="textbox 164"/>
          <p:cNvSpPr/>
          <p:nvPr/>
        </p:nvSpPr>
        <p:spPr>
          <a:xfrm>
            <a:off x="285760" y="246410"/>
            <a:ext cx="4831715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 </a:t>
            </a: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渠道变革：从多层级代理到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极致扁平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285760" y="621075"/>
            <a:ext cx="48996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渠道从压货链条转向总部责达终端的零售运营体系，管理层级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被压缩，经营责任下沉。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3168680" y="1571614"/>
            <a:ext cx="973455" cy="38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洞察：区域层级先压缩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00965" algn="l" rtl="0" eaLnBrk="0">
              <a:lnSpc>
                <a:spcPts val="2055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六大营销平台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4559300" y="1571994"/>
            <a:ext cx="78295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洞察：平台化整合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38100" algn="l" rtl="0" eaLnBrk="0">
              <a:lnSpc>
                <a:spcPts val="2045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人员优化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72" name="textbox 172"/>
          <p:cNvSpPr/>
          <p:nvPr/>
        </p:nvSpPr>
        <p:spPr>
          <a:xfrm>
            <a:off x="7258060" y="4475930"/>
            <a:ext cx="121602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29" rIns="0" bIns="0"/>
          <a:lstStyle/>
          <a:p>
            <a:pPr marL="12700" algn="l" rtl="0" eaLnBrk="0">
              <a:lnSpc>
                <a:spcPct val="133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构建零售运营与用户运营能力，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推动可持续增长。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74" name="textbox 174"/>
          <p:cNvSpPr/>
          <p:nvPr/>
        </p:nvSpPr>
        <p:spPr>
          <a:xfrm>
            <a:off x="1739930" y="4469552"/>
            <a:ext cx="117792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6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减少中间层级，缩短决策链路，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提升组织敏捷度。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76" name="textbox 176"/>
          <p:cNvSpPr/>
          <p:nvPr/>
        </p:nvSpPr>
        <p:spPr>
          <a:xfrm>
            <a:off x="6072617" y="986874"/>
            <a:ext cx="186436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运总兼任品类总经理(2025.9)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3460740" y="4469552"/>
            <a:ext cx="1136650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6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经营责任下沉区域一线，激发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区域经营活力。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80" name="textbox 180"/>
          <p:cNvSpPr/>
          <p:nvPr/>
        </p:nvSpPr>
        <p:spPr>
          <a:xfrm>
            <a:off x="5321269" y="4469552"/>
            <a:ext cx="1135380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6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一盘货与直连终端，提升库存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周转与价格稳定性。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82" name="picture 1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56409" y="4279906"/>
            <a:ext cx="393649" cy="425418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3257560" y="1142670"/>
            <a:ext cx="835660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600" b="1" kern="0" spc="-12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35→2</a:t>
            </a:r>
            <a:r>
              <a:rPr sz="1600" b="1" kern="0" spc="-11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r>
              <a:rPr sz="1600" b="1" kern="0" spc="-21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b="1" kern="0" spc="-70" dirty="0">
                <a:solidFill>
                  <a:srgbClr val="107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4472356" y="1216429"/>
            <a:ext cx="117094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b="1" kern="0" spc="-4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佛山并入深圳等6组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4472417" y="3578214"/>
            <a:ext cx="1137920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b="1" kern="0" spc="-2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库存与价格更可控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90" name="textbox 190"/>
          <p:cNvSpPr/>
          <p:nvPr/>
        </p:nvSpPr>
        <p:spPr>
          <a:xfrm>
            <a:off x="3107033" y="2060014"/>
            <a:ext cx="1084580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全国营销资源重编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92" name="picture 1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26020" y="4292611"/>
            <a:ext cx="406359" cy="368274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250990" y="4298937"/>
            <a:ext cx="400050" cy="361948"/>
          </a:xfrm>
          <a:prstGeom prst="rect">
            <a:avLst/>
          </a:prstGeom>
        </p:spPr>
      </p:pic>
      <p:sp>
        <p:nvSpPr>
          <p:cNvPr id="196" name="textbox 196"/>
          <p:cNvSpPr/>
          <p:nvPr/>
        </p:nvSpPr>
        <p:spPr>
          <a:xfrm>
            <a:off x="4701017" y="2024164"/>
            <a:ext cx="66865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1100" b="1" kern="0" spc="-5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</a:t>
            </a:r>
            <a:r>
              <a:rPr sz="1700" kern="0" spc="-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900人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4400560" y="927120"/>
            <a:ext cx="805180" cy="203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  <a:spcBef>
                <a:spcPts val="0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营运中心合并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00" name="picture 20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413260" y="939820"/>
            <a:ext cx="177759" cy="177759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6021777" y="2562218"/>
            <a:ext cx="99695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全渠道整合动作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04" name="picture 20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4370" y="4298937"/>
            <a:ext cx="374629" cy="361948"/>
          </a:xfrm>
          <a:prstGeom prst="rect">
            <a:avLst/>
          </a:prstGeom>
        </p:spPr>
      </p:pic>
      <p:sp>
        <p:nvSpPr>
          <p:cNvPr id="206" name="textbox 206"/>
          <p:cNvSpPr/>
          <p:nvPr/>
        </p:nvSpPr>
        <p:spPr>
          <a:xfrm>
            <a:off x="3106855" y="2834339"/>
            <a:ext cx="108077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b="1" kern="0" spc="13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流量与用户运营部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4394159" y="3352795"/>
            <a:ext cx="688975" cy="1968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渠道一盘货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10" name="picture 2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406859" y="3365495"/>
            <a:ext cx="177850" cy="171432"/>
          </a:xfrm>
          <a:prstGeom prst="rect">
            <a:avLst/>
          </a:prstGeom>
        </p:spPr>
      </p:pic>
      <p:sp>
        <p:nvSpPr>
          <p:cNvPr id="212" name="textbox 212"/>
          <p:cNvSpPr/>
          <p:nvPr/>
        </p:nvSpPr>
        <p:spPr>
          <a:xfrm>
            <a:off x="3105129" y="3115045"/>
            <a:ext cx="118046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洞察：从支持转向专业运营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3105129" y="3875860"/>
            <a:ext cx="108521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洞察：总部掌握一线动销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4470420" y="2365359"/>
            <a:ext cx="10687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洞察：效率提升伴随阵痛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4470420" y="3877003"/>
            <a:ext cx="10687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洞察：库存与价格更可控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4622759" y="2836064"/>
            <a:ext cx="81788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3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责任链条缩短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3162279" y="2371685"/>
            <a:ext cx="9734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洞察：统一标准与资源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4584720" y="3114664"/>
            <a:ext cx="8782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洞察：责任链条缩短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26" name="textbox 226"/>
          <p:cNvSpPr/>
          <p:nvPr/>
        </p:nvSpPr>
        <p:spPr>
          <a:xfrm>
            <a:off x="3310306" y="3577655"/>
            <a:ext cx="57721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2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直连终端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4584720" y="2638376"/>
            <a:ext cx="7829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运总承担经营责任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3257560" y="2639043"/>
            <a:ext cx="78232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用户与市场部更名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478083" y="4411050"/>
            <a:ext cx="537845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1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经营含义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234" name="picture 2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57900" y="3721116"/>
            <a:ext cx="266730" cy="266690"/>
          </a:xfrm>
          <a:prstGeom prst="rect">
            <a:avLst/>
          </a:prstGeom>
        </p:spPr>
      </p:pic>
      <p:sp>
        <p:nvSpPr>
          <p:cNvPr id="236" name="textbox 236"/>
          <p:cNvSpPr/>
          <p:nvPr/>
        </p:nvSpPr>
        <p:spPr>
          <a:xfrm>
            <a:off x="3257559" y="3394059"/>
            <a:ext cx="69786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美云销直连终端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1739930" y="4283857"/>
            <a:ext cx="53467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层级减少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5321269" y="4284340"/>
            <a:ext cx="53213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9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库存协同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7258059" y="4283857"/>
            <a:ext cx="52578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8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零售能力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44" name="textbox 244"/>
          <p:cNvSpPr/>
          <p:nvPr/>
        </p:nvSpPr>
        <p:spPr>
          <a:xfrm>
            <a:off x="3460740" y="4277531"/>
            <a:ext cx="52514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责任下沉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246" name="picture 2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064209" y="3416312"/>
            <a:ext cx="254020" cy="228577"/>
          </a:xfrm>
          <a:prstGeom prst="rect">
            <a:avLst/>
          </a:prstGeom>
        </p:spPr>
      </p:pic>
      <p:pic>
        <p:nvPicPr>
          <p:cNvPr id="248" name="picture 24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045190" y="3117835"/>
            <a:ext cx="222290" cy="241332"/>
          </a:xfrm>
          <a:prstGeom prst="rect">
            <a:avLst/>
          </a:prstGeom>
        </p:spPr>
      </p:pic>
      <p:sp>
        <p:nvSpPr>
          <p:cNvPr id="250" name="textbox 250"/>
          <p:cNvSpPr/>
          <p:nvPr/>
        </p:nvSpPr>
        <p:spPr>
          <a:xfrm>
            <a:off x="2381290" y="3407187"/>
            <a:ext cx="50419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县域终端/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52" name="textbox 252"/>
          <p:cNvSpPr/>
          <p:nvPr/>
        </p:nvSpPr>
        <p:spPr>
          <a:xfrm>
            <a:off x="1739930" y="3407942"/>
            <a:ext cx="46990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城市运营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3257560" y="974711"/>
            <a:ext cx="5181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省级分公司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56" name="textbox 256"/>
          <p:cNvSpPr/>
          <p:nvPr/>
        </p:nvSpPr>
        <p:spPr>
          <a:xfrm>
            <a:off x="1739930" y="1972479"/>
            <a:ext cx="36957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代理商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3492469" y="1351152"/>
            <a:ext cx="328295" cy="13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5"/>
              </a:lnSpc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(2025.2)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2508209" y="3549367"/>
            <a:ext cx="25844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</a:t>
            </a:r>
            <a:r>
              <a:rPr sz="8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店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854230" y="3542458"/>
            <a:ext cx="240665" cy="142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中心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1822409" y="1819645"/>
            <a:ext cx="25209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多级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2482880" y="1834833"/>
            <a:ext cx="251459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8705830" y="4864299"/>
            <a:ext cx="15494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84160" y="825480"/>
            <a:ext cx="8731240" cy="4197353"/>
          </a:xfrm>
          <a:prstGeom prst="rect">
            <a:avLst/>
          </a:prstGeom>
        </p:spPr>
      </p:pic>
      <p:graphicFrame>
        <p:nvGraphicFramePr>
          <p:cNvPr id="272" name="table 272"/>
          <p:cNvGraphicFramePr>
            <a:graphicFrameLocks noGrp="1"/>
          </p:cNvGraphicFramePr>
          <p:nvPr/>
        </p:nvGraphicFramePr>
        <p:xfrm>
          <a:off x="323880" y="976880"/>
          <a:ext cx="8390889" cy="3891280"/>
        </p:xfrm>
        <a:graphic>
          <a:graphicData uri="http://schemas.openxmlformats.org/drawingml/2006/table">
            <a:tbl>
              <a:tblPr/>
              <a:tblGrid>
                <a:gridCol w="1307465"/>
                <a:gridCol w="878839"/>
                <a:gridCol w="328930"/>
                <a:gridCol w="1226820"/>
                <a:gridCol w="4648835"/>
              </a:tblGrid>
              <a:tr h="836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A.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合同负债逆势增长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合同负债(亿元)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9431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B.</a:t>
                      </a:r>
                      <a:r>
                        <a:rPr sz="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9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开门红模式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85191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800" kern="0" spc="9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5960" algn="l" rtl="0" eaLnBrk="0">
                        <a:lnSpc>
                          <a:spcPct val="92000"/>
                        </a:lnSpc>
                        <a:spcBef>
                          <a:spcPts val="525"/>
                        </a:spcBef>
                      </a:pP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锁定全年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5960" algn="l" rtl="0" eaLnBrk="0">
                        <a:lnSpc>
                          <a:spcPts val="1770"/>
                        </a:lnSpc>
                        <a:spcBef>
                          <a:spcPts val="30"/>
                        </a:spcBef>
                      </a:pPr>
                      <a:r>
                        <a:rPr sz="8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约</a:t>
                      </a:r>
                      <a:r>
                        <a:rPr sz="13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35%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5960" algn="l" rtl="0" eaLnBrk="0">
                        <a:lnSpc>
                          <a:spcPct val="92000"/>
                        </a:lnSpc>
                        <a:spcBef>
                          <a:spcPts val="35"/>
                        </a:spcBef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进</a:t>
                      </a:r>
                      <a:r>
                        <a:rPr sz="6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度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273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474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E.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DTC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9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现金流闭环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85750" algn="l" rtl="0" eaLnBrk="0">
                        <a:lnSpc>
                          <a:spcPts val="1645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经销商大会预收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00" algn="l" rtl="0" eaLnBrk="0">
                        <a:lnSpc>
                          <a:spcPct val="92000"/>
                        </a:lnSpc>
                      </a:pP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合同负债沉淀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3380" algn="l" rtl="0" eaLnBrk="0">
                        <a:lnSpc>
                          <a:spcPct val="90000"/>
                        </a:lnSpc>
                      </a:pPr>
                      <a:r>
                        <a:rPr sz="800" kern="0" spc="12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51130" algn="l" rtl="0" eaLnBrk="0">
                        <a:lnSpc>
                          <a:spcPct val="134000"/>
                        </a:lnSpc>
                        <a:spcBef>
                          <a:spcPts val="470"/>
                        </a:spcBef>
                      </a:pP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经销商备货积极性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8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更强，合同负债成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为未来业绩释放的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7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前置蓄水池。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068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云仓共享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4310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C.</a:t>
                      </a:r>
                      <a:r>
                        <a:rPr sz="9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现金管理铁律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0860" algn="l" rtl="0" eaLnBrk="0">
                        <a:lnSpc>
                          <a:spcPts val="169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现金第一管理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0860" algn="l" rtl="0" eaLnBrk="0">
                        <a:lnSpc>
                          <a:spcPts val="164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严格执行交易平台授信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0860" algn="l" rtl="0" eaLnBrk="0">
                        <a:lnSpc>
                          <a:spcPts val="1605"/>
                        </a:lnSpc>
                      </a:pP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严格赊销政策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30860" algn="l" rtl="0" eaLnBrk="0">
                        <a:lnSpc>
                          <a:spcPts val="1850"/>
                        </a:lnSpc>
                      </a:pP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经营现金流</a:t>
                      </a:r>
                      <a:r>
                        <a:rPr sz="7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8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533亿元</a:t>
                      </a:r>
                      <a:r>
                        <a:rPr sz="7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(202元)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4310" algn="l" rtl="0" eaLnBrk="0">
                        <a:lnSpc>
                          <a:spcPct val="90000"/>
                        </a:lnSpc>
                        <a:spcBef>
                          <a:spcPts val="245"/>
                        </a:spcBef>
                      </a:pP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D.  </a:t>
                      </a:r>
                      <a:r>
                        <a:rPr sz="8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一盘货与云仓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9560" algn="l" rtl="0" eaLnBrk="0">
                        <a:lnSpc>
                          <a:spcPct val="86000"/>
                        </a:lnSpc>
                        <a:spcBef>
                          <a:spcPts val="22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总部/工厂</a:t>
                      </a: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云仓共享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85695" algn="l" rtl="0" eaLnBrk="0">
                        <a:lnSpc>
                          <a:spcPct val="85000"/>
                        </a:lnSpc>
                        <a:spcBef>
                          <a:spcPts val="250"/>
                        </a:spcBef>
                      </a:pP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F.  </a:t>
                      </a:r>
                      <a:r>
                        <a:rPr sz="8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经营含义(三点)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645410" algn="l" rtl="0" eaLnBrk="0">
                        <a:lnSpc>
                          <a:spcPts val="1790"/>
                        </a:lnSpc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从压货转为动销锁定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803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06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600" kern="0" spc="1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关键词：</a:t>
                      </a:r>
                      <a:r>
                        <a:rPr sz="600" kern="0" spc="10" dirty="0">
                          <a:solidFill>
                            <a:srgbClr val="1050C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预收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20015" algn="l" rtl="0" eaLnBrk="0">
                        <a:lnSpc>
                          <a:spcPct val="89000"/>
                        </a:lnSpc>
                        <a:spcBef>
                          <a:spcPts val="28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大会订货预收锁定资源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48615" algn="l" rtl="0" eaLnBrk="0">
                        <a:lnSpc>
                          <a:spcPts val="920"/>
                        </a:lnSpc>
                      </a:pPr>
                      <a:r>
                        <a:rPr sz="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与资金。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92000"/>
                        </a:lnSpc>
                      </a:pPr>
                      <a:r>
                        <a:rPr sz="600" kern="0" spc="3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关键词：沉淀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45415" indent="-81915" algn="l" rtl="0" eaLnBrk="0">
                        <a:lnSpc>
                          <a:spcPct val="128000"/>
                        </a:lnSpc>
                        <a:spcBef>
                          <a:spcPts val="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合同负债形成蓄水池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支撑后续经营。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811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5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→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14730" algn="l" rtl="0" eaLnBrk="0">
                        <a:lnSpc>
                          <a:spcPct val="85000"/>
                        </a:lnSpc>
                      </a:pPr>
                      <a:r>
                        <a:rPr sz="1300" kern="0" spc="-1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→</a:t>
                      </a:r>
                      <a:endParaRPr sz="13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27330" algn="l" rtl="0" eaLnBrk="0">
                        <a:lnSpc>
                          <a:spcPct val="92000"/>
                        </a:lnSpc>
                        <a:spcBef>
                          <a:spcPts val="520"/>
                        </a:spcBef>
                      </a:pPr>
                      <a:r>
                        <a:rPr sz="600" kern="0" spc="1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关键词：</a:t>
                      </a:r>
                      <a:r>
                        <a:rPr sz="600" kern="0" spc="10" dirty="0">
                          <a:solidFill>
                            <a:srgbClr val="3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共享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93980" algn="l" rtl="0" eaLnBrk="0">
                        <a:lnSpc>
                          <a:spcPct val="92000"/>
                        </a:lnSpc>
                        <a:spcBef>
                          <a:spcPts val="255"/>
                        </a:spcBef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库存集约共享，提升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65430" algn="l" rtl="0" eaLnBrk="0">
                        <a:lnSpc>
                          <a:spcPts val="975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周转效率。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3091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100" kern="0" spc="-10" dirty="0">
                          <a:solidFill>
                            <a:srgbClr val="608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→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94310" algn="l" rtl="0" eaLnBrk="0">
                        <a:lnSpc>
                          <a:spcPct val="92000"/>
                        </a:lnSpc>
                        <a:spcBef>
                          <a:spcPts val="395"/>
                        </a:spcBef>
                      </a:pPr>
                      <a:r>
                        <a:rPr sz="600" kern="0" spc="3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关键词：直达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0010" algn="l" rtl="0" eaLnBrk="0">
                        <a:lnSpc>
                          <a:spcPct val="92000"/>
                        </a:lnSpc>
                        <a:spcBef>
                          <a:spcPts val="305"/>
                        </a:spcBef>
                      </a:pP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减少层级流转，实现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44145" algn="l" rtl="0" eaLnBrk="0">
                        <a:lnSpc>
                          <a:spcPts val="975"/>
                        </a:lnSpc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高效直达交付。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74" name="textbox 274"/>
          <p:cNvSpPr/>
          <p:nvPr/>
        </p:nvSpPr>
        <p:spPr>
          <a:xfrm>
            <a:off x="273050" y="246505"/>
            <a:ext cx="862965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2200" kern="0" spc="-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b="1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经济逻辑：现金流先行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2100" u="sng" kern="0" spc="-80" baseline="10000" dirty="0">
                <a:solidFill>
                  <a:srgbClr val="2070B0">
                    <a:alpha val="100000"/>
                  </a:srgbClr>
                </a:solidFill>
                <a:uFill>
                  <a:solidFill>
                    <a:srgbClr val="0000FF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100" baseline="10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279359" y="633867"/>
            <a:ext cx="4824095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渠道改革的财务结果，不是单纯压缩层级，而是把现金流、库存与终端动销纳入同一运营闭环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7702550" y="1286222"/>
            <a:ext cx="1044575" cy="427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年度大会将渠道订货、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现金回笼与全年节奏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前置绑定。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6699270" y="4429085"/>
            <a:ext cx="1097915" cy="382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从多级库存转为共享库存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2055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从赊销扩张转为现金纪律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7702550" y="3324591"/>
            <a:ext cx="1025525" cy="38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82" rIns="0" bIns="0"/>
          <a:lstStyle/>
          <a:p>
            <a:pPr marL="12700" algn="l" rtl="0" eaLnBrk="0">
              <a:lnSpc>
                <a:spcPct val="117000"/>
              </a:lnSpc>
              <a:spcBef>
                <a:spcPts val="0"/>
              </a:spcBef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库存从分散沉淀转向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共享调度，缩短价值链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并降低渠道摩擦。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84" name="textbox 284"/>
          <p:cNvSpPr/>
          <p:nvPr/>
        </p:nvSpPr>
        <p:spPr>
          <a:xfrm>
            <a:off x="7702550" y="2447912"/>
            <a:ext cx="862964" cy="2813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5000"/>
              </a:lnSpc>
            </a:pP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现金流安全优先于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单纯规模扩张。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5289540" y="4641036"/>
            <a:ext cx="77851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5" rIns="0" bIns="0"/>
          <a:lstStyle/>
          <a:p>
            <a:pPr marL="95250" indent="-82550" algn="l" rtl="0" eaLnBrk="0">
              <a:lnSpc>
                <a:spcPct val="126000"/>
              </a:lnSpc>
              <a:spcBef>
                <a:spcPts val="5"/>
              </a:spcBef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动销数据闭环反馈，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驱动持续优化。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4343409" y="4130236"/>
            <a:ext cx="1706245" cy="109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两跳履约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动销反馈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6000760" y="3584099"/>
            <a:ext cx="1412875" cy="116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经销商协同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两跳到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端用户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5772160" y="1364147"/>
            <a:ext cx="55562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1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350-400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6089640" y="2168094"/>
            <a:ext cx="97218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经营现金流强度(2025)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96" name="textbox 296"/>
          <p:cNvSpPr/>
          <p:nvPr/>
        </p:nvSpPr>
        <p:spPr>
          <a:xfrm>
            <a:off x="5797580" y="1247634"/>
            <a:ext cx="5683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吸纳渠道资金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298" name="textbox 298"/>
          <p:cNvSpPr/>
          <p:nvPr/>
        </p:nvSpPr>
        <p:spPr>
          <a:xfrm>
            <a:off x="5422859" y="4517593"/>
            <a:ext cx="499744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关键词：反馈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7023059" y="1384651"/>
            <a:ext cx="300355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-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快速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02" name="textbox 302"/>
          <p:cNvSpPr/>
          <p:nvPr/>
        </p:nvSpPr>
        <p:spPr>
          <a:xfrm>
            <a:off x="7283480" y="2571992"/>
            <a:ext cx="259080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4" name="textbox 304"/>
          <p:cNvSpPr/>
          <p:nvPr/>
        </p:nvSpPr>
        <p:spPr>
          <a:xfrm>
            <a:off x="7023059" y="1558485"/>
            <a:ext cx="3784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回笼现金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306" name="textbox 306"/>
          <p:cNvSpPr/>
          <p:nvPr/>
        </p:nvSpPr>
        <p:spPr>
          <a:xfrm>
            <a:off x="7315209" y="2387425"/>
            <a:ext cx="224790" cy="164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90"/>
              </a:lnSpc>
            </a:pPr>
            <a:r>
              <a:rPr sz="800" kern="0" spc="-20" dirty="0">
                <a:solidFill>
                  <a:srgbClr val="1050C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88%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7905730" y="2220139"/>
            <a:ext cx="25463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3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10" name="textbox 310"/>
          <p:cNvSpPr/>
          <p:nvPr/>
        </p:nvSpPr>
        <p:spPr>
          <a:xfrm>
            <a:off x="7905730" y="3166285"/>
            <a:ext cx="25463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12" name="textbox 312"/>
          <p:cNvSpPr/>
          <p:nvPr/>
        </p:nvSpPr>
        <p:spPr>
          <a:xfrm>
            <a:off x="5791180" y="1553579"/>
            <a:ext cx="21209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亿元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6089640" y="2571992"/>
            <a:ext cx="159385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7023059" y="1241519"/>
            <a:ext cx="195580" cy="116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多为</a:t>
            </a:r>
            <a:endParaRPr sz="7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" name="table 318"/>
          <p:cNvGraphicFramePr>
            <a:graphicFrameLocks noGrp="1"/>
          </p:cNvGraphicFramePr>
          <p:nvPr/>
        </p:nvGraphicFramePr>
        <p:xfrm>
          <a:off x="4425970" y="1123957"/>
          <a:ext cx="4317365" cy="956310"/>
        </p:xfrm>
        <a:graphic>
          <a:graphicData uri="http://schemas.openxmlformats.org/drawingml/2006/table">
            <a:tbl>
              <a:tblPr/>
              <a:tblGrid>
                <a:gridCol w="1416050"/>
                <a:gridCol w="1436370"/>
                <a:gridCol w="1464945"/>
              </a:tblGrid>
              <a:tr h="9563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90000"/>
                        </a:lnSpc>
                      </a:pPr>
                      <a:r>
                        <a:rPr sz="800" kern="0" spc="90" dirty="0">
                          <a:solidFill>
                            <a:srgbClr val="1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价值销售主导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096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引导资源聚焦高价值产品组合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700" algn="l" rtl="0" eaLnBrk="0">
                        <a:lnSpc>
                          <a:spcPct val="90000"/>
                        </a:lnSpc>
                      </a:pPr>
                      <a:r>
                        <a:rPr sz="800" kern="0" spc="7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门店能力纳入硬指标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1300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强化门店建设与运营能力。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29970" algn="l" rtl="0" eaLnBrk="0">
                        <a:lnSpc>
                          <a:spcPct val="75000"/>
                        </a:lnSpc>
                      </a:pPr>
                      <a:r>
                        <a:rPr sz="2300" b="1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%</a:t>
                      </a:r>
                      <a:endParaRPr sz="2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3395" algn="l" rtl="0" eaLnBrk="0">
                        <a:lnSpc>
                          <a:spcPct val="90000"/>
                        </a:lnSpc>
                        <a:spcBef>
                          <a:spcPts val="240"/>
                        </a:spcBef>
                      </a:pPr>
                      <a:r>
                        <a:rPr sz="800" kern="0" spc="100" dirty="0">
                          <a:solidFill>
                            <a:srgbClr val="1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规模不再唯一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034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600" kern="0" spc="30" dirty="0">
                          <a:solidFill>
                            <a:srgbClr val="1060E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规模考核降级，回归经营本质。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20" name="table 320"/>
          <p:cNvGraphicFramePr>
            <a:graphicFrameLocks noGrp="1"/>
          </p:cNvGraphicFramePr>
          <p:nvPr/>
        </p:nvGraphicFramePr>
        <p:xfrm>
          <a:off x="4527560" y="2559045"/>
          <a:ext cx="4164330" cy="963930"/>
        </p:xfrm>
        <a:graphic>
          <a:graphicData uri="http://schemas.openxmlformats.org/drawingml/2006/table">
            <a:tbl>
              <a:tblPr/>
              <a:tblGrid>
                <a:gridCol w="918845"/>
                <a:gridCol w="1160145"/>
                <a:gridCol w="1111885"/>
                <a:gridCol w="973455"/>
              </a:tblGrid>
              <a:tr h="9639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倒买倒卖赚差价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27000" algn="l" rtl="0" eaLnBrk="0">
                        <a:lnSpc>
                          <a:spcPts val="1105"/>
                        </a:lnSpc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模式被出清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spcBef>
                          <a:spcPts val="5"/>
                        </a:spcBef>
                      </a:pP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低效投机模式失去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生存空间。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2255" algn="l" rtl="0" eaLnBrk="0">
                        <a:lnSpc>
                          <a:spcPct val="91000"/>
                        </a:lnSpc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终端陈列升级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705" indent="5715" algn="l" rtl="0" eaLnBrk="0">
                        <a:lnSpc>
                          <a:spcPct val="125000"/>
                        </a:lnSpc>
                        <a:spcBef>
                          <a:spcPts val="5"/>
                        </a:spcBef>
                      </a:pP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终端形象与陈列标准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全面提升。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1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专业导购与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07975" algn="l" rtl="0" eaLnBrk="0">
                        <a:lnSpc>
                          <a:spcPts val="1095"/>
                        </a:lnSpc>
                      </a:pP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服务响应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4940" indent="-5715" algn="l" rtl="0" eaLnBrk="0">
                        <a:lnSpc>
                          <a:spcPct val="139000"/>
                        </a:lnSpc>
                        <a:spcBef>
                          <a:spcPts val="0"/>
                        </a:spcBef>
                      </a:pP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专业能力与服务响应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成为核心壁垒。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6690" algn="l" rtl="0" eaLnBrk="0">
                        <a:lnSpc>
                          <a:spcPct val="91000"/>
                        </a:lnSpc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无法转型者出局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2240" indent="6350" algn="l" rtl="0" eaLnBrk="0">
                        <a:lnSpc>
                          <a:spcPct val="138000"/>
                        </a:lnSpc>
                        <a:spcBef>
                          <a:spcPts val="5"/>
                        </a:spcBef>
                      </a:pP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无法适应者将被市场</a:t>
                      </a: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加速淘汰。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22" name="table 322"/>
          <p:cNvGraphicFramePr>
            <a:graphicFrameLocks noGrp="1"/>
          </p:cNvGraphicFramePr>
          <p:nvPr/>
        </p:nvGraphicFramePr>
        <p:xfrm>
          <a:off x="2841614" y="3679829"/>
          <a:ext cx="2698750" cy="1161415"/>
        </p:xfrm>
        <a:graphic>
          <a:graphicData uri="http://schemas.openxmlformats.org/drawingml/2006/table">
            <a:tbl>
              <a:tblPr/>
              <a:tblGrid>
                <a:gridCol w="2698750"/>
              </a:tblGrid>
              <a:tr h="11550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636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b="1" kern="0" spc="3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降</a:t>
                      </a:r>
                      <a:r>
                        <a:rPr sz="600" b="1" kern="0" spc="3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本提效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61440" algn="l" rtl="0" eaLnBrk="0">
                        <a:lnSpc>
                          <a:spcPct val="92000"/>
                        </a:lnSpc>
                        <a:spcBef>
                          <a:spcPts val="115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2025前三季度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61440" algn="l" rtl="0" eaLnBrk="0">
                        <a:lnSpc>
                          <a:spcPts val="800"/>
                        </a:lnSpc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费率再优化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337310" algn="l" rtl="0" eaLnBrk="0">
                        <a:lnSpc>
                          <a:spcPct val="92000"/>
                        </a:lnSpc>
                        <a:spcBef>
                          <a:spcPts val="415"/>
                        </a:spcBef>
                      </a:pPr>
                      <a:r>
                        <a:rPr sz="600" b="1" kern="0" spc="20" dirty="0">
                          <a:solidFill>
                            <a:srgbClr val="2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0.2</a:t>
                      </a:r>
                      <a:r>
                        <a:rPr sz="600" b="1" kern="0" spc="0" dirty="0">
                          <a:solidFill>
                            <a:srgbClr val="2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pct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290" algn="l" rtl="0" eaLnBrk="0">
                        <a:lnSpc>
                          <a:spcPct val="99000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持续压降费用率。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费效持续优化。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24" name="picture 3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7479" y="1269981"/>
            <a:ext cx="2711470" cy="1041404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689579" y="3936989"/>
            <a:ext cx="2921050" cy="469910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283627" y="305232"/>
            <a:ext cx="329692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考核机制质变：从量</a:t>
            </a:r>
            <a:r>
              <a:rPr sz="23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到质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330" name="textbox 330"/>
          <p:cNvSpPr/>
          <p:nvPr/>
        </p:nvSpPr>
        <p:spPr>
          <a:xfrm>
            <a:off x="357436" y="3755224"/>
            <a:ext cx="2442210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0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新中国区总裁信号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539750" algn="l" rtl="0" eaLnBrk="0">
              <a:lnSpc>
                <a:spcPts val="2060"/>
              </a:lnSpc>
            </a:pPr>
            <a:r>
              <a:rPr sz="11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王春凯：“干掉30%运营商”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4425970" y="1123957"/>
            <a:ext cx="1250171" cy="463532"/>
            <a:chOff x="0" y="0"/>
            <a:chExt cx="1250171" cy="463532"/>
          </a:xfrm>
        </p:grpSpPr>
        <p:pic>
          <p:nvPicPr>
            <p:cNvPr id="332" name="picture 33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50799" cy="463532"/>
            </a:xfrm>
            <a:prstGeom prst="rect">
              <a:avLst/>
            </a:prstGeom>
          </p:spPr>
        </p:pic>
        <p:sp>
          <p:nvSpPr>
            <p:cNvPr id="334" name="textbox 334"/>
            <p:cNvSpPr/>
            <p:nvPr/>
          </p:nvSpPr>
          <p:spPr>
            <a:xfrm>
              <a:off x="539689" y="215994"/>
              <a:ext cx="560070" cy="266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5000"/>
                </a:lnSpc>
              </a:pPr>
              <a:r>
                <a:rPr sz="2100" b="1" kern="0" spc="-10" dirty="0">
                  <a:solidFill>
                    <a:srgbClr val="206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50%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6" name="textbox 336"/>
            <p:cNvSpPr/>
            <p:nvPr/>
          </p:nvSpPr>
          <p:spPr>
            <a:xfrm>
              <a:off x="539689" y="-3222"/>
              <a:ext cx="723265" cy="1225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1000"/>
                </a:lnSpc>
              </a:pPr>
              <a:r>
                <a:rPr sz="7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结构品零售金额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5981730" y="1123958"/>
            <a:ext cx="1085626" cy="457205"/>
            <a:chOff x="0" y="0"/>
            <a:chExt cx="1085626" cy="457205"/>
          </a:xfrm>
        </p:grpSpPr>
        <p:pic>
          <p:nvPicPr>
            <p:cNvPr id="338" name="picture 33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57200" cy="457205"/>
            </a:xfrm>
            <a:prstGeom prst="rect">
              <a:avLst/>
            </a:prstGeom>
          </p:spPr>
        </p:pic>
        <p:sp>
          <p:nvSpPr>
            <p:cNvPr id="340" name="textbox 340"/>
            <p:cNvSpPr/>
            <p:nvPr/>
          </p:nvSpPr>
          <p:spPr>
            <a:xfrm>
              <a:off x="533379" y="215993"/>
              <a:ext cx="565150" cy="2667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5000"/>
                </a:lnSpc>
              </a:pPr>
              <a:r>
                <a:rPr sz="2100" b="1" kern="0" spc="10" dirty="0">
                  <a:solidFill>
                    <a:srgbClr val="206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20%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2" name="textbox 342"/>
            <p:cNvSpPr/>
            <p:nvPr/>
          </p:nvSpPr>
          <p:spPr>
            <a:xfrm>
              <a:off x="539689" y="-3223"/>
              <a:ext cx="536575" cy="1225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1000"/>
                </a:lnSpc>
              </a:pPr>
              <a:r>
                <a:rPr sz="7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类自营门店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7448520" y="1123957"/>
            <a:ext cx="1004851" cy="463532"/>
            <a:chOff x="0" y="0"/>
            <a:chExt cx="1004851" cy="463532"/>
          </a:xfrm>
        </p:grpSpPr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57200" cy="463532"/>
            </a:xfrm>
            <a:prstGeom prst="rect">
              <a:avLst/>
            </a:prstGeom>
          </p:spPr>
        </p:pic>
        <p:sp>
          <p:nvSpPr>
            <p:cNvPr id="346" name="textbox 346"/>
            <p:cNvSpPr/>
            <p:nvPr/>
          </p:nvSpPr>
          <p:spPr>
            <a:xfrm>
              <a:off x="514359" y="205576"/>
              <a:ext cx="346075" cy="28448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</a:pPr>
              <a:r>
                <a:rPr sz="2300" b="1" kern="0" spc="-30" dirty="0">
                  <a:solidFill>
                    <a:srgbClr val="2060B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30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48" name="textbox 348"/>
            <p:cNvSpPr/>
            <p:nvPr/>
          </p:nvSpPr>
          <p:spPr>
            <a:xfrm>
              <a:off x="520758" y="-3222"/>
              <a:ext cx="497205" cy="1225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1000"/>
                </a:lnSpc>
              </a:pP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不含税净收</a:t>
              </a:r>
              <a:endParaRPr sz="7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50" name="textbox 350"/>
          <p:cNvSpPr/>
          <p:nvPr/>
        </p:nvSpPr>
        <p:spPr>
          <a:xfrm>
            <a:off x="285760" y="722833"/>
            <a:ext cx="380047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考核从压规模转向零售质量，倒逼渠道从“卖给经销商”转向“卖给消费者。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352" name="textbox 352"/>
          <p:cNvSpPr/>
          <p:nvPr/>
        </p:nvSpPr>
        <p:spPr>
          <a:xfrm>
            <a:off x="3163641" y="2688212"/>
            <a:ext cx="422275" cy="825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b="1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动销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19000"/>
              </a:lnSpc>
              <a:spcBef>
                <a:spcPts val="20"/>
              </a:spcBef>
            </a:pP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零售服务</a:t>
            </a:r>
            <a:r>
              <a:rPr sz="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用户运营</a:t>
            </a:r>
            <a:r>
              <a:rPr sz="7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终端直连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5651459" y="4416762"/>
            <a:ext cx="30753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600" kern="0" spc="10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考核权重重设</a:t>
            </a:r>
            <a:r>
              <a:rPr sz="600" kern="0" spc="10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600" kern="0" spc="10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渠道行为改变</a:t>
            </a:r>
            <a:r>
              <a:rPr sz="600" kern="0" spc="2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600" kern="0" spc="10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终端服务升级</a:t>
            </a:r>
            <a:r>
              <a:rPr sz="600" kern="0" spc="3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700" kern="0" spc="1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经营质量改善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5695990" y="4593768"/>
            <a:ext cx="3121025" cy="109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重塑考核导向。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600" kern="0" spc="30" dirty="0">
                <a:solidFill>
                  <a:srgbClr val="60A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从压货转向动销。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提升终端竞争力。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获得可持续增长。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4768880" y="4404161"/>
            <a:ext cx="729615" cy="379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运营中心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69850" indent="-57150" algn="l" rtl="0" eaLnBrk="0">
              <a:lnSpc>
                <a:spcPct val="147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年内三次调整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组织更敏捷高效。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5695990" y="3750959"/>
            <a:ext cx="18738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因果链路：从考核到经营质量改</a:t>
            </a:r>
            <a:r>
              <a:rPr sz="900" kern="0" spc="6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62" name="textbox 362"/>
          <p:cNvSpPr/>
          <p:nvPr/>
        </p:nvSpPr>
        <p:spPr>
          <a:xfrm>
            <a:off x="393659" y="4587628"/>
            <a:ext cx="2321560" cy="11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●释放强烈信号：以零售质量为核心的渠道重塑加速落地。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64" name="textbox 364"/>
          <p:cNvSpPr/>
          <p:nvPr/>
        </p:nvSpPr>
        <p:spPr>
          <a:xfrm>
            <a:off x="3301999" y="1488967"/>
            <a:ext cx="911225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50%权重把高价值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结构品变为销售主轴。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366" name="picture 36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68320" y="3949693"/>
            <a:ext cx="438089" cy="450879"/>
          </a:xfrm>
          <a:prstGeom prst="rect">
            <a:avLst/>
          </a:prstGeom>
        </p:spPr>
      </p:pic>
      <p:sp>
        <p:nvSpPr>
          <p:cNvPr id="368" name="textbox 368"/>
          <p:cNvSpPr/>
          <p:nvPr/>
        </p:nvSpPr>
        <p:spPr>
          <a:xfrm>
            <a:off x="363927" y="1063049"/>
            <a:ext cx="1300480" cy="169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区域经理新考核权重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370" name="textbox 370"/>
          <p:cNvSpPr/>
          <p:nvPr/>
        </p:nvSpPr>
        <p:spPr>
          <a:xfrm>
            <a:off x="966430" y="4300991"/>
            <a:ext cx="1631315" cy="134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5"/>
              </a:lnSpc>
            </a:pPr>
            <a:r>
              <a:rPr sz="1000" b="1" kern="0" spc="80" baseline="8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库存周转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700" b="1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资金回笼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000" b="1" kern="0" spc="80" baseline="-3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零售能</a:t>
            </a:r>
            <a:r>
              <a:rPr sz="1000" b="1" kern="0" spc="70" baseline="-3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</a:t>
            </a:r>
            <a:endParaRPr sz="1000" baseline="-3000" dirty="0">
              <a:latin typeface="SimHei"/>
              <a:ea typeface="SimHei"/>
              <a:cs typeface="SimHei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775179" y="3949693"/>
            <a:ext cx="393740" cy="431796"/>
          </a:xfrm>
          <a:prstGeom prst="rect">
            <a:avLst/>
          </a:prstGeom>
        </p:spPr>
      </p:pic>
      <p:sp>
        <p:nvSpPr>
          <p:cNvPr id="374" name="textbox 374"/>
          <p:cNvSpPr/>
          <p:nvPr/>
        </p:nvSpPr>
        <p:spPr>
          <a:xfrm>
            <a:off x="3302000" y="1850585"/>
            <a:ext cx="765810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</a:pP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30%规模指标降级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削弱压货冲动。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376" name="picture 37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97320" y="3962398"/>
            <a:ext cx="380939" cy="387357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829300" y="2597159"/>
            <a:ext cx="400050" cy="330212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781330" y="2882880"/>
            <a:ext cx="196778" cy="660425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4465904" y="2352672"/>
            <a:ext cx="941705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经销商转型压力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096280" y="2571750"/>
            <a:ext cx="349209" cy="349243"/>
          </a:xfrm>
          <a:prstGeom prst="rect">
            <a:avLst/>
          </a:prstGeom>
        </p:spPr>
      </p:pic>
      <p:pic>
        <p:nvPicPr>
          <p:cNvPr id="386" name="picture 38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724430" y="2578077"/>
            <a:ext cx="361919" cy="336590"/>
          </a:xfrm>
          <a:prstGeom prst="rect">
            <a:avLst/>
          </a:prstGeom>
        </p:spPr>
      </p:pic>
      <p:sp>
        <p:nvSpPr>
          <p:cNvPr id="388" name="textbox 388"/>
          <p:cNvSpPr/>
          <p:nvPr/>
        </p:nvSpPr>
        <p:spPr>
          <a:xfrm>
            <a:off x="768380" y="2689574"/>
            <a:ext cx="233045" cy="5994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压货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8415" indent="-5715" algn="l" rtl="0" eaLnBrk="0">
              <a:lnSpc>
                <a:spcPct val="223000"/>
              </a:lnSpc>
              <a:spcBef>
                <a:spcPts val="10"/>
              </a:spcBef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返利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规模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390" name="picture 39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946880" y="2559045"/>
            <a:ext cx="323880" cy="349243"/>
          </a:xfrm>
          <a:prstGeom prst="rect">
            <a:avLst/>
          </a:prstGeom>
        </p:spPr>
      </p:pic>
      <p:sp>
        <p:nvSpPr>
          <p:cNvPr id="392" name="textbox 392"/>
          <p:cNvSpPr/>
          <p:nvPr/>
        </p:nvSpPr>
        <p:spPr>
          <a:xfrm>
            <a:off x="768380" y="3381354"/>
            <a:ext cx="4229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代理层级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94" name="textbox 394"/>
          <p:cNvSpPr/>
          <p:nvPr/>
        </p:nvSpPr>
        <p:spPr>
          <a:xfrm>
            <a:off x="3271450" y="3964279"/>
            <a:ext cx="4356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销售费用率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560162" y="2478666"/>
            <a:ext cx="3511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旧</a:t>
            </a:r>
            <a:r>
              <a:rPr sz="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</a:t>
            </a:r>
            <a:r>
              <a:rPr sz="7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辑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3441720" y="1236353"/>
            <a:ext cx="2743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00" name="textbox 400"/>
          <p:cNvSpPr/>
          <p:nvPr/>
        </p:nvSpPr>
        <p:spPr>
          <a:xfrm>
            <a:off x="3162279" y="2473269"/>
            <a:ext cx="33528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新逻辑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402" name="textbox 402"/>
          <p:cNvSpPr/>
          <p:nvPr/>
        </p:nvSpPr>
        <p:spPr>
          <a:xfrm>
            <a:off x="3207900" y="4197583"/>
            <a:ext cx="3543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b="1" kern="0" spc="20" dirty="0">
                <a:solidFill>
                  <a:srgbClr val="2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-0.12</a:t>
            </a:r>
            <a:r>
              <a:rPr sz="600" b="1" kern="0" spc="0" dirty="0">
                <a:solidFill>
                  <a:srgbClr val="206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pct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8686809" y="4870746"/>
            <a:ext cx="15494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6" name="textbox 406"/>
          <p:cNvSpPr/>
          <p:nvPr/>
        </p:nvSpPr>
        <p:spPr>
          <a:xfrm>
            <a:off x="3276579" y="4074000"/>
            <a:ext cx="18351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 rot="21600000">
            <a:off x="3530590" y="2920993"/>
            <a:ext cx="5403829" cy="1206511"/>
            <a:chOff x="0" y="0"/>
            <a:chExt cx="5403829" cy="1206511"/>
          </a:xfrm>
        </p:grpSpPr>
        <p:pic>
          <p:nvPicPr>
            <p:cNvPr id="408" name="picture 4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403829" cy="1206511"/>
            </a:xfrm>
            <a:prstGeom prst="rect">
              <a:avLst/>
            </a:prstGeom>
          </p:spPr>
        </p:pic>
        <p:sp>
          <p:nvSpPr>
            <p:cNvPr id="410" name="textbox 410"/>
            <p:cNvSpPr/>
            <p:nvPr/>
          </p:nvSpPr>
          <p:spPr>
            <a:xfrm>
              <a:off x="152440" y="87038"/>
              <a:ext cx="4867275" cy="98678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</a:pPr>
              <a:r>
                <a:rPr sz="900" kern="0" spc="140" dirty="0">
                  <a:solidFill>
                    <a:srgbClr val="206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全渠道融合逻辑</a:t>
              </a:r>
              <a:endParaRPr sz="900" dirty="0">
                <a:latin typeface="SimHei"/>
                <a:ea typeface="SimHei"/>
                <a:cs typeface="SimHei"/>
              </a:endParaRPr>
            </a:p>
            <a:p>
              <a:pPr marL="4317365" algn="l" rtl="0" eaLnBrk="0">
                <a:lnSpc>
                  <a:spcPct val="91000"/>
                </a:lnSpc>
                <a:spcBef>
                  <a:spcPts val="475"/>
                </a:spcBef>
              </a:pPr>
              <a:r>
                <a:rPr sz="700" kern="0" spc="20" dirty="0">
                  <a:solidFill>
                    <a:srgbClr val="206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洞察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algn="r" rtl="0" eaLnBrk="0">
                <a:lnSpc>
                  <a:spcPct val="91000"/>
                </a:lnSpc>
                <a:spcBef>
                  <a:spcPts val="640"/>
                </a:spcBef>
              </a:pPr>
              <a:r>
                <a:rPr sz="7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从单点渠道投放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marL="2723515" algn="l" rtl="0" eaLnBrk="0">
                <a:lnSpc>
                  <a:spcPts val="855"/>
                </a:lnSpc>
                <a:spcBef>
                  <a:spcPts val="435"/>
                </a:spcBef>
              </a:pPr>
              <a:r>
                <a:rPr sz="1000" kern="0" spc="50" baseline="-3000" dirty="0">
                  <a:solidFill>
                    <a:srgbClr val="204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履约服务</a:t>
              </a:r>
              <a:r>
                <a:rPr sz="600" kern="0" spc="40" dirty="0">
                  <a:solidFill>
                    <a:srgbClr val="204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</a:t>
              </a:r>
              <a:r>
                <a:rPr sz="1000" kern="0" spc="50" baseline="8000" dirty="0">
                  <a:solidFill>
                    <a:srgbClr val="204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用户复购</a:t>
              </a:r>
              <a:endParaRPr sz="1000" baseline="8000" dirty="0">
                <a:latin typeface="SimHei"/>
                <a:ea typeface="SimHei"/>
                <a:cs typeface="SimHei"/>
              </a:endParaRPr>
            </a:p>
            <a:p>
              <a:pPr marL="4190365" algn="l" rtl="0" eaLnBrk="0">
                <a:lnSpc>
                  <a:spcPts val="760"/>
                </a:lnSpc>
                <a:spcBef>
                  <a:spcPts val="150"/>
                </a:spcBef>
              </a:pPr>
              <a:r>
                <a:rPr sz="6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运营。</a:t>
              </a:r>
              <a:endParaRPr sz="600" dirty="0">
                <a:latin typeface="SimHei"/>
                <a:ea typeface="SimHei"/>
                <a:cs typeface="SimHei"/>
              </a:endParaRPr>
            </a:p>
            <a:p>
              <a:pPr marL="3009265" algn="l" rtl="0" eaLnBrk="0">
                <a:lnSpc>
                  <a:spcPct val="92000"/>
                </a:lnSpc>
                <a:spcBef>
                  <a:spcPts val="180"/>
                </a:spcBef>
              </a:pPr>
              <a:r>
                <a:rPr sz="600" kern="0" spc="70" dirty="0">
                  <a:solidFill>
                    <a:srgbClr val="1050B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用户数据闭环</a:t>
              </a:r>
              <a:endParaRPr sz="6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49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09265" algn="l" rtl="0" eaLnBrk="0">
                <a:lnSpc>
                  <a:spcPct val="93000"/>
                </a:lnSpc>
                <a:spcBef>
                  <a:spcPts val="0"/>
                </a:spcBef>
              </a:pPr>
              <a:r>
                <a:rPr sz="500" kern="0" spc="6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数据贯通，驱动精细化运营</a:t>
              </a:r>
              <a:endParaRPr sz="5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412" name="table 412"/>
          <p:cNvGraphicFramePr>
            <a:graphicFrameLocks noGrp="1"/>
          </p:cNvGraphicFramePr>
          <p:nvPr/>
        </p:nvGraphicFramePr>
        <p:xfrm>
          <a:off x="3714750" y="2178066"/>
          <a:ext cx="3851275" cy="615315"/>
        </p:xfrm>
        <a:graphic>
          <a:graphicData uri="http://schemas.openxmlformats.org/drawingml/2006/table">
            <a:tbl>
              <a:tblPr/>
              <a:tblGrid>
                <a:gridCol w="747395"/>
                <a:gridCol w="1069975"/>
                <a:gridCol w="953770"/>
                <a:gridCol w="1080135"/>
              </a:tblGrid>
              <a:tr h="6153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85000"/>
                        </a:lnSpc>
                      </a:pPr>
                      <a:r>
                        <a:rPr sz="6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声</a:t>
                      </a:r>
                      <a:r>
                        <a:rPr sz="600" kern="0" spc="-6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量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15265" algn="l" rtl="0" eaLnBrk="0">
                        <a:lnSpc>
                          <a:spcPct val="85000"/>
                        </a:lnSpc>
                        <a:spcBef>
                          <a:spcPts val="435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总曝光量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15265" algn="l" rtl="0" eaLnBrk="0">
                        <a:lnSpc>
                          <a:spcPts val="1365"/>
                        </a:lnSpc>
                        <a:spcBef>
                          <a:spcPts val="280"/>
                        </a:spcBef>
                      </a:pPr>
                      <a:r>
                        <a:rPr sz="10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5.8</a:t>
                      </a:r>
                      <a:r>
                        <a:rPr sz="1000" kern="0" spc="14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亿</a:t>
                      </a:r>
                      <a:endParaRPr sz="10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4165" algn="l" rtl="0" eaLnBrk="0">
                        <a:lnSpc>
                          <a:spcPts val="730"/>
                        </a:lnSpc>
                        <a:spcBef>
                          <a:spcPts val="0"/>
                        </a:spcBef>
                      </a:pPr>
                      <a:r>
                        <a:rPr sz="1000" b="1" kern="0" spc="-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lilail</a:t>
                      </a: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7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9255"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  <a:tabLst>
                          <a:tab pos="42608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转</a:t>
                      </a:r>
                      <a:r>
                        <a:rPr sz="700" kern="0" spc="0" dirty="0">
                          <a:solidFill>
                            <a:srgbClr val="204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化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439420" algn="l" rtl="0" eaLnBrk="0">
                        <a:lnSpc>
                          <a:spcPct val="87000"/>
                        </a:lnSpc>
                        <a:spcBef>
                          <a:spcPts val="425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支付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06705" algn="l" rtl="0" eaLnBrk="0">
                        <a:lnSpc>
                          <a:spcPts val="1770"/>
                        </a:lnSpc>
                      </a:pPr>
                      <a:r>
                        <a:rPr sz="1300" kern="0" spc="0" dirty="0">
                          <a:solidFill>
                            <a:srgbClr val="2070C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6000</a:t>
                      </a:r>
                      <a:r>
                        <a:rPr sz="700" kern="0" spc="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万元+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94970" algn="l" rtl="0" eaLnBrk="0">
                        <a:lnSpc>
                          <a:spcPct val="69000"/>
                        </a:lnSpc>
                        <a:spcBef>
                          <a:spcPts val="195"/>
                        </a:spcBef>
                      </a:pPr>
                      <a:r>
                        <a:rPr sz="900" b="1" kern="0" spc="0" dirty="0">
                          <a:solidFill>
                            <a:srgbClr val="2070C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lililalll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ct val="92000"/>
                        </a:lnSpc>
                      </a:pPr>
                      <a:r>
                        <a:rPr sz="600" kern="0" spc="10" dirty="0">
                          <a:solidFill>
                            <a:srgbClr val="204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</a:t>
                      </a:r>
                      <a:r>
                        <a:rPr sz="600" kern="0" spc="-90" dirty="0">
                          <a:solidFill>
                            <a:srgbClr val="204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10" dirty="0">
                          <a:solidFill>
                            <a:srgbClr val="204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索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79730" algn="l" rtl="0" eaLnBrk="0">
                        <a:lnSpc>
                          <a:spcPct val="93000"/>
                        </a:lnSpc>
                        <a:spcBef>
                          <a:spcPts val="490"/>
                        </a:spcBef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商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</a:t>
                      </a:r>
                      <a:r>
                        <a:rPr sz="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</a:t>
                      </a:r>
                      <a:r>
                        <a:rPr sz="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索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15595" algn="l" rtl="0" eaLnBrk="0">
                        <a:lnSpc>
                          <a:spcPct val="75000"/>
                        </a:lnSpc>
                        <a:spcBef>
                          <a:spcPts val="625"/>
                        </a:spcBef>
                      </a:pPr>
                      <a:r>
                        <a:rPr sz="1600" kern="0" spc="-40" baseline="-300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</a:t>
                      </a:r>
                      <a:r>
                        <a:rPr sz="1000" kern="0" spc="1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-4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万+条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7980" algn="l" rtl="0" eaLnBrk="0">
                        <a:lnSpc>
                          <a:spcPts val="645"/>
                        </a:lnSpc>
                        <a:spcBef>
                          <a:spcPts val="5"/>
                        </a:spcBef>
                      </a:pPr>
                      <a:r>
                        <a:rPr sz="900" b="1" kern="0" spc="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lilutiall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0525" algn="l" rtl="0" eaLnBrk="0">
                        <a:lnSpc>
                          <a:spcPct val="90000"/>
                        </a:lnSpc>
                        <a:spcBef>
                          <a:spcPts val="0"/>
                        </a:spcBef>
                      </a:pPr>
                      <a:r>
                        <a:rPr sz="700" kern="0" spc="2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峰值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r" rtl="0" eaLnBrk="0">
                        <a:lnSpc>
                          <a:spcPct val="90000"/>
                        </a:lnSpc>
                        <a:spcBef>
                          <a:spcPts val="355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行业单日销售额峰值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390525" algn="l" rtl="0" eaLnBrk="0">
                        <a:lnSpc>
                          <a:spcPct val="90000"/>
                        </a:lnSpc>
                        <a:spcBef>
                          <a:spcPts val="645"/>
                        </a:spcBef>
                      </a:pPr>
                      <a:r>
                        <a:rPr sz="800" kern="0" spc="1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创历史纪录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69000"/>
                        </a:lnSpc>
                        <a:spcBef>
                          <a:spcPts val="0"/>
                        </a:spcBef>
                      </a:pPr>
                      <a:r>
                        <a:rPr sz="900" b="1" kern="0" spc="0" dirty="0">
                          <a:solidFill>
                            <a:srgbClr val="2070C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lililulil</a:t>
                      </a: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414" name="picture 4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67530" y="2178066"/>
            <a:ext cx="203179" cy="182477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95980" y="2178066"/>
            <a:ext cx="184160" cy="190463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667280" y="2178066"/>
            <a:ext cx="184160" cy="183879"/>
          </a:xfrm>
          <a:prstGeom prst="rect">
            <a:avLst/>
          </a:prstGeom>
        </p:spPr>
      </p:pic>
      <p:pic>
        <p:nvPicPr>
          <p:cNvPr id="420" name="picture 4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714750" y="2178066"/>
            <a:ext cx="209580" cy="177759"/>
          </a:xfrm>
          <a:prstGeom prst="rect">
            <a:avLst/>
          </a:prstGeom>
        </p:spPr>
      </p:pic>
      <p:sp>
        <p:nvSpPr>
          <p:cNvPr id="422" name="textbox 422"/>
          <p:cNvSpPr/>
          <p:nvPr/>
        </p:nvSpPr>
        <p:spPr>
          <a:xfrm>
            <a:off x="371871" y="307046"/>
            <a:ext cx="294513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门店智能化与全渠道融合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730250" y="1392287"/>
            <a:ext cx="255587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600" kern="0" spc="-90" baseline="-40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2000家</a:t>
            </a:r>
            <a:r>
              <a:rPr sz="1600" kern="0" spc="-9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600" kern="0" spc="-1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400" kern="0" spc="10" baseline="1900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20%</a:t>
            </a:r>
            <a:endParaRPr sz="1400" baseline="19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2349469" y="3320114"/>
            <a:ext cx="1019810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8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门店不再只是交易终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点，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而是体验、履约与用户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数据采集入口。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330200" y="819158"/>
            <a:ext cx="1425575" cy="308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ct val="86000"/>
              </a:lnSpc>
              <a:spcBef>
                <a:spcPts val="5"/>
              </a:spcBef>
              <a:tabLst>
                <a:tab pos="370205" algn="l"/>
              </a:tabLst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终端升级规模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42900" y="831858"/>
            <a:ext cx="298460" cy="279394"/>
          </a:xfrm>
          <a:prstGeom prst="rect">
            <a:avLst/>
          </a:prstGeom>
        </p:spPr>
      </p:pic>
      <p:sp>
        <p:nvSpPr>
          <p:cNvPr id="432" name="textbox 432"/>
          <p:cNvSpPr/>
          <p:nvPr/>
        </p:nvSpPr>
        <p:spPr>
          <a:xfrm>
            <a:off x="5213370" y="4365996"/>
            <a:ext cx="1003300" cy="398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2000"/>
              </a:lnSpc>
            </a:pP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内容平台转化前置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内容场景与交易场景融合，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转化链路更短、效率更高。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34" name="textbox 434"/>
          <p:cNvSpPr/>
          <p:nvPr/>
        </p:nvSpPr>
        <p:spPr>
          <a:xfrm>
            <a:off x="7861289" y="2288709"/>
            <a:ext cx="953135" cy="397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2000"/>
              </a:lnSpc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内容场景与交易场景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合并，活动不止带货，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也沉淀线索资产。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36" name="textbox 436"/>
          <p:cNvSpPr/>
          <p:nvPr/>
        </p:nvSpPr>
        <p:spPr>
          <a:xfrm>
            <a:off x="7258060" y="4507665"/>
            <a:ext cx="124142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1" rIns="0" bIns="0"/>
          <a:lstStyle/>
          <a:p>
            <a:pPr marL="12700" algn="l" rtl="0" eaLnBrk="0">
              <a:lnSpc>
                <a:spcPct val="133000"/>
              </a:lnSpc>
              <a:spcBef>
                <a:spcPts val="5"/>
              </a:spcBef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全渠道数据闭环，沉淀用户资产，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驱动复购与长期价值。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38" name="textbox 438"/>
          <p:cNvSpPr/>
          <p:nvPr/>
        </p:nvSpPr>
        <p:spPr>
          <a:xfrm>
            <a:off x="3143260" y="4507665"/>
            <a:ext cx="121031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300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近场仓接入布局，缩短履约半径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5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提升时效与服务体验。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440" name="textbox 440"/>
          <p:cNvSpPr/>
          <p:nvPr/>
        </p:nvSpPr>
        <p:spPr>
          <a:xfrm>
            <a:off x="1035019" y="4523496"/>
            <a:ext cx="1212850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2000"/>
              </a:lnSpc>
            </a:pP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门店从交易终点升级为体验、履约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与数据采集入口。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42" name="textbox 442"/>
          <p:cNvSpPr/>
          <p:nvPr/>
        </p:nvSpPr>
        <p:spPr>
          <a:xfrm>
            <a:off x="3683030" y="804735"/>
            <a:ext cx="145796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即时零售合作：天猫闪购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44" name="textbox 444"/>
          <p:cNvSpPr/>
          <p:nvPr/>
        </p:nvSpPr>
        <p:spPr>
          <a:xfrm>
            <a:off x="730249" y="2619684"/>
            <a:ext cx="135509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1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线下体验+线上成交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446" name="textbox 446"/>
          <p:cNvSpPr/>
          <p:nvPr/>
        </p:nvSpPr>
        <p:spPr>
          <a:xfrm>
            <a:off x="6680159" y="1273621"/>
            <a:ext cx="2052954" cy="127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95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门店仓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平台下单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小时达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售后服务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48" name="textbox 448"/>
          <p:cNvSpPr/>
          <p:nvPr/>
        </p:nvSpPr>
        <p:spPr>
          <a:xfrm>
            <a:off x="3683030" y="1934840"/>
            <a:ext cx="15341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3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抖音大牌日联动(2026.3)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50" name="textbox 450"/>
          <p:cNvSpPr/>
          <p:nvPr/>
        </p:nvSpPr>
        <p:spPr>
          <a:xfrm>
            <a:off x="5867440" y="1173906"/>
            <a:ext cx="577850" cy="330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8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品牌官方正品，</a:t>
            </a:r>
            <a:r>
              <a:rPr sz="900" kern="0" spc="8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小时送达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452" name="picture 4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578309" y="4406899"/>
            <a:ext cx="565190" cy="279394"/>
          </a:xfrm>
          <a:prstGeom prst="rect">
            <a:avLst/>
          </a:prstGeom>
        </p:spPr>
      </p:pic>
      <p:sp>
        <p:nvSpPr>
          <p:cNvPr id="454" name="textbox 454"/>
          <p:cNvSpPr/>
          <p:nvPr/>
        </p:nvSpPr>
        <p:spPr>
          <a:xfrm>
            <a:off x="6819880" y="1637490"/>
            <a:ext cx="16986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近场履约压缩等待时间，提升高频触达能力。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56" name="textbox 456"/>
          <p:cNvSpPr/>
          <p:nvPr/>
        </p:nvSpPr>
        <p:spPr>
          <a:xfrm>
            <a:off x="5092669" y="3515055"/>
            <a:ext cx="1047114" cy="139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00"/>
              </a:lnSpc>
            </a:pPr>
            <a:r>
              <a:rPr sz="1100" kern="0" spc="20" baseline="600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门店体验</a:t>
            </a:r>
            <a:r>
              <a:rPr sz="700" kern="0" spc="5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000" kern="0" spc="20" baseline="-4000" dirty="0">
                <a:solidFill>
                  <a:srgbClr val="20406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线上成交</a:t>
            </a:r>
            <a:endParaRPr sz="1000" baseline="-4000" dirty="0">
              <a:latin typeface="SimHei"/>
              <a:ea typeface="SimHei"/>
              <a:cs typeface="SimHei"/>
            </a:endParaRPr>
          </a:p>
        </p:txBody>
      </p:sp>
      <p:sp>
        <p:nvSpPr>
          <p:cNvPr id="458" name="textbox 458"/>
          <p:cNvSpPr/>
          <p:nvPr/>
        </p:nvSpPr>
        <p:spPr>
          <a:xfrm>
            <a:off x="3683030" y="3521206"/>
            <a:ext cx="1097280" cy="134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5"/>
              </a:lnSpc>
            </a:pPr>
            <a:r>
              <a:rPr sz="1000" kern="0" spc="70" baseline="-200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公域引流</a:t>
            </a:r>
            <a:r>
              <a:rPr sz="600" kern="0" spc="3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000" kern="0" spc="70" baseline="8000" dirty="0">
                <a:solidFill>
                  <a:srgbClr val="204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私域运营</a:t>
            </a:r>
            <a:endParaRPr sz="1000" baseline="8000" dirty="0">
              <a:latin typeface="SimHei"/>
              <a:ea typeface="SimHei"/>
              <a:cs typeface="SimHei"/>
            </a:endParaRPr>
          </a:p>
        </p:txBody>
      </p:sp>
      <p:pic>
        <p:nvPicPr>
          <p:cNvPr id="460" name="picture 46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42900" y="1885967"/>
            <a:ext cx="323880" cy="336539"/>
          </a:xfrm>
          <a:prstGeom prst="rect">
            <a:avLst/>
          </a:prstGeom>
        </p:spPr>
      </p:pic>
      <p:sp>
        <p:nvSpPr>
          <p:cNvPr id="462" name="textbox 462"/>
          <p:cNvSpPr/>
          <p:nvPr/>
        </p:nvSpPr>
        <p:spPr>
          <a:xfrm>
            <a:off x="2120869" y="3047991"/>
            <a:ext cx="465455" cy="267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0000"/>
              </a:lnSpc>
              <a:spcBef>
                <a:spcPts val="5"/>
              </a:spcBef>
            </a:pPr>
            <a:r>
              <a:rPr sz="8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464" name="picture 46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133569" y="3060691"/>
            <a:ext cx="222290" cy="241333"/>
          </a:xfrm>
          <a:prstGeom prst="rect">
            <a:avLst/>
          </a:prstGeom>
        </p:spPr>
      </p:pic>
      <p:pic>
        <p:nvPicPr>
          <p:cNvPr id="466" name="picture 4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686300" y="1149366"/>
            <a:ext cx="292059" cy="330161"/>
          </a:xfrm>
          <a:prstGeom prst="rect">
            <a:avLst/>
          </a:prstGeom>
        </p:spPr>
      </p:pic>
      <p:pic>
        <p:nvPicPr>
          <p:cNvPr id="468" name="picture 4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42900" y="1301768"/>
            <a:ext cx="311170" cy="298425"/>
          </a:xfrm>
          <a:prstGeom prst="rect">
            <a:avLst/>
          </a:prstGeom>
        </p:spPr>
      </p:pic>
      <p:pic>
        <p:nvPicPr>
          <p:cNvPr id="470" name="picture 47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55610" y="2476492"/>
            <a:ext cx="298460" cy="304803"/>
          </a:xfrm>
          <a:prstGeom prst="rect">
            <a:avLst/>
          </a:prstGeom>
        </p:spPr>
      </p:pic>
      <p:pic>
        <p:nvPicPr>
          <p:cNvPr id="472" name="picture 47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740170" y="1149367"/>
            <a:ext cx="298460" cy="292099"/>
          </a:xfrm>
          <a:prstGeom prst="rect">
            <a:avLst/>
          </a:prstGeom>
        </p:spPr>
      </p:pic>
      <p:sp>
        <p:nvSpPr>
          <p:cNvPr id="474" name="textbox 474"/>
          <p:cNvSpPr/>
          <p:nvPr/>
        </p:nvSpPr>
        <p:spPr>
          <a:xfrm>
            <a:off x="730249" y="2089349"/>
            <a:ext cx="576580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500" b="1" kern="0" spc="2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1500" b="1" kern="0" spc="2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1500" b="1" kern="0" spc="-11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kern="0" spc="20" baseline="40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万家</a:t>
            </a:r>
            <a:endParaRPr sz="1400" baseline="4000" dirty="0">
              <a:latin typeface="SimHei"/>
              <a:ea typeface="SimHei"/>
              <a:cs typeface="SimHei"/>
            </a:endParaRPr>
          </a:p>
        </p:txBody>
      </p:sp>
      <p:pic>
        <p:nvPicPr>
          <p:cNvPr id="476" name="picture 47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816840" y="990586"/>
            <a:ext cx="304769" cy="273068"/>
          </a:xfrm>
          <a:prstGeom prst="rect">
            <a:avLst/>
          </a:prstGeom>
        </p:spPr>
      </p:pic>
      <p:sp>
        <p:nvSpPr>
          <p:cNvPr id="478" name="textbox 478"/>
          <p:cNvSpPr/>
          <p:nvPr/>
        </p:nvSpPr>
        <p:spPr>
          <a:xfrm>
            <a:off x="730250" y="1870463"/>
            <a:ext cx="77279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智能化升级门店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480" name="picture 48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806659" y="4394195"/>
            <a:ext cx="273131" cy="298477"/>
          </a:xfrm>
          <a:prstGeom prst="rect">
            <a:avLst/>
          </a:prstGeom>
        </p:spPr>
      </p:pic>
      <p:pic>
        <p:nvPicPr>
          <p:cNvPr id="482" name="picture 48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420071" y="996964"/>
            <a:ext cx="298460" cy="273016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5607009" y="1174776"/>
            <a:ext cx="266730" cy="292099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6667530" y="1003291"/>
            <a:ext cx="285750" cy="260363"/>
          </a:xfrm>
          <a:prstGeom prst="rect">
            <a:avLst/>
          </a:prstGeom>
        </p:spPr>
      </p:pic>
      <p:sp>
        <p:nvSpPr>
          <p:cNvPr id="488" name="textbox 488"/>
          <p:cNvSpPr/>
          <p:nvPr/>
        </p:nvSpPr>
        <p:spPr>
          <a:xfrm>
            <a:off x="4051259" y="1208270"/>
            <a:ext cx="347345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770"/>
              </a:lnSpc>
            </a:pPr>
            <a:r>
              <a:rPr sz="1100" kern="0" spc="-3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90 </a:t>
            </a:r>
            <a:r>
              <a:rPr sz="1100" kern="0" spc="-3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90" name="picture 49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85800" y="4419604"/>
            <a:ext cx="260329" cy="260363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258050" y="996964"/>
            <a:ext cx="260329" cy="260312"/>
          </a:xfrm>
          <a:prstGeom prst="rect">
            <a:avLst/>
          </a:prstGeom>
        </p:spPr>
      </p:pic>
      <p:sp>
        <p:nvSpPr>
          <p:cNvPr id="494" name="textbox 494"/>
          <p:cNvSpPr/>
          <p:nvPr/>
        </p:nvSpPr>
        <p:spPr>
          <a:xfrm>
            <a:off x="7861290" y="3520958"/>
            <a:ext cx="78105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转为用户生命周期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496" name="textbox 496"/>
          <p:cNvSpPr/>
          <p:nvPr/>
        </p:nvSpPr>
        <p:spPr>
          <a:xfrm>
            <a:off x="7258060" y="4365996"/>
            <a:ext cx="6705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用户资文沉淀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498" name="textbox 498"/>
          <p:cNvSpPr/>
          <p:nvPr/>
        </p:nvSpPr>
        <p:spPr>
          <a:xfrm>
            <a:off x="1035019" y="4365615"/>
            <a:ext cx="6578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终端角色升级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00" name="textbox 500"/>
          <p:cNvSpPr/>
          <p:nvPr/>
        </p:nvSpPr>
        <p:spPr>
          <a:xfrm>
            <a:off x="5003790" y="1231066"/>
            <a:ext cx="32893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65"/>
              </a:lnSpc>
            </a:pPr>
            <a:r>
              <a:rPr sz="1000" kern="0" spc="-3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19</a:t>
            </a:r>
            <a:r>
              <a:rPr sz="1000" kern="0" spc="7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-3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sp>
        <p:nvSpPr>
          <p:cNvPr id="502" name="textbox 502"/>
          <p:cNvSpPr/>
          <p:nvPr/>
        </p:nvSpPr>
        <p:spPr>
          <a:xfrm>
            <a:off x="3143260" y="4365615"/>
            <a:ext cx="6388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履约半径缩短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5327670" y="3898180"/>
            <a:ext cx="86169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统一价格与权益，提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升信任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730250" y="1275179"/>
            <a:ext cx="56324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标准化门店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08" name="textbox 508"/>
          <p:cNvSpPr/>
          <p:nvPr/>
        </p:nvSpPr>
        <p:spPr>
          <a:xfrm>
            <a:off x="317489" y="4202682"/>
            <a:ext cx="5022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3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经营含义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10" name="textbox 510"/>
          <p:cNvSpPr/>
          <p:nvPr/>
        </p:nvSpPr>
        <p:spPr>
          <a:xfrm>
            <a:off x="5321270" y="3767627"/>
            <a:ext cx="7143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线上线</a:t>
            </a:r>
            <a:r>
              <a:rPr sz="600" kern="0" spc="7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下同价同权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512" name="picture 51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972300" y="4432308"/>
            <a:ext cx="228600" cy="241281"/>
          </a:xfrm>
          <a:prstGeom prst="rect">
            <a:avLst/>
          </a:prstGeom>
        </p:spPr>
      </p:pic>
      <p:sp>
        <p:nvSpPr>
          <p:cNvPr id="514" name="textbox 514"/>
          <p:cNvSpPr/>
          <p:nvPr/>
        </p:nvSpPr>
        <p:spPr>
          <a:xfrm>
            <a:off x="4006819" y="3894857"/>
            <a:ext cx="80264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多平台、多触点高效引流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516" name="textbox 516"/>
          <p:cNvSpPr/>
          <p:nvPr/>
        </p:nvSpPr>
        <p:spPr>
          <a:xfrm>
            <a:off x="3810040" y="1475272"/>
            <a:ext cx="6197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线下门店仓接入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18" name="textbox 518"/>
          <p:cNvSpPr/>
          <p:nvPr/>
        </p:nvSpPr>
        <p:spPr>
          <a:xfrm>
            <a:off x="3022559" y="2036995"/>
            <a:ext cx="26162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1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70%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0" name="textbox 520"/>
          <p:cNvSpPr/>
          <p:nvPr/>
        </p:nvSpPr>
        <p:spPr>
          <a:xfrm>
            <a:off x="8699520" y="4831372"/>
            <a:ext cx="1822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-1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22" name="textbox 522"/>
          <p:cNvSpPr/>
          <p:nvPr/>
        </p:nvSpPr>
        <p:spPr>
          <a:xfrm>
            <a:off x="4006819" y="3768287"/>
            <a:ext cx="3714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公域引流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24" name="textbox 524"/>
          <p:cNvSpPr/>
          <p:nvPr/>
        </p:nvSpPr>
        <p:spPr>
          <a:xfrm>
            <a:off x="4083080" y="1114563"/>
            <a:ext cx="26797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首批近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26" name="textbox 526"/>
          <p:cNvSpPr/>
          <p:nvPr/>
        </p:nvSpPr>
        <p:spPr>
          <a:xfrm>
            <a:off x="730250" y="2461664"/>
            <a:ext cx="226059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模式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28" name="textbox 528"/>
          <p:cNvSpPr/>
          <p:nvPr/>
        </p:nvSpPr>
        <p:spPr>
          <a:xfrm>
            <a:off x="196880" y="307046"/>
            <a:ext cx="98425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80"/>
              </a:lnSpc>
            </a:pPr>
            <a:r>
              <a:rPr sz="1200" kern="0" spc="-4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7981989" y="2099049"/>
            <a:ext cx="2114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32" name="textbox 532"/>
          <p:cNvSpPr/>
          <p:nvPr/>
        </p:nvSpPr>
        <p:spPr>
          <a:xfrm>
            <a:off x="5029210" y="1114563"/>
            <a:ext cx="1879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覆盖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34" name="textbox 534"/>
          <p:cNvSpPr/>
          <p:nvPr/>
        </p:nvSpPr>
        <p:spPr>
          <a:xfrm>
            <a:off x="5022809" y="1476511"/>
            <a:ext cx="1879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城市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36" name="textbox 536"/>
          <p:cNvSpPr/>
          <p:nvPr/>
        </p:nvSpPr>
        <p:spPr>
          <a:xfrm>
            <a:off x="6813570" y="1507998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38" name="textbox 538"/>
          <p:cNvSpPr/>
          <p:nvPr/>
        </p:nvSpPr>
        <p:spPr>
          <a:xfrm>
            <a:off x="2495591" y="4505687"/>
            <a:ext cx="119379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400" kern="0" spc="-20" dirty="0">
                <a:solidFill>
                  <a:srgbClr val="A0C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0" name="table 540"/>
          <p:cNvGraphicFramePr>
            <a:graphicFrameLocks noGrp="1"/>
          </p:cNvGraphicFramePr>
          <p:nvPr/>
        </p:nvGraphicFramePr>
        <p:xfrm>
          <a:off x="838230" y="4079837"/>
          <a:ext cx="7755890" cy="756920"/>
        </p:xfrm>
        <a:graphic>
          <a:graphicData uri="http://schemas.openxmlformats.org/drawingml/2006/table">
            <a:tbl>
              <a:tblPr/>
              <a:tblGrid>
                <a:gridCol w="1346200"/>
                <a:gridCol w="1609725"/>
                <a:gridCol w="1657350"/>
                <a:gridCol w="1676400"/>
                <a:gridCol w="1466215"/>
              </a:tblGrid>
              <a:tr h="1225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品牌分层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67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9306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渠道分层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67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3240" algn="l" rtl="0" eaLnBrk="0">
                        <a:lnSpc>
                          <a:spcPct val="91000"/>
                        </a:lnSpc>
                      </a:pPr>
                      <a:r>
                        <a:rPr sz="7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用户分层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554990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产品结构升级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67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5325" algn="l" rtl="0" eaLnBrk="0">
                        <a:lnSpc>
                          <a:spcPct val="91000"/>
                        </a:lnSpc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毛利率韧性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12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覆盖不同价格带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065" algn="l" rtl="0" eaLnBrk="0">
                        <a:lnSpc>
                          <a:spcPct val="92000"/>
                        </a:lnSpc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高端线下+线上协同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3240" algn="l" rtl="0" eaLnBrk="0">
                        <a:lnSpc>
                          <a:spcPct val="92000"/>
                        </a:lnSpc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精准触达不同客群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4990" algn="l" rtl="0" eaLnBrk="0">
                        <a:lnSpc>
                          <a:spcPct val="92000"/>
                        </a:lnSpc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高端化+智能化驱动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</a:pP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结构优化+效率提升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</a:pP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形成品牌梯队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065" algn="l" rtl="0" eaLnBrk="0">
                        <a:lnSpc>
                          <a:spcPct val="92000"/>
                        </a:lnSpc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提升触点质量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2324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提升转化效率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5499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提升客单与溢价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532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稳住盈利质量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56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11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避免低价内卷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06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14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提升高端触点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14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扩大年轻客群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434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14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增强技术叙事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719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15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稳住盈利质量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5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以价值竞争替代价格战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306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增强体验与转化能力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164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把握线上增长红利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862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6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构建长期品牌壁垒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5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44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6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兼顾规模与利润健康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42" name="table 542"/>
          <p:cNvGraphicFramePr>
            <a:graphicFrameLocks noGrp="1"/>
          </p:cNvGraphicFramePr>
          <p:nvPr/>
        </p:nvGraphicFramePr>
        <p:xfrm>
          <a:off x="1638330" y="1133858"/>
          <a:ext cx="2313940" cy="1778000"/>
        </p:xfrm>
        <a:graphic>
          <a:graphicData uri="http://schemas.openxmlformats.org/drawingml/2006/table">
            <a:tbl>
              <a:tblPr/>
              <a:tblGrid>
                <a:gridCol w="1332230"/>
                <a:gridCol w="981710"/>
              </a:tblGrid>
              <a:tr h="1778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</a:pPr>
                      <a:r>
                        <a:rPr sz="800" kern="0" spc="2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国际高端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1300" kern="0" spc="-6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COLMO</a:t>
                      </a:r>
                      <a:endParaRPr sz="1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270"/>
                        </a:spcBef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Al</a:t>
                      </a:r>
                      <a:r>
                        <a:rPr sz="7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科技+理性美学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985"/>
                        </a:spcBef>
                      </a:pPr>
                      <a:r>
                        <a:rPr sz="700" kern="0" spc="10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日系高端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85000"/>
                        </a:lnSpc>
                        <a:spcBef>
                          <a:spcPts val="175"/>
                        </a:spcBef>
                      </a:pPr>
                      <a:r>
                        <a:rPr sz="1200" kern="0" spc="-3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东芝</a:t>
                      </a:r>
                      <a:endParaRPr sz="12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4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日系基因+品质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50165" algn="l" rtl="0" eaLnBrk="0">
                        <a:lnSpc>
                          <a:spcPct val="91000"/>
                        </a:lnSpc>
                        <a:spcBef>
                          <a:spcPts val="780"/>
                        </a:spcBef>
                      </a:pPr>
                      <a:r>
                        <a:rPr sz="700" kern="0" spc="7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大众主端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07315" algn="l" rtl="0" eaLnBrk="0">
                        <a:lnSpc>
                          <a:spcPct val="86000"/>
                        </a:lnSpc>
                        <a:spcBef>
                          <a:spcPts val="100"/>
                        </a:spcBef>
                      </a:pPr>
                      <a:r>
                        <a:rPr sz="1100" kern="0" spc="-3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美的</a:t>
                      </a:r>
                      <a:endParaRPr sz="11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77165" algn="l" rtl="0" eaLnBrk="0">
                        <a:lnSpc>
                          <a:spcPct val="85000"/>
                        </a:lnSpc>
                        <a:spcBef>
                          <a:spcPts val="55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高品质、好服务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34315" algn="l" rtl="0" eaLnBrk="0">
                        <a:lnSpc>
                          <a:spcPct val="92000"/>
                        </a:lnSpc>
                        <a:spcBef>
                          <a:spcPts val="830"/>
                        </a:spcBef>
                      </a:pPr>
                      <a:r>
                        <a:rPr sz="600" kern="0" spc="4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年轻潮流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72415" algn="l" rtl="0" eaLnBrk="0">
                        <a:lnSpc>
                          <a:spcPct val="86000"/>
                        </a:lnSpc>
                        <a:spcBef>
                          <a:spcPts val="300"/>
                        </a:spcBef>
                      </a:pPr>
                      <a:r>
                        <a:rPr sz="800" kern="0" spc="-8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华</a:t>
                      </a:r>
                      <a:r>
                        <a:rPr sz="800" kern="0" spc="-14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800" kern="0" spc="-8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凌</a:t>
                      </a:r>
                      <a:r>
                        <a:rPr sz="800" kern="0" spc="-20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800" kern="0" spc="-80" dirty="0">
                          <a:solidFill>
                            <a:srgbClr val="1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、</a:t>
                      </a:r>
                      <a:r>
                        <a:rPr sz="800" kern="0" spc="-80" dirty="0">
                          <a:solidFill>
                            <a:srgbClr val="104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布谷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91465" algn="l" rtl="0" eaLnBrk="0">
                        <a:lnSpc>
                          <a:spcPct val="78000"/>
                        </a:lnSpc>
                        <a:spcBef>
                          <a:spcPts val="1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社交电商、新品驱动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高端层承担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r" rtl="0" eaLnBrk="0">
                        <a:lnSpc>
                          <a:spcPct val="91000"/>
                        </a:lnSpc>
                        <a:spcBef>
                          <a:spcPts val="29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溢价与技术形象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5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123000"/>
                        </a:lnSpc>
                        <a:spcBef>
                          <a:spcPts val="22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品质与可靠性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建立心智护城河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124000"/>
                        </a:lnSpc>
                        <a:spcBef>
                          <a:spcPts val="220"/>
                        </a:spcBef>
                      </a:pP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主品牌维持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规模基本盘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8135" algn="l" rtl="0" eaLnBrk="0">
                        <a:lnSpc>
                          <a:spcPct val="136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年轻品牌承接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线上增量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44" name="textbox 544"/>
          <p:cNvSpPr/>
          <p:nvPr/>
        </p:nvSpPr>
        <p:spPr>
          <a:xfrm>
            <a:off x="241320" y="224730"/>
            <a:ext cx="321627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2100" kern="0" spc="1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2100" kern="0" spc="-36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多品牌矩阵与高端化战略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546" name="textbox 546"/>
          <p:cNvSpPr/>
          <p:nvPr/>
        </p:nvSpPr>
        <p:spPr>
          <a:xfrm>
            <a:off x="7905730" y="1196962"/>
            <a:ext cx="885825" cy="547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5000"/>
              </a:lnSpc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高端渠道的物理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触点正在加速补齐，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支撑高客单价产品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转化。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48" name="textbox 548"/>
          <p:cNvSpPr/>
          <p:nvPr/>
        </p:nvSpPr>
        <p:spPr>
          <a:xfrm>
            <a:off x="7905729" y="2345193"/>
            <a:ext cx="880110" cy="527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9000"/>
              </a:lnSpc>
            </a:pP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高端与年轻线上品牌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同时拉动结构升级，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减少对单一价格带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依</a:t>
            </a:r>
            <a:r>
              <a:rPr sz="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赖</a:t>
            </a:r>
            <a:r>
              <a:rPr sz="6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50" name="textbox 550"/>
          <p:cNvSpPr/>
          <p:nvPr/>
        </p:nvSpPr>
        <p:spPr>
          <a:xfrm>
            <a:off x="254030" y="602166"/>
            <a:ext cx="36671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多品牌不是简单铺品牌，而是用价格带、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客群与技术叙事分层对冲价格战。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52" name="textbox 552"/>
          <p:cNvSpPr/>
          <p:nvPr/>
        </p:nvSpPr>
        <p:spPr>
          <a:xfrm>
            <a:off x="6813571" y="2249986"/>
            <a:ext cx="792480" cy="464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华凌线上渠道销售额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0015" indent="25400" algn="l" rtl="0" eaLnBrk="0">
              <a:lnSpc>
                <a:spcPct val="145000"/>
              </a:lnSpc>
              <a:spcBef>
                <a:spcPts val="15"/>
              </a:spcBef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</a:t>
            </a:r>
            <a:r>
              <a:rPr sz="10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+25%</a:t>
            </a:r>
            <a:r>
              <a:rPr sz="10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(2025上半年)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54" name="textbox 554"/>
          <p:cNvSpPr/>
          <p:nvPr/>
        </p:nvSpPr>
        <p:spPr>
          <a:xfrm>
            <a:off x="342910" y="3109133"/>
            <a:ext cx="12769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8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高端化对毛利率的支撑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56" name="textbox 556"/>
          <p:cNvSpPr/>
          <p:nvPr/>
        </p:nvSpPr>
        <p:spPr>
          <a:xfrm>
            <a:off x="3854480" y="3447230"/>
            <a:ext cx="733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34" rIns="0" bIns="0"/>
          <a:lstStyle/>
          <a:p>
            <a:pPr marL="12700" indent="5715" algn="l" rtl="0" eaLnBrk="0">
              <a:lnSpc>
                <a:spcPct val="130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毛利率基本稳定，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韧性增强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58" name="textbox 558"/>
          <p:cNvSpPr/>
          <p:nvPr/>
        </p:nvSpPr>
        <p:spPr>
          <a:xfrm>
            <a:off x="8051760" y="3450780"/>
            <a:ext cx="738505" cy="246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indent="-6350" algn="l" rtl="0" eaLnBrk="0">
              <a:lnSpc>
                <a:spcPct val="127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通过结构升级与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效率提升维稳盈利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60" name="textbox 560"/>
          <p:cNvSpPr/>
          <p:nvPr/>
        </p:nvSpPr>
        <p:spPr>
          <a:xfrm>
            <a:off x="4629160" y="1272187"/>
            <a:ext cx="598805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910"/>
              </a:lnSpc>
            </a:pPr>
            <a:r>
              <a:rPr sz="800" kern="0" spc="-2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近</a:t>
            </a:r>
            <a:r>
              <a:rPr sz="1400" kern="0" spc="-2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1600</a:t>
            </a:r>
            <a:r>
              <a:rPr sz="700" kern="0" spc="-20" dirty="0">
                <a:solidFill>
                  <a:srgbClr val="3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62" name="textbox 562"/>
          <p:cNvSpPr/>
          <p:nvPr/>
        </p:nvSpPr>
        <p:spPr>
          <a:xfrm>
            <a:off x="342910" y="3910100"/>
            <a:ext cx="10490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0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品牌矩阵经营含义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64" name="textbox 564"/>
          <p:cNvSpPr/>
          <p:nvPr/>
        </p:nvSpPr>
        <p:spPr>
          <a:xfrm>
            <a:off x="5270520" y="3442193"/>
            <a:ext cx="58547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05"/>
              </a:lnSpc>
            </a:pPr>
            <a:r>
              <a:rPr sz="1200" kern="0" spc="-3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+0.10pct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6" name="textbox 566"/>
          <p:cNvSpPr/>
          <p:nvPr/>
        </p:nvSpPr>
        <p:spPr>
          <a:xfrm>
            <a:off x="1733529" y="3450780"/>
            <a:ext cx="572770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结构升级对冲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成本波动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68" name="textbox 568"/>
          <p:cNvSpPr/>
          <p:nvPr/>
        </p:nvSpPr>
        <p:spPr>
          <a:xfrm>
            <a:off x="4400560" y="867596"/>
            <a:ext cx="9118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9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双高端门店规模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70" name="textbox 570"/>
          <p:cNvSpPr/>
          <p:nvPr/>
        </p:nvSpPr>
        <p:spPr>
          <a:xfrm>
            <a:off x="342910" y="868079"/>
            <a:ext cx="90868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9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品牌金字塔矩阵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72" name="textbox 572"/>
          <p:cNvSpPr/>
          <p:nvPr/>
        </p:nvSpPr>
        <p:spPr>
          <a:xfrm>
            <a:off x="6896140" y="1299850"/>
            <a:ext cx="484505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2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2250+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74" name="textbox 574"/>
          <p:cNvSpPr/>
          <p:nvPr/>
        </p:nvSpPr>
        <p:spPr>
          <a:xfrm>
            <a:off x="7404089" y="3387587"/>
            <a:ext cx="486410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0" algn="l" rtl="0" eaLnBrk="0">
              <a:lnSpc>
                <a:spcPct val="130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原材料涨价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背景下维稳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76" name="textbox 576"/>
          <p:cNvSpPr/>
          <p:nvPr/>
        </p:nvSpPr>
        <p:spPr>
          <a:xfrm>
            <a:off x="5778469" y="1326180"/>
            <a:ext cx="52387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650</a:t>
            </a:r>
            <a:r>
              <a:rPr sz="1100" kern="0" spc="26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余</a:t>
            </a:r>
            <a:r>
              <a:rPr sz="6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78" name="textbox 578"/>
          <p:cNvSpPr/>
          <p:nvPr/>
        </p:nvSpPr>
        <p:spPr>
          <a:xfrm>
            <a:off x="927120" y="3483170"/>
            <a:ext cx="51689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20" dirty="0">
                <a:solidFill>
                  <a:srgbClr val="104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26.39%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0" name="textbox 580"/>
          <p:cNvSpPr/>
          <p:nvPr/>
        </p:nvSpPr>
        <p:spPr>
          <a:xfrm>
            <a:off x="5746740" y="2441022"/>
            <a:ext cx="61722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</a:t>
            </a:r>
            <a:r>
              <a:rPr sz="900" kern="0" spc="-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900" kern="0" spc="-50" dirty="0">
                <a:solidFill>
                  <a:srgbClr val="104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60%</a:t>
            </a:r>
            <a:r>
              <a:rPr sz="900" kern="0" spc="240" dirty="0">
                <a:solidFill>
                  <a:srgbClr val="104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-5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82" name="textbox 582"/>
          <p:cNvSpPr/>
          <p:nvPr/>
        </p:nvSpPr>
        <p:spPr>
          <a:xfrm>
            <a:off x="4508459" y="2474125"/>
            <a:ext cx="7594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</a:t>
            </a:r>
            <a:r>
              <a:rPr sz="800" kern="0" spc="8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双位数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增长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84" name="textbox 584"/>
          <p:cNvSpPr/>
          <p:nvPr/>
        </p:nvSpPr>
        <p:spPr>
          <a:xfrm>
            <a:off x="4400560" y="2269678"/>
            <a:ext cx="98298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2025年双高端整体零售额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86" name="textbox 586"/>
          <p:cNvSpPr/>
          <p:nvPr/>
        </p:nvSpPr>
        <p:spPr>
          <a:xfrm>
            <a:off x="5568980" y="2244269"/>
            <a:ext cx="9766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2025上半年双高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端零售额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88" name="textbox 588"/>
          <p:cNvSpPr/>
          <p:nvPr/>
        </p:nvSpPr>
        <p:spPr>
          <a:xfrm>
            <a:off x="4400560" y="2048697"/>
            <a:ext cx="66865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零售额增长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90" name="textbox 590"/>
          <p:cNvSpPr/>
          <p:nvPr/>
        </p:nvSpPr>
        <p:spPr>
          <a:xfrm>
            <a:off x="3124240" y="3476619"/>
            <a:ext cx="479425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3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</a:t>
            </a:r>
            <a:r>
              <a:rPr sz="900" kern="0" spc="3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0.03</a:t>
            </a:r>
            <a:r>
              <a:rPr sz="9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pct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92" name="textbox 592"/>
          <p:cNvSpPr/>
          <p:nvPr/>
        </p:nvSpPr>
        <p:spPr>
          <a:xfrm>
            <a:off x="4578319" y="1160028"/>
            <a:ext cx="6826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COLMO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品牌店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94" name="textbox 594"/>
          <p:cNvSpPr/>
          <p:nvPr/>
        </p:nvSpPr>
        <p:spPr>
          <a:xfrm>
            <a:off x="6832589" y="1171552"/>
            <a:ext cx="59309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合计高端门店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596" name="textbox 596"/>
          <p:cNvSpPr/>
          <p:nvPr/>
        </p:nvSpPr>
        <p:spPr>
          <a:xfrm>
            <a:off x="5276830" y="3362179"/>
            <a:ext cx="6210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国内毛利率同比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598" name="textbox 598"/>
          <p:cNvSpPr/>
          <p:nvPr/>
        </p:nvSpPr>
        <p:spPr>
          <a:xfrm>
            <a:off x="5778469" y="1172219"/>
            <a:ext cx="5111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东芝品牌店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600" name="textbox 600"/>
          <p:cNvSpPr/>
          <p:nvPr/>
        </p:nvSpPr>
        <p:spPr>
          <a:xfrm>
            <a:off x="6127770" y="3578103"/>
            <a:ext cx="5575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产品组合改善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02" name="textbox 602"/>
          <p:cNvSpPr/>
          <p:nvPr/>
        </p:nvSpPr>
        <p:spPr>
          <a:xfrm>
            <a:off x="927120" y="3374883"/>
            <a:ext cx="461644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整体毛利率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04" name="textbox 604"/>
          <p:cNvSpPr/>
          <p:nvPr/>
        </p:nvSpPr>
        <p:spPr>
          <a:xfrm>
            <a:off x="6121369" y="3451357"/>
            <a:ext cx="38671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国内市场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06" name="textbox 606"/>
          <p:cNvSpPr/>
          <p:nvPr/>
        </p:nvSpPr>
        <p:spPr>
          <a:xfrm>
            <a:off x="3130549" y="3350103"/>
            <a:ext cx="2895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同比仅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08" name="textbox 608"/>
          <p:cNvSpPr/>
          <p:nvPr/>
        </p:nvSpPr>
        <p:spPr>
          <a:xfrm>
            <a:off x="8693120" y="4934268"/>
            <a:ext cx="15494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0" dirty="0">
                <a:solidFill>
                  <a:srgbClr val="104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10" name="textbox 610"/>
          <p:cNvSpPr/>
          <p:nvPr/>
        </p:nvSpPr>
        <p:spPr>
          <a:xfrm>
            <a:off x="8096289" y="1013154"/>
            <a:ext cx="24130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700" kern="0" spc="-7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612" name="textbox 612"/>
          <p:cNvSpPr/>
          <p:nvPr/>
        </p:nvSpPr>
        <p:spPr>
          <a:xfrm>
            <a:off x="8096289" y="2156194"/>
            <a:ext cx="24130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700" kern="0" spc="-7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614" name="textbox 614"/>
          <p:cNvSpPr/>
          <p:nvPr/>
        </p:nvSpPr>
        <p:spPr>
          <a:xfrm>
            <a:off x="8223209" y="3286478"/>
            <a:ext cx="2114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4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616" name="textbox 616"/>
          <p:cNvSpPr/>
          <p:nvPr/>
        </p:nvSpPr>
        <p:spPr>
          <a:xfrm>
            <a:off x="1879559" y="3298708"/>
            <a:ext cx="2152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18" name="textbox 618"/>
          <p:cNvSpPr/>
          <p:nvPr/>
        </p:nvSpPr>
        <p:spPr>
          <a:xfrm>
            <a:off x="6273800" y="3298708"/>
            <a:ext cx="2152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20" name="textbox 620"/>
          <p:cNvSpPr/>
          <p:nvPr/>
        </p:nvSpPr>
        <p:spPr>
          <a:xfrm>
            <a:off x="4019529" y="3298708"/>
            <a:ext cx="20891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10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picture 6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90469" y="927116"/>
            <a:ext cx="3378250" cy="1390647"/>
          </a:xfrm>
          <a:prstGeom prst="rect">
            <a:avLst/>
          </a:prstGeom>
        </p:spPr>
      </p:pic>
      <p:graphicFrame>
        <p:nvGraphicFramePr>
          <p:cNvPr id="624" name="table 624"/>
          <p:cNvGraphicFramePr>
            <a:graphicFrameLocks noGrp="1"/>
          </p:cNvGraphicFramePr>
          <p:nvPr/>
        </p:nvGraphicFramePr>
        <p:xfrm>
          <a:off x="260329" y="2565423"/>
          <a:ext cx="2714625" cy="974090"/>
        </p:xfrm>
        <a:graphic>
          <a:graphicData uri="http://schemas.openxmlformats.org/drawingml/2006/table">
            <a:tbl>
              <a:tblPr/>
              <a:tblGrid>
                <a:gridCol w="2279650"/>
                <a:gridCol w="434975"/>
              </a:tblGrid>
              <a:tr h="349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79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500" kern="0" spc="-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产品输出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以制造与产品力建立海外规模覆盖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50" algn="l" rtl="0" eaLnBrk="0">
                        <a:lnSpc>
                          <a:spcPct val="164000"/>
                        </a:lnSpc>
                        <a:spcBef>
                          <a:spcPts val="5"/>
                        </a:spcBef>
                      </a:pP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完成“走出去”</a:t>
                      </a:r>
                      <a:r>
                        <a:rPr sz="4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的第一阶段</a:t>
                      </a:r>
                      <a:endParaRPr sz="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096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500" kern="0" spc="-20" dirty="0">
                          <a:solidFill>
                            <a:srgbClr val="205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品牌运营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50" algn="l" rtl="0" eaLnBrk="0">
                        <a:lnSpc>
                          <a:spcPts val="505"/>
                        </a:lnSpc>
                      </a:pPr>
                      <a:r>
                        <a:rPr sz="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实现”走进去”</a:t>
                      </a:r>
                      <a:endParaRPr sz="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505"/>
                        </a:lnSpc>
                        <a:spcBef>
                          <a:spcPts val="0"/>
                        </a:spcBef>
                      </a:pPr>
                      <a:r>
                        <a:rPr sz="4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以自有品牌深耕心智</a:t>
                      </a: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，提升溢价能力</a:t>
                      </a:r>
                      <a:endParaRPr sz="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</a:pPr>
                      <a:r>
                        <a:rPr sz="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的第二阶段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160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500" kern="0" spc="-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生态构</a:t>
                      </a:r>
                      <a:r>
                        <a:rPr sz="500" kern="0" spc="-10" dirty="0">
                          <a:solidFill>
                            <a:srgbClr val="3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建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44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迈向“扎下根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81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505"/>
                        </a:lnSpc>
                      </a:pPr>
                      <a:r>
                        <a:rPr sz="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以本地覆约服务生态，建立长期壁垒</a:t>
                      </a:r>
                      <a:endParaRPr sz="4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165" algn="l" rtl="0" eaLnBrk="0">
                        <a:lnSpc>
                          <a:spcPct val="86000"/>
                        </a:lnSpc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的第三阶段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26" name="table 626"/>
          <p:cNvGraphicFramePr>
            <a:graphicFrameLocks noGrp="1"/>
          </p:cNvGraphicFramePr>
          <p:nvPr/>
        </p:nvGraphicFramePr>
        <p:xfrm>
          <a:off x="285750" y="1420512"/>
          <a:ext cx="2294255" cy="728345"/>
        </p:xfrm>
        <a:graphic>
          <a:graphicData uri="http://schemas.openxmlformats.org/drawingml/2006/table">
            <a:tbl>
              <a:tblPr/>
              <a:tblGrid>
                <a:gridCol w="770890"/>
                <a:gridCol w="817880"/>
                <a:gridCol w="705485"/>
              </a:tblGrid>
              <a:tr h="2527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74000"/>
                        </a:lnSpc>
                        <a:spcBef>
                          <a:spcPts val="0"/>
                        </a:spcBef>
                      </a:pPr>
                      <a:r>
                        <a:rPr sz="1400" b="1" kern="0" spc="-1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1959</a:t>
                      </a:r>
                      <a:r>
                        <a:rPr sz="600" kern="0" spc="-1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亿元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213360" algn="l" rtl="0" eaLnBrk="0">
                        <a:lnSpc>
                          <a:spcPts val="1770"/>
                        </a:lnSpc>
                      </a:pPr>
                      <a:r>
                        <a:rPr sz="1300" kern="0" spc="-3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&gt;45 </a:t>
                      </a:r>
                      <a:r>
                        <a:rPr sz="900" b="1" kern="0" spc="-3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%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0980" algn="l" rtl="0" eaLnBrk="0">
                        <a:lnSpc>
                          <a:spcPts val="1705"/>
                        </a:lnSpc>
                      </a:pPr>
                      <a:r>
                        <a:rPr sz="1200" kern="0" spc="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</a:t>
                      </a:r>
                      <a:r>
                        <a:rPr sz="1200" kern="0" spc="-36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35</a:t>
                      </a:r>
                      <a:r>
                        <a:rPr sz="1200" kern="0" spc="-7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205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%</a:t>
                      </a:r>
                      <a:endParaRPr sz="9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298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61315" algn="l" rtl="0" eaLnBrk="0">
                        <a:lnSpc>
                          <a:spcPts val="1160"/>
                        </a:lnSpc>
                        <a:spcBef>
                          <a:spcPts val="0"/>
                        </a:spcBef>
                      </a:pPr>
                      <a:r>
                        <a:rPr sz="800" kern="0" spc="10" dirty="0">
                          <a:solidFill>
                            <a:srgbClr val="1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15.</a:t>
                      </a:r>
                      <a:r>
                        <a:rPr sz="800" kern="0" spc="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9%</a:t>
                      </a: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9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规模持续增长，海外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4775" algn="l" rtl="0" eaLnBrk="0">
                        <a:lnSpc>
                          <a:spcPct val="93000"/>
                        </a:lnSpc>
                      </a:pPr>
                      <a:r>
                        <a:rPr sz="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自有品牌成为海外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</a:pPr>
                      <a:r>
                        <a:rPr sz="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电商渠道强化本地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4000"/>
                        </a:lnSpc>
                        <a:spcBef>
                          <a:spcPts val="0"/>
                        </a:spcBef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成为第二增长曲线。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176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增长主轴。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69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用户触达。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28" name="textbox 628"/>
          <p:cNvSpPr/>
          <p:nvPr/>
        </p:nvSpPr>
        <p:spPr>
          <a:xfrm>
            <a:off x="429203" y="259914"/>
            <a:ext cx="4065905" cy="29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2000" b="1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战略：从走出去到走进去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630" name="textbox 630"/>
          <p:cNvSpPr/>
          <p:nvPr/>
        </p:nvSpPr>
        <p:spPr>
          <a:xfrm>
            <a:off x="3714760" y="759634"/>
            <a:ext cx="2183130" cy="480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4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区域突破：从品类份额到渠道扎根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2615"/>
              </a:lnSpc>
            </a:pPr>
            <a:r>
              <a:rPr sz="900" kern="0" spc="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日本</a:t>
            </a:r>
            <a:r>
              <a:rPr sz="900" kern="0" spc="-17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6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东芝冰箱、</a:t>
            </a:r>
            <a:r>
              <a:rPr sz="600" kern="0" spc="5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微波炉份额第一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32" name="textbox 632"/>
          <p:cNvSpPr/>
          <p:nvPr/>
        </p:nvSpPr>
        <p:spPr>
          <a:xfrm>
            <a:off x="4445000" y="3067053"/>
            <a:ext cx="144970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700" kern="0" spc="-2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</a:t>
            </a:r>
            <a:r>
              <a:rPr sz="700" kern="0" spc="14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2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洲</a:t>
            </a:r>
            <a:r>
              <a:rPr sz="700" kern="0" spc="-2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|收</a:t>
            </a:r>
            <a:r>
              <a:rPr sz="700" kern="0" spc="-1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2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购</a:t>
            </a:r>
            <a:r>
              <a:rPr sz="700" kern="0" spc="-2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Teka,  </a:t>
            </a:r>
            <a:r>
              <a:rPr sz="700" b="1" kern="0" spc="-2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布局伊比利亚网络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634" name="picture 6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57600" y="3079773"/>
            <a:ext cx="1104869" cy="698487"/>
          </a:xfrm>
          <a:prstGeom prst="rect">
            <a:avLst/>
          </a:prstGeom>
        </p:spPr>
      </p:pic>
      <p:pic>
        <p:nvPicPr>
          <p:cNvPr id="636" name="picture 6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57600" y="2038369"/>
            <a:ext cx="800100" cy="831806"/>
          </a:xfrm>
          <a:prstGeom prst="rect">
            <a:avLst/>
          </a:prstGeom>
        </p:spPr>
      </p:pic>
      <p:sp>
        <p:nvSpPr>
          <p:cNvPr id="638" name="textbox 638"/>
          <p:cNvSpPr/>
          <p:nvPr/>
        </p:nvSpPr>
        <p:spPr>
          <a:xfrm>
            <a:off x="2028855" y="4742375"/>
            <a:ext cx="472503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6675" algn="l" rtl="0" eaLnBrk="0">
              <a:lnSpc>
                <a:spcPct val="90000"/>
              </a:lnSpc>
            </a:pPr>
            <a:r>
              <a:rPr sz="800" kern="0" spc="7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“走进去”不是简单出口，而是产品、品牌、</a:t>
            </a:r>
            <a:r>
              <a:rPr sz="800" kern="0" spc="7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</a:t>
            </a:r>
            <a:r>
              <a:rPr sz="800" kern="0" spc="-16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7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道</a:t>
            </a:r>
            <a:r>
              <a:rPr sz="800" kern="0" spc="-18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7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800" kern="0" spc="7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服务的端到端经营，构建长期竞争壁垒。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640" name="picture 6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33769" y="1098549"/>
            <a:ext cx="698510" cy="717569"/>
          </a:xfrm>
          <a:prstGeom prst="rect">
            <a:avLst/>
          </a:prstGeom>
        </p:spPr>
      </p:pic>
      <p:sp>
        <p:nvSpPr>
          <p:cNvPr id="642" name="textbox 642"/>
          <p:cNvSpPr/>
          <p:nvPr/>
        </p:nvSpPr>
        <p:spPr>
          <a:xfrm>
            <a:off x="273050" y="3928287"/>
            <a:ext cx="204470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900" kern="0" spc="14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战略闭环：端到端本地经营体系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44" name="textbox 644"/>
          <p:cNvSpPr/>
          <p:nvPr/>
        </p:nvSpPr>
        <p:spPr>
          <a:xfrm>
            <a:off x="273050" y="2416549"/>
            <a:ext cx="223393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海外战略升级路径：从产品输出到生态构建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46" name="textbox 646"/>
          <p:cNvSpPr/>
          <p:nvPr/>
        </p:nvSpPr>
        <p:spPr>
          <a:xfrm>
            <a:off x="273050" y="760117"/>
            <a:ext cx="187134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全球化仪表盘：海外增长核</a:t>
            </a:r>
            <a:r>
              <a:rPr sz="900" kern="0" spc="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心指标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48" name="textbox 648"/>
          <p:cNvSpPr/>
          <p:nvPr/>
        </p:nvSpPr>
        <p:spPr>
          <a:xfrm>
            <a:off x="8274050" y="2999900"/>
            <a:ext cx="573405" cy="401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制造、服务与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渠道协同，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支撑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650" name="textbox 650"/>
          <p:cNvSpPr/>
          <p:nvPr/>
        </p:nvSpPr>
        <p:spPr>
          <a:xfrm>
            <a:off x="2667041" y="4329977"/>
            <a:ext cx="93027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5000"/>
              </a:lnSpc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匹配本地供应链与质量体系，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实现快速响应与成本优化。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52" name="textbox 652"/>
          <p:cNvSpPr/>
          <p:nvPr/>
        </p:nvSpPr>
        <p:spPr>
          <a:xfrm>
            <a:off x="6026180" y="4323651"/>
            <a:ext cx="83566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14" rIns="0" bIns="0"/>
          <a:lstStyle/>
          <a:p>
            <a:pPr marL="12700" algn="l" rtl="0" eaLnBrk="0">
              <a:lnSpc>
                <a:spcPct val="150000"/>
              </a:lnSpc>
              <a:spcBef>
                <a:spcPts val="0"/>
              </a:spcBef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布局线下与电商全渠道，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强化本地触达与转化。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54" name="textbox 654"/>
          <p:cNvSpPr/>
          <p:nvPr/>
        </p:nvSpPr>
        <p:spPr>
          <a:xfrm>
            <a:off x="4470420" y="2112651"/>
            <a:ext cx="136398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0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沙特</a:t>
            </a:r>
            <a:r>
              <a:rPr sz="900" kern="0" spc="39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美的系部分产品销量</a:t>
            </a:r>
            <a:r>
              <a:rPr sz="6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居首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56" name="textbox 656"/>
          <p:cNvSpPr/>
          <p:nvPr/>
        </p:nvSpPr>
        <p:spPr>
          <a:xfrm>
            <a:off x="7804139" y="4323651"/>
            <a:ext cx="772160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14" rIns="0" bIns="0"/>
          <a:lstStyle/>
          <a:p>
            <a:pPr marL="12700" algn="l" rtl="0" eaLnBrk="0">
              <a:lnSpc>
                <a:spcPct val="150000"/>
              </a:lnSpc>
              <a:spcBef>
                <a:spcPts val="0"/>
              </a:spcBef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完盖服务网络与体验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驱动复购与用户忠诚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58" name="textbox 658"/>
          <p:cNvSpPr/>
          <p:nvPr/>
        </p:nvSpPr>
        <p:spPr>
          <a:xfrm>
            <a:off x="6426230" y="1108886"/>
            <a:ext cx="139763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家电行业首个海外灯塔工</a:t>
            </a:r>
            <a:r>
              <a:rPr sz="800" kern="0" spc="9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60" name="textbox 660"/>
          <p:cNvSpPr/>
          <p:nvPr/>
        </p:nvSpPr>
        <p:spPr>
          <a:xfrm>
            <a:off x="4387850" y="4323651"/>
            <a:ext cx="76517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89" rIns="0" bIns="0"/>
          <a:lstStyle/>
          <a:p>
            <a:pPr marL="12700" algn="l" rtl="0" eaLnBrk="0">
              <a:lnSpc>
                <a:spcPct val="146000"/>
              </a:lnSpc>
              <a:spcBef>
                <a:spcPts val="5"/>
              </a:spcBef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塑造品牌认知与价值，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建立本地品牌心智。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62" name="textbox 662"/>
          <p:cNvSpPr/>
          <p:nvPr/>
        </p:nvSpPr>
        <p:spPr>
          <a:xfrm>
            <a:off x="3022559" y="3145831"/>
            <a:ext cx="473075" cy="359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1000"/>
              </a:lnSpc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转向本土品牌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与本地履约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能力沉淀。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64" name="textbox 664"/>
          <p:cNvSpPr/>
          <p:nvPr/>
        </p:nvSpPr>
        <p:spPr>
          <a:xfrm>
            <a:off x="4857760" y="3523105"/>
            <a:ext cx="765810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33" rIns="0" bIns="0"/>
          <a:lstStyle/>
          <a:p>
            <a:pPr marL="12700" algn="l" rtl="0" eaLnBrk="0">
              <a:lnSpc>
                <a:spcPct val="129000"/>
              </a:lnSpc>
              <a:spcBef>
                <a:spcPts val="5"/>
              </a:spcBef>
            </a:pP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Europe,f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Europe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提高本地信任。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66" name="textbox 666"/>
          <p:cNvSpPr/>
          <p:nvPr/>
        </p:nvSpPr>
        <p:spPr>
          <a:xfrm>
            <a:off x="6299220" y="1279090"/>
            <a:ext cx="16478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同时获绿色工厂+亚洲最佳移动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技术突破奖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668" name="textbox 668"/>
          <p:cNvSpPr/>
          <p:nvPr/>
        </p:nvSpPr>
        <p:spPr>
          <a:xfrm>
            <a:off x="6191229" y="778673"/>
            <a:ext cx="123888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泰国灯塔工厂(2025.9)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670" name="textbox 670"/>
          <p:cNvSpPr/>
          <p:nvPr/>
        </p:nvSpPr>
        <p:spPr>
          <a:xfrm>
            <a:off x="7321520" y="4173520"/>
            <a:ext cx="952500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1100" kern="0" spc="20" baseline="-1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r>
              <a:rPr sz="700" kern="0" spc="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</a:t>
            </a:r>
            <a:r>
              <a:rPr sz="1000" kern="0" spc="20" baseline="10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服务与复购</a:t>
            </a:r>
            <a:endParaRPr sz="1000" baseline="10000" dirty="0">
              <a:latin typeface="SimHei"/>
              <a:ea typeface="SimHei"/>
              <a:cs typeface="SimHei"/>
            </a:endParaRPr>
          </a:p>
        </p:txBody>
      </p:sp>
      <p:pic>
        <p:nvPicPr>
          <p:cNvPr id="672" name="picture 6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21459" y="1689125"/>
            <a:ext cx="336590" cy="355569"/>
          </a:xfrm>
          <a:prstGeom prst="rect">
            <a:avLst/>
          </a:prstGeom>
        </p:spPr>
      </p:pic>
      <p:sp>
        <p:nvSpPr>
          <p:cNvPr id="674" name="textbox 674"/>
          <p:cNvSpPr/>
          <p:nvPr/>
        </p:nvSpPr>
        <p:spPr>
          <a:xfrm>
            <a:off x="2933679" y="1354472"/>
            <a:ext cx="427990" cy="320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15"/>
              </a:lnSpc>
            </a:pPr>
            <a:r>
              <a:rPr sz="1600" kern="0" spc="-9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200</a:t>
            </a:r>
            <a:r>
              <a:rPr sz="1600" kern="0" spc="-50" dirty="0">
                <a:solidFill>
                  <a:srgbClr val="1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676" name="textbox 676"/>
          <p:cNvSpPr/>
          <p:nvPr/>
        </p:nvSpPr>
        <p:spPr>
          <a:xfrm>
            <a:off x="2793959" y="1945419"/>
            <a:ext cx="657225" cy="219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58" rIns="0" bIns="0"/>
          <a:lstStyle/>
          <a:p>
            <a:pPr marL="12700" indent="6350" algn="l" rtl="0" eaLnBrk="0">
              <a:lnSpc>
                <a:spcPct val="135000"/>
              </a:lnSpc>
              <a:spcBef>
                <a:spcPts val="5"/>
              </a:spcBef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全球覆盖从销售网络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转向运营网络。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678" name="textbox 678"/>
          <p:cNvSpPr/>
          <p:nvPr/>
        </p:nvSpPr>
        <p:spPr>
          <a:xfrm>
            <a:off x="8274049" y="1336565"/>
            <a:ext cx="499744" cy="264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7000"/>
              </a:lnSpc>
            </a:pP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海外制造从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成本转移，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680" name="picture 6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197620" y="2889258"/>
            <a:ext cx="330189" cy="323834"/>
          </a:xfrm>
          <a:prstGeom prst="rect">
            <a:avLst/>
          </a:prstGeom>
        </p:spPr>
      </p:pic>
      <p:sp>
        <p:nvSpPr>
          <p:cNvPr id="682" name="textbox 682"/>
          <p:cNvSpPr/>
          <p:nvPr/>
        </p:nvSpPr>
        <p:spPr>
          <a:xfrm>
            <a:off x="6191229" y="2575752"/>
            <a:ext cx="86487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4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本地化制造网络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684" name="textbox 684"/>
          <p:cNvSpPr/>
          <p:nvPr/>
        </p:nvSpPr>
        <p:spPr>
          <a:xfrm>
            <a:off x="2082830" y="1044466"/>
            <a:ext cx="563245" cy="2254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6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海外自有品牌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电商增速(2025)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pic>
        <p:nvPicPr>
          <p:cNvPr id="686" name="picture 68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07259" y="1682747"/>
            <a:ext cx="285750" cy="349243"/>
          </a:xfrm>
          <a:prstGeom prst="rect">
            <a:avLst/>
          </a:prstGeom>
        </p:spPr>
      </p:pic>
      <p:pic>
        <p:nvPicPr>
          <p:cNvPr id="688" name="picture 6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464009" y="2317764"/>
            <a:ext cx="304860" cy="323834"/>
          </a:xfrm>
          <a:prstGeom prst="rect">
            <a:avLst/>
          </a:prstGeom>
        </p:spPr>
      </p:pic>
      <p:pic>
        <p:nvPicPr>
          <p:cNvPr id="690" name="picture 69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318229" y="1689125"/>
            <a:ext cx="273040" cy="355569"/>
          </a:xfrm>
          <a:prstGeom prst="rect">
            <a:avLst/>
          </a:prstGeom>
        </p:spPr>
      </p:pic>
      <p:pic>
        <p:nvPicPr>
          <p:cNvPr id="692" name="picture 6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483120" y="1308095"/>
            <a:ext cx="273039" cy="330212"/>
          </a:xfrm>
          <a:prstGeom prst="rect">
            <a:avLst/>
          </a:prstGeom>
        </p:spPr>
      </p:pic>
      <p:sp>
        <p:nvSpPr>
          <p:cNvPr id="694" name="textbox 694"/>
          <p:cNvSpPr/>
          <p:nvPr/>
        </p:nvSpPr>
        <p:spPr>
          <a:xfrm>
            <a:off x="8274050" y="3438405"/>
            <a:ext cx="400685" cy="2667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8000"/>
              </a:lnSpc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有覆盖到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有经营。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696" name="picture 69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724680" y="2927371"/>
            <a:ext cx="311079" cy="273017"/>
          </a:xfrm>
          <a:prstGeom prst="rect">
            <a:avLst/>
          </a:prstGeom>
        </p:spPr>
      </p:pic>
      <p:sp>
        <p:nvSpPr>
          <p:cNvPr id="698" name="textbox 698"/>
          <p:cNvSpPr/>
          <p:nvPr/>
        </p:nvSpPr>
        <p:spPr>
          <a:xfrm>
            <a:off x="4857760" y="1678729"/>
            <a:ext cx="110871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东芝品牌资产放大日系高端认知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00" name="textbox 700"/>
          <p:cNvSpPr/>
          <p:nvPr/>
        </p:nvSpPr>
        <p:spPr>
          <a:xfrm>
            <a:off x="6788150" y="1471308"/>
            <a:ext cx="6451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7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三冠王成就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02" name="textbox 702"/>
          <p:cNvSpPr/>
          <p:nvPr/>
        </p:nvSpPr>
        <p:spPr>
          <a:xfrm>
            <a:off x="8274050" y="1060439"/>
            <a:ext cx="418465" cy="216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265" algn="l" rtl="0" eaLnBrk="0">
              <a:lnSpc>
                <a:spcPct val="92000"/>
              </a:lnSpc>
              <a:spcBef>
                <a:spcPts val="5"/>
              </a:spcBef>
            </a:pPr>
            <a:r>
              <a:rPr sz="6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5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704" name="picture 70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286750" y="1073139"/>
            <a:ext cx="184160" cy="190515"/>
          </a:xfrm>
          <a:prstGeom prst="rect">
            <a:avLst/>
          </a:prstGeom>
        </p:spPr>
      </p:pic>
      <p:sp>
        <p:nvSpPr>
          <p:cNvPr id="706" name="textbox 706"/>
          <p:cNvSpPr/>
          <p:nvPr/>
        </p:nvSpPr>
        <p:spPr>
          <a:xfrm>
            <a:off x="3022559" y="2891845"/>
            <a:ext cx="403860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9000"/>
              </a:lnSpc>
            </a:pP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海外战略从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规模出海，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pic>
        <p:nvPicPr>
          <p:cNvPr id="708" name="picture 70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226319" y="2882880"/>
            <a:ext cx="241310" cy="304803"/>
          </a:xfrm>
          <a:prstGeom prst="rect">
            <a:avLst/>
          </a:prstGeom>
        </p:spPr>
      </p:pic>
      <p:sp>
        <p:nvSpPr>
          <p:cNvPr id="710" name="textbox 710"/>
          <p:cNvSpPr/>
          <p:nvPr/>
        </p:nvSpPr>
        <p:spPr>
          <a:xfrm>
            <a:off x="4857759" y="2675921"/>
            <a:ext cx="103187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中东市场验证渠道与产品适配。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12" name="textbox 712"/>
          <p:cNvSpPr/>
          <p:nvPr/>
        </p:nvSpPr>
        <p:spPr>
          <a:xfrm>
            <a:off x="8261340" y="2749565"/>
            <a:ext cx="39941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ct val="92000"/>
              </a:lnSpc>
              <a:spcBef>
                <a:spcPts val="5"/>
              </a:spcBef>
              <a:tabLst>
                <a:tab pos="202565" algn="l"/>
              </a:tabLst>
            </a:pPr>
            <a:r>
              <a:rPr sz="600" kern="0" spc="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600" kern="0" spc="1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9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714" name="picture 7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274040" y="2762265"/>
            <a:ext cx="165140" cy="190463"/>
          </a:xfrm>
          <a:prstGeom prst="rect">
            <a:avLst/>
          </a:prstGeom>
        </p:spPr>
      </p:pic>
      <p:pic>
        <p:nvPicPr>
          <p:cNvPr id="716" name="picture 7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702540" y="2952729"/>
            <a:ext cx="285750" cy="209546"/>
          </a:xfrm>
          <a:prstGeom prst="rect">
            <a:avLst/>
          </a:prstGeom>
        </p:spPr>
      </p:pic>
      <p:sp>
        <p:nvSpPr>
          <p:cNvPr id="718" name="textbox 718"/>
          <p:cNvSpPr/>
          <p:nvPr/>
        </p:nvSpPr>
        <p:spPr>
          <a:xfrm>
            <a:off x="977869" y="4181426"/>
            <a:ext cx="59309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本地研发洞察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720" name="textbox 720"/>
          <p:cNvSpPr/>
          <p:nvPr/>
        </p:nvSpPr>
        <p:spPr>
          <a:xfrm>
            <a:off x="977869" y="4323651"/>
            <a:ext cx="77851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洞察本地需求与病点，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22" name="textbox 722"/>
          <p:cNvSpPr/>
          <p:nvPr/>
        </p:nvSpPr>
        <p:spPr>
          <a:xfrm>
            <a:off x="977869" y="4460025"/>
            <a:ext cx="77851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定制产品与场景方案。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24" name="textbox 724"/>
          <p:cNvSpPr/>
          <p:nvPr/>
        </p:nvSpPr>
        <p:spPr>
          <a:xfrm>
            <a:off x="6191230" y="3434251"/>
            <a:ext cx="276860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65"/>
              </a:lnSpc>
            </a:pPr>
            <a:r>
              <a:rPr sz="1100" kern="0" spc="-4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63</a:t>
            </a:r>
            <a:r>
              <a:rPr sz="1300" kern="0" spc="-40" baseline="110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endParaRPr sz="1300" baseline="11000" dirty="0">
              <a:latin typeface="SimHei"/>
              <a:ea typeface="SimHei"/>
              <a:cs typeface="SimHei"/>
            </a:endParaRPr>
          </a:p>
        </p:txBody>
      </p:sp>
      <p:sp>
        <p:nvSpPr>
          <p:cNvPr id="726" name="textbox 726"/>
          <p:cNvSpPr/>
          <p:nvPr/>
        </p:nvSpPr>
        <p:spPr>
          <a:xfrm>
            <a:off x="7639091" y="3401715"/>
            <a:ext cx="423544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-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400余家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728" name="textbox 728"/>
          <p:cNvSpPr/>
          <p:nvPr/>
        </p:nvSpPr>
        <p:spPr>
          <a:xfrm>
            <a:off x="6026180" y="4194037"/>
            <a:ext cx="5962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本地渠道/电商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30" name="textbox 730"/>
          <p:cNvSpPr/>
          <p:nvPr/>
        </p:nvSpPr>
        <p:spPr>
          <a:xfrm>
            <a:off x="8274050" y="1641039"/>
            <a:ext cx="5873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升级为供应链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32" name="textbox 732"/>
          <p:cNvSpPr/>
          <p:nvPr/>
        </p:nvSpPr>
        <p:spPr>
          <a:xfrm>
            <a:off x="4387849" y="4194284"/>
            <a:ext cx="55118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自主品牌营销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34" name="textbox 734"/>
          <p:cNvSpPr/>
          <p:nvPr/>
        </p:nvSpPr>
        <p:spPr>
          <a:xfrm>
            <a:off x="7492970" y="2066788"/>
            <a:ext cx="515619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亚洲最佳移动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36" name="textbox 736"/>
          <p:cNvSpPr/>
          <p:nvPr/>
        </p:nvSpPr>
        <p:spPr>
          <a:xfrm>
            <a:off x="8274050" y="1794019"/>
            <a:ext cx="48768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韧性与运营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38" name="textbox 738"/>
          <p:cNvSpPr/>
          <p:nvPr/>
        </p:nvSpPr>
        <p:spPr>
          <a:xfrm>
            <a:off x="1301750" y="1040372"/>
            <a:ext cx="41910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740" name="textbox 740"/>
          <p:cNvSpPr/>
          <p:nvPr/>
        </p:nvSpPr>
        <p:spPr>
          <a:xfrm>
            <a:off x="8274050" y="1952169"/>
            <a:ext cx="4673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能力样板。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42" name="textbox 742"/>
          <p:cNvSpPr/>
          <p:nvPr/>
        </p:nvSpPr>
        <p:spPr>
          <a:xfrm>
            <a:off x="6743709" y="3438874"/>
            <a:ext cx="257809" cy="181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225"/>
              </a:lnSpc>
            </a:pPr>
            <a:r>
              <a:rPr sz="700" kern="0" spc="1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18</a:t>
            </a:r>
            <a:r>
              <a:rPr sz="700" kern="0" spc="10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744" name="textbox 744"/>
          <p:cNvSpPr/>
          <p:nvPr/>
        </p:nvSpPr>
        <p:spPr>
          <a:xfrm>
            <a:off x="2959100" y="1044203"/>
            <a:ext cx="487044" cy="104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6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覆盖国家/地区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46" name="textbox 746"/>
          <p:cNvSpPr/>
          <p:nvPr/>
        </p:nvSpPr>
        <p:spPr>
          <a:xfrm>
            <a:off x="7524789" y="2193781"/>
            <a:ext cx="4483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技术突破奖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48" name="textbox 748"/>
          <p:cNvSpPr/>
          <p:nvPr/>
        </p:nvSpPr>
        <p:spPr>
          <a:xfrm>
            <a:off x="8674100" y="4901272"/>
            <a:ext cx="1822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-10" dirty="0">
                <a:solidFill>
                  <a:srgbClr val="2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08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50" name="textbox 750"/>
          <p:cNvSpPr/>
          <p:nvPr/>
        </p:nvSpPr>
        <p:spPr>
          <a:xfrm>
            <a:off x="2667041" y="4194945"/>
            <a:ext cx="3771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本地制造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52" name="textbox 752"/>
          <p:cNvSpPr/>
          <p:nvPr/>
        </p:nvSpPr>
        <p:spPr>
          <a:xfrm>
            <a:off x="6273800" y="2129980"/>
            <a:ext cx="3670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绿色工厂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54" name="textbox 754"/>
          <p:cNvSpPr/>
          <p:nvPr/>
        </p:nvSpPr>
        <p:spPr>
          <a:xfrm>
            <a:off x="482630" y="1044466"/>
            <a:ext cx="3524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海外营收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56" name="textbox 756"/>
          <p:cNvSpPr/>
          <p:nvPr/>
        </p:nvSpPr>
        <p:spPr>
          <a:xfrm>
            <a:off x="6616699" y="3265795"/>
            <a:ext cx="497840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新增海外制造基地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758" name="textbox 758"/>
          <p:cNvSpPr/>
          <p:nvPr/>
        </p:nvSpPr>
        <p:spPr>
          <a:xfrm>
            <a:off x="6896140" y="2130310"/>
            <a:ext cx="3524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灯塔工厂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60" name="textbox 760"/>
          <p:cNvSpPr/>
          <p:nvPr/>
        </p:nvSpPr>
        <p:spPr>
          <a:xfrm>
            <a:off x="1301750" y="1183215"/>
            <a:ext cx="496569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(智能家居海外)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762" name="textbox 762"/>
          <p:cNvSpPr/>
          <p:nvPr/>
        </p:nvSpPr>
        <p:spPr>
          <a:xfrm>
            <a:off x="482630" y="1165147"/>
            <a:ext cx="39814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(2025全年)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64" name="textbox 764"/>
          <p:cNvSpPr/>
          <p:nvPr/>
        </p:nvSpPr>
        <p:spPr>
          <a:xfrm>
            <a:off x="6159499" y="3259817"/>
            <a:ext cx="415290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全球制造基地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766" name="textbox 766"/>
          <p:cNvSpPr/>
          <p:nvPr/>
        </p:nvSpPr>
        <p:spPr>
          <a:xfrm>
            <a:off x="7639089" y="3564221"/>
            <a:ext cx="409575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服务合作伙伴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768" name="textbox 768"/>
          <p:cNvSpPr/>
          <p:nvPr/>
        </p:nvSpPr>
        <p:spPr>
          <a:xfrm>
            <a:off x="7670821" y="3247416"/>
            <a:ext cx="33655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Clivet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70" name="textbox 770"/>
          <p:cNvSpPr/>
          <p:nvPr/>
        </p:nvSpPr>
        <p:spPr>
          <a:xfrm>
            <a:off x="7207219" y="3362179"/>
            <a:ext cx="2628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巴拿马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72" name="textbox 772"/>
          <p:cNvSpPr/>
          <p:nvPr/>
        </p:nvSpPr>
        <p:spPr>
          <a:xfrm>
            <a:off x="7207220" y="3591385"/>
            <a:ext cx="2533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-1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伊拉克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74" name="textbox 774"/>
          <p:cNvSpPr/>
          <p:nvPr/>
        </p:nvSpPr>
        <p:spPr>
          <a:xfrm>
            <a:off x="7175488" y="3246713"/>
            <a:ext cx="342900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新设分公司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776" name="textbox 776"/>
          <p:cNvSpPr/>
          <p:nvPr/>
        </p:nvSpPr>
        <p:spPr>
          <a:xfrm>
            <a:off x="3194009" y="2689100"/>
            <a:ext cx="20891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10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78" name="textbox 778"/>
          <p:cNvSpPr/>
          <p:nvPr/>
        </p:nvSpPr>
        <p:spPr>
          <a:xfrm>
            <a:off x="7207220" y="3476518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沙特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80" name="textbox 780"/>
          <p:cNvSpPr/>
          <p:nvPr/>
        </p:nvSpPr>
        <p:spPr>
          <a:xfrm>
            <a:off x="4991080" y="3412522"/>
            <a:ext cx="18224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500" kern="0" spc="-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82" name="textbox 782"/>
          <p:cNvSpPr/>
          <p:nvPr/>
        </p:nvSpPr>
        <p:spPr>
          <a:xfrm>
            <a:off x="4991080" y="1532933"/>
            <a:ext cx="18224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500" kern="0" spc="-6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784" name="textbox 784"/>
          <p:cNvSpPr/>
          <p:nvPr/>
        </p:nvSpPr>
        <p:spPr>
          <a:xfrm>
            <a:off x="4992078" y="2547929"/>
            <a:ext cx="18034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b="1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500" kern="0" spc="-8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b="1" kern="0" spc="10" dirty="0">
                <a:solidFill>
                  <a:srgbClr val="2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6" name="table 786"/>
          <p:cNvGraphicFramePr>
            <a:graphicFrameLocks noGrp="1"/>
          </p:cNvGraphicFramePr>
          <p:nvPr/>
        </p:nvGraphicFramePr>
        <p:xfrm>
          <a:off x="2178009" y="1596925"/>
          <a:ext cx="6578600" cy="1443355"/>
        </p:xfrm>
        <a:graphic>
          <a:graphicData uri="http://schemas.openxmlformats.org/drawingml/2006/table">
            <a:tbl>
              <a:tblPr/>
              <a:tblGrid>
                <a:gridCol w="1536700"/>
                <a:gridCol w="2641600"/>
                <a:gridCol w="1276350"/>
                <a:gridCol w="1123950"/>
              </a:tblGrid>
              <a:tr h="4470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90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欧</a:t>
                      </a:r>
                      <a:r>
                        <a:rPr sz="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洲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130300" algn="l" rtl="0" eaLnBrk="0">
                        <a:lnSpc>
                          <a:spcPts val="1520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亚</a:t>
                      </a:r>
                      <a:r>
                        <a:rPr sz="6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洲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555750" indent="-971550" algn="l" rtl="0" eaLnBrk="0">
                        <a:lnSpc>
                          <a:spcPct val="163000"/>
                        </a:lnSpc>
                        <a:spcBef>
                          <a:spcPts val="0"/>
                        </a:spcBef>
                      </a:pPr>
                      <a:r>
                        <a:rPr sz="1000" kern="0" spc="20" baseline="31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精准触达高潜用户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</a:t>
                      </a:r>
                      <a:r>
                        <a:rPr sz="1400" b="1" kern="0" spc="20" baseline="-1500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5.8</a:t>
                      </a:r>
                      <a:r>
                        <a:rPr sz="1400" b="1" kern="0" spc="10" baseline="-1500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亿</a:t>
                      </a:r>
                      <a:r>
                        <a:rPr sz="1400" kern="0" spc="10" baseline="-15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曝光</a:t>
                      </a:r>
                      <a:r>
                        <a:rPr sz="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</a:t>
                      </a:r>
                      <a:r>
                        <a:rPr sz="700" kern="0" spc="2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6000     </a:t>
                      </a:r>
                      <a:r>
                        <a:rPr sz="700" kern="0" spc="1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万元+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支付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313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9400" algn="l" rtl="0" eaLnBrk="0">
                        <a:lnSpc>
                          <a:spcPct val="68000"/>
                        </a:lnSpc>
                      </a:pPr>
                      <a:r>
                        <a:rPr sz="1100" kern="0" spc="40" baseline="9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触达超</a:t>
                      </a:r>
                      <a:r>
                        <a:rPr sz="7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2300" kern="0" spc="40" baseline="-500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400" kern="0" spc="-6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亿</a:t>
                      </a:r>
                      <a:r>
                        <a:rPr sz="8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人次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900"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1100" kern="0" spc="20" baseline="9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商机线索</a:t>
                      </a:r>
                      <a:r>
                        <a:rPr sz="1700" b="1" kern="0" spc="2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12</a:t>
                      </a:r>
                      <a:r>
                        <a:rPr sz="1700" b="1" kern="0" spc="-14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kern="0" spc="20" baseline="-300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万</a:t>
                      </a:r>
                      <a:r>
                        <a:rPr sz="1600" kern="0" spc="20" baseline="-300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</a:t>
                      </a:r>
                      <a:endParaRPr sz="1600" baseline="-30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910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600" kern="0" spc="3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r>
                        <a:rPr sz="600" kern="0" spc="1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</a:t>
                      </a:r>
                      <a:r>
                        <a:rPr sz="600" kern="0" spc="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</a:t>
                      </a:r>
                      <a:r>
                        <a:rPr sz="600" kern="0" spc="30" dirty="0">
                          <a:solidFill>
                            <a:srgbClr val="206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600" kern="0" spc="2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3850" algn="l" rtl="0" eaLnBrk="0">
                        <a:lnSpc>
                          <a:spcPct val="82000"/>
                        </a:lnSpc>
                        <a:spcBef>
                          <a:spcPts val="5"/>
                        </a:spcBef>
                      </a:pPr>
                      <a:r>
                        <a:rPr sz="600" kern="0" spc="9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4170">
                <a:tc>
                  <a:txBody>
                    <a:bodyPr/>
                    <a:lstStyle/>
                    <a:p>
                      <a:pPr marL="20320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南</a:t>
                      </a:r>
                      <a:r>
                        <a:rPr sz="6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567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92000"/>
                        </a:lnSpc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人群诊断反哺内容与投放，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035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实现站内外高效联动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07950" indent="6350" algn="l" rtl="0" eaLnBrk="0">
                        <a:lnSpc>
                          <a:spcPct val="148000"/>
                        </a:lnSpc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精准识别政策敏感人群，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有效放大补贴转化效率。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8115" indent="-5715" algn="l" rtl="0" eaLnBrk="0">
                        <a:lnSpc>
                          <a:spcPct val="148000"/>
                        </a:lnSpc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私域精细化运营沉淀线索，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提升商机转化可能性。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4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700" kern="0" spc="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</a:t>
                      </a:r>
                      <a:r>
                        <a:rPr sz="700" kern="0" spc="-12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938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7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持续覆盖欧洲、南美等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ts val="1075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关键市场。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950" algn="l" rtl="0" eaLnBrk="0">
                        <a:lnSpc>
                          <a:spcPct val="87000"/>
                        </a:lnSpc>
                      </a:pPr>
                      <a:r>
                        <a:rPr sz="800" kern="0" spc="10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抖音大牌日关键转化漏斗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89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87325">
                <a:tc v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200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</a:pPr>
                      <a:r>
                        <a:rPr sz="1000" kern="0" spc="10" baseline="500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曝光量</a:t>
                      </a:r>
                      <a:r>
                        <a:rPr sz="600" kern="0" spc="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</a:t>
                      </a:r>
                      <a:r>
                        <a:rPr sz="600" kern="0" spc="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支付</a:t>
                      </a:r>
                      <a:r>
                        <a:rPr sz="600" kern="0" spc="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GMV</a:t>
                      </a:r>
                      <a:r>
                        <a:rPr sz="600" kern="0" spc="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</a:t>
                      </a:r>
                      <a:r>
                        <a:rPr sz="500" kern="0" spc="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商</a:t>
                      </a:r>
                      <a:r>
                        <a:rPr sz="500" kern="0" spc="-6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</a:t>
                      </a:r>
                      <a:r>
                        <a:rPr sz="500" kern="0" spc="-1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</a:t>
                      </a:r>
                      <a:r>
                        <a:rPr sz="500" kern="0" spc="-9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索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685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500" kern="0" spc="10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行业单日销售额峰值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5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0" algn="l" rtl="0" eaLnBrk="0">
                        <a:lnSpc>
                          <a:spcPct val="91000"/>
                        </a:lnSpc>
                      </a:pPr>
                      <a:r>
                        <a:rPr sz="700" kern="0" spc="2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88" name="textbox 788"/>
          <p:cNvSpPr/>
          <p:nvPr/>
        </p:nvSpPr>
        <p:spPr>
          <a:xfrm>
            <a:off x="403840" y="261026"/>
            <a:ext cx="3703320" cy="3028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1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品牌营销：体育赞助与</a:t>
            </a:r>
            <a:r>
              <a:rPr sz="21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全域营销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sp>
        <p:nvSpPr>
          <p:cNvPr id="790" name="textbox 790"/>
          <p:cNvSpPr/>
          <p:nvPr/>
        </p:nvSpPr>
        <p:spPr>
          <a:xfrm>
            <a:off x="330200" y="783112"/>
            <a:ext cx="4804410" cy="163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400" kern="0" spc="110" baseline="-400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体育营销版图</a:t>
            </a:r>
            <a:r>
              <a:rPr sz="900" kern="0" spc="1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</a:t>
            </a:r>
            <a:r>
              <a:rPr sz="900" kern="0" spc="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</a:t>
            </a:r>
            <a:r>
              <a:rPr sz="900" kern="0" spc="11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全域数字化营销实践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graphicFrame>
        <p:nvGraphicFramePr>
          <p:cNvPr id="792" name="table 792"/>
          <p:cNvGraphicFramePr>
            <a:graphicFrameLocks noGrp="1"/>
          </p:cNvGraphicFramePr>
          <p:nvPr/>
        </p:nvGraphicFramePr>
        <p:xfrm>
          <a:off x="342900" y="4321077"/>
          <a:ext cx="1739900" cy="318135"/>
        </p:xfrm>
        <a:graphic>
          <a:graphicData uri="http://schemas.openxmlformats.org/drawingml/2006/table">
            <a:tbl>
              <a:tblPr/>
              <a:tblGrid>
                <a:gridCol w="873125"/>
                <a:gridCol w="866775"/>
              </a:tblGrid>
              <a:tr h="3181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600" kern="0" spc="2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36000"/>
                        </a:lnSpc>
                      </a:pP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顶级赛事背书，迅速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</a:t>
                      </a:r>
                      <a:r>
                        <a:rPr sz="5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建立品牌信任与认知</a:t>
                      </a:r>
                      <a:r>
                        <a:rPr sz="5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。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585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1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1125" algn="l" rtl="0" eaLnBrk="0">
                        <a:lnSpc>
                          <a:spcPct val="93000"/>
                        </a:lnSpc>
                      </a:pPr>
                      <a:r>
                        <a:rPr sz="500" kern="0" spc="1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</a:t>
                      </a:r>
                      <a:r>
                        <a:rPr sz="500" kern="0" spc="-6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10" dirty="0">
                          <a:solidFill>
                            <a:srgbClr val="2060D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察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11125" algn="l" rtl="0" eaLnBrk="0">
                        <a:lnSpc>
                          <a:spcPct val="121000"/>
                        </a:lnSpc>
                        <a:spcBef>
                          <a:spcPts val="60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优质内容与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KOL </a:t>
                      </a: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背书，</a:t>
                      </a:r>
                      <a:r>
                        <a:rPr sz="6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激发用户兴趣与互动。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94" name="textbox 794"/>
          <p:cNvSpPr/>
          <p:nvPr/>
        </p:nvSpPr>
        <p:spPr>
          <a:xfrm>
            <a:off x="8039139" y="3825432"/>
            <a:ext cx="809625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1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2025以旧换新营销</a:t>
            </a:r>
            <a:r>
              <a:rPr sz="5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以反差感+共情力表达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延续消费动能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796" name="textbox 796"/>
          <p:cNvSpPr/>
          <p:nvPr/>
        </p:nvSpPr>
        <p:spPr>
          <a:xfrm>
            <a:off x="7658110" y="3034341"/>
            <a:ext cx="1191260" cy="269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indent="-5715" algn="l" rtl="0" eaLnBrk="0">
              <a:lnSpc>
                <a:spcPct val="120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内容场景与交易场景合并，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活动同时沉淀线索资产。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798" name="textbox 798"/>
          <p:cNvSpPr/>
          <p:nvPr/>
        </p:nvSpPr>
        <p:spPr>
          <a:xfrm>
            <a:off x="6356370" y="4488634"/>
            <a:ext cx="1083310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6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高管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传递战略与专业力，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增强品牌公信力与信任度。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00" name="textbox 800"/>
          <p:cNvSpPr/>
          <p:nvPr/>
        </p:nvSpPr>
        <p:spPr>
          <a:xfrm>
            <a:off x="400060" y="2784451"/>
            <a:ext cx="1007110" cy="280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38" rIns="0" bIns="0"/>
          <a:lstStyle/>
          <a:p>
            <a:pPr marL="12700" algn="l" rtl="0" eaLnBrk="0">
              <a:lnSpc>
                <a:spcPct val="125000"/>
              </a:lnSpc>
              <a:spcBef>
                <a:spcPts val="5"/>
              </a:spcBef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借助顶级俱乐部提升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欧洲高端品牌可见度。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02" name="textbox 802"/>
          <p:cNvSpPr/>
          <p:nvPr/>
        </p:nvSpPr>
        <p:spPr>
          <a:xfrm>
            <a:off x="7702549" y="4488634"/>
            <a:ext cx="898525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02" rIns="0" bIns="0"/>
          <a:lstStyle/>
          <a:p>
            <a:pPr marL="12700" algn="l" rtl="0" eaLnBrk="0">
              <a:lnSpc>
                <a:spcPct val="133000"/>
              </a:lnSpc>
              <a:spcBef>
                <a:spcPts val="0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情感共鸣+政策激励，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促进换新决策与复购。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04" name="textbox 804"/>
          <p:cNvSpPr/>
          <p:nvPr/>
        </p:nvSpPr>
        <p:spPr>
          <a:xfrm>
            <a:off x="5257810" y="4425235"/>
            <a:ext cx="854075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5000"/>
              </a:lnSpc>
            </a:pPr>
            <a:r>
              <a:rPr sz="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以旧换新政策延续，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驱动复购与长周期增长。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06" name="textbox 806"/>
          <p:cNvSpPr/>
          <p:nvPr/>
        </p:nvSpPr>
        <p:spPr>
          <a:xfrm>
            <a:off x="6705580" y="3825432"/>
            <a:ext cx="834389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700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方洪波等高管公开演讲/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媒体专访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08" name="textbox 808"/>
          <p:cNvSpPr/>
          <p:nvPr/>
        </p:nvSpPr>
        <p:spPr>
          <a:xfrm>
            <a:off x="4286260" y="1279090"/>
            <a:ext cx="783590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人群诊断+外媒种草+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站内外联动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10" name="textbox 810"/>
          <p:cNvSpPr/>
          <p:nvPr/>
        </p:nvSpPr>
        <p:spPr>
          <a:xfrm>
            <a:off x="4317989" y="4412408"/>
            <a:ext cx="727075" cy="241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6000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线索资产沉淀私域，</a:t>
            </a:r>
            <a:r>
              <a:rPr sz="5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提升后续转化率。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12" name="textbox 812"/>
          <p:cNvSpPr/>
          <p:nvPr/>
        </p:nvSpPr>
        <p:spPr>
          <a:xfrm>
            <a:off x="2324140" y="4425235"/>
            <a:ext cx="727075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5000"/>
              </a:lnSpc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数据驱动精准投放，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高效触达高潜人群。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14" name="textbox 814"/>
          <p:cNvSpPr/>
          <p:nvPr/>
        </p:nvSpPr>
        <p:spPr>
          <a:xfrm>
            <a:off x="5556270" y="1284994"/>
            <a:ext cx="739775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02" rIns="0" bIns="0"/>
          <a:lstStyle/>
          <a:p>
            <a:pPr marL="12700" algn="l" rtl="0" eaLnBrk="0">
              <a:lnSpc>
                <a:spcPct val="140000"/>
              </a:lnSpc>
              <a:spcBef>
                <a:spcPts val="0"/>
              </a:spcBef>
            </a:pP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全屋智能战略发布会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</a:t>
            </a:r>
            <a:r>
              <a:rPr sz="5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牌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</a:t>
            </a: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16" name="textbox 816"/>
          <p:cNvSpPr/>
          <p:nvPr/>
        </p:nvSpPr>
        <p:spPr>
          <a:xfrm>
            <a:off x="3365459" y="4425235"/>
            <a:ext cx="651510" cy="234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5000"/>
              </a:lnSpc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多触点承接转化，</a:t>
            </a:r>
            <a:r>
              <a:rPr sz="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提升成交效率。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18" name="textbox 818"/>
          <p:cNvSpPr/>
          <p:nvPr/>
        </p:nvSpPr>
        <p:spPr>
          <a:xfrm>
            <a:off x="2165309" y="1121158"/>
            <a:ext cx="11658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曼城等国际顶级俱乐部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20" name="textbox 820"/>
          <p:cNvSpPr/>
          <p:nvPr/>
        </p:nvSpPr>
        <p:spPr>
          <a:xfrm>
            <a:off x="330200" y="3611261"/>
            <a:ext cx="97980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品牌到交易的闭环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22" name="textbox 822"/>
          <p:cNvSpPr/>
          <p:nvPr/>
        </p:nvSpPr>
        <p:spPr>
          <a:xfrm>
            <a:off x="4775190" y="3250260"/>
            <a:ext cx="61277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3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6000</a:t>
            </a:r>
            <a:r>
              <a:rPr sz="1100" kern="0" spc="-11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30" dirty="0">
                <a:solidFill>
                  <a:srgbClr val="206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万元+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24" name="textbox 824"/>
          <p:cNvSpPr/>
          <p:nvPr/>
        </p:nvSpPr>
        <p:spPr>
          <a:xfrm>
            <a:off x="520669" y="1115264"/>
            <a:ext cx="103251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巴塞罗那足球俱乐部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26" name="textbox 826"/>
          <p:cNvSpPr/>
          <p:nvPr/>
        </p:nvSpPr>
        <p:spPr>
          <a:xfrm>
            <a:off x="476229" y="1273804"/>
            <a:ext cx="112522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2026/27赛季起袖标赞助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28" name="textbox 828"/>
          <p:cNvSpPr/>
          <p:nvPr/>
        </p:nvSpPr>
        <p:spPr>
          <a:xfrm>
            <a:off x="3663919" y="3869533"/>
            <a:ext cx="445135" cy="2819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28" rIns="0" bIns="0"/>
          <a:lstStyle/>
          <a:p>
            <a:pPr marL="12700" algn="l" rtl="0" eaLnBrk="0">
              <a:lnSpc>
                <a:spcPct val="126000"/>
              </a:lnSpc>
              <a:spcBef>
                <a:spcPts val="5"/>
              </a:spcBef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门店/线上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成交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30" name="textbox 830"/>
          <p:cNvSpPr/>
          <p:nvPr/>
        </p:nvSpPr>
        <p:spPr>
          <a:xfrm>
            <a:off x="4584720" y="3888565"/>
            <a:ext cx="426719" cy="275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02" rIns="0" bIns="0"/>
          <a:lstStyle/>
          <a:p>
            <a:pPr marL="12700" algn="l" rtl="0" eaLnBrk="0">
              <a:lnSpc>
                <a:spcPct val="123000"/>
              </a:lnSpc>
              <a:spcBef>
                <a:spcPts val="5"/>
              </a:spcBef>
            </a:pPr>
            <a:r>
              <a:rPr sz="700" kern="0" spc="8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私域线索</a:t>
            </a:r>
            <a:r>
              <a:rPr sz="700" kern="0" spc="1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沉淀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32" name="textbox 832"/>
          <p:cNvSpPr/>
          <p:nvPr/>
        </p:nvSpPr>
        <p:spPr>
          <a:xfrm>
            <a:off x="5556270" y="3870295"/>
            <a:ext cx="405130" cy="2781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3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以旧换新</a:t>
            </a: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延续动能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34" name="textbox 834"/>
          <p:cNvSpPr/>
          <p:nvPr/>
        </p:nvSpPr>
        <p:spPr>
          <a:xfrm>
            <a:off x="1625630" y="3883000"/>
            <a:ext cx="403860" cy="268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9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内容种草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激活兴趣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36" name="textbox 836"/>
          <p:cNvSpPr/>
          <p:nvPr/>
        </p:nvSpPr>
        <p:spPr>
          <a:xfrm>
            <a:off x="647679" y="3889481"/>
            <a:ext cx="400685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96" rIns="0" bIns="0"/>
          <a:lstStyle/>
          <a:p>
            <a:pPr marL="19050" indent="-6350" algn="l" rtl="0" eaLnBrk="0">
              <a:lnSpc>
                <a:spcPct val="135000"/>
              </a:lnSpc>
              <a:spcBef>
                <a:spcPts val="5"/>
              </a:spcBef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体育赞助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建立认知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38" name="textbox 838"/>
          <p:cNvSpPr/>
          <p:nvPr/>
        </p:nvSpPr>
        <p:spPr>
          <a:xfrm>
            <a:off x="5257810" y="2237942"/>
            <a:ext cx="1009014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发布会+大牌日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声量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40" name="textbox 840"/>
          <p:cNvSpPr/>
          <p:nvPr/>
        </p:nvSpPr>
        <p:spPr>
          <a:xfrm>
            <a:off x="5257809" y="2371592"/>
            <a:ext cx="7016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与销量双轮驱动。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42" name="textbox 842"/>
          <p:cNvSpPr/>
          <p:nvPr/>
        </p:nvSpPr>
        <p:spPr>
          <a:xfrm>
            <a:off x="6838991" y="1284994"/>
            <a:ext cx="77533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国补政策敏感人群识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别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44" name="textbox 844"/>
          <p:cNvSpPr/>
          <p:nvPr/>
        </p:nvSpPr>
        <p:spPr>
          <a:xfrm>
            <a:off x="6838991" y="1109642"/>
            <a:ext cx="48260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阿里妈妈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46" name="textbox 846"/>
          <p:cNvSpPr/>
          <p:nvPr/>
        </p:nvSpPr>
        <p:spPr>
          <a:xfrm>
            <a:off x="7734280" y="3623059"/>
            <a:ext cx="48069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以旧换新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48" name="textbox 848"/>
          <p:cNvSpPr/>
          <p:nvPr/>
        </p:nvSpPr>
        <p:spPr>
          <a:xfrm>
            <a:off x="6356370" y="3624247"/>
            <a:ext cx="45910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8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高管</a:t>
            </a:r>
            <a:r>
              <a:rPr sz="800" kern="0" spc="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IP</a:t>
            </a:r>
            <a:r>
              <a:rPr sz="800" kern="0" spc="8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50" name="textbox 850"/>
          <p:cNvSpPr/>
          <p:nvPr/>
        </p:nvSpPr>
        <p:spPr>
          <a:xfrm>
            <a:off x="8128020" y="1285483"/>
            <a:ext cx="67691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私域运营+企业微信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852" name="textbox 852"/>
          <p:cNvSpPr/>
          <p:nvPr/>
        </p:nvSpPr>
        <p:spPr>
          <a:xfrm>
            <a:off x="6705579" y="4080326"/>
            <a:ext cx="515619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强化专业认知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54" name="textbox 854"/>
          <p:cNvSpPr/>
          <p:nvPr/>
        </p:nvSpPr>
        <p:spPr>
          <a:xfrm>
            <a:off x="2540030" y="1279895"/>
            <a:ext cx="43116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长期合作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56" name="textbox 856"/>
          <p:cNvSpPr/>
          <p:nvPr/>
        </p:nvSpPr>
        <p:spPr>
          <a:xfrm>
            <a:off x="2635219" y="3889993"/>
            <a:ext cx="4229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7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平台投放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58" name="textbox 858"/>
          <p:cNvSpPr/>
          <p:nvPr/>
        </p:nvSpPr>
        <p:spPr>
          <a:xfrm>
            <a:off x="2649292" y="4034421"/>
            <a:ext cx="420369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b="1" kern="0" spc="6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精准触达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60" name="textbox 860"/>
          <p:cNvSpPr/>
          <p:nvPr/>
        </p:nvSpPr>
        <p:spPr>
          <a:xfrm>
            <a:off x="4000510" y="3300975"/>
            <a:ext cx="3251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2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5.8亿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62" name="textbox 862"/>
          <p:cNvSpPr/>
          <p:nvPr/>
        </p:nvSpPr>
        <p:spPr>
          <a:xfrm>
            <a:off x="8705831" y="4837750"/>
            <a:ext cx="18224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-10" dirty="0">
                <a:solidFill>
                  <a:srgbClr val="206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64" name="textbox 864"/>
          <p:cNvSpPr/>
          <p:nvPr/>
        </p:nvSpPr>
        <p:spPr>
          <a:xfrm>
            <a:off x="5810290" y="3306556"/>
            <a:ext cx="327660" cy="1289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900" kern="0" spc="-1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r>
              <a:rPr sz="900" kern="0" spc="100" dirty="0">
                <a:solidFill>
                  <a:srgbClr val="206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-1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万+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66" name="textbox 866"/>
          <p:cNvSpPr/>
          <p:nvPr/>
        </p:nvSpPr>
        <p:spPr>
          <a:xfrm>
            <a:off x="1314460" y="2155967"/>
            <a:ext cx="3530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袖标位置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68" name="textbox 868"/>
          <p:cNvSpPr/>
          <p:nvPr/>
        </p:nvSpPr>
        <p:spPr>
          <a:xfrm>
            <a:off x="5556270" y="1103878"/>
            <a:ext cx="2489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抖音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70" name="textbox 870"/>
          <p:cNvSpPr/>
          <p:nvPr/>
        </p:nvSpPr>
        <p:spPr>
          <a:xfrm>
            <a:off x="4286260" y="1115588"/>
            <a:ext cx="26797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京</a:t>
            </a:r>
            <a:r>
              <a:rPr sz="8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72" name="textbox 872"/>
          <p:cNvSpPr/>
          <p:nvPr/>
        </p:nvSpPr>
        <p:spPr>
          <a:xfrm>
            <a:off x="8134330" y="1114832"/>
            <a:ext cx="257809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腾讯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874" name="textbox 874"/>
          <p:cNvSpPr/>
          <p:nvPr/>
        </p:nvSpPr>
        <p:spPr>
          <a:xfrm>
            <a:off x="584220" y="2626052"/>
            <a:ext cx="23495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700" kern="0" spc="-1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876" name="textbox 876"/>
          <p:cNvSpPr/>
          <p:nvPr/>
        </p:nvSpPr>
        <p:spPr>
          <a:xfrm>
            <a:off x="7702550" y="4359143"/>
            <a:ext cx="2025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78" name="textbox 878"/>
          <p:cNvSpPr/>
          <p:nvPr/>
        </p:nvSpPr>
        <p:spPr>
          <a:xfrm>
            <a:off x="6356370" y="4359143"/>
            <a:ext cx="20256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80" name="textbox 880"/>
          <p:cNvSpPr/>
          <p:nvPr/>
        </p:nvSpPr>
        <p:spPr>
          <a:xfrm>
            <a:off x="2324141" y="4301999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82" name="textbox 882"/>
          <p:cNvSpPr/>
          <p:nvPr/>
        </p:nvSpPr>
        <p:spPr>
          <a:xfrm>
            <a:off x="4317990" y="4301999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84" name="textbox 884"/>
          <p:cNvSpPr/>
          <p:nvPr/>
        </p:nvSpPr>
        <p:spPr>
          <a:xfrm>
            <a:off x="3365459" y="4301999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886" name="textbox 886"/>
          <p:cNvSpPr/>
          <p:nvPr/>
        </p:nvSpPr>
        <p:spPr>
          <a:xfrm>
            <a:off x="5257810" y="4301999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206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8" name="table 888"/>
          <p:cNvGraphicFramePr>
            <a:graphicFrameLocks noGrp="1"/>
          </p:cNvGraphicFramePr>
          <p:nvPr/>
        </p:nvGraphicFramePr>
        <p:xfrm>
          <a:off x="349209" y="1230384"/>
          <a:ext cx="8267700" cy="3586480"/>
        </p:xfrm>
        <a:graphic>
          <a:graphicData uri="http://schemas.openxmlformats.org/drawingml/2006/table">
            <a:tbl>
              <a:tblPr/>
              <a:tblGrid>
                <a:gridCol w="8267700"/>
              </a:tblGrid>
              <a:tr h="30784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02450" indent="-31750" algn="l" rtl="0" eaLnBrk="0">
                        <a:lnSpc>
                          <a:spcPct val="132000"/>
                        </a:lnSpc>
                      </a:pPr>
                      <a:r>
                        <a:rPr sz="6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9月：取消智小运营中心，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</a:t>
                      </a:r>
                      <a:r>
                        <a:rPr sz="6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并入生活电器线上业务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870700" algn="l" rtl="0" eaLnBrk="0">
                        <a:lnSpc>
                          <a:spcPct val="81000"/>
                        </a:lnSpc>
                        <a:spcBef>
                          <a:spcPts val="1170"/>
                        </a:spcBef>
                      </a:pPr>
                      <a:r>
                        <a:rPr sz="700" kern="0" spc="3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</a:t>
                      </a:r>
                      <a:r>
                        <a:rPr sz="700" kern="0" spc="3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线上统一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19150" algn="l" rtl="0" eaLnBrk="0">
                        <a:lnSpc>
                          <a:spcPct val="71000"/>
                        </a:lnSpc>
                        <a:spcBef>
                          <a:spcPts val="0"/>
                        </a:spcBef>
                      </a:pPr>
                      <a:r>
                        <a:rPr sz="6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承接集团经营与转型执</a:t>
                      </a: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87070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线上业务统一运营与管理，降</a:t>
                      </a:r>
                      <a:r>
                        <a:rPr sz="6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本增效。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02450" algn="l" rtl="0" eaLnBrk="0">
                        <a:lnSpc>
                          <a:spcPct val="90000"/>
                        </a:lnSpc>
                        <a:spcBef>
                          <a:spcPts val="1345"/>
                        </a:spcBef>
                      </a:pPr>
                      <a:r>
                        <a:rPr sz="8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经营责任下沉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02450" algn="l" rtl="0" eaLnBrk="0">
                        <a:lnSpc>
                          <a:spcPct val="92000"/>
                        </a:lnSpc>
                        <a:spcBef>
                          <a:spcPts val="225"/>
                        </a:spcBef>
                      </a:pPr>
                      <a:r>
                        <a:rPr sz="6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让一线更贴近利润与用户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6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540500" algn="l" rtl="0" eaLnBrk="0">
                        <a:lnSpc>
                          <a:spcPct val="90000"/>
                        </a:lnSpc>
                        <a:spcBef>
                          <a:spcPts val="245"/>
                        </a:spcBef>
                      </a:pPr>
                      <a:r>
                        <a:rPr sz="800" kern="0" spc="1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组织瘦身逻辑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91350" algn="l" rtl="0" eaLnBrk="0">
                        <a:lnSpc>
                          <a:spcPct val="92000"/>
                        </a:lnSpc>
                        <a:spcBef>
                          <a:spcPts val="730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裁撤冗余机构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91350" algn="l" rtl="0" eaLnBrk="0">
                        <a:lnSpc>
                          <a:spcPct val="92000"/>
                        </a:lnSpc>
                        <a:spcBef>
                          <a:spcPts val="385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</a:t>
                      </a:r>
                      <a:r>
                        <a:rPr sz="600" kern="0" spc="-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业务架构整合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6991350" algn="l" rtl="0" eaLnBrk="0">
                        <a:lnSpc>
                          <a:spcPct val="92000"/>
                        </a:lnSpc>
                        <a:spcBef>
                          <a:spcPts val="440"/>
                        </a:spcBef>
                      </a:pPr>
                      <a:r>
                        <a:rPr sz="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·运总直接承担经营责任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00" indent="-279400" algn="l" rtl="0" eaLnBrk="0">
                        <a:lnSpc>
                          <a:spcPct val="127000"/>
                        </a:lnSpc>
                        <a:spcBef>
                          <a:spcPts val="0"/>
                        </a:spcBef>
                      </a:pPr>
                      <a:r>
                        <a:rPr sz="600" kern="0" spc="8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洞察：减少中间协调，</a:t>
                      </a:r>
                      <a:r>
                        <a:rPr sz="600" kern="0" spc="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</a:t>
                      </a:r>
                      <a:r>
                        <a:rPr sz="600" kern="0" spc="7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把利润与责任推近终端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701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6000"/>
                        </a:lnSpc>
                        <a:spcBef>
                          <a:spcPts val="5"/>
                        </a:spcBef>
                      </a:pPr>
                      <a:r>
                        <a:rPr sz="800" kern="0" spc="3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经营含义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920750" algn="l" rtl="0" eaLnBrk="0">
                        <a:lnSpc>
                          <a:spcPct val="72000"/>
                        </a:lnSpc>
                        <a:spcBef>
                          <a:spcPts val="5"/>
                        </a:spcBef>
                      </a:pP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决策链更短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            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渠道动作更快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费用管控更严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 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</a:t>
                      </a:r>
                      <a:r>
                        <a:rPr sz="7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用户运</a:t>
                      </a:r>
                      <a:r>
                        <a:rPr sz="7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营权重更高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667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9085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前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端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整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合</a:t>
                      </a:r>
                      <a:r>
                        <a:rPr sz="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后</a:t>
                      </a:r>
                      <a:r>
                        <a:rPr sz="5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资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源</a:t>
                      </a:r>
                      <a:r>
                        <a:rPr sz="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统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一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调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度</a:t>
                      </a:r>
                      <a:r>
                        <a:rPr sz="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5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组织瘦身与激励绑定，费用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DTC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能力增强，用户洞察更深，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0750" algn="l" rtl="0" eaLnBrk="0">
                        <a:lnSpc>
                          <a:spcPct val="93000"/>
                        </a:lnSpc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决策效率显著提升。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市场反应更快更灵活。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           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投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放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更</a:t>
                      </a:r>
                      <a:r>
                        <a:rPr sz="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精</a:t>
                      </a:r>
                      <a:r>
                        <a:rPr sz="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准</a:t>
                      </a:r>
                      <a:r>
                        <a:rPr sz="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ROI</a:t>
                      </a:r>
                      <a:r>
                        <a:rPr sz="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提升。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                         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复</a:t>
                      </a:r>
                      <a:r>
                        <a:rPr sz="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购</a:t>
                      </a:r>
                      <a:r>
                        <a:rPr sz="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与</a:t>
                      </a:r>
                      <a:r>
                        <a:rPr sz="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LTV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5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持续提升。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890" name="table 890"/>
          <p:cNvGraphicFramePr>
            <a:graphicFrameLocks noGrp="1"/>
          </p:cNvGraphicFramePr>
          <p:nvPr/>
        </p:nvGraphicFramePr>
        <p:xfrm>
          <a:off x="3340119" y="3540932"/>
          <a:ext cx="5260340" cy="694690"/>
        </p:xfrm>
        <a:graphic>
          <a:graphicData uri="http://schemas.openxmlformats.org/drawingml/2006/table">
            <a:tbl>
              <a:tblPr/>
              <a:tblGrid>
                <a:gridCol w="1510665"/>
                <a:gridCol w="1085215"/>
                <a:gridCol w="1450340"/>
                <a:gridCol w="1214120"/>
              </a:tblGrid>
              <a:tr h="177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9000"/>
                        </a:lnSpc>
                      </a:pPr>
                      <a:r>
                        <a:rPr sz="800" kern="0" spc="11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改革逻辑：敢对自己动手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005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管理层换代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00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新生代掌舵，承核改革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95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组织层级压缩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29235" algn="l" rtl="0" eaLnBrk="0">
                        <a:lnSpc>
                          <a:spcPts val="970"/>
                        </a:lnSpc>
                      </a:pP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裁撤冗余，精简架构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89585" indent="-6350" algn="l" rtl="0" eaLnBrk="0">
                        <a:lnSpc>
                          <a:spcPct val="149000"/>
                        </a:lnSpc>
                        <a:spcBef>
                          <a:spcPts val="0"/>
                        </a:spcBef>
                      </a:pPr>
                      <a:r>
                        <a:rPr sz="6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一线经营责任增强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权限下沉，结果导向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4030" indent="5715" algn="l" rtl="0" eaLnBrk="0">
                        <a:lnSpc>
                          <a:spcPct val="134000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DTC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6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落地速度提升</a:t>
                      </a:r>
                      <a:r>
                        <a:rPr sz="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直达用户，快速迭代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621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015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500" kern="0" spc="5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洞察：打破路径依赖，</a:t>
                      </a:r>
                      <a:r>
                        <a:rPr sz="500" kern="0" spc="5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注入活力</a:t>
                      </a:r>
                      <a:r>
                        <a:rPr sz="500" kern="0" spc="1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   </a:t>
                      </a:r>
                      <a:r>
                        <a:rPr sz="500" kern="0" spc="5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</a:t>
                      </a:r>
                      <a:r>
                        <a:rPr sz="500" kern="0" spc="-1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5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察</a:t>
                      </a:r>
                      <a:r>
                        <a:rPr sz="500" kern="0" spc="-9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：</a:t>
                      </a:r>
                      <a:r>
                        <a:rPr sz="5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减</a:t>
                      </a:r>
                      <a:r>
                        <a:rPr sz="500" kern="0" spc="-9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少</a:t>
                      </a:r>
                      <a:r>
                        <a:rPr sz="500" kern="0" spc="-5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内</a:t>
                      </a:r>
                      <a:r>
                        <a:rPr sz="500" kern="0" spc="-9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耗</a:t>
                      </a:r>
                      <a:r>
                        <a:rPr sz="500" kern="0" spc="-10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4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，</a:t>
                      </a:r>
                      <a:r>
                        <a:rPr sz="500" kern="0" spc="4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提升效率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558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500" kern="0" spc="7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</a:t>
                      </a:r>
                      <a:r>
                        <a:rPr sz="500" kern="0" spc="10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7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责任到人，目标更清</a:t>
                      </a:r>
                      <a:r>
                        <a:rPr sz="500" kern="0" spc="6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晰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669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500" kern="0" spc="7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</a:t>
                      </a:r>
                      <a:r>
                        <a:rPr sz="500" kern="0" spc="70" dirty="0">
                          <a:solidFill>
                            <a:srgbClr val="1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500" kern="0" spc="7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更快验证，</a:t>
                      </a:r>
                      <a:r>
                        <a:rPr sz="500" kern="0" spc="60" dirty="0">
                          <a:solidFill>
                            <a:srgbClr val="104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更快增长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92" name="textbox 892"/>
          <p:cNvSpPr/>
          <p:nvPr/>
        </p:nvSpPr>
        <p:spPr>
          <a:xfrm>
            <a:off x="336509" y="843032"/>
            <a:ext cx="4540250" cy="173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65"/>
              </a:lnSpc>
            </a:pPr>
            <a:r>
              <a:rPr sz="1400" kern="0" spc="110" baseline="-400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高管代际更替</a:t>
            </a:r>
            <a:r>
              <a:rPr sz="900" kern="0" spc="1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    </a:t>
            </a:r>
            <a:r>
              <a:rPr sz="900" kern="0" spc="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110" baseline="70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2025年三次组织调整路径</a:t>
            </a:r>
            <a:endParaRPr sz="1400" baseline="7000" dirty="0">
              <a:latin typeface="SimHei"/>
              <a:ea typeface="SimHei"/>
              <a:cs typeface="SimHei"/>
            </a:endParaRPr>
          </a:p>
        </p:txBody>
      </p:sp>
      <p:sp>
        <p:nvSpPr>
          <p:cNvPr id="894" name="textbox 894"/>
          <p:cNvSpPr/>
          <p:nvPr/>
        </p:nvSpPr>
        <p:spPr>
          <a:xfrm>
            <a:off x="336509" y="557640"/>
            <a:ext cx="527113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美的的营销改革不是单纯渠道动作，而是通过高管换代、组织瘦身与激励绑定，重设一线经营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责任。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96" name="textbox 896"/>
          <p:cNvSpPr/>
          <p:nvPr/>
        </p:nvSpPr>
        <p:spPr>
          <a:xfrm>
            <a:off x="340050" y="215181"/>
            <a:ext cx="2338705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组织变革与人才梯队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898" name="textbox 898"/>
          <p:cNvSpPr/>
          <p:nvPr/>
        </p:nvSpPr>
        <p:spPr>
          <a:xfrm>
            <a:off x="3651209" y="2714179"/>
            <a:ext cx="1095375" cy="394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·股份回购用于股权激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励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490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·绑定核心人才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·股份回购注销计划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力度罕见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00" name="textbox 900"/>
          <p:cNvSpPr/>
          <p:nvPr/>
        </p:nvSpPr>
        <p:spPr>
          <a:xfrm>
            <a:off x="5410240" y="2714757"/>
            <a:ext cx="96964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·80后高管进入关键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岗位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38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·业务与财务协同增强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2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智能化成为核心议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题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02" name="textbox 902"/>
          <p:cNvSpPr/>
          <p:nvPr/>
        </p:nvSpPr>
        <p:spPr>
          <a:xfrm>
            <a:off x="2349469" y="3114240"/>
            <a:ext cx="645795" cy="384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新生代管理层被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推到经营与改革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04" name="textbox 904"/>
          <p:cNvSpPr/>
          <p:nvPr/>
        </p:nvSpPr>
        <p:spPr>
          <a:xfrm>
            <a:off x="2349469" y="1412411"/>
            <a:ext cx="645795" cy="384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新生代管理层被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推到经营与改革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06" name="textbox 906"/>
          <p:cNvSpPr/>
          <p:nvPr/>
        </p:nvSpPr>
        <p:spPr>
          <a:xfrm>
            <a:off x="5130800" y="3190416"/>
            <a:ext cx="1109345" cy="2343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92" rIns="0" bIns="0"/>
          <a:lstStyle/>
          <a:p>
            <a:pPr marL="292100" indent="-279400" algn="l" rtl="0" eaLnBrk="0">
              <a:lnSpc>
                <a:spcPct val="121000"/>
              </a:lnSpc>
              <a:spcBef>
                <a:spcPts val="0"/>
              </a:spcBef>
            </a:pPr>
            <a:r>
              <a:rPr sz="600" kern="0" spc="1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洞察：管理层能力结构转</a:t>
            </a:r>
            <a:r>
              <a:rPr sz="600" kern="0" spc="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</a:t>
            </a:r>
            <a:r>
              <a:rPr sz="600" kern="0" spc="1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数字化与经营复合型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08" name="textbox 908"/>
          <p:cNvSpPr/>
          <p:nvPr/>
        </p:nvSpPr>
        <p:spPr>
          <a:xfrm>
            <a:off x="2349469" y="2288709"/>
            <a:ext cx="645795" cy="378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37" rIns="0" bIns="0"/>
          <a:lstStyle/>
          <a:p>
            <a:pPr marL="12700" algn="l" rtl="0" eaLnBrk="0">
              <a:lnSpc>
                <a:spcPct val="133000"/>
              </a:lnSpc>
              <a:spcBef>
                <a:spcPts val="5"/>
              </a:spcBef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新生代管理层被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推到经营与改革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10" name="textbox 910"/>
          <p:cNvSpPr/>
          <p:nvPr/>
        </p:nvSpPr>
        <p:spPr>
          <a:xfrm>
            <a:off x="1155720" y="2352654"/>
            <a:ext cx="918845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3000"/>
              </a:lnSpc>
            </a:pPr>
            <a:r>
              <a:rPr sz="7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智能家居事业群总裁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80后，聚焦智能化战略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12" name="textbox 912"/>
          <p:cNvSpPr/>
          <p:nvPr/>
        </p:nvSpPr>
        <p:spPr>
          <a:xfrm>
            <a:off x="1155720" y="3282123"/>
            <a:ext cx="73850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1" rIns="0" bIns="0"/>
          <a:lstStyle/>
          <a:p>
            <a:pPr marL="12700" algn="l" rtl="0" eaLnBrk="0">
              <a:lnSpc>
                <a:spcPct val="133000"/>
              </a:lnSpc>
              <a:spcBef>
                <a:spcPts val="5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80后，主导财务与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改革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14" name="textbox 914"/>
          <p:cNvSpPr/>
          <p:nvPr/>
        </p:nvSpPr>
        <p:spPr>
          <a:xfrm>
            <a:off x="1155720" y="1424777"/>
            <a:ext cx="61341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0000"/>
              </a:lnSpc>
            </a:pPr>
            <a:r>
              <a:rPr sz="7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集团执行总裁</a:t>
            </a:r>
            <a:r>
              <a:rPr sz="700" kern="0" spc="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(2025.9)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16" name="textbox 916"/>
          <p:cNvSpPr/>
          <p:nvPr/>
        </p:nvSpPr>
        <p:spPr>
          <a:xfrm>
            <a:off x="5346690" y="1751778"/>
            <a:ext cx="12801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整合资源，统一作战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，避免内耗。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18" name="textbox 918"/>
          <p:cNvSpPr/>
          <p:nvPr/>
        </p:nvSpPr>
        <p:spPr>
          <a:xfrm>
            <a:off x="3467140" y="3222481"/>
            <a:ext cx="125857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洞察：用长期激励承接改革压力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20" name="textbox 920"/>
          <p:cNvSpPr/>
          <p:nvPr/>
        </p:nvSpPr>
        <p:spPr>
          <a:xfrm>
            <a:off x="3651209" y="1751778"/>
            <a:ext cx="12039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减少管理层级，提升决策效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22" name="textbox 922"/>
          <p:cNvSpPr/>
          <p:nvPr/>
        </p:nvSpPr>
        <p:spPr>
          <a:xfrm>
            <a:off x="3536909" y="1240977"/>
            <a:ext cx="1202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2月：裁撤销售侧省级分公司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24" name="textbox 924"/>
          <p:cNvSpPr/>
          <p:nvPr/>
        </p:nvSpPr>
        <p:spPr>
          <a:xfrm>
            <a:off x="5194259" y="1240977"/>
            <a:ext cx="118554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7月：冰洗厨全通路业务整合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26" name="textbox 926"/>
          <p:cNvSpPr/>
          <p:nvPr/>
        </p:nvSpPr>
        <p:spPr>
          <a:xfrm>
            <a:off x="3327420" y="2511807"/>
            <a:ext cx="84455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股权激励与绑定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28" name="textbox 928"/>
          <p:cNvSpPr/>
          <p:nvPr/>
        </p:nvSpPr>
        <p:spPr>
          <a:xfrm>
            <a:off x="1257310" y="4603046"/>
            <a:ext cx="116522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决策层级减少，信息传递更快，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930" name="textbox 930"/>
          <p:cNvSpPr/>
          <p:nvPr/>
        </p:nvSpPr>
        <p:spPr>
          <a:xfrm>
            <a:off x="5410241" y="2155719"/>
            <a:ext cx="9556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快速响应市场与用户变化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32" name="textbox 932"/>
          <p:cNvSpPr/>
          <p:nvPr/>
        </p:nvSpPr>
        <p:spPr>
          <a:xfrm>
            <a:off x="4984770" y="2512238"/>
            <a:ext cx="72898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2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年轻干部上位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34" name="textbox 934"/>
          <p:cNvSpPr/>
          <p:nvPr/>
        </p:nvSpPr>
        <p:spPr>
          <a:xfrm>
            <a:off x="3829060" y="2145461"/>
            <a:ext cx="93154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减少层级，提升响应速度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36" name="textbox 936"/>
          <p:cNvSpPr/>
          <p:nvPr/>
        </p:nvSpPr>
        <p:spPr>
          <a:xfrm>
            <a:off x="3898920" y="1359106"/>
            <a:ext cx="409575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2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35→29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38" name="textbox 938"/>
          <p:cNvSpPr/>
          <p:nvPr/>
        </p:nvSpPr>
        <p:spPr>
          <a:xfrm>
            <a:off x="1155720" y="3127554"/>
            <a:ext cx="615950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800" kern="0" spc="-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副总裁、</a:t>
            </a:r>
            <a:r>
              <a:rPr sz="800" kern="0" spc="-4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CFO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0" name="textbox 940"/>
          <p:cNvSpPr/>
          <p:nvPr/>
        </p:nvSpPr>
        <p:spPr>
          <a:xfrm>
            <a:off x="3651209" y="1621957"/>
            <a:ext cx="6769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洞察：层级压缩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42" name="textbox 942"/>
          <p:cNvSpPr/>
          <p:nvPr/>
        </p:nvSpPr>
        <p:spPr>
          <a:xfrm>
            <a:off x="5346690" y="1621957"/>
            <a:ext cx="67119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-10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r>
              <a:rPr sz="600" kern="0" spc="-13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70" dirty="0">
                <a:solidFill>
                  <a:srgbClr val="1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600" kern="0" spc="7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前端整合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44" name="textbox 944"/>
          <p:cNvSpPr/>
          <p:nvPr/>
        </p:nvSpPr>
        <p:spPr>
          <a:xfrm>
            <a:off x="1155720" y="1217684"/>
            <a:ext cx="42481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王建国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46" name="textbox 946"/>
          <p:cNvSpPr/>
          <p:nvPr/>
        </p:nvSpPr>
        <p:spPr>
          <a:xfrm>
            <a:off x="1155720" y="2100684"/>
            <a:ext cx="285750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赵磊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948" name="textbox 948"/>
          <p:cNvSpPr/>
          <p:nvPr/>
        </p:nvSpPr>
        <p:spPr>
          <a:xfrm>
            <a:off x="1155720" y="2908670"/>
            <a:ext cx="285115" cy="167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钟铮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950" name="textbox 950"/>
          <p:cNvSpPr/>
          <p:nvPr/>
        </p:nvSpPr>
        <p:spPr>
          <a:xfrm>
            <a:off x="3829060" y="2010161"/>
            <a:ext cx="34607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扁平化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52" name="textbox 952"/>
          <p:cNvSpPr/>
          <p:nvPr/>
        </p:nvSpPr>
        <p:spPr>
          <a:xfrm>
            <a:off x="5410241" y="2010916"/>
            <a:ext cx="34544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105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敏捷化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954" name="textbox 954"/>
          <p:cNvSpPr/>
          <p:nvPr/>
        </p:nvSpPr>
        <p:spPr>
          <a:xfrm>
            <a:off x="2635219" y="4538691"/>
            <a:ext cx="184150" cy="1981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②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956" name="textbox 956"/>
          <p:cNvSpPr/>
          <p:nvPr/>
        </p:nvSpPr>
        <p:spPr>
          <a:xfrm>
            <a:off x="8762980" y="4908570"/>
            <a:ext cx="141605" cy="198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365"/>
              </a:lnSpc>
            </a:pPr>
            <a:r>
              <a:rPr sz="900" kern="0" spc="-10" dirty="0">
                <a:solidFill>
                  <a:srgbClr val="1050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00" kern="0" spc="-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58" name="textbox 958"/>
          <p:cNvSpPr/>
          <p:nvPr/>
        </p:nvSpPr>
        <p:spPr>
          <a:xfrm>
            <a:off x="2501900" y="2936760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60" name="textbox 960"/>
          <p:cNvSpPr/>
          <p:nvPr/>
        </p:nvSpPr>
        <p:spPr>
          <a:xfrm>
            <a:off x="2501900" y="2111279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62" name="textbox 962"/>
          <p:cNvSpPr/>
          <p:nvPr/>
        </p:nvSpPr>
        <p:spPr>
          <a:xfrm>
            <a:off x="2501900" y="1234930"/>
            <a:ext cx="1866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6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picture 96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33319" y="825480"/>
            <a:ext cx="8858249" cy="3041660"/>
          </a:xfrm>
          <a:prstGeom prst="rect">
            <a:avLst/>
          </a:prstGeom>
        </p:spPr>
      </p:pic>
      <p:graphicFrame>
        <p:nvGraphicFramePr>
          <p:cNvPr id="966" name="table 966"/>
          <p:cNvGraphicFramePr>
            <a:graphicFrameLocks noGrp="1"/>
          </p:cNvGraphicFramePr>
          <p:nvPr/>
        </p:nvGraphicFramePr>
        <p:xfrm>
          <a:off x="3089234" y="1158895"/>
          <a:ext cx="2876550" cy="2374265"/>
        </p:xfrm>
        <a:graphic>
          <a:graphicData uri="http://schemas.openxmlformats.org/drawingml/2006/table">
            <a:tbl>
              <a:tblPr/>
              <a:tblGrid>
                <a:gridCol w="841375"/>
                <a:gridCol w="996950"/>
                <a:gridCol w="1038225"/>
              </a:tblGrid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63245" algn="l" rtl="0" eaLnBrk="0">
                        <a:lnSpc>
                          <a:spcPct val="85000"/>
                        </a:lnSpc>
                      </a:pP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维度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49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美的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402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格力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>
                          <a:tab pos="36639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渠道模式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71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-1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极致扁平DTC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550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区域销售公司+网批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>
                          <a:tab pos="36639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渠道层级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01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-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总部→运中→门店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总部→区域→二级→门店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5000"/>
                        </a:lnSpc>
                        <a:tabLst>
                          <a:tab pos="36639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改革节奏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717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激进重构，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1717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800" b="1" kern="0" spc="-2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近10年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推进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70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渐进改良，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09550" algn="l" rtl="0" eaLnBrk="0">
                        <a:lnSpc>
                          <a:spcPts val="995"/>
                        </a:lnSpc>
                      </a:pPr>
                      <a:r>
                        <a:rPr sz="800" kern="0" spc="-1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2023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年起加速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622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>
                          <a:tab pos="33464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代理商角色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097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800" b="1" kern="0" spc="-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淘汰或转型服务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7800" indent="82550" algn="l" rtl="0" eaLnBrk="0">
                        <a:lnSpc>
                          <a:spcPct val="112000"/>
                        </a:lnSpc>
                        <a:spcBef>
                          <a:spcPts val="0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逐步退出，</a:t>
                      </a: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</a:t>
                      </a: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职业经理人接替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  <a:tabLst>
                          <a:tab pos="36639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利润流向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17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-2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收归上市公司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0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逐步收归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9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29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  <a:tabLst>
                          <a:tab pos="366395" algn="l"/>
                        </a:tabLst>
                      </a:pPr>
                      <a:r>
                        <a:rPr sz="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8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考核导向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637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b="1" kern="0" spc="-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结构品零售50%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87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返利向动销过渡</a:t>
                      </a:r>
                      <a:endParaRPr sz="8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68" name="picture 9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162269" y="3276615"/>
            <a:ext cx="215889" cy="222250"/>
          </a:xfrm>
          <a:prstGeom prst="rect">
            <a:avLst/>
          </a:prstGeom>
        </p:spPr>
      </p:pic>
      <p:pic>
        <p:nvPicPr>
          <p:cNvPr id="970" name="picture 9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62269" y="2978138"/>
            <a:ext cx="215889" cy="222250"/>
          </a:xfrm>
          <a:prstGeom prst="rect">
            <a:avLst/>
          </a:prstGeom>
        </p:spPr>
      </p:pic>
      <p:pic>
        <p:nvPicPr>
          <p:cNvPr id="972" name="picture 97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68670" y="2647925"/>
            <a:ext cx="196870" cy="228628"/>
          </a:xfrm>
          <a:prstGeom prst="rect">
            <a:avLst/>
          </a:prstGeom>
        </p:spPr>
      </p:pic>
      <p:pic>
        <p:nvPicPr>
          <p:cNvPr id="974" name="picture 97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162269" y="2285977"/>
            <a:ext cx="215889" cy="215924"/>
          </a:xfrm>
          <a:prstGeom prst="rect">
            <a:avLst/>
          </a:prstGeom>
        </p:spPr>
      </p:pic>
      <p:pic>
        <p:nvPicPr>
          <p:cNvPr id="976" name="picture 9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55960" y="1924029"/>
            <a:ext cx="228600" cy="215924"/>
          </a:xfrm>
          <a:prstGeom prst="rect">
            <a:avLst/>
          </a:prstGeom>
        </p:spPr>
      </p:pic>
      <p:pic>
        <p:nvPicPr>
          <p:cNvPr id="978" name="picture 9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162269" y="1549376"/>
            <a:ext cx="215889" cy="209597"/>
          </a:xfrm>
          <a:prstGeom prst="rect">
            <a:avLst/>
          </a:prstGeom>
        </p:spPr>
      </p:pic>
      <p:sp>
        <p:nvSpPr>
          <p:cNvPr id="980" name="textbox 980"/>
          <p:cNvSpPr/>
          <p:nvPr/>
        </p:nvSpPr>
        <p:spPr>
          <a:xfrm>
            <a:off x="840419" y="924204"/>
            <a:ext cx="7443469" cy="2051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15"/>
              </a:lnSpc>
            </a:pPr>
            <a:r>
              <a:rPr sz="1800" b="1" kern="0" spc="10" baseline="-400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美的：极致扁平</a:t>
            </a:r>
            <a:r>
              <a:rPr sz="1800" kern="0" spc="0" baseline="-4000" dirty="0">
                <a:solidFill>
                  <a:srgbClr val="2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1100" kern="0" spc="10" dirty="0">
                <a:solidFill>
                  <a:srgbClr val="2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</a:t>
            </a:r>
            <a:r>
              <a:rPr sz="1100" b="1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核心差异矩阵</a:t>
            </a:r>
            <a:r>
              <a:rPr sz="1100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</a:t>
            </a:r>
            <a:r>
              <a:rPr sz="1100" kern="0" spc="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800" b="1" kern="0" spc="0" baseline="5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格力：区域销售公司+网批</a:t>
            </a:r>
            <a:endParaRPr sz="1800" baseline="5000" dirty="0">
              <a:latin typeface="SimHei"/>
              <a:ea typeface="SimHei"/>
              <a:cs typeface="SimHei"/>
            </a:endParaRPr>
          </a:p>
        </p:txBody>
      </p:sp>
      <p:sp>
        <p:nvSpPr>
          <p:cNvPr id="982" name="textbox 982"/>
          <p:cNvSpPr/>
          <p:nvPr/>
        </p:nvSpPr>
        <p:spPr>
          <a:xfrm>
            <a:off x="184170" y="237197"/>
            <a:ext cx="4498975" cy="284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5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1900" kern="0" spc="5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同业对标：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格力渠道改革路径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984" name="textbox 984"/>
          <p:cNvSpPr/>
          <p:nvPr/>
        </p:nvSpPr>
        <p:spPr>
          <a:xfrm>
            <a:off x="184170" y="633867"/>
            <a:ext cx="6426835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美的选择激进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重构，格力选择代理制向网批体系渐进改良；差异本质在于渠道利润、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终端权责与改革节奏的再分配。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986" name="textbox 986"/>
          <p:cNvSpPr/>
          <p:nvPr/>
        </p:nvSpPr>
        <p:spPr>
          <a:xfrm>
            <a:off x="7588249" y="4308419"/>
            <a:ext cx="1329690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从卖货渠道转向零售运营</a:t>
            </a:r>
            <a:r>
              <a:rPr sz="700" kern="0" spc="8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5000"/>
              </a:lnSpc>
              <a:spcBef>
                <a:spcPts val="10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最终竞争在于零售运营能力、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用户经营与终端体验的比拼。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88" name="textbox 988"/>
          <p:cNvSpPr/>
          <p:nvPr/>
        </p:nvSpPr>
        <p:spPr>
          <a:xfrm>
            <a:off x="3073400" y="3587750"/>
            <a:ext cx="2765425" cy="210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300" kern="0" spc="10" dirty="0">
                <a:solidFill>
                  <a:srgbClr val="617DA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66</a:t>
            </a:r>
            <a:r>
              <a:rPr sz="1300" kern="0" spc="-70" dirty="0">
                <a:solidFill>
                  <a:srgbClr val="617DA4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10" baseline="-5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格力的运中化改革已有美</a:t>
            </a:r>
            <a:r>
              <a:rPr sz="1100" kern="0" spc="0" baseline="-5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的影子，但其路径更强调平稳过渡。</a:t>
            </a:r>
            <a:endParaRPr sz="1100" baseline="-5000" dirty="0">
              <a:latin typeface="SimHei"/>
              <a:ea typeface="SimHei"/>
              <a:cs typeface="SimHei"/>
            </a:endParaRPr>
          </a:p>
        </p:txBody>
      </p:sp>
      <p:sp>
        <p:nvSpPr>
          <p:cNvPr id="990" name="textbox 990"/>
          <p:cNvSpPr/>
          <p:nvPr/>
        </p:nvSpPr>
        <p:spPr>
          <a:xfrm>
            <a:off x="590529" y="4320142"/>
            <a:ext cx="1209675" cy="457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3000"/>
              </a:lnSpc>
            </a:pPr>
            <a:r>
              <a:rPr sz="700" kern="0" spc="7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组织阵痛、</a:t>
            </a:r>
            <a:r>
              <a:rPr sz="700" b="1" kern="0" spc="7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经销商转</a:t>
            </a:r>
            <a:r>
              <a:rPr sz="700" b="1" kern="0" spc="60" dirty="0">
                <a:solidFill>
                  <a:srgbClr val="104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型压力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平台整合带来组织调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整阵痛，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部分经销商面临转型或退出。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92" name="textbox 992"/>
          <p:cNvSpPr/>
          <p:nvPr/>
        </p:nvSpPr>
        <p:spPr>
          <a:xfrm>
            <a:off x="2432040" y="4303140"/>
            <a:ext cx="1158875" cy="467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营收连续两年下降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8000"/>
              </a:lnSpc>
              <a:spcBef>
                <a:spcPts val="15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2024、2025年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营收连续下降，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渠道调整短期影响经营表现。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94" name="textbox 994"/>
          <p:cNvSpPr/>
          <p:nvPr/>
        </p:nvSpPr>
        <p:spPr>
          <a:xfrm>
            <a:off x="5899170" y="4307657"/>
            <a:ext cx="1139825" cy="4616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彻底性与执行力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85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学习美的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彻底落地能力，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提升执行效率与闭环管理。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96" name="textbox 996"/>
          <p:cNvSpPr/>
          <p:nvPr/>
        </p:nvSpPr>
        <p:spPr>
          <a:xfrm>
            <a:off x="1689089" y="2003792"/>
            <a:ext cx="1162685" cy="295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42000"/>
              </a:lnSpc>
            </a:pPr>
            <a:r>
              <a:rPr sz="7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核心举措：35→29→6平台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平台整合提效，降本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998" name="textbox 998"/>
          <p:cNvSpPr/>
          <p:nvPr/>
        </p:nvSpPr>
        <p:spPr>
          <a:xfrm>
            <a:off x="7588250" y="2689574"/>
            <a:ext cx="1165225" cy="297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9" rIns="0" bIns="0"/>
          <a:lstStyle/>
          <a:p>
            <a:pPr marL="12700" algn="l" rtl="0" eaLnBrk="0">
              <a:lnSpc>
                <a:spcPct val="143000"/>
              </a:lnSpc>
              <a:spcBef>
                <a:spcPts val="5"/>
              </a:spcBef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考核导向：返利→动销过渡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由规模导向转向动销导向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00" name="textbox 1000"/>
          <p:cNvSpPr/>
          <p:nvPr/>
        </p:nvSpPr>
        <p:spPr>
          <a:xfrm>
            <a:off x="1689089" y="3267066"/>
            <a:ext cx="1178560" cy="290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9000"/>
              </a:lnSpc>
            </a:pPr>
            <a:r>
              <a:rPr sz="700" kern="0" spc="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代理商角色：淘汰或</a:t>
            </a:r>
            <a:r>
              <a:rPr sz="7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转型服务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淘汰低效代理，向服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务商转型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02" name="textbox 1002"/>
          <p:cNvSpPr/>
          <p:nvPr/>
        </p:nvSpPr>
        <p:spPr>
          <a:xfrm>
            <a:off x="1689089" y="2638376"/>
            <a:ext cx="1159510" cy="290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59" rIns="0" bIns="0"/>
          <a:lstStyle/>
          <a:p>
            <a:pPr marL="12700" algn="l" rtl="0" eaLnBrk="0">
              <a:lnSpc>
                <a:spcPct val="140000"/>
              </a:lnSpc>
              <a:spcBef>
                <a:spcPts val="0"/>
              </a:spcBef>
            </a:pPr>
            <a:r>
              <a:rPr sz="7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考核导向：结构品零售50%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零售质量替代压货规模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04" name="textbox 1004"/>
          <p:cNvSpPr/>
          <p:nvPr/>
        </p:nvSpPr>
        <p:spPr>
          <a:xfrm>
            <a:off x="7588250" y="2130522"/>
            <a:ext cx="1273810" cy="252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2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盛世欣兴→恒信智远/格力数科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数字化升级，重塑网批体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06" name="textbox 1006"/>
          <p:cNvSpPr/>
          <p:nvPr/>
        </p:nvSpPr>
        <p:spPr>
          <a:xfrm>
            <a:off x="7588250" y="1450947"/>
            <a:ext cx="1136015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4" rIns="0" bIns="0"/>
          <a:lstStyle/>
          <a:p>
            <a:pPr marL="12700" algn="l" rtl="0" eaLnBrk="0">
              <a:lnSpc>
                <a:spcPct val="133000"/>
              </a:lnSpc>
              <a:spcBef>
                <a:spcPts val="5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区域销售公司+网批系统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减少剧烈震荡，调整周期更长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08" name="textbox 1008"/>
          <p:cNvSpPr/>
          <p:nvPr/>
        </p:nvSpPr>
        <p:spPr>
          <a:xfrm>
            <a:off x="7588250" y="3350234"/>
            <a:ext cx="1136650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3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逐步退出、职业经理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人接替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核心代理商退出需平衡利益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10" name="textbox 1010"/>
          <p:cNvSpPr/>
          <p:nvPr/>
        </p:nvSpPr>
        <p:spPr>
          <a:xfrm>
            <a:off x="4178269" y="4501339"/>
            <a:ext cx="1146810" cy="26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96" rIns="0" bIns="0"/>
          <a:lstStyle/>
          <a:p>
            <a:pPr marL="12700" algn="l" rtl="0" eaLnBrk="0">
              <a:lnSpc>
                <a:spcPct val="136000"/>
              </a:lnSpc>
              <a:spcBef>
                <a:spcPts val="5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格力广大经销商关系较稳健，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渠道韧性强，抗风险能力高。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12" name="textbox 1012"/>
          <p:cNvSpPr/>
          <p:nvPr/>
        </p:nvSpPr>
        <p:spPr>
          <a:xfrm>
            <a:off x="6172209" y="1890045"/>
            <a:ext cx="824230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88265" algn="l" rtl="0" eaLnBrk="0">
              <a:lnSpc>
                <a:spcPct val="84000"/>
              </a:lnSpc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</a:t>
            </a:r>
            <a:r>
              <a:rPr sz="1300" kern="0" spc="-60" baseline="-12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网肉网</a:t>
            </a:r>
            <a:r>
              <a:rPr sz="8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000" kern="0" spc="-60" baseline="100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区域销售公司</a:t>
            </a:r>
            <a:endParaRPr sz="1000" baseline="10000" dirty="0">
              <a:latin typeface="SimHei"/>
              <a:ea typeface="SimHei"/>
              <a:cs typeface="SimHei"/>
            </a:endParaRPr>
          </a:p>
        </p:txBody>
      </p:sp>
      <p:sp>
        <p:nvSpPr>
          <p:cNvPr id="1014" name="textbox 1014"/>
          <p:cNvSpPr/>
          <p:nvPr/>
        </p:nvSpPr>
        <p:spPr>
          <a:xfrm>
            <a:off x="520669" y="3013028"/>
            <a:ext cx="653415" cy="2990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20" rIns="0" bIns="0"/>
          <a:lstStyle/>
          <a:p>
            <a:pPr marL="146050" indent="-133350" algn="l" rtl="0" eaLnBrk="0">
              <a:lnSpc>
                <a:spcPct val="134000"/>
              </a:lnSpc>
              <a:spcBef>
                <a:spcPts val="0"/>
              </a:spcBef>
            </a:pPr>
            <a:r>
              <a:rPr sz="700" kern="0" spc="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门店/县域终端</a:t>
            </a:r>
            <a:r>
              <a:rPr sz="7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(2-</a:t>
            </a:r>
            <a:r>
              <a:rPr sz="700" kern="0" spc="-2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3级)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16" name="textbox 1016"/>
          <p:cNvSpPr/>
          <p:nvPr/>
        </p:nvSpPr>
        <p:spPr>
          <a:xfrm>
            <a:off x="552490" y="2073926"/>
            <a:ext cx="593725" cy="300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indent="-5715" algn="l" rtl="0" eaLnBrk="0">
              <a:lnSpc>
                <a:spcPct val="134000"/>
              </a:lnSpc>
            </a:pPr>
            <a:r>
              <a:rPr sz="700" kern="0" spc="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城市运营中心</a:t>
            </a:r>
            <a:r>
              <a:rPr sz="700" kern="0" spc="6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/</a:t>
            </a:r>
            <a:r>
              <a:rPr sz="700" kern="0" spc="-170" dirty="0">
                <a:solidFill>
                  <a:srgbClr val="104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营销平台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018" name="picture 10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84160" y="4406899"/>
            <a:ext cx="393649" cy="355621"/>
          </a:xfrm>
          <a:prstGeom prst="rect">
            <a:avLst/>
          </a:prstGeom>
        </p:spPr>
      </p:pic>
      <p:pic>
        <p:nvPicPr>
          <p:cNvPr id="1020" name="picture 10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52880" y="4419604"/>
            <a:ext cx="400050" cy="323834"/>
          </a:xfrm>
          <a:prstGeom prst="rect">
            <a:avLst/>
          </a:prstGeom>
        </p:spPr>
      </p:pic>
      <p:sp>
        <p:nvSpPr>
          <p:cNvPr id="1022" name="textbox 1022"/>
          <p:cNvSpPr/>
          <p:nvPr/>
        </p:nvSpPr>
        <p:spPr>
          <a:xfrm>
            <a:off x="184170" y="3915159"/>
            <a:ext cx="111696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变革代价与相互学习点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024" name="picture 10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499110" y="4406899"/>
            <a:ext cx="342900" cy="330212"/>
          </a:xfrm>
          <a:prstGeom prst="rect">
            <a:avLst/>
          </a:prstGeom>
        </p:spPr>
      </p:pic>
      <p:pic>
        <p:nvPicPr>
          <p:cNvPr id="1026" name="picture 10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070110" y="4406899"/>
            <a:ext cx="311170" cy="349243"/>
          </a:xfrm>
          <a:prstGeom prst="rect">
            <a:avLst/>
          </a:prstGeom>
        </p:spPr>
      </p:pic>
      <p:sp>
        <p:nvSpPr>
          <p:cNvPr id="1028" name="textbox 1028"/>
          <p:cNvSpPr/>
          <p:nvPr/>
        </p:nvSpPr>
        <p:spPr>
          <a:xfrm>
            <a:off x="1689089" y="1374958"/>
            <a:ext cx="934720" cy="130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8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美道模式：</a:t>
            </a:r>
            <a:r>
              <a:rPr sz="800" kern="0" spc="-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8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</a:t>
            </a:r>
            <a:r>
              <a:rPr sz="800" kern="0" spc="-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030" name="picture 10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226319" y="4419604"/>
            <a:ext cx="304769" cy="298425"/>
          </a:xfrm>
          <a:prstGeom prst="rect">
            <a:avLst/>
          </a:prstGeom>
        </p:spPr>
      </p:pic>
      <p:sp>
        <p:nvSpPr>
          <p:cNvPr id="1032" name="textbox 1032"/>
          <p:cNvSpPr/>
          <p:nvPr/>
        </p:nvSpPr>
        <p:spPr>
          <a:xfrm>
            <a:off x="1689090" y="1558485"/>
            <a:ext cx="10382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利润与数据向上市公司回收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034" name="textbox 1034"/>
          <p:cNvSpPr/>
          <p:nvPr/>
        </p:nvSpPr>
        <p:spPr>
          <a:xfrm>
            <a:off x="4178269" y="4302474"/>
            <a:ext cx="824864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8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经销商关系稳健性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36" name="textbox 1036"/>
          <p:cNvSpPr/>
          <p:nvPr/>
        </p:nvSpPr>
        <p:spPr>
          <a:xfrm>
            <a:off x="5899170" y="4162776"/>
            <a:ext cx="6254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格力可借鉴：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38" name="textbox 1038"/>
          <p:cNvSpPr/>
          <p:nvPr/>
        </p:nvSpPr>
        <p:spPr>
          <a:xfrm>
            <a:off x="4178269" y="4175099"/>
            <a:ext cx="6127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2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美的可借鉴：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040" name="picture 10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2108240" y="4127504"/>
            <a:ext cx="234909" cy="234955"/>
          </a:xfrm>
          <a:prstGeom prst="rect">
            <a:avLst/>
          </a:prstGeom>
        </p:spPr>
      </p:pic>
      <p:sp>
        <p:nvSpPr>
          <p:cNvPr id="1042" name="textbox 1042"/>
          <p:cNvSpPr/>
          <p:nvPr/>
        </p:nvSpPr>
        <p:spPr>
          <a:xfrm>
            <a:off x="7588251" y="3216629"/>
            <a:ext cx="57658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代理商角色：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44" name="textbox 1044"/>
          <p:cNvSpPr/>
          <p:nvPr/>
        </p:nvSpPr>
        <p:spPr>
          <a:xfrm>
            <a:off x="590529" y="4162818"/>
            <a:ext cx="5054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60"/>
              </a:lnSpc>
            </a:pPr>
            <a:r>
              <a:rPr sz="700" kern="0" spc="-10" dirty="0">
                <a:solidFill>
                  <a:srgbClr val="0040E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美的代价：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46" name="textbox 1046"/>
          <p:cNvSpPr/>
          <p:nvPr/>
        </p:nvSpPr>
        <p:spPr>
          <a:xfrm>
            <a:off x="7588250" y="4175766"/>
            <a:ext cx="51752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共同命题：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48" name="textbox 1048"/>
          <p:cNvSpPr/>
          <p:nvPr/>
        </p:nvSpPr>
        <p:spPr>
          <a:xfrm>
            <a:off x="2432040" y="4162776"/>
            <a:ext cx="5118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格力代价：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50" name="textbox 1050"/>
          <p:cNvSpPr/>
          <p:nvPr/>
        </p:nvSpPr>
        <p:spPr>
          <a:xfrm>
            <a:off x="7588251" y="1311916"/>
            <a:ext cx="4991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渠道模式：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52" name="textbox 1052"/>
          <p:cNvSpPr/>
          <p:nvPr/>
        </p:nvSpPr>
        <p:spPr>
          <a:xfrm>
            <a:off x="7588250" y="1984709"/>
            <a:ext cx="49911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格心举措：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054" name="picture 10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829050" y="4140209"/>
            <a:ext cx="215889" cy="209546"/>
          </a:xfrm>
          <a:prstGeom prst="rect">
            <a:avLst/>
          </a:prstGeom>
        </p:spPr>
      </p:pic>
      <p:pic>
        <p:nvPicPr>
          <p:cNvPr id="1056" name="picture 105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258050" y="4140209"/>
            <a:ext cx="215889" cy="209546"/>
          </a:xfrm>
          <a:prstGeom prst="rect">
            <a:avLst/>
          </a:prstGeom>
        </p:spPr>
      </p:pic>
      <p:pic>
        <p:nvPicPr>
          <p:cNvPr id="1058" name="picture 105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54020" y="4133831"/>
            <a:ext cx="209488" cy="215924"/>
          </a:xfrm>
          <a:prstGeom prst="rect">
            <a:avLst/>
          </a:prstGeom>
        </p:spPr>
      </p:pic>
      <p:sp>
        <p:nvSpPr>
          <p:cNvPr id="1060" name="textbox 1060"/>
          <p:cNvSpPr/>
          <p:nvPr/>
        </p:nvSpPr>
        <p:spPr>
          <a:xfrm>
            <a:off x="6483380" y="3292423"/>
            <a:ext cx="4800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门店(4级)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62" name="textbox 1062"/>
          <p:cNvSpPr/>
          <p:nvPr/>
        </p:nvSpPr>
        <p:spPr>
          <a:xfrm>
            <a:off x="6483380" y="2562200"/>
            <a:ext cx="46355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二级经销商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64" name="textbox 1064"/>
          <p:cNvSpPr/>
          <p:nvPr/>
        </p:nvSpPr>
        <p:spPr>
          <a:xfrm>
            <a:off x="723940" y="1464699"/>
            <a:ext cx="21082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总部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66" name="textbox 1066"/>
          <p:cNvSpPr/>
          <p:nvPr/>
        </p:nvSpPr>
        <p:spPr>
          <a:xfrm>
            <a:off x="6623009" y="1407555"/>
            <a:ext cx="21082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总部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68" name="textbox 1068"/>
          <p:cNvSpPr/>
          <p:nvPr/>
        </p:nvSpPr>
        <p:spPr>
          <a:xfrm>
            <a:off x="8794709" y="4931870"/>
            <a:ext cx="163195" cy="13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000" b="1" kern="0" spc="-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0" name="table 1070"/>
          <p:cNvGraphicFramePr>
            <a:graphicFrameLocks noGrp="1"/>
          </p:cNvGraphicFramePr>
          <p:nvPr/>
        </p:nvGraphicFramePr>
        <p:xfrm>
          <a:off x="3254375" y="822304"/>
          <a:ext cx="2901950" cy="2895600"/>
        </p:xfrm>
        <a:graphic>
          <a:graphicData uri="http://schemas.openxmlformats.org/drawingml/2006/table">
            <a:tbl>
              <a:tblPr/>
              <a:tblGrid>
                <a:gridCol w="60325"/>
                <a:gridCol w="774700"/>
                <a:gridCol w="1003300"/>
                <a:gridCol w="996950"/>
                <a:gridCol w="66675"/>
              </a:tblGrid>
              <a:tr h="2762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107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b="1" kern="0" spc="40" dirty="0">
                          <a:solidFill>
                            <a:srgbClr val="2060A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渠道与数字化模式对比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9657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维度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767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b="1" kern="0" spc="6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美的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0132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b="1" kern="0" spc="20" dirty="0">
                          <a:solidFill>
                            <a:srgbClr val="205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海尔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7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>
                          <a:tab pos="311150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渠道模式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DTC</a:t>
                      </a:r>
                      <a:r>
                        <a:rPr sz="700" kern="0" spc="5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直营+美云销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90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人单合一+统仓统配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67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数字化平台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5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美云销平台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665" algn="l" rtl="0" eaLnBrk="0">
                        <a:lnSpc>
                          <a:spcPct val="91000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COSMOPlat</a:t>
                      </a:r>
                      <a:r>
                        <a:rPr sz="700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+智小能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971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  <a:tabLst>
                          <a:tab pos="30416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终端逻辑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20507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总部直连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终端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3215" indent="-184150" algn="l" rtl="0" eaLnBrk="0">
                        <a:lnSpc>
                          <a:spcPct val="118000"/>
                        </a:lnSpc>
                        <a:spcBef>
                          <a:spcPts val="0"/>
                        </a:spcBef>
                      </a:pP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以用户与小微经营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单元协同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241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>
                          <a:tab pos="31686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营销创新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44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8605" indent="-243205" algn="l" rtl="0" eaLnBrk="0">
                        <a:lnSpc>
                          <a:spcPct val="142000"/>
                        </a:lnSpc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抖音大牌日</a:t>
                      </a:r>
                      <a:r>
                        <a:rPr sz="700" b="1" kern="0" spc="-20" dirty="0">
                          <a:solidFill>
                            <a:srgbClr val="2050B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5.8亿</a:t>
                      </a:r>
                      <a:r>
                        <a:rPr sz="7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曝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光</a:t>
                      </a:r>
                      <a:r>
                        <a:rPr sz="7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、</a:t>
                      </a: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体育赞助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3050" algn="l" rtl="0" eaLnBrk="0">
                        <a:lnSpc>
                          <a:spcPct val="91000"/>
                        </a:lnSpc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场景营销、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03200" algn="l" rtl="0" eaLnBrk="0">
                        <a:lnSpc>
                          <a:spcPts val="1105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AI</a:t>
                      </a:r>
                      <a:r>
                        <a:rPr sz="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智能体营销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>
                          <a:tab pos="30416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组织导向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65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运总承担经营责任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366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用户价值驱动小微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  <a:tabLst>
                          <a:tab pos="31686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渠道优势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526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扁平与执行力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7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生态与服务黏性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ts val="7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7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9875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4000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7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洞察：美的的优势在改革速度，海尔的</a:t>
                      </a:r>
                      <a:r>
                        <a:rPr sz="7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优势在体系沉淀和场景生态。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72" name="picture 10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3301990" y="3473457"/>
            <a:ext cx="187688" cy="184137"/>
          </a:xfrm>
          <a:prstGeom prst="rect">
            <a:avLst/>
          </a:prstGeom>
        </p:spPr>
      </p:pic>
      <p:pic>
        <p:nvPicPr>
          <p:cNvPr id="1074" name="picture 107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78159" y="3073395"/>
            <a:ext cx="190560" cy="209546"/>
          </a:xfrm>
          <a:prstGeom prst="rect">
            <a:avLst/>
          </a:prstGeom>
        </p:spPr>
      </p:pic>
      <p:pic>
        <p:nvPicPr>
          <p:cNvPr id="1076" name="picture 10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59140" y="2762265"/>
            <a:ext cx="209580" cy="196841"/>
          </a:xfrm>
          <a:prstGeom prst="rect">
            <a:avLst/>
          </a:prstGeom>
        </p:spPr>
      </p:pic>
      <p:pic>
        <p:nvPicPr>
          <p:cNvPr id="1078" name="picture 10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365540" y="2432052"/>
            <a:ext cx="222199" cy="184137"/>
          </a:xfrm>
          <a:prstGeom prst="rect">
            <a:avLst/>
          </a:prstGeom>
        </p:spPr>
      </p:pic>
      <p:pic>
        <p:nvPicPr>
          <p:cNvPr id="1080" name="picture 108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365540" y="2057400"/>
            <a:ext cx="209489" cy="209546"/>
          </a:xfrm>
          <a:prstGeom prst="rect">
            <a:avLst/>
          </a:prstGeom>
        </p:spPr>
      </p:pic>
      <p:pic>
        <p:nvPicPr>
          <p:cNvPr id="1082" name="picture 108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365540" y="1727187"/>
            <a:ext cx="215889" cy="184137"/>
          </a:xfrm>
          <a:prstGeom prst="rect">
            <a:avLst/>
          </a:prstGeom>
        </p:spPr>
      </p:pic>
      <p:pic>
        <p:nvPicPr>
          <p:cNvPr id="1084" name="picture 10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65540" y="1409679"/>
            <a:ext cx="215889" cy="203219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387339" y="1177874"/>
            <a:ext cx="2549975" cy="1333705"/>
            <a:chOff x="0" y="0"/>
            <a:chExt cx="2549975" cy="1333705"/>
          </a:xfrm>
        </p:grpSpPr>
        <p:pic>
          <p:nvPicPr>
            <p:cNvPr id="1086" name="picture 108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161955"/>
              <a:ext cx="1936790" cy="863645"/>
            </a:xfrm>
            <a:prstGeom prst="rect">
              <a:avLst/>
            </a:prstGeom>
          </p:spPr>
        </p:pic>
        <p:sp>
          <p:nvSpPr>
            <p:cNvPr id="1088" name="textbox 1088"/>
            <p:cNvSpPr/>
            <p:nvPr/>
          </p:nvSpPr>
          <p:spPr>
            <a:xfrm>
              <a:off x="108000" y="-12700"/>
              <a:ext cx="2454910" cy="1352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800" kern="0" spc="-2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美</a:t>
              </a:r>
              <a:r>
                <a:rPr sz="800" kern="0" spc="11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800" kern="0" spc="-2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的</a:t>
              </a:r>
              <a:r>
                <a:rPr sz="800" kern="0" spc="-12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800" kern="0" spc="-2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(</a:t>
              </a:r>
              <a:r>
                <a:rPr sz="800" kern="0" spc="-24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800" kern="0" spc="-2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双</a:t>
              </a:r>
              <a:r>
                <a:rPr sz="800" kern="0" spc="-23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800" kern="0" spc="-2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高端)</a:t>
              </a:r>
              <a:r>
                <a:rPr sz="800" kern="0" spc="-20" dirty="0">
                  <a:solidFill>
                    <a:srgbClr val="2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     </a:t>
              </a:r>
              <a:r>
                <a:rPr sz="1100" kern="0" spc="-20" baseline="5000" dirty="0">
                  <a:solidFill>
                    <a:srgbClr val="1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海</a:t>
              </a:r>
              <a:r>
                <a:rPr sz="700" kern="0" spc="150" dirty="0">
                  <a:solidFill>
                    <a:srgbClr val="1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20" baseline="5000" dirty="0">
                  <a:solidFill>
                    <a:srgbClr val="1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尔</a:t>
              </a:r>
              <a:r>
                <a:rPr sz="700" kern="0" spc="-20" dirty="0">
                  <a:solidFill>
                    <a:srgbClr val="10508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20" baseline="500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(</a:t>
              </a:r>
              <a:r>
                <a:rPr sz="700" kern="0" spc="-15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20" baseline="500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单</a:t>
              </a:r>
              <a:r>
                <a:rPr sz="700" kern="0" spc="-15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20" baseline="500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高</a:t>
              </a:r>
              <a:r>
                <a:rPr sz="700" kern="0" spc="-17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20" baseline="500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端</a:t>
              </a:r>
              <a:r>
                <a:rPr sz="700" kern="0" spc="-18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100" kern="0" spc="-30" baseline="5000" dirty="0">
                  <a:solidFill>
                    <a:srgbClr val="20507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)</a:t>
              </a:r>
              <a:endParaRPr sz="1100" baseline="50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090" name="textbox 1090"/>
            <p:cNvSpPr/>
            <p:nvPr/>
          </p:nvSpPr>
          <p:spPr>
            <a:xfrm>
              <a:off x="1981240" y="582643"/>
              <a:ext cx="577850" cy="2616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78765" indent="-266065" algn="l" rtl="0" eaLnBrk="0">
                <a:lnSpc>
                  <a:spcPct val="116000"/>
                </a:lnSpc>
              </a:pPr>
              <a:r>
                <a:rPr sz="800" b="1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</a:t>
              </a:r>
              <a:r>
                <a:rPr sz="800" b="1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8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asarte</a:t>
              </a:r>
              <a:r>
                <a:rPr sz="8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卡</a:t>
              </a:r>
              <a:r>
                <a:rPr sz="6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萨</a:t>
              </a:r>
              <a:r>
                <a:rPr sz="600" kern="0" spc="-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600" kern="0" spc="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帝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092" name="textbox 1092"/>
            <p:cNvSpPr/>
            <p:nvPr/>
          </p:nvSpPr>
          <p:spPr>
            <a:xfrm>
              <a:off x="184170" y="806357"/>
              <a:ext cx="654685" cy="1631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75000"/>
                </a:lnSpc>
              </a:pPr>
              <a:r>
                <a:rPr sz="1200" b="1" kern="0" spc="-80" dirty="0">
                  <a:solidFill>
                    <a:srgbClr val="D0101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TOSHIB</a:t>
              </a:r>
              <a:r>
                <a:rPr sz="1200" b="1" kern="0" spc="-10" dirty="0">
                  <a:solidFill>
                    <a:srgbClr val="D0101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94" name="textbox 1094"/>
            <p:cNvSpPr/>
            <p:nvPr/>
          </p:nvSpPr>
          <p:spPr>
            <a:xfrm>
              <a:off x="1149319" y="907996"/>
              <a:ext cx="392430" cy="243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indent="25400" algn="l" rtl="0" eaLnBrk="0">
                <a:lnSpc>
                  <a:spcPct val="137000"/>
                </a:lnSpc>
              </a:pPr>
              <a:r>
                <a:rPr sz="600" kern="0" spc="60" dirty="0">
                  <a:solidFill>
                    <a:srgbClr val="20405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品牌厚度</a:t>
              </a:r>
              <a:r>
                <a:rPr sz="500" kern="0" spc="70" dirty="0">
                  <a:solidFill>
                    <a:srgbClr val="204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美的追赶期</a:t>
              </a:r>
              <a:endParaRPr sz="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096" name="textbox 1096"/>
            <p:cNvSpPr/>
            <p:nvPr/>
          </p:nvSpPr>
          <p:spPr>
            <a:xfrm>
              <a:off x="266740" y="272925"/>
              <a:ext cx="641985" cy="1727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</a:pP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COL</a:t>
              </a:r>
              <a:r>
                <a:rPr sz="13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300" kern="0" spc="-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98" name="textbox 1098"/>
            <p:cNvSpPr/>
            <p:nvPr/>
          </p:nvSpPr>
          <p:spPr>
            <a:xfrm>
              <a:off x="196880" y="500854"/>
              <a:ext cx="832485" cy="96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3000"/>
                </a:lnSpc>
              </a:pP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AI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科</a:t>
              </a:r>
              <a:r>
                <a:rPr sz="5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技</a:t>
              </a:r>
              <a:r>
                <a:rPr sz="500" kern="0" spc="-1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+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日</a:t>
              </a:r>
              <a:r>
                <a:rPr sz="500" kern="0" spc="-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系</a:t>
              </a:r>
              <a:r>
                <a:rPr sz="500" kern="0" spc="-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高</a:t>
              </a:r>
              <a:r>
                <a:rPr sz="500" kern="0" spc="-1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端</a:t>
              </a:r>
              <a:r>
                <a:rPr sz="500" kern="0" spc="-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基</a:t>
              </a:r>
              <a:r>
                <a:rPr sz="500" kern="0" spc="-7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因</a:t>
              </a:r>
              <a:endParaRPr sz="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100" name="textbox 1100"/>
            <p:cNvSpPr/>
            <p:nvPr/>
          </p:nvSpPr>
          <p:spPr>
            <a:xfrm>
              <a:off x="2019279" y="901288"/>
              <a:ext cx="516255" cy="109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2000"/>
                </a:lnSpc>
              </a:pPr>
              <a:r>
                <a:rPr sz="600" kern="0" spc="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先发高端心智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102" name="textbox 1102"/>
            <p:cNvSpPr/>
            <p:nvPr/>
          </p:nvSpPr>
          <p:spPr>
            <a:xfrm>
              <a:off x="273049" y="1053690"/>
              <a:ext cx="504825" cy="109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2000"/>
                </a:lnSpc>
              </a:pPr>
              <a:r>
                <a:rPr sz="6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日系高端基因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104" name="textbox 1104"/>
            <p:cNvSpPr/>
            <p:nvPr/>
          </p:nvSpPr>
          <p:spPr>
            <a:xfrm>
              <a:off x="1136700" y="165017"/>
              <a:ext cx="473710" cy="109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2000"/>
                </a:lnSpc>
              </a:pPr>
              <a:r>
                <a:rPr sz="600" kern="0" spc="-20" dirty="0">
                  <a:solidFill>
                    <a:srgbClr val="20406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品牌厚度差距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106" name="textbox 1106"/>
            <p:cNvSpPr/>
            <p:nvPr/>
          </p:nvSpPr>
          <p:spPr>
            <a:xfrm>
              <a:off x="1111280" y="1250108"/>
              <a:ext cx="459740" cy="965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3000"/>
                </a:lnSpc>
              </a:pPr>
              <a:r>
                <a:rPr sz="500" kern="0" spc="60" dirty="0">
                  <a:solidFill>
                    <a:srgbClr val="20405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海尔先发壁垒</a:t>
              </a:r>
              <a:endParaRPr sz="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108" name="textbox 1108"/>
            <p:cNvSpPr/>
            <p:nvPr/>
          </p:nvSpPr>
          <p:spPr>
            <a:xfrm>
              <a:off x="1251000" y="520584"/>
              <a:ext cx="245745" cy="1727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4000"/>
                </a:lnSpc>
              </a:pPr>
              <a:r>
                <a:rPr sz="1300" b="1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VS</a:t>
              </a:r>
              <a:endParaRPr sz="1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10" name="textbox 1110"/>
            <p:cNvSpPr/>
            <p:nvPr/>
          </p:nvSpPr>
          <p:spPr>
            <a:xfrm>
              <a:off x="1289039" y="1157449"/>
              <a:ext cx="111760" cy="85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470"/>
                </a:lnSpc>
              </a:pPr>
              <a:r>
                <a:rPr sz="700" b="1" kern="0" spc="-40" dirty="0">
                  <a:solidFill>
                    <a:srgbClr val="40606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vs</a:t>
              </a: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aphicFrame>
        <p:nvGraphicFramePr>
          <p:cNvPr id="1112" name="table 1112"/>
          <p:cNvGraphicFramePr>
            <a:graphicFrameLocks noGrp="1"/>
          </p:cNvGraphicFramePr>
          <p:nvPr/>
        </p:nvGraphicFramePr>
        <p:xfrm>
          <a:off x="180985" y="2625720"/>
          <a:ext cx="2933700" cy="1053465"/>
        </p:xfrm>
        <a:graphic>
          <a:graphicData uri="http://schemas.openxmlformats.org/drawingml/2006/table">
            <a:tbl>
              <a:tblPr/>
              <a:tblGrid>
                <a:gridCol w="117475"/>
                <a:gridCol w="165100"/>
                <a:gridCol w="25400"/>
                <a:gridCol w="1016000"/>
                <a:gridCol w="533400"/>
                <a:gridCol w="1076325"/>
              </a:tblGrid>
              <a:tr h="282575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48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b="1" kern="0" spc="-1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COLMO近1600家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70485" algn="l" rtl="0" eaLnBrk="0">
                        <a:lnSpc>
                          <a:spcPts val="900"/>
                        </a:lnSpc>
                      </a:pPr>
                      <a:r>
                        <a:rPr sz="700" b="1" kern="0" spc="-20" dirty="0">
                          <a:solidFill>
                            <a:srgbClr val="206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东芝650余家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6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065" indent="76200" algn="l" rtl="0" eaLnBrk="0">
                        <a:lnSpc>
                          <a:spcPct val="214000"/>
                        </a:lnSpc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门店数量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带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272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700" b="1" kern="0" spc="-10" dirty="0">
                          <a:solidFill>
                            <a:srgbClr val="206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卡萨帝超3000家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5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洞察：海尔高端认知沉淀更早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5"/>
                        </a:spcBef>
                      </a:pPr>
                      <a:r>
                        <a:rPr sz="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洞察：美的通过双品牌补齐高端价格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5940"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7025" algn="l" rtl="0" eaLnBrk="0">
                        <a:lnSpc>
                          <a:spcPct val="85000"/>
                        </a:lnSpc>
                        <a:tabLst>
                          <a:tab pos="360045" algn="l"/>
                        </a:tabLst>
                      </a:pPr>
                      <a:r>
                        <a:rPr sz="700" kern="0" spc="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b="1" kern="0" spc="-2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双位数增长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洞察：双高端驱动高端零售持续增长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" algn="l" rtl="0" eaLnBrk="0">
                        <a:lnSpc>
                          <a:spcPct val="8600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零售额增速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162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b="1" kern="0" spc="-20" dirty="0">
                          <a:solidFill>
                            <a:srgbClr val="20506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双位数增长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610"/>
                        </a:lnSpc>
                        <a:spcBef>
                          <a:spcPts val="5"/>
                        </a:spcBef>
                      </a:pPr>
                      <a:r>
                        <a:rPr sz="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洞察：高端品类结构更优、提价</a:t>
                      </a:r>
                      <a:r>
                        <a:rPr sz="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能力强</a:t>
                      </a:r>
                      <a:endParaRPr sz="5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14" name="picture 11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41310" y="3194062"/>
            <a:ext cx="266730" cy="241281"/>
          </a:xfrm>
          <a:prstGeom prst="rect">
            <a:avLst/>
          </a:prstGeom>
        </p:spPr>
      </p:pic>
      <p:pic>
        <p:nvPicPr>
          <p:cNvPr id="1116" name="picture 11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594640" y="2311386"/>
            <a:ext cx="1295339" cy="882675"/>
          </a:xfrm>
          <a:prstGeom prst="rect">
            <a:avLst/>
          </a:prstGeom>
        </p:spPr>
      </p:pic>
      <p:sp>
        <p:nvSpPr>
          <p:cNvPr id="1118" name="textbox 1118"/>
          <p:cNvSpPr/>
          <p:nvPr/>
        </p:nvSpPr>
        <p:spPr>
          <a:xfrm>
            <a:off x="209590" y="205411"/>
            <a:ext cx="4102734" cy="284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1900" kern="0" spc="5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1900" kern="0" spc="-200" dirty="0">
                <a:solidFill>
                  <a:srgbClr val="0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同业对标：美的</a:t>
            </a:r>
            <a:r>
              <a:rPr sz="19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</a:t>
            </a:r>
            <a:r>
              <a:rPr sz="1900" b="1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9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海尔品</a:t>
            </a: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牌与渠道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120" name="picture 11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651790" y="1346208"/>
            <a:ext cx="1200150" cy="730222"/>
          </a:xfrm>
          <a:prstGeom prst="rect">
            <a:avLst/>
          </a:prstGeom>
        </p:spPr>
      </p:pic>
      <p:pic>
        <p:nvPicPr>
          <p:cNvPr id="1122" name="picture 11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235659" y="2540014"/>
            <a:ext cx="1314450" cy="660374"/>
          </a:xfrm>
          <a:prstGeom prst="rect">
            <a:avLst/>
          </a:prstGeom>
        </p:spPr>
      </p:pic>
      <p:sp>
        <p:nvSpPr>
          <p:cNvPr id="1124" name="textbox 1124"/>
          <p:cNvSpPr/>
          <p:nvPr/>
        </p:nvSpPr>
        <p:spPr>
          <a:xfrm>
            <a:off x="6337259" y="1932613"/>
            <a:ext cx="1102995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210185" algn="l" rtl="0" eaLnBrk="0">
              <a:lnSpc>
                <a:spcPct val="170000"/>
              </a:lnSpc>
            </a:pPr>
            <a:r>
              <a:rPr sz="800" kern="0" spc="-20" baseline="7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</a:t>
            </a:r>
            <a:r>
              <a:rPr sz="800" kern="0" spc="-20" baseline="-700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500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洞察：美的海外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增速更快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grpSp>
        <p:nvGrpSpPr>
          <p:cNvPr id="18" name="group 18"/>
          <p:cNvGrpSpPr/>
          <p:nvPr/>
        </p:nvGrpSpPr>
        <p:grpSpPr>
          <a:xfrm rot="21600000">
            <a:off x="6318229" y="1404450"/>
            <a:ext cx="1174729" cy="639336"/>
            <a:chOff x="0" y="0"/>
            <a:chExt cx="1174729" cy="639336"/>
          </a:xfrm>
        </p:grpSpPr>
        <p:pic>
          <p:nvPicPr>
            <p:cNvPr id="1126" name="picture 112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170334"/>
              <a:ext cx="1174729" cy="393735"/>
            </a:xfrm>
            <a:prstGeom prst="rect">
              <a:avLst/>
            </a:prstGeom>
          </p:spPr>
        </p:pic>
        <p:sp>
          <p:nvSpPr>
            <p:cNvPr id="1128" name="textbox 1128"/>
            <p:cNvSpPr/>
            <p:nvPr/>
          </p:nvSpPr>
          <p:spPr>
            <a:xfrm>
              <a:off x="190479" y="553670"/>
              <a:ext cx="746760" cy="98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</a:pP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r>
                <a:rPr sz="5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5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22                        </a:t>
              </a:r>
              <a:r>
                <a:rPr sz="900" kern="0" spc="0" baseline="-6000" dirty="0">
                  <a:solidFill>
                    <a:srgbClr val="104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r>
                <a:rPr sz="500" kern="0" spc="-10" dirty="0">
                  <a:solidFill>
                    <a:srgbClr val="104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900" kern="0" spc="-10" baseline="-6000" dirty="0">
                  <a:solidFill>
                    <a:srgbClr val="1040A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24</a:t>
              </a:r>
              <a:endParaRPr sz="900" baseline="-6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130" name="textbox 1130"/>
            <p:cNvSpPr/>
            <p:nvPr/>
          </p:nvSpPr>
          <p:spPr>
            <a:xfrm>
              <a:off x="349310" y="-12700"/>
              <a:ext cx="313055" cy="1739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</a:pPr>
              <a:r>
                <a:rPr sz="1100" kern="0" spc="10" dirty="0">
                  <a:solidFill>
                    <a:srgbClr val="1040A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&gt;45%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132" name="textbox 1132"/>
          <p:cNvSpPr/>
          <p:nvPr/>
        </p:nvSpPr>
        <p:spPr>
          <a:xfrm>
            <a:off x="184170" y="576635"/>
            <a:ext cx="544512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美的以双高端与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追赶高端品牌厚度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，海尔以卡萨带、人单合一和全球品牌沉淀形成先发壁垒。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134" name="textbox 1134"/>
          <p:cNvSpPr/>
          <p:nvPr/>
        </p:nvSpPr>
        <p:spPr>
          <a:xfrm>
            <a:off x="685810" y="4317150"/>
            <a:ext cx="1096010" cy="5295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6" rIns="0" bIns="0"/>
          <a:lstStyle/>
          <a:p>
            <a:pPr marL="12700" algn="l" rtl="0" eaLnBrk="0">
              <a:lnSpc>
                <a:spcPct val="141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双高端策略有效补齐价格带，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但品牌认知、用户心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智与卡萨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带仍有差距，需持续品牌建设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与品类突破。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36" name="textbox 1136"/>
          <p:cNvSpPr/>
          <p:nvPr/>
        </p:nvSpPr>
        <p:spPr>
          <a:xfrm>
            <a:off x="6267490" y="3441674"/>
            <a:ext cx="2619375" cy="2165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8915" algn="l" rtl="0" eaLnBrk="0">
              <a:lnSpc>
                <a:spcPct val="92000"/>
              </a:lnSpc>
              <a:spcBef>
                <a:spcPts val="0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洞察：美的海外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接近，海尔在品牌网络与制造外溢上领先。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138" name="picture 11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280190" y="3454374"/>
            <a:ext cx="177759" cy="190515"/>
          </a:xfrm>
          <a:prstGeom prst="rect">
            <a:avLst/>
          </a:prstGeom>
        </p:spPr>
      </p:pic>
      <p:sp>
        <p:nvSpPr>
          <p:cNvPr id="1140" name="textbox 1140"/>
          <p:cNvSpPr/>
          <p:nvPr/>
        </p:nvSpPr>
        <p:spPr>
          <a:xfrm>
            <a:off x="7619980" y="4352487"/>
            <a:ext cx="1235710" cy="386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18" rIns="0" bIns="0"/>
          <a:lstStyle/>
          <a:p>
            <a:pPr marL="12700" algn="l" rtl="0" eaLnBrk="0">
              <a:lnSpc>
                <a:spcPct val="136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从“卖产品”转向“经营用户”,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构建围绕家庭场景的生态价值，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形成长期竞争壁垒。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42" name="textbox 1142"/>
          <p:cNvSpPr/>
          <p:nvPr/>
        </p:nvSpPr>
        <p:spPr>
          <a:xfrm>
            <a:off x="2406619" y="4348937"/>
            <a:ext cx="1136650" cy="403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15" rIns="0" bIns="0"/>
          <a:lstStyle/>
          <a:p>
            <a:pPr marL="12700" algn="l" rtl="0" eaLnBrk="0">
              <a:lnSpc>
                <a:spcPct val="142000"/>
              </a:lnSpc>
              <a:spcBef>
                <a:spcPts val="5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外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占比快速提升，但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在欧美高端市场的品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牌认知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与溢价能力仍需加强。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44" name="textbox 1144"/>
          <p:cNvSpPr/>
          <p:nvPr/>
        </p:nvSpPr>
        <p:spPr>
          <a:xfrm>
            <a:off x="4254530" y="4346439"/>
            <a:ext cx="1114425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大牌日与体育赞助带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来海量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曝光，应加速沉淀私域流量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与会员资产，提升复购效率。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46" name="textbox 1146"/>
          <p:cNvSpPr/>
          <p:nvPr/>
        </p:nvSpPr>
        <p:spPr>
          <a:xfrm>
            <a:off x="5949919" y="4346109"/>
            <a:ext cx="1065530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800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直营与美云销提升组织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扁平与执行效率，短期内可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持续扩大市场份额。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48" name="textbox 1148"/>
          <p:cNvSpPr/>
          <p:nvPr/>
        </p:nvSpPr>
        <p:spPr>
          <a:xfrm>
            <a:off x="2368580" y="3998144"/>
            <a:ext cx="1139825" cy="2876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2000"/>
              </a:lnSpc>
            </a:pPr>
            <a:r>
              <a:rPr sz="8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</a:t>
            </a:r>
            <a:r>
              <a:rPr sz="800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8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接近但需提升</a:t>
            </a:r>
            <a:r>
              <a:rPr sz="800" kern="0" spc="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欧美高端认知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150" name="textbox 1150"/>
          <p:cNvSpPr/>
          <p:nvPr/>
        </p:nvSpPr>
        <p:spPr>
          <a:xfrm>
            <a:off x="4178269" y="4005897"/>
            <a:ext cx="1057275" cy="2724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0" algn="l" rtl="0" eaLnBrk="0">
              <a:lnSpc>
                <a:spcPct val="121000"/>
              </a:lnSpc>
            </a:pPr>
            <a:r>
              <a:rPr sz="7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数字营销创新力度大，</a:t>
            </a:r>
            <a:r>
              <a:rPr sz="700" kern="0" spc="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可转化为私域资产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152" name="picture 115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835359" y="4292611"/>
            <a:ext cx="400050" cy="450827"/>
          </a:xfrm>
          <a:prstGeom prst="rect">
            <a:avLst/>
          </a:prstGeom>
        </p:spPr>
      </p:pic>
      <p:sp>
        <p:nvSpPr>
          <p:cNvPr id="1154" name="textbox 1154"/>
          <p:cNvSpPr/>
          <p:nvPr/>
        </p:nvSpPr>
        <p:spPr>
          <a:xfrm>
            <a:off x="5899170" y="4015744"/>
            <a:ext cx="758825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5715" algn="l" rtl="0" eaLnBrk="0">
              <a:lnSpc>
                <a:spcPct val="115000"/>
              </a:lnSpc>
            </a:pPr>
            <a:r>
              <a:rPr sz="800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800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执行速度是</a:t>
            </a:r>
            <a:r>
              <a:rPr sz="700" kern="0" spc="1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短期优势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156" name="textbox 1156"/>
          <p:cNvSpPr/>
          <p:nvPr/>
        </p:nvSpPr>
        <p:spPr>
          <a:xfrm>
            <a:off x="6813571" y="875561"/>
            <a:ext cx="1209040" cy="1682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全球化与</a:t>
            </a:r>
            <a:r>
              <a:rPr sz="1100" kern="0" spc="-1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 </a:t>
            </a:r>
            <a:r>
              <a:rPr sz="11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对比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158" name="picture 115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09580" y="4330724"/>
            <a:ext cx="431779" cy="380979"/>
          </a:xfrm>
          <a:prstGeom prst="rect">
            <a:avLst/>
          </a:prstGeom>
        </p:spPr>
      </p:pic>
      <p:pic>
        <p:nvPicPr>
          <p:cNvPr id="1160" name="picture 116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543550" y="4318020"/>
            <a:ext cx="400050" cy="400010"/>
          </a:xfrm>
          <a:prstGeom prst="rect">
            <a:avLst/>
          </a:prstGeom>
        </p:spPr>
      </p:pic>
      <p:pic>
        <p:nvPicPr>
          <p:cNvPr id="1162" name="picture 116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7143750" y="4337051"/>
            <a:ext cx="463509" cy="330212"/>
          </a:xfrm>
          <a:prstGeom prst="rect">
            <a:avLst/>
          </a:prstGeom>
        </p:spPr>
      </p:pic>
      <p:pic>
        <p:nvPicPr>
          <p:cNvPr id="1164" name="picture 116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006559" y="4324346"/>
            <a:ext cx="381030" cy="387356"/>
          </a:xfrm>
          <a:prstGeom prst="rect">
            <a:avLst/>
          </a:prstGeom>
        </p:spPr>
      </p:pic>
      <p:sp>
        <p:nvSpPr>
          <p:cNvPr id="1166" name="textbox 1166"/>
          <p:cNvSpPr/>
          <p:nvPr/>
        </p:nvSpPr>
        <p:spPr>
          <a:xfrm>
            <a:off x="1107059" y="860123"/>
            <a:ext cx="976630" cy="182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200" b="1" kern="0" spc="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高端品牌对比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68" name="textbox 1168"/>
          <p:cNvSpPr/>
          <p:nvPr/>
        </p:nvSpPr>
        <p:spPr>
          <a:xfrm>
            <a:off x="228610" y="3775461"/>
            <a:ext cx="128397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0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美的追赶空间与策略启</a:t>
            </a:r>
            <a:r>
              <a:rPr sz="800" kern="0" spc="9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170" name="textbox 1170"/>
          <p:cNvSpPr/>
          <p:nvPr/>
        </p:nvSpPr>
        <p:spPr>
          <a:xfrm>
            <a:off x="7581940" y="4010848"/>
            <a:ext cx="112077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长期要从渠道改革转向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172" name="textbox 1172"/>
          <p:cNvSpPr/>
          <p:nvPr/>
        </p:nvSpPr>
        <p:spPr>
          <a:xfrm>
            <a:off x="539780" y="4067137"/>
            <a:ext cx="106172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高端品牌厚度仍需积累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174" name="textbox 1174"/>
          <p:cNvSpPr/>
          <p:nvPr/>
        </p:nvSpPr>
        <p:spPr>
          <a:xfrm>
            <a:off x="7664420" y="3209828"/>
            <a:ext cx="117729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洞察：制造数字化外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溢能力更强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76" name="textbox 1176"/>
          <p:cNvSpPr/>
          <p:nvPr/>
        </p:nvSpPr>
        <p:spPr>
          <a:xfrm>
            <a:off x="7658110" y="2117276"/>
            <a:ext cx="115824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洞察：海尔全球品牌网络更成熟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178" name="textbox 1178"/>
          <p:cNvSpPr/>
          <p:nvPr/>
        </p:nvSpPr>
        <p:spPr>
          <a:xfrm>
            <a:off x="7804139" y="1190964"/>
            <a:ext cx="82550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8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海尔海外</a:t>
            </a:r>
            <a:r>
              <a:rPr sz="700" kern="0" spc="0" dirty="0">
                <a:solidFill>
                  <a:srgbClr val="20508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80" dirty="0">
                <a:solidFill>
                  <a:srgbClr val="205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180" name="textbox 1180"/>
          <p:cNvSpPr/>
          <p:nvPr/>
        </p:nvSpPr>
        <p:spPr>
          <a:xfrm>
            <a:off x="6496090" y="1203288"/>
            <a:ext cx="81915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美迫海外</a:t>
            </a:r>
            <a:r>
              <a:rPr sz="700" kern="0" spc="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182" name="textbox 1182"/>
          <p:cNvSpPr/>
          <p:nvPr/>
        </p:nvSpPr>
        <p:spPr>
          <a:xfrm>
            <a:off x="6369080" y="3228384"/>
            <a:ext cx="98107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洞察：制造数字化加速外溢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184" name="textbox 1184"/>
          <p:cNvSpPr/>
          <p:nvPr/>
        </p:nvSpPr>
        <p:spPr>
          <a:xfrm>
            <a:off x="7581940" y="4163443"/>
            <a:ext cx="65976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用户生态经营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186" name="picture 118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619719" y="3994133"/>
            <a:ext cx="241310" cy="228628"/>
          </a:xfrm>
          <a:prstGeom prst="rect">
            <a:avLst/>
          </a:prstGeom>
        </p:spPr>
      </p:pic>
      <p:pic>
        <p:nvPicPr>
          <p:cNvPr id="1188" name="picture 1188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860779" y="3994133"/>
            <a:ext cx="241310" cy="228628"/>
          </a:xfrm>
          <a:prstGeom prst="rect">
            <a:avLst/>
          </a:prstGeom>
        </p:spPr>
      </p:pic>
      <p:sp>
        <p:nvSpPr>
          <p:cNvPr id="1190" name="textbox 1190"/>
          <p:cNvSpPr/>
          <p:nvPr/>
        </p:nvSpPr>
        <p:spPr>
          <a:xfrm>
            <a:off x="6572260" y="2397094"/>
            <a:ext cx="58928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美的灯塔工厂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192" name="picture 119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7245340" y="4000511"/>
            <a:ext cx="235000" cy="222250"/>
          </a:xfrm>
          <a:prstGeom prst="rect">
            <a:avLst/>
          </a:prstGeom>
        </p:spPr>
      </p:pic>
      <p:pic>
        <p:nvPicPr>
          <p:cNvPr id="1194" name="picture 119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070110" y="4006838"/>
            <a:ext cx="215889" cy="209546"/>
          </a:xfrm>
          <a:prstGeom prst="rect">
            <a:avLst/>
          </a:prstGeom>
        </p:spPr>
      </p:pic>
      <p:pic>
        <p:nvPicPr>
          <p:cNvPr id="1196" name="picture 1196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60329" y="4006838"/>
            <a:ext cx="203179" cy="209546"/>
          </a:xfrm>
          <a:prstGeom prst="rect">
            <a:avLst/>
          </a:prstGeom>
        </p:spPr>
      </p:pic>
      <p:pic>
        <p:nvPicPr>
          <p:cNvPr id="1198" name="picture 1198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317479" y="2679712"/>
            <a:ext cx="127010" cy="209546"/>
          </a:xfrm>
          <a:prstGeom prst="rect">
            <a:avLst/>
          </a:prstGeom>
        </p:spPr>
      </p:pic>
      <p:sp>
        <p:nvSpPr>
          <p:cNvPr id="1200" name="textbox 1200"/>
          <p:cNvSpPr/>
          <p:nvPr/>
        </p:nvSpPr>
        <p:spPr>
          <a:xfrm>
            <a:off x="8756670" y="4922599"/>
            <a:ext cx="176530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1100" b="1" kern="0" spc="-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12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202" name="picture 120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254020" y="2679711"/>
            <a:ext cx="25420" cy="260312"/>
          </a:xfrm>
          <a:prstGeom prst="rect">
            <a:avLst/>
          </a:prstGeom>
        </p:spPr>
      </p:pic>
      <p:pic>
        <p:nvPicPr>
          <p:cNvPr id="1204" name="picture 1204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317479" y="2927371"/>
            <a:ext cx="177850" cy="126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6" name="table 1206"/>
          <p:cNvGraphicFramePr>
            <a:graphicFrameLocks noGrp="1"/>
          </p:cNvGraphicFramePr>
          <p:nvPr/>
        </p:nvGraphicFramePr>
        <p:xfrm>
          <a:off x="6321455" y="2746386"/>
          <a:ext cx="2590800" cy="1123315"/>
        </p:xfrm>
        <a:graphic>
          <a:graphicData uri="http://schemas.openxmlformats.org/drawingml/2006/table">
            <a:tbl>
              <a:tblPr/>
              <a:tblGrid>
                <a:gridCol w="60325"/>
                <a:gridCol w="254000"/>
                <a:gridCol w="414019"/>
                <a:gridCol w="236855"/>
                <a:gridCol w="121285"/>
                <a:gridCol w="203200"/>
                <a:gridCol w="447040"/>
                <a:gridCol w="854075"/>
              </a:tblGrid>
              <a:tr h="178435"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6266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600" b="1" kern="0" spc="40" dirty="0">
                          <a:solidFill>
                            <a:srgbClr val="3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新旧体系并行难题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indent="5715" algn="l" rtl="0" eaLnBrk="0">
                        <a:lnSpc>
                          <a:spcPct val="115000"/>
                        </a:lnSpc>
                        <a:spcBef>
                          <a:spcPts val="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短期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业绩压力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945" algn="l" rtl="0" eaLnBrk="0">
                        <a:lnSpc>
                          <a:spcPct val="71000"/>
                        </a:lnSpc>
                        <a:spcBef>
                          <a:spcPts val="0"/>
                        </a:spcBef>
                      </a:pPr>
                      <a:r>
                        <a:rPr sz="600" kern="0" spc="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VS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6375" indent="12700" algn="l" rtl="0" eaLnBrk="0">
                        <a:lnSpc>
                          <a:spcPct val="115000"/>
                        </a:lnSpc>
                      </a:pPr>
                      <a:r>
                        <a:rPr sz="6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长期</a:t>
                      </a: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6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转型目标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短期需要结果，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83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长期需要投入与耐心。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90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2415" indent="5715" algn="l" rtl="0" eaLnBrk="0">
                        <a:lnSpc>
                          <a:spcPct val="116000"/>
                        </a:lnSpc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</a:t>
                      </a:r>
                      <a:r>
                        <a:rPr sz="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稳定运转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945" algn="l" rtl="0" eaLnBrk="0">
                        <a:lnSpc>
                          <a:spcPct val="71000"/>
                        </a:lnSpc>
                      </a:pPr>
                      <a:r>
                        <a:rPr sz="600" kern="0" spc="10" dirty="0">
                          <a:solidFill>
                            <a:srgbClr val="204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VS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新体系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15875" algn="l" rtl="0" eaLnBrk="0">
                        <a:lnSpc>
                          <a:spcPts val="850"/>
                        </a:lnSpc>
                      </a:pPr>
                      <a:r>
                        <a:rPr sz="6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全面建设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4615" algn="l" rtl="0" eaLnBrk="0">
                        <a:lnSpc>
                          <a:spcPct val="127000"/>
                        </a:lnSpc>
                        <a:spcBef>
                          <a:spcPts val="0"/>
                        </a:spcBef>
                      </a:pP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旧体系要维持稳定，</a:t>
                      </a:r>
                      <a:r>
                        <a:rPr sz="6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新体系要持续搭建。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05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ts val="305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305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6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经销商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algn="l" rtl="0" eaLnBrk="0">
                        <a:lnSpc>
                          <a:spcPct val="19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利益安抚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94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</a:pPr>
                      <a:r>
                        <a:rPr sz="600" kern="0" spc="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VS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41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7660" indent="12700" algn="l" rtl="0" eaLnBrk="0">
                        <a:lnSpc>
                          <a:spcPct val="123000"/>
                        </a:lnSpc>
                        <a:spcBef>
                          <a:spcPts val="0"/>
                        </a:spcBef>
                      </a:pPr>
                      <a:r>
                        <a:rPr sz="600" b="1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终端</a:t>
                      </a: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      </a:t>
                      </a:r>
                      <a:r>
                        <a:rPr sz="6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效率提升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3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8265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安抚要有力度，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88265" algn="l" rtl="0" eaLnBrk="0">
                        <a:lnSpc>
                          <a:spcPts val="930"/>
                        </a:lnSpc>
                      </a:pPr>
                      <a:r>
                        <a:rPr sz="6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效率重有提升。</a:t>
                      </a:r>
                      <a:endParaRPr sz="6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08" name="textbox 1208"/>
          <p:cNvSpPr/>
          <p:nvPr/>
        </p:nvSpPr>
        <p:spPr>
          <a:xfrm>
            <a:off x="397200" y="265948"/>
            <a:ext cx="419608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痛点一：渠道变革阵痛与经销商压力。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210" name="textbox 1210"/>
          <p:cNvSpPr/>
          <p:nvPr/>
        </p:nvSpPr>
        <p:spPr>
          <a:xfrm>
            <a:off x="177769" y="621075"/>
            <a:ext cx="679767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改革提升总部直达终端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能力，但在过渡期将流量、成本、组织与渠道伙伴利益重新分配，阵痛集中落在经销商与一线运营体系。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12" name="textbox 1212"/>
          <p:cNvSpPr/>
          <p:nvPr/>
        </p:nvSpPr>
        <p:spPr>
          <a:xfrm>
            <a:off x="5556270" y="1508092"/>
            <a:ext cx="695325" cy="921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75565" algn="l" rtl="0" eaLnBrk="0">
              <a:lnSpc>
                <a:spcPct val="141000"/>
              </a:lnSpc>
              <a:tabLst>
                <a:tab pos="158115" algn="l"/>
              </a:tabLst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存活者必须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成为面向用户、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创造增值的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服务商，而非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单纯赚价差的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中间层。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214" name="textbox 1214"/>
          <p:cNvSpPr/>
          <p:nvPr/>
        </p:nvSpPr>
        <p:spPr>
          <a:xfrm>
            <a:off x="7651709" y="4431490"/>
            <a:ext cx="1178560" cy="390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7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分阶段推进组织与文化融合，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先保留稳定现金流，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再推进角色重塑。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16" name="textbox 1216"/>
          <p:cNvSpPr/>
          <p:nvPr/>
        </p:nvSpPr>
        <p:spPr>
          <a:xfrm>
            <a:off x="2432040" y="4435618"/>
            <a:ext cx="1089025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体系化培训产品、导购与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运营能力，帮助经销商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角色从批发商转向服务商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18" name="textbox 1218"/>
          <p:cNvSpPr/>
          <p:nvPr/>
        </p:nvSpPr>
        <p:spPr>
          <a:xfrm>
            <a:off x="660389" y="4431490"/>
            <a:ext cx="99377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97" rIns="0" bIns="0"/>
          <a:lstStyle/>
          <a:p>
            <a:pPr marL="12700" algn="l" rtl="0" eaLnBrk="0">
              <a:lnSpc>
                <a:spcPct val="137000"/>
              </a:lnSpc>
              <a:spcBef>
                <a:spcPts val="5"/>
              </a:spcBef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向高潜与高效网点倾斜，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差异化分配资源与政策，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缓解流量下滑冲击。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20" name="textbox 1220"/>
          <p:cNvSpPr/>
          <p:nvPr/>
        </p:nvSpPr>
        <p:spPr>
          <a:xfrm>
            <a:off x="4210090" y="4431490"/>
            <a:ext cx="9874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97" rIns="0" bIns="0"/>
          <a:lstStyle/>
          <a:p>
            <a:pPr marL="12700" algn="l" rtl="0" eaLnBrk="0">
              <a:lnSpc>
                <a:spcPct val="137000"/>
              </a:lnSpc>
              <a:spcBef>
                <a:spcPts val="5"/>
              </a:spcBef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按潜力与贡献分层运营，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聚焦重点网点，提升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资源投入产出效率。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22" name="textbox 1222"/>
          <p:cNvSpPr/>
          <p:nvPr/>
        </p:nvSpPr>
        <p:spPr>
          <a:xfrm>
            <a:off x="4279859" y="3070839"/>
            <a:ext cx="582930" cy="5441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9000"/>
              </a:lnSpc>
            </a:pPr>
            <a:r>
              <a:rPr sz="700" kern="0" spc="-10" dirty="0">
                <a:solidFill>
                  <a:srgbClr val="2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专业导购训练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强化产品与场景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知识，提升成交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与客单能力。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24" name="textbox 1224"/>
          <p:cNvSpPr/>
          <p:nvPr/>
        </p:nvSpPr>
        <p:spPr>
          <a:xfrm>
            <a:off x="939830" y="2149011"/>
            <a:ext cx="120967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88" rIns="0" bIns="0"/>
          <a:lstStyle/>
          <a:p>
            <a:pPr marL="12700" algn="l" rtl="0" eaLnBrk="0">
              <a:lnSpc>
                <a:spcPct val="131000"/>
              </a:lnSpc>
              <a:spcBef>
                <a:spcPts val="5"/>
              </a:spcBef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洞察：门店升级、导购服务与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本地履约同时增加固定投入。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226" name="picture 1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721059" y="4190975"/>
            <a:ext cx="419160" cy="603281"/>
          </a:xfrm>
          <a:prstGeom prst="rect">
            <a:avLst/>
          </a:prstGeom>
        </p:spPr>
      </p:pic>
      <p:sp>
        <p:nvSpPr>
          <p:cNvPr id="1228" name="textbox 1228"/>
          <p:cNvSpPr/>
          <p:nvPr/>
        </p:nvSpPr>
        <p:spPr>
          <a:xfrm>
            <a:off x="8159750" y="1780737"/>
            <a:ext cx="597535" cy="454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1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原有品类总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岗位被压缩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层级压缩，职能与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岗位重新配置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230" name="textbox 1230"/>
          <p:cNvSpPr/>
          <p:nvPr/>
        </p:nvSpPr>
        <p:spPr>
          <a:xfrm>
            <a:off x="5797580" y="4431490"/>
            <a:ext cx="1076325" cy="249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92" rIns="0" bIns="0"/>
          <a:lstStyle/>
          <a:p>
            <a:pPr marL="12700" algn="l" rtl="0" eaLnBrk="0">
              <a:lnSpc>
                <a:spcPct val="129000"/>
              </a:lnSpc>
              <a:spcBef>
                <a:spcPts val="5"/>
              </a:spcBef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建立库存与现金监控机制，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提升周转效率，释放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32" name="textbox 1232"/>
          <p:cNvSpPr/>
          <p:nvPr/>
        </p:nvSpPr>
        <p:spPr>
          <a:xfrm>
            <a:off x="939830" y="2815763"/>
            <a:ext cx="1034414" cy="259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洞察：渠道身份从批发商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转向服务商。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234" name="picture 12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47619" y="1949438"/>
            <a:ext cx="590611" cy="368325"/>
          </a:xfrm>
          <a:prstGeom prst="rect">
            <a:avLst/>
          </a:prstGeom>
        </p:spPr>
      </p:pic>
      <p:pic>
        <p:nvPicPr>
          <p:cNvPr id="1236" name="picture 12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968520" y="4190975"/>
            <a:ext cx="368320" cy="590576"/>
          </a:xfrm>
          <a:prstGeom prst="rect">
            <a:avLst/>
          </a:prstGeom>
        </p:spPr>
      </p:pic>
      <p:pic>
        <p:nvPicPr>
          <p:cNvPr id="1238" name="picture 12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47619" y="1269981"/>
            <a:ext cx="590611" cy="361948"/>
          </a:xfrm>
          <a:prstGeom prst="rect">
            <a:avLst/>
          </a:prstGeom>
        </p:spPr>
      </p:pic>
      <p:pic>
        <p:nvPicPr>
          <p:cNvPr id="1240" name="picture 12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47619" y="3289319"/>
            <a:ext cx="590611" cy="361947"/>
          </a:xfrm>
          <a:prstGeom prst="rect">
            <a:avLst/>
          </a:prstGeom>
        </p:spPr>
      </p:pic>
      <p:pic>
        <p:nvPicPr>
          <p:cNvPr id="1242" name="picture 12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7619" y="2635272"/>
            <a:ext cx="590611" cy="355570"/>
          </a:xfrm>
          <a:prstGeom prst="rect">
            <a:avLst/>
          </a:prstGeom>
        </p:spPr>
      </p:pic>
      <p:sp>
        <p:nvSpPr>
          <p:cNvPr id="1244" name="textbox 1244"/>
          <p:cNvSpPr/>
          <p:nvPr/>
        </p:nvSpPr>
        <p:spPr>
          <a:xfrm>
            <a:off x="3327420" y="1019998"/>
            <a:ext cx="162306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传统模式被出清(因果链路)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46" name="textbox 1246"/>
          <p:cNvSpPr/>
          <p:nvPr/>
        </p:nvSpPr>
        <p:spPr>
          <a:xfrm>
            <a:off x="5416550" y="3349525"/>
            <a:ext cx="600710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06" rIns="0" bIns="0"/>
          <a:lstStyle/>
          <a:p>
            <a:pPr marL="12700" algn="l" rtl="0" eaLnBrk="0">
              <a:lnSpc>
                <a:spcPct val="129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提升履约与售后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速度，增强用户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满意度与复购。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248" name="picture 12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131040" y="4413226"/>
            <a:ext cx="425470" cy="393734"/>
          </a:xfrm>
          <a:prstGeom prst="rect">
            <a:avLst/>
          </a:prstGeom>
        </p:spPr>
      </p:pic>
      <p:pic>
        <p:nvPicPr>
          <p:cNvPr id="1250" name="picture 12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340370" y="4406899"/>
            <a:ext cx="425470" cy="380979"/>
          </a:xfrm>
          <a:prstGeom prst="rect">
            <a:avLst/>
          </a:prstGeom>
        </p:spPr>
      </p:pic>
      <p:sp>
        <p:nvSpPr>
          <p:cNvPr id="1252" name="textbox 1252"/>
          <p:cNvSpPr/>
          <p:nvPr/>
        </p:nvSpPr>
        <p:spPr>
          <a:xfrm>
            <a:off x="6781840" y="2367712"/>
            <a:ext cx="19088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洞察：层级压缩带来效率提升，也带来人员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融合、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54" name="textbox 1254"/>
          <p:cNvSpPr/>
          <p:nvPr/>
        </p:nvSpPr>
        <p:spPr>
          <a:xfrm>
            <a:off x="939830" y="2626095"/>
            <a:ext cx="142557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转型零售能力不足者</a:t>
            </a:r>
            <a:r>
              <a:rPr sz="800" kern="0" spc="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面临出局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256" name="textbox 1256"/>
          <p:cNvSpPr/>
          <p:nvPr/>
        </p:nvSpPr>
        <p:spPr>
          <a:xfrm>
            <a:off x="939830" y="919581"/>
            <a:ext cx="983614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1100" kern="0" spc="-3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经销商困境量化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258" name="textbox 1258"/>
          <p:cNvSpPr/>
          <p:nvPr/>
        </p:nvSpPr>
        <p:spPr>
          <a:xfrm>
            <a:off x="4083080" y="1838304"/>
            <a:ext cx="574675" cy="280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38" rIns="0" bIns="0"/>
          <a:lstStyle/>
          <a:p>
            <a:pPr marL="12700" indent="43815" algn="l" rtl="0" eaLnBrk="0">
              <a:lnSpc>
                <a:spcPct val="125000"/>
              </a:lnSpc>
              <a:spcBef>
                <a:spcPts val="5"/>
              </a:spcBef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流量与库存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周转效率下降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260" name="picture 126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515100" y="1187428"/>
            <a:ext cx="355610" cy="361948"/>
          </a:xfrm>
          <a:prstGeom prst="rect">
            <a:avLst/>
          </a:prstGeom>
        </p:spPr>
      </p:pic>
      <p:pic>
        <p:nvPicPr>
          <p:cNvPr id="1262" name="picture 126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59240" y="1422383"/>
            <a:ext cx="381030" cy="336590"/>
          </a:xfrm>
          <a:prstGeom prst="rect">
            <a:avLst/>
          </a:prstGeom>
        </p:spPr>
      </p:pic>
      <p:sp>
        <p:nvSpPr>
          <p:cNvPr id="1264" name="textbox 1264"/>
          <p:cNvSpPr/>
          <p:nvPr/>
        </p:nvSpPr>
        <p:spPr>
          <a:xfrm>
            <a:off x="3149569" y="3351972"/>
            <a:ext cx="597535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53" rIns="0" bIns="0"/>
          <a:lstStyle/>
          <a:p>
            <a:pPr marL="12700" algn="l" rtl="0" eaLnBrk="0">
              <a:lnSpc>
                <a:spcPct val="133000"/>
              </a:lnSpc>
              <a:spcBef>
                <a:spcPts val="0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陈列质量，放大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转化效率。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66" name="textbox 1266"/>
          <p:cNvSpPr/>
          <p:nvPr/>
        </p:nvSpPr>
        <p:spPr>
          <a:xfrm>
            <a:off x="6978620" y="1342562"/>
            <a:ext cx="60579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0" algn="l" rtl="0" eaLnBrk="0">
              <a:lnSpc>
                <a:spcPct val="141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裁撤营运中心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区域职能整合收效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pic>
        <p:nvPicPr>
          <p:cNvPr id="1268" name="picture 12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930640" y="3092426"/>
            <a:ext cx="304769" cy="406439"/>
          </a:xfrm>
          <a:prstGeom prst="rect">
            <a:avLst/>
          </a:prstGeom>
        </p:spPr>
      </p:pic>
      <p:sp>
        <p:nvSpPr>
          <p:cNvPr id="1270" name="textbox 1270"/>
          <p:cNvSpPr/>
          <p:nvPr/>
        </p:nvSpPr>
        <p:spPr>
          <a:xfrm>
            <a:off x="939830" y="1247288"/>
            <a:ext cx="115570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8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线下门店流量扶持减少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272" name="picture 127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441710" y="1422383"/>
            <a:ext cx="355610" cy="342917"/>
          </a:xfrm>
          <a:prstGeom prst="rect">
            <a:avLst/>
          </a:prstGeom>
        </p:spPr>
      </p:pic>
      <p:pic>
        <p:nvPicPr>
          <p:cNvPr id="1274" name="picture 127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022890" y="3130539"/>
            <a:ext cx="349209" cy="336539"/>
          </a:xfrm>
          <a:prstGeom prst="rect">
            <a:avLst/>
          </a:prstGeom>
        </p:spPr>
      </p:pic>
      <p:sp>
        <p:nvSpPr>
          <p:cNvPr id="1276" name="textbox 1276"/>
          <p:cNvSpPr/>
          <p:nvPr/>
        </p:nvSpPr>
        <p:spPr>
          <a:xfrm>
            <a:off x="939830" y="1571614"/>
            <a:ext cx="12166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流量分配更向效率网点倾斜。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278" name="textbox 1278"/>
          <p:cNvSpPr/>
          <p:nvPr/>
        </p:nvSpPr>
        <p:spPr>
          <a:xfrm>
            <a:off x="4826030" y="2186701"/>
            <a:ext cx="624840" cy="220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2715" indent="-120015" algn="l" rtl="0" eaLnBrk="0">
              <a:lnSpc>
                <a:spcPct val="135000"/>
              </a:lnSpc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份颠、利润与话语权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逐步被替代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280" name="textbox 1280"/>
          <p:cNvSpPr/>
          <p:nvPr/>
        </p:nvSpPr>
        <p:spPr>
          <a:xfrm>
            <a:off x="5797580" y="4238994"/>
            <a:ext cx="103949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-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库存与现金周转透明化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282" name="picture 128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772400" y="1181102"/>
            <a:ext cx="317479" cy="349243"/>
          </a:xfrm>
          <a:prstGeom prst="rect">
            <a:avLst/>
          </a:prstGeom>
        </p:spPr>
      </p:pic>
      <p:pic>
        <p:nvPicPr>
          <p:cNvPr id="1284" name="picture 128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781330" y="1428761"/>
            <a:ext cx="349209" cy="317508"/>
          </a:xfrm>
          <a:prstGeom prst="rect">
            <a:avLst/>
          </a:prstGeom>
        </p:spPr>
      </p:pic>
      <p:pic>
        <p:nvPicPr>
          <p:cNvPr id="1286" name="picture 128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4972050" y="1422383"/>
            <a:ext cx="330189" cy="323886"/>
          </a:xfrm>
          <a:prstGeom prst="rect">
            <a:avLst/>
          </a:prstGeom>
        </p:spPr>
      </p:pic>
      <p:sp>
        <p:nvSpPr>
          <p:cNvPr id="1288" name="textbox 1288"/>
          <p:cNvSpPr/>
          <p:nvPr/>
        </p:nvSpPr>
        <p:spPr>
          <a:xfrm>
            <a:off x="4895890" y="1845423"/>
            <a:ext cx="480060" cy="270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95" rIns="0" bIns="0"/>
          <a:lstStyle/>
          <a:p>
            <a:pPr marL="94615" indent="-81915" algn="l" rtl="0" eaLnBrk="0">
              <a:lnSpc>
                <a:spcPct val="130000"/>
              </a:lnSpc>
              <a:spcBef>
                <a:spcPts val="0"/>
              </a:spcBef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被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体系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边缘化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290" name="textbox 1290"/>
          <p:cNvSpPr/>
          <p:nvPr/>
        </p:nvSpPr>
        <p:spPr>
          <a:xfrm>
            <a:off x="939830" y="3463908"/>
            <a:ext cx="112585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洞察：利润池与用户数据向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292" name="textbox 1292"/>
          <p:cNvSpPr/>
          <p:nvPr/>
        </p:nvSpPr>
        <p:spPr>
          <a:xfrm>
            <a:off x="6946889" y="2031295"/>
            <a:ext cx="651510" cy="201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39" rIns="0" bIns="0"/>
          <a:lstStyle/>
          <a:p>
            <a:pPr marL="12700" algn="l" rtl="0" eaLnBrk="0">
              <a:lnSpc>
                <a:spcPct val="124000"/>
              </a:lnSpc>
              <a:spcBef>
                <a:spcPts val="0"/>
              </a:spcBef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职责集中，提升决策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效率与执行穿透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294" name="textbox 1294"/>
          <p:cNvSpPr/>
          <p:nvPr/>
        </p:nvSpPr>
        <p:spPr>
          <a:xfrm>
            <a:off x="2432040" y="4245372"/>
            <a:ext cx="9626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经销商零售能力训练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296" name="picture 129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6527809" y="1797036"/>
            <a:ext cx="323880" cy="311181"/>
          </a:xfrm>
          <a:prstGeom prst="rect">
            <a:avLst/>
          </a:prstGeom>
        </p:spPr>
      </p:pic>
      <p:sp>
        <p:nvSpPr>
          <p:cNvPr id="1298" name="textbox 1298"/>
          <p:cNvSpPr/>
          <p:nvPr/>
        </p:nvSpPr>
        <p:spPr>
          <a:xfrm>
            <a:off x="941374" y="3298869"/>
            <a:ext cx="92900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b="1" kern="0" spc="8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核心网点直营趋势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00" name="textbox 1300"/>
          <p:cNvSpPr/>
          <p:nvPr/>
        </p:nvSpPr>
        <p:spPr>
          <a:xfrm>
            <a:off x="5416550" y="3051626"/>
            <a:ext cx="465455" cy="258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93" rIns="0" bIns="0"/>
          <a:lstStyle/>
          <a:p>
            <a:pPr marL="12700" algn="l" rtl="0" eaLnBrk="0">
              <a:lnSpc>
                <a:spcPct val="134000"/>
              </a:lnSpc>
              <a:spcBef>
                <a:spcPts val="0"/>
              </a:spcBef>
            </a:pPr>
            <a:r>
              <a:rPr sz="600" kern="0" spc="90" dirty="0">
                <a:solidFill>
                  <a:srgbClr val="2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快速响应与</a:t>
            </a:r>
            <a:r>
              <a:rPr sz="600" kern="0" spc="9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售后服务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02" name="textbox 1302"/>
          <p:cNvSpPr/>
          <p:nvPr/>
        </p:nvSpPr>
        <p:spPr>
          <a:xfrm>
            <a:off x="4102100" y="2183697"/>
            <a:ext cx="530225" cy="222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7000"/>
              </a:lnSpc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库存占用增加，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周转与动销变慢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pic>
        <p:nvPicPr>
          <p:cNvPr id="1304" name="picture 130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2139970" y="3397230"/>
            <a:ext cx="304769" cy="311181"/>
          </a:xfrm>
          <a:prstGeom prst="rect">
            <a:avLst/>
          </a:prstGeom>
        </p:spPr>
      </p:pic>
      <p:sp>
        <p:nvSpPr>
          <p:cNvPr id="1306" name="textbox 1306"/>
          <p:cNvSpPr/>
          <p:nvPr/>
        </p:nvSpPr>
        <p:spPr>
          <a:xfrm>
            <a:off x="4210090" y="4245372"/>
            <a:ext cx="8858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核心网点分层管理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08" name="textbox 1308"/>
          <p:cNvSpPr/>
          <p:nvPr/>
        </p:nvSpPr>
        <p:spPr>
          <a:xfrm>
            <a:off x="7651709" y="4246127"/>
            <a:ext cx="8858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4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组织融合节奏控制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10" name="textbox 1310"/>
          <p:cNvSpPr/>
          <p:nvPr/>
        </p:nvSpPr>
        <p:spPr>
          <a:xfrm>
            <a:off x="4167284" y="4015924"/>
            <a:ext cx="78422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b="1" kern="0" spc="8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转型管理重点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12" name="textbox 1312"/>
          <p:cNvSpPr/>
          <p:nvPr/>
        </p:nvSpPr>
        <p:spPr>
          <a:xfrm>
            <a:off x="3390879" y="2183697"/>
            <a:ext cx="503555" cy="2222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415" rIns="0" bIns="0"/>
          <a:lstStyle/>
          <a:p>
            <a:pPr marL="12700" indent="6350" algn="l" rtl="0" eaLnBrk="0">
              <a:lnSpc>
                <a:spcPct val="137000"/>
              </a:lnSpc>
              <a:spcBef>
                <a:spcPts val="5"/>
              </a:spcBef>
            </a:pP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对用户触点弱，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缺乏服务能力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314" name="textbox 1314"/>
          <p:cNvSpPr/>
          <p:nvPr/>
        </p:nvSpPr>
        <p:spPr>
          <a:xfrm>
            <a:off x="7042170" y="2485880"/>
            <a:ext cx="10636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专业度与协同性的再平衡。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16" name="textbox 1316"/>
          <p:cNvSpPr/>
          <p:nvPr/>
        </p:nvSpPr>
        <p:spPr>
          <a:xfrm>
            <a:off x="2755920" y="1850585"/>
            <a:ext cx="392430" cy="265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13" rIns="0" bIns="0"/>
          <a:lstStyle/>
          <a:p>
            <a:pPr marL="50165" indent="-37465" algn="l" rtl="0" eaLnBrk="0">
              <a:lnSpc>
                <a:spcPct val="138000"/>
              </a:lnSpc>
              <a:spcBef>
                <a:spcPts val="0"/>
              </a:spcBef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倒买倒卖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赚差价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18" name="textbox 1318"/>
          <p:cNvSpPr/>
          <p:nvPr/>
        </p:nvSpPr>
        <p:spPr>
          <a:xfrm>
            <a:off x="2692369" y="2199211"/>
            <a:ext cx="511810" cy="207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19" rIns="0" bIns="0"/>
          <a:lstStyle/>
          <a:p>
            <a:pPr marL="113665" indent="-100965" algn="l" rtl="0" eaLnBrk="0">
              <a:lnSpc>
                <a:spcPct val="141000"/>
              </a:lnSpc>
              <a:spcBef>
                <a:spcPts val="5"/>
              </a:spcBef>
            </a:pP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依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棘</a:t>
            </a:r>
            <a:r>
              <a:rPr sz="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</a:t>
            </a:r>
            <a:r>
              <a:rPr sz="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差</a:t>
            </a:r>
            <a:r>
              <a:rPr sz="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批</a:t>
            </a:r>
            <a:r>
              <a:rPr sz="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</a:t>
            </a: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分销获利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320" name="textbox 1320"/>
          <p:cNvSpPr/>
          <p:nvPr/>
        </p:nvSpPr>
        <p:spPr>
          <a:xfrm>
            <a:off x="939830" y="1434234"/>
            <a:ext cx="927100" cy="117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洞察：平台化运营后，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322" name="textbox 1322"/>
          <p:cNvSpPr/>
          <p:nvPr/>
        </p:nvSpPr>
        <p:spPr>
          <a:xfrm>
            <a:off x="660389" y="4245372"/>
            <a:ext cx="76073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差异化流量扶持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24" name="textbox 1324"/>
          <p:cNvSpPr/>
          <p:nvPr/>
        </p:nvSpPr>
        <p:spPr>
          <a:xfrm>
            <a:off x="2724190" y="2740435"/>
            <a:ext cx="7207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1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能力升级方向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26" name="textbox 1326"/>
          <p:cNvSpPr/>
          <p:nvPr/>
        </p:nvSpPr>
        <p:spPr>
          <a:xfrm>
            <a:off x="939830" y="3615886"/>
            <a:ext cx="9245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总部和核心终端集中。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28" name="textbox 1328"/>
          <p:cNvSpPr/>
          <p:nvPr/>
        </p:nvSpPr>
        <p:spPr>
          <a:xfrm>
            <a:off x="939830" y="1953772"/>
            <a:ext cx="6959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7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经营成本攀升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30" name="textbox 1330"/>
          <p:cNvSpPr/>
          <p:nvPr/>
        </p:nvSpPr>
        <p:spPr>
          <a:xfrm>
            <a:off x="8159749" y="1180873"/>
            <a:ext cx="506730" cy="167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kern="0" spc="-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约900人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1332" name="picture 133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6457950" y="2349499"/>
            <a:ext cx="254020" cy="241281"/>
          </a:xfrm>
          <a:prstGeom prst="rect">
            <a:avLst/>
          </a:prstGeom>
        </p:spPr>
      </p:pic>
      <p:sp>
        <p:nvSpPr>
          <p:cNvPr id="1334" name="textbox 1334"/>
          <p:cNvSpPr/>
          <p:nvPr/>
        </p:nvSpPr>
        <p:spPr>
          <a:xfrm>
            <a:off x="7315209" y="906502"/>
            <a:ext cx="50419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组织阵痛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1336" name="picture 133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7372350" y="3257533"/>
            <a:ext cx="228600" cy="241332"/>
          </a:xfrm>
          <a:prstGeom prst="rect">
            <a:avLst/>
          </a:prstGeom>
        </p:spPr>
      </p:pic>
      <p:pic>
        <p:nvPicPr>
          <p:cNvPr id="1338" name="picture 133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6407109" y="3270237"/>
            <a:ext cx="235000" cy="228628"/>
          </a:xfrm>
          <a:prstGeom prst="rect">
            <a:avLst/>
          </a:prstGeom>
        </p:spPr>
      </p:pic>
      <p:pic>
        <p:nvPicPr>
          <p:cNvPr id="1340" name="picture 134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6407109" y="3613154"/>
            <a:ext cx="228600" cy="215872"/>
          </a:xfrm>
          <a:prstGeom prst="rect">
            <a:avLst/>
          </a:prstGeom>
        </p:spPr>
      </p:pic>
      <p:sp>
        <p:nvSpPr>
          <p:cNvPr id="1342" name="textbox 1342"/>
          <p:cNvSpPr/>
          <p:nvPr/>
        </p:nvSpPr>
        <p:spPr>
          <a:xfrm>
            <a:off x="3149569" y="3229107"/>
            <a:ext cx="6007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提升门店形象与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44" name="textbox 1344"/>
          <p:cNvSpPr/>
          <p:nvPr/>
        </p:nvSpPr>
        <p:spPr>
          <a:xfrm>
            <a:off x="8159750" y="1500918"/>
            <a:ext cx="67627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组织瘦身与成本优化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346" name="textbox 1346"/>
          <p:cNvSpPr/>
          <p:nvPr/>
        </p:nvSpPr>
        <p:spPr>
          <a:xfrm>
            <a:off x="3149569" y="3082453"/>
            <a:ext cx="5689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终端陈列升级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348" name="picture 134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260329" y="4190975"/>
            <a:ext cx="222290" cy="203219"/>
          </a:xfrm>
          <a:prstGeom prst="rect">
            <a:avLst/>
          </a:prstGeom>
        </p:spPr>
      </p:pic>
      <p:sp>
        <p:nvSpPr>
          <p:cNvPr id="1350" name="textbox 1350"/>
          <p:cNvSpPr/>
          <p:nvPr/>
        </p:nvSpPr>
        <p:spPr>
          <a:xfrm>
            <a:off x="5797580" y="4701730"/>
            <a:ext cx="5556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现金流压力。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352" name="picture 1352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467380" y="4203680"/>
            <a:ext cx="203179" cy="196893"/>
          </a:xfrm>
          <a:prstGeom prst="rect">
            <a:avLst/>
          </a:prstGeom>
        </p:spPr>
      </p:pic>
      <p:pic>
        <p:nvPicPr>
          <p:cNvPr id="1354" name="picture 135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6426220" y="2959107"/>
            <a:ext cx="190469" cy="209546"/>
          </a:xfrm>
          <a:prstGeom prst="rect">
            <a:avLst/>
          </a:prstGeom>
        </p:spPr>
      </p:pic>
      <p:sp>
        <p:nvSpPr>
          <p:cNvPr id="1356" name="textbox 1356"/>
          <p:cNvSpPr/>
          <p:nvPr/>
        </p:nvSpPr>
        <p:spPr>
          <a:xfrm>
            <a:off x="3429009" y="1838304"/>
            <a:ext cx="40513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缺少终端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358" name="textbox 1358"/>
          <p:cNvSpPr/>
          <p:nvPr/>
        </p:nvSpPr>
        <p:spPr>
          <a:xfrm>
            <a:off x="6946890" y="1895025"/>
            <a:ext cx="4610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品类总经理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60" name="textbox 1360"/>
          <p:cNvSpPr/>
          <p:nvPr/>
        </p:nvSpPr>
        <p:spPr>
          <a:xfrm>
            <a:off x="2793959" y="3300163"/>
            <a:ext cx="30416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960"/>
              </a:lnSpc>
            </a:pPr>
            <a:r>
              <a:rPr sz="1400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nnn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2" name="textbox 1362"/>
          <p:cNvSpPr/>
          <p:nvPr/>
        </p:nvSpPr>
        <p:spPr>
          <a:xfrm>
            <a:off x="298470" y="4381805"/>
            <a:ext cx="222250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888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64" name="textbox 1364"/>
          <p:cNvSpPr/>
          <p:nvPr/>
        </p:nvSpPr>
        <p:spPr>
          <a:xfrm>
            <a:off x="3429010" y="1996609"/>
            <a:ext cx="39497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服务能力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66" name="textbox 1366"/>
          <p:cNvSpPr/>
          <p:nvPr/>
        </p:nvSpPr>
        <p:spPr>
          <a:xfrm>
            <a:off x="6946889" y="1781645"/>
            <a:ext cx="38608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运总兼任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68" name="textbox 1368"/>
          <p:cNvSpPr/>
          <p:nvPr/>
        </p:nvSpPr>
        <p:spPr>
          <a:xfrm>
            <a:off x="8159750" y="1342562"/>
            <a:ext cx="2889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被裁减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70" name="textbox 1370"/>
          <p:cNvSpPr/>
          <p:nvPr/>
        </p:nvSpPr>
        <p:spPr>
          <a:xfrm>
            <a:off x="8801110" y="4902413"/>
            <a:ext cx="146685" cy="189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95"/>
              </a:lnSpc>
            </a:pPr>
            <a:r>
              <a:rPr sz="900" kern="0" spc="-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picture 137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10" y="762009"/>
            <a:ext cx="8883669" cy="4210057"/>
          </a:xfrm>
          <a:prstGeom prst="rect">
            <a:avLst/>
          </a:prstGeom>
        </p:spPr>
      </p:pic>
      <p:sp>
        <p:nvSpPr>
          <p:cNvPr id="1374" name="textbox 1374"/>
          <p:cNvSpPr/>
          <p:nvPr/>
        </p:nvSpPr>
        <p:spPr>
          <a:xfrm>
            <a:off x="196880" y="208803"/>
            <a:ext cx="407670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kern="0" spc="4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 </a:t>
            </a:r>
            <a:r>
              <a:rPr sz="19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痛点二：价格</a:t>
            </a:r>
            <a:r>
              <a:rPr sz="19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战下的毛利率承压。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376" name="textbox 1376"/>
          <p:cNvSpPr/>
          <p:nvPr/>
        </p:nvSpPr>
        <p:spPr>
          <a:xfrm>
            <a:off x="704829" y="4729548"/>
            <a:ext cx="5414010" cy="167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15"/>
              </a:lnSpc>
            </a:pPr>
            <a:r>
              <a:rPr sz="1400" kern="0" spc="50" baseline="-300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经营含义</a:t>
            </a:r>
            <a:r>
              <a:rPr sz="900" kern="0" spc="5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短期靠降本与渠道效率托底，中长期仍取决于高端化与技术壁垒能否形成可持续溢价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78" name="textbox 1378"/>
          <p:cNvSpPr/>
          <p:nvPr/>
        </p:nvSpPr>
        <p:spPr>
          <a:xfrm>
            <a:off x="196880" y="564053"/>
            <a:ext cx="570547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价格战并未只影响终端售价，它同时改变产品结构、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渠道行为与成本传导节奏，最终压缩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业务盈利弹性。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380" name="textbox 1380"/>
          <p:cNvSpPr/>
          <p:nvPr/>
        </p:nvSpPr>
        <p:spPr>
          <a:xfrm>
            <a:off x="3346440" y="1508473"/>
            <a:ext cx="717550" cy="744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55" rIns="0" bIns="0"/>
          <a:lstStyle/>
          <a:p>
            <a:pPr marL="12700" algn="l" rtl="0" eaLnBrk="0">
              <a:lnSpc>
                <a:spcPct val="137000"/>
              </a:lnSpc>
              <a:spcBef>
                <a:spcPts val="0"/>
              </a:spcBef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毛利率连续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下行，说明渠道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效率提升尚未完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全抵消价格带下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移与成本压力。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382" name="textbox 1382"/>
          <p:cNvSpPr/>
          <p:nvPr/>
        </p:nvSpPr>
        <p:spPr>
          <a:xfrm>
            <a:off x="7766009" y="1317153"/>
            <a:ext cx="937260" cy="401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3500" indent="-38100" algn="l" rtl="0" eaLnBrk="0">
              <a:lnSpc>
                <a:spcPct val="124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铜、铝等核心原材料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价格回升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价格传导存在滞后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84" name="textbox 1384"/>
          <p:cNvSpPr/>
          <p:nvPr/>
        </p:nvSpPr>
        <p:spPr>
          <a:xfrm>
            <a:off x="4718040" y="1266387"/>
            <a:ext cx="898525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小米等新势力凭借手机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+loT</a:t>
            </a:r>
            <a:r>
              <a:rPr sz="7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生态和高性价比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策略入局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86" name="textbox 1386"/>
          <p:cNvSpPr/>
          <p:nvPr/>
        </p:nvSpPr>
        <p:spPr>
          <a:xfrm>
            <a:off x="1612920" y="3253091"/>
            <a:ext cx="1202690" cy="26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8450" algn="l" rtl="0" eaLnBrk="0">
              <a:lnSpc>
                <a:spcPct val="96000"/>
              </a:lnSpc>
            </a:pP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技术频先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专利布局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效率提升</a:t>
            </a:r>
            <a:endParaRPr sz="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400"/>
              </a:lnSpc>
            </a:pPr>
            <a:r>
              <a:rPr sz="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洞察：用技术差异化争取溢价。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388" name="textbox 1388"/>
          <p:cNvSpPr/>
          <p:nvPr/>
        </p:nvSpPr>
        <p:spPr>
          <a:xfrm>
            <a:off x="6769129" y="4090298"/>
            <a:ext cx="681355" cy="426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0000"/>
              </a:lnSpc>
            </a:pPr>
            <a:r>
              <a:rPr sz="600" kern="0" spc="8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6.</a:t>
            </a:r>
            <a:r>
              <a:rPr sz="6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kern="0" spc="8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成本传导滞后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售价下行快，成本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传导存在滞后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90" name="textbox 1390"/>
          <p:cNvSpPr/>
          <p:nvPr/>
        </p:nvSpPr>
        <p:spPr>
          <a:xfrm>
            <a:off x="1155720" y="842187"/>
            <a:ext cx="199771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业务毛利率变化(2023-2025)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392" name="textbox 1392"/>
          <p:cNvSpPr/>
          <p:nvPr/>
        </p:nvSpPr>
        <p:spPr>
          <a:xfrm>
            <a:off x="7816850" y="3279719"/>
            <a:ext cx="911860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1000"/>
              </a:lnSpc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精益降本与效率提升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对冲成本上行压力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394" name="textbox 1394"/>
          <p:cNvSpPr/>
          <p:nvPr/>
        </p:nvSpPr>
        <p:spPr>
          <a:xfrm>
            <a:off x="565109" y="4098449"/>
            <a:ext cx="647065" cy="400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05" rIns="0" bIns="0"/>
          <a:lstStyle/>
          <a:p>
            <a:pPr marL="12700" algn="l" rtl="0" eaLnBrk="0">
              <a:lnSpc>
                <a:spcPct val="141000"/>
              </a:lnSpc>
              <a:spcBef>
                <a:spcPts val="0"/>
              </a:spcBef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跨界玩家入局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生态型玩家扩大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用户覆盖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396" name="textbox 1396"/>
          <p:cNvSpPr/>
          <p:nvPr/>
        </p:nvSpPr>
        <p:spPr>
          <a:xfrm>
            <a:off x="7816849" y="2118080"/>
            <a:ext cx="93091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1" rIns="0" bIns="0"/>
          <a:lstStyle/>
          <a:p>
            <a:pPr marL="12700" algn="l" rtl="0" eaLnBrk="0">
              <a:lnSpc>
                <a:spcPct val="122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成本上行与售价下行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形成剪刀差。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398" name="textbox 1398"/>
          <p:cNvSpPr/>
          <p:nvPr/>
        </p:nvSpPr>
        <p:spPr>
          <a:xfrm>
            <a:off x="6248379" y="2118080"/>
            <a:ext cx="91821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31" rIns="0" bIns="0"/>
          <a:lstStyle/>
          <a:p>
            <a:pPr marL="12700" algn="l" rtl="0" eaLnBrk="0">
              <a:lnSpc>
                <a:spcPct val="122000"/>
              </a:lnSpc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结构下沉比单品降价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更持久地侵蚀利润。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00" name="textbox 1400"/>
          <p:cNvSpPr/>
          <p:nvPr/>
        </p:nvSpPr>
        <p:spPr>
          <a:xfrm>
            <a:off x="3009941" y="4187958"/>
            <a:ext cx="682625" cy="353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58115" algn="l" rtl="0" eaLnBrk="0">
              <a:lnSpc>
                <a:spcPct val="131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占比提升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5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产品结构向低价段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加速倾斜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02" name="textbox 1402"/>
          <p:cNvSpPr/>
          <p:nvPr/>
        </p:nvSpPr>
        <p:spPr>
          <a:xfrm>
            <a:off x="6178519" y="1571520"/>
            <a:ext cx="1000760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2550" indent="-69850" algn="l" rtl="0" eaLnBrk="0">
              <a:lnSpc>
                <a:spcPct val="127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低价产品占比提升拉低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综合毛利率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04" name="textbox 1404"/>
          <p:cNvSpPr/>
          <p:nvPr/>
        </p:nvSpPr>
        <p:spPr>
          <a:xfrm>
            <a:off x="6680160" y="3280099"/>
            <a:ext cx="828039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41" rIns="0" bIns="0"/>
          <a:lstStyle/>
          <a:p>
            <a:pPr marL="12700" indent="6350" algn="l" rtl="0" eaLnBrk="0">
              <a:lnSpc>
                <a:spcPct val="131000"/>
              </a:lnSpc>
              <a:spcBef>
                <a:spcPts val="5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国内产品组合改善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部分抵消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压力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06" name="textbox 1406"/>
          <p:cNvSpPr/>
          <p:nvPr/>
        </p:nvSpPr>
        <p:spPr>
          <a:xfrm>
            <a:off x="3346440" y="2386001"/>
            <a:ext cx="691515" cy="347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39" rIns="0" bIns="0"/>
          <a:lstStyle/>
          <a:p>
            <a:pPr marL="12700" indent="38100" algn="l" rtl="0" eaLnBrk="0">
              <a:lnSpc>
                <a:spcPct val="129000"/>
              </a:lnSpc>
              <a:spcBef>
                <a:spcPts val="5"/>
              </a:spcBef>
            </a:pPr>
            <a:r>
              <a:rPr sz="800" kern="0" spc="1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较2023下滑</a:t>
            </a:r>
            <a:r>
              <a:rPr sz="900" kern="0" spc="-40" dirty="0">
                <a:solidFill>
                  <a:srgbClr val="105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1.9</a:t>
            </a:r>
            <a:r>
              <a:rPr sz="900" kern="0" spc="70" dirty="0">
                <a:solidFill>
                  <a:srgbClr val="1050D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900" kern="0" spc="-4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个百分点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08" name="textbox 1408"/>
          <p:cNvSpPr/>
          <p:nvPr/>
        </p:nvSpPr>
        <p:spPr>
          <a:xfrm>
            <a:off x="1816100" y="4092927"/>
            <a:ext cx="575945" cy="405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5000"/>
              </a:lnSpc>
            </a:pPr>
            <a:r>
              <a:rPr sz="700" kern="0" spc="1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700" kern="0" spc="-5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1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价格带下移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市场价格中枢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持续下移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10" name="textbox 1410"/>
          <p:cNvSpPr/>
          <p:nvPr/>
        </p:nvSpPr>
        <p:spPr>
          <a:xfrm>
            <a:off x="4298970" y="4187380"/>
            <a:ext cx="599440" cy="3670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60" rIns="0" bIns="0"/>
          <a:lstStyle/>
          <a:p>
            <a:pPr marL="12700" indent="127000" algn="l" rtl="0" eaLnBrk="0">
              <a:lnSpc>
                <a:spcPct val="129000"/>
              </a:lnSpc>
              <a:spcBef>
                <a:spcPts val="0"/>
              </a:spcBef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被压缩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渠道让利加大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利润空间受挤压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12" name="textbox 1412"/>
          <p:cNvSpPr/>
          <p:nvPr/>
        </p:nvSpPr>
        <p:spPr>
          <a:xfrm>
            <a:off x="4718040" y="2118080"/>
            <a:ext cx="816610" cy="274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59" rIns="0" bIns="0"/>
          <a:lstStyle/>
          <a:p>
            <a:pPr marL="12700" algn="l" rtl="0" eaLnBrk="0">
              <a:lnSpc>
                <a:spcPct val="122000"/>
              </a:lnSpc>
              <a:spcBef>
                <a:spcPts val="5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生态型竞争者拉低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用户价格锚点。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14" name="textbox 1414"/>
          <p:cNvSpPr/>
          <p:nvPr/>
        </p:nvSpPr>
        <p:spPr>
          <a:xfrm>
            <a:off x="6248379" y="1266964"/>
            <a:ext cx="906780" cy="246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25Q2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空调内销阶段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价格竞争激烈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16" name="textbox 1416"/>
          <p:cNvSpPr/>
          <p:nvPr/>
        </p:nvSpPr>
        <p:spPr>
          <a:xfrm>
            <a:off x="4718040" y="1641039"/>
            <a:ext cx="898525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42" rIns="0" bIns="0"/>
          <a:lstStyle/>
          <a:p>
            <a:pPr marL="12700" algn="l" rtl="0" eaLnBrk="0">
              <a:lnSpc>
                <a:spcPct val="128000"/>
              </a:lnSpc>
              <a:spcBef>
                <a:spcPts val="5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空调等核心品类价格战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白热化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18" name="textbox 1418"/>
          <p:cNvSpPr/>
          <p:nvPr/>
        </p:nvSpPr>
        <p:spPr>
          <a:xfrm>
            <a:off x="241320" y="3543548"/>
            <a:ext cx="1218565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进度：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70%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0" name="textbox 1420"/>
          <p:cNvSpPr/>
          <p:nvPr/>
        </p:nvSpPr>
        <p:spPr>
          <a:xfrm>
            <a:off x="5886460" y="766805"/>
            <a:ext cx="114744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根因分析：三重挤压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22" name="textbox 1422"/>
          <p:cNvSpPr/>
          <p:nvPr/>
        </p:nvSpPr>
        <p:spPr>
          <a:xfrm>
            <a:off x="6978620" y="2977133"/>
            <a:ext cx="62357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5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+0.10pct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4" name="textbox 1424"/>
          <p:cNvSpPr/>
          <p:nvPr/>
        </p:nvSpPr>
        <p:spPr>
          <a:xfrm>
            <a:off x="5829310" y="2989837"/>
            <a:ext cx="59182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4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-0.03pct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6" name="textbox 1426"/>
          <p:cNvSpPr/>
          <p:nvPr/>
        </p:nvSpPr>
        <p:spPr>
          <a:xfrm>
            <a:off x="4756170" y="2999317"/>
            <a:ext cx="58039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770"/>
              </a:lnSpc>
            </a:pPr>
            <a:r>
              <a:rPr sz="1300" kern="0" spc="-1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26.39%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28" name="textbox 1428"/>
          <p:cNvSpPr/>
          <p:nvPr/>
        </p:nvSpPr>
        <p:spPr>
          <a:xfrm>
            <a:off x="1612920" y="3557061"/>
            <a:ext cx="1108075" cy="13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5"/>
              </a:lnSpc>
            </a:pP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进度：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80%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0" name="textbox 1430"/>
          <p:cNvSpPr/>
          <p:nvPr/>
        </p:nvSpPr>
        <p:spPr>
          <a:xfrm>
            <a:off x="6153190" y="1039037"/>
            <a:ext cx="112014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8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性价比空调占比提升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32" name="textbox 1432"/>
          <p:cNvSpPr/>
          <p:nvPr/>
        </p:nvSpPr>
        <p:spPr>
          <a:xfrm>
            <a:off x="8147039" y="4289295"/>
            <a:ext cx="629920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6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毛利率持续承压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盈利弹性收窄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34" name="textbox 1434"/>
          <p:cNvSpPr/>
          <p:nvPr/>
        </p:nvSpPr>
        <p:spPr>
          <a:xfrm>
            <a:off x="2965409" y="3557061"/>
            <a:ext cx="1045210" cy="13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5"/>
              </a:lnSpc>
            </a:pP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进度：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65%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36" name="textbox 1436"/>
          <p:cNvSpPr/>
          <p:nvPr/>
        </p:nvSpPr>
        <p:spPr>
          <a:xfrm>
            <a:off x="5962629" y="2544448"/>
            <a:ext cx="95313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毛利率维稳成果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438" name="textbox 1438"/>
          <p:cNvSpPr/>
          <p:nvPr/>
        </p:nvSpPr>
        <p:spPr>
          <a:xfrm>
            <a:off x="5460990" y="4295342"/>
            <a:ext cx="607695" cy="2216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0" algn="l" rtl="0" eaLnBrk="0">
              <a:lnSpc>
                <a:spcPct val="109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铜、铝等原材料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价格回升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40" name="textbox 1440"/>
          <p:cNvSpPr/>
          <p:nvPr/>
        </p:nvSpPr>
        <p:spPr>
          <a:xfrm>
            <a:off x="7816849" y="1019930"/>
            <a:ext cx="687705" cy="1727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60"/>
              </a:lnSpc>
            </a:pP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8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原材料反弹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42" name="textbox 1442"/>
          <p:cNvSpPr/>
          <p:nvPr/>
        </p:nvSpPr>
        <p:spPr>
          <a:xfrm>
            <a:off x="3187699" y="3101244"/>
            <a:ext cx="969645" cy="120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50"/>
              </a:lnSpc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COLMO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  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东芝提升高端占比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444" name="textbox 1444"/>
          <p:cNvSpPr/>
          <p:nvPr/>
        </p:nvSpPr>
        <p:spPr>
          <a:xfrm>
            <a:off x="241320" y="3418900"/>
            <a:ext cx="121666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洞察：避免品牌价格锚点维续</a:t>
            </a:r>
            <a:r>
              <a:rPr sz="5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下沉。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446" name="textbox 1446"/>
          <p:cNvSpPr/>
          <p:nvPr/>
        </p:nvSpPr>
        <p:spPr>
          <a:xfrm>
            <a:off x="4400560" y="3311887"/>
            <a:ext cx="8782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集团口径仍保持韧性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48" name="textbox 1448"/>
          <p:cNvSpPr/>
          <p:nvPr/>
        </p:nvSpPr>
        <p:spPr>
          <a:xfrm>
            <a:off x="5499120" y="3311887"/>
            <a:ext cx="8782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毛利率同比基本持平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50" name="textbox 1450"/>
          <p:cNvSpPr/>
          <p:nvPr/>
        </p:nvSpPr>
        <p:spPr>
          <a:xfrm>
            <a:off x="4076679" y="3833037"/>
            <a:ext cx="74041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应对传导链路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52" name="textbox 1452"/>
          <p:cNvSpPr/>
          <p:nvPr/>
        </p:nvSpPr>
        <p:spPr>
          <a:xfrm>
            <a:off x="2965409" y="3418620"/>
            <a:ext cx="1083310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洞察：用高端结构对冲中低端竞争。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454" name="textbox 1454"/>
          <p:cNvSpPr/>
          <p:nvPr/>
        </p:nvSpPr>
        <p:spPr>
          <a:xfrm>
            <a:off x="520669" y="3101866"/>
            <a:ext cx="90614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600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不跟随小米低价策略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56" name="textbox 1456"/>
          <p:cNvSpPr/>
          <p:nvPr/>
        </p:nvSpPr>
        <p:spPr>
          <a:xfrm>
            <a:off x="1860539" y="3102113"/>
            <a:ext cx="90487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 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提高制造与技术壁垒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58" name="textbox 1458"/>
          <p:cNvSpPr/>
          <p:nvPr/>
        </p:nvSpPr>
        <p:spPr>
          <a:xfrm>
            <a:off x="3041670" y="4037669"/>
            <a:ext cx="592455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性价比产品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60" name="textbox 1460"/>
          <p:cNvSpPr/>
          <p:nvPr/>
        </p:nvSpPr>
        <p:spPr>
          <a:xfrm>
            <a:off x="8197879" y="3027189"/>
            <a:ext cx="538480" cy="1701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6000"/>
              </a:lnSpc>
            </a:pPr>
            <a:r>
              <a:rPr sz="1100" kern="0" spc="-8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有效对冲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462" name="textbox 1462"/>
          <p:cNvSpPr/>
          <p:nvPr/>
        </p:nvSpPr>
        <p:spPr>
          <a:xfrm>
            <a:off x="4718040" y="1050886"/>
            <a:ext cx="7721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跨界玩家冲击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64" name="textbox 1464"/>
          <p:cNvSpPr/>
          <p:nvPr/>
        </p:nvSpPr>
        <p:spPr>
          <a:xfrm>
            <a:off x="8121620" y="4105632"/>
            <a:ext cx="68770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4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7.</a:t>
            </a:r>
            <a:r>
              <a:rPr sz="700" kern="0" spc="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700" kern="0" spc="4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4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毛利承压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66" name="textbox 1466"/>
          <p:cNvSpPr/>
          <p:nvPr/>
        </p:nvSpPr>
        <p:spPr>
          <a:xfrm>
            <a:off x="5486410" y="4084168"/>
            <a:ext cx="575945" cy="138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85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5.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原材料反弹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68" name="textbox 1468"/>
          <p:cNvSpPr/>
          <p:nvPr/>
        </p:nvSpPr>
        <p:spPr>
          <a:xfrm>
            <a:off x="6985020" y="2841976"/>
            <a:ext cx="62103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国内毛利率同比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70" name="textbox 1470"/>
          <p:cNvSpPr/>
          <p:nvPr/>
        </p:nvSpPr>
        <p:spPr>
          <a:xfrm>
            <a:off x="1612920" y="2893592"/>
            <a:ext cx="51943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应对措施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72" name="textbox 1472"/>
          <p:cNvSpPr/>
          <p:nvPr/>
        </p:nvSpPr>
        <p:spPr>
          <a:xfrm>
            <a:off x="546089" y="3253091"/>
            <a:ext cx="944245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价格纪律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利润优先</a:t>
            </a:r>
            <a:r>
              <a:rPr sz="4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4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</a:t>
            </a:r>
            <a:r>
              <a:rPr sz="4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牌守护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1474" name="textbox 1474"/>
          <p:cNvSpPr/>
          <p:nvPr/>
        </p:nvSpPr>
        <p:spPr>
          <a:xfrm>
            <a:off x="3219429" y="3253091"/>
            <a:ext cx="880110" cy="83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高端品牌</a:t>
            </a:r>
            <a:r>
              <a:rPr sz="400" kern="0" spc="2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结构升级</a:t>
            </a:r>
            <a:r>
              <a:rPr sz="4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价值驱动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1476" name="textbox 1476"/>
          <p:cNvSpPr/>
          <p:nvPr/>
        </p:nvSpPr>
        <p:spPr>
          <a:xfrm>
            <a:off x="4298970" y="4073422"/>
            <a:ext cx="49720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</a:t>
            </a:r>
            <a:r>
              <a:rPr sz="6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渠道毛利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78" name="textbox 1478"/>
          <p:cNvSpPr/>
          <p:nvPr/>
        </p:nvSpPr>
        <p:spPr>
          <a:xfrm>
            <a:off x="4768880" y="2854206"/>
            <a:ext cx="474344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整体毛利率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80" name="textbox 1480"/>
          <p:cNvSpPr/>
          <p:nvPr/>
        </p:nvSpPr>
        <p:spPr>
          <a:xfrm>
            <a:off x="8197881" y="2854784"/>
            <a:ext cx="37909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降本措施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482" name="textbox 1482"/>
          <p:cNvSpPr/>
          <p:nvPr/>
        </p:nvSpPr>
        <p:spPr>
          <a:xfrm>
            <a:off x="7816849" y="1985184"/>
            <a:ext cx="25463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84" name="textbox 1484"/>
          <p:cNvSpPr/>
          <p:nvPr/>
        </p:nvSpPr>
        <p:spPr>
          <a:xfrm>
            <a:off x="4718040" y="1985184"/>
            <a:ext cx="25463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9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86" name="textbox 1486"/>
          <p:cNvSpPr/>
          <p:nvPr/>
        </p:nvSpPr>
        <p:spPr>
          <a:xfrm>
            <a:off x="5848330" y="2842643"/>
            <a:ext cx="28384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同比仅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488" name="textbox 1488"/>
          <p:cNvSpPr/>
          <p:nvPr/>
        </p:nvSpPr>
        <p:spPr>
          <a:xfrm>
            <a:off x="3575040" y="1299401"/>
            <a:ext cx="23685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2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90" name="textbox 1490"/>
          <p:cNvSpPr/>
          <p:nvPr/>
        </p:nvSpPr>
        <p:spPr>
          <a:xfrm>
            <a:off x="6248379" y="1985184"/>
            <a:ext cx="235584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20" dirty="0">
                <a:solidFill>
                  <a:srgbClr val="105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800" kern="0" spc="20" dirty="0">
                <a:solidFill>
                  <a:srgbClr val="2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92" name="textbox 1492"/>
          <p:cNvSpPr/>
          <p:nvPr/>
        </p:nvSpPr>
        <p:spPr>
          <a:xfrm>
            <a:off x="8775690" y="4953845"/>
            <a:ext cx="146685" cy="12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900" kern="0" spc="-20" dirty="0">
                <a:solidFill>
                  <a:srgbClr val="105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14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/>
          <p:nvPr/>
        </p:nvGrpSpPr>
        <p:grpSpPr>
          <a:xfrm rot="21600000">
            <a:off x="203179" y="3856898"/>
            <a:ext cx="8718531" cy="1089759"/>
            <a:chOff x="0" y="0"/>
            <a:chExt cx="8718531" cy="1089759"/>
          </a:xfrm>
        </p:grpSpPr>
        <p:pic>
          <p:nvPicPr>
            <p:cNvPr id="1494" name="picture 149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80090"/>
              <a:ext cx="8718531" cy="1009669"/>
            </a:xfrm>
            <a:prstGeom prst="rect">
              <a:avLst/>
            </a:prstGeom>
          </p:spPr>
        </p:pic>
        <p:sp>
          <p:nvSpPr>
            <p:cNvPr id="1496" name="textbox 1496"/>
            <p:cNvSpPr/>
            <p:nvPr/>
          </p:nvSpPr>
          <p:spPr>
            <a:xfrm>
              <a:off x="71414" y="-12700"/>
              <a:ext cx="8316594" cy="9607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0000"/>
                </a:lnSpc>
              </a:pPr>
              <a:r>
                <a:rPr sz="800" b="1" kern="0" spc="12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结构性挑战传导链路</a:t>
              </a:r>
              <a:endParaRPr sz="800" dirty="0">
                <a:latin typeface="SimHei"/>
                <a:ea typeface="SimHei"/>
                <a:cs typeface="SimHei"/>
              </a:endParaRPr>
            </a:p>
            <a:p>
              <a:pPr algn="r" rtl="0" eaLnBrk="0">
                <a:lnSpc>
                  <a:spcPct val="97000"/>
                </a:lnSpc>
                <a:spcBef>
                  <a:spcPts val="895"/>
                </a:spcBef>
              </a:pPr>
              <a:r>
                <a:rPr sz="700" kern="0" spc="6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关税与贸易政策</a:t>
              </a:r>
              <a:r>
                <a:rPr sz="700" kern="0" spc="6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产能外迁与本地化投入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海外运营复杂度上升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</a:t>
              </a:r>
              <a:r>
                <a:rPr sz="700" kern="0" spc="0" dirty="0">
                  <a:solidFill>
                    <a:srgbClr val="10409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ToB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项目交付与集成成本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毛利率短期承压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               </a:t>
              </a:r>
              <a:r>
                <a:rPr sz="700" kern="0" spc="5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高增长向高利润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marL="7713345" algn="l" rtl="0" eaLnBrk="0">
                <a:lnSpc>
                  <a:spcPct val="91000"/>
                </a:lnSpc>
                <a:spcBef>
                  <a:spcPts val="135"/>
                </a:spcBef>
              </a:pPr>
              <a:r>
                <a:rPr sz="700" kern="0" spc="80" dirty="0">
                  <a:solidFill>
                    <a:srgbClr val="104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转化待验证</a:t>
              </a:r>
              <a:endParaRPr sz="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6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14345" algn="l" rtl="0" eaLnBrk="0">
                <a:lnSpc>
                  <a:spcPct val="92000"/>
                </a:lnSpc>
                <a:spcBef>
                  <a:spcPts val="185"/>
                </a:spcBef>
              </a:pPr>
              <a:r>
                <a:rPr sz="600" kern="0" spc="-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洞察：多国运营带来合规、供应</a:t>
              </a:r>
              <a:r>
                <a:rPr sz="600" kern="0" spc="-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链，</a:t>
              </a:r>
              <a:endParaRPr sz="600" dirty="0">
                <a:latin typeface="SimHei"/>
                <a:ea typeface="SimHei"/>
                <a:cs typeface="SimHei"/>
              </a:endParaRPr>
            </a:p>
            <a:p>
              <a:pPr marL="3014345" algn="l" rtl="0" eaLnBrk="0">
                <a:lnSpc>
                  <a:spcPts val="1025"/>
                </a:lnSpc>
              </a:pPr>
              <a:r>
                <a:rPr sz="600" kern="0" spc="3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人力与文化管理复杂度提升</a:t>
              </a:r>
              <a:r>
                <a:rPr sz="600" kern="0" spc="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。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</p:grpSp>
      <p:graphicFrame>
        <p:nvGraphicFramePr>
          <p:cNvPr id="1498" name="table 1498"/>
          <p:cNvGraphicFramePr>
            <a:graphicFrameLocks noGrp="1"/>
          </p:cNvGraphicFramePr>
          <p:nvPr/>
        </p:nvGraphicFramePr>
        <p:xfrm>
          <a:off x="3127364" y="1063637"/>
          <a:ext cx="3016250" cy="1409700"/>
        </p:xfrm>
        <a:graphic>
          <a:graphicData uri="http://schemas.openxmlformats.org/drawingml/2006/table">
            <a:tbl>
              <a:tblPr/>
              <a:tblGrid>
                <a:gridCol w="317500"/>
                <a:gridCol w="460375"/>
                <a:gridCol w="1111250"/>
                <a:gridCol w="958850"/>
                <a:gridCol w="168275"/>
              </a:tblGrid>
              <a:tr h="2317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92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板块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99415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增速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271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毛利率变化/经营状态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25" algn="l" rtl="0" eaLnBrk="0">
                        <a:lnSpc>
                          <a:spcPct val="8500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机器人与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  <a:p>
                      <a:pPr marL="22225" algn="l" rtl="0" eaLnBrk="0">
                        <a:lnSpc>
                          <a:spcPct val="85000"/>
                        </a:lnSpc>
                        <a:spcBef>
                          <a:spcPts val="180"/>
                        </a:spcBef>
                      </a:pPr>
                      <a:r>
                        <a:rPr sz="7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自动化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+8.05%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8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205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-0.69pct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892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  <a:tabLst>
                          <a:tab pos="33972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楼宇科技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20608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+25.7%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85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规模效应初期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ts val="55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65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78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  <a:tabLst>
                          <a:tab pos="33972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工业技术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5250" algn="l" rtl="0" eaLnBrk="0">
                        <a:lnSpc>
                          <a:spcPct val="85000"/>
                        </a:lnSpc>
                        <a:spcBef>
                          <a:spcPts val="5"/>
                        </a:spcBef>
                      </a:pPr>
                      <a:r>
                        <a:rPr sz="700" kern="0" spc="-10" dirty="0">
                          <a:solidFill>
                            <a:srgbClr val="20509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+10.2%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9850" algn="l" rtl="0" eaLnBrk="0">
                        <a:lnSpc>
                          <a:spcPct val="86000"/>
                        </a:lnSpc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毛利偏低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00" name="picture 1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174979" y="2165362"/>
            <a:ext cx="247711" cy="247659"/>
          </a:xfrm>
          <a:prstGeom prst="rect">
            <a:avLst/>
          </a:prstGeom>
        </p:spPr>
      </p:pic>
      <p:pic>
        <p:nvPicPr>
          <p:cNvPr id="1502" name="picture 15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68670" y="1771627"/>
            <a:ext cx="247619" cy="266741"/>
          </a:xfrm>
          <a:prstGeom prst="rect">
            <a:avLst/>
          </a:prstGeom>
        </p:spPr>
      </p:pic>
      <p:graphicFrame>
        <p:nvGraphicFramePr>
          <p:cNvPr id="1504" name="table 1504"/>
          <p:cNvGraphicFramePr>
            <a:graphicFrameLocks noGrp="1"/>
          </p:cNvGraphicFramePr>
          <p:nvPr/>
        </p:nvGraphicFramePr>
        <p:xfrm>
          <a:off x="6346784" y="2803530"/>
          <a:ext cx="1543050" cy="869315"/>
        </p:xfrm>
        <a:graphic>
          <a:graphicData uri="http://schemas.openxmlformats.org/drawingml/2006/table">
            <a:tbl>
              <a:tblPr/>
              <a:tblGrid>
                <a:gridCol w="1543050"/>
              </a:tblGrid>
              <a:tr h="2819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2575" algn="l" rtl="0" eaLnBrk="0">
                        <a:lnSpc>
                          <a:spcPct val="86000"/>
                        </a:lnSpc>
                        <a:spcBef>
                          <a:spcPts val="0"/>
                        </a:spcBef>
                        <a:tabLst>
                          <a:tab pos="402590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自主品牌认知仍需提升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>
                          <a:tab pos="39687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渠道渗透率仍有空间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79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6225" algn="l" rtl="0" eaLnBrk="0">
                        <a:lnSpc>
                          <a:spcPct val="85000"/>
                        </a:lnSpc>
                        <a:tabLst>
                          <a:tab pos="390525" algn="l"/>
                        </a:tabLst>
                      </a:pPr>
                      <a:r>
                        <a:rPr sz="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	</a:t>
                      </a: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Hei"/>
                          <a:ea typeface="SimHei"/>
                          <a:cs typeface="SimHei"/>
                        </a:rPr>
                        <a:t>高端溢价需要长期投入</a:t>
                      </a:r>
                      <a:endParaRPr sz="700" dirty="0">
                        <a:latin typeface="SimHei"/>
                        <a:ea typeface="SimHei"/>
                        <a:cs typeface="SimHei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506" name="picture 15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00800" y="3422639"/>
            <a:ext cx="222290" cy="203219"/>
          </a:xfrm>
          <a:prstGeom prst="rect">
            <a:avLst/>
          </a:prstGeom>
        </p:spPr>
      </p:pic>
      <p:pic>
        <p:nvPicPr>
          <p:cNvPr id="1508" name="picture 15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94490" y="3105131"/>
            <a:ext cx="247619" cy="241332"/>
          </a:xfrm>
          <a:prstGeom prst="rect">
            <a:avLst/>
          </a:prstGeom>
        </p:spPr>
      </p:pic>
      <p:pic>
        <p:nvPicPr>
          <p:cNvPr id="1510" name="picture 15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413510" y="2844818"/>
            <a:ext cx="215889" cy="203168"/>
          </a:xfrm>
          <a:prstGeom prst="rect">
            <a:avLst/>
          </a:prstGeom>
        </p:spPr>
      </p:pic>
      <p:sp>
        <p:nvSpPr>
          <p:cNvPr id="1512" name="textbox 1512"/>
          <p:cNvSpPr/>
          <p:nvPr/>
        </p:nvSpPr>
        <p:spPr>
          <a:xfrm>
            <a:off x="390891" y="214191"/>
            <a:ext cx="445389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痛点三：海外与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业务的结构性挑战。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514" name="textbox 1514"/>
          <p:cNvSpPr/>
          <p:nvPr/>
        </p:nvSpPr>
        <p:spPr>
          <a:xfrm>
            <a:off x="579544" y="840944"/>
            <a:ext cx="7268844" cy="167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15"/>
              </a:lnSpc>
            </a:pPr>
            <a:r>
              <a:rPr sz="1400" b="1" kern="0" spc="40" baseline="600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海外市场挑战：增长背后的外部约束</a:t>
            </a:r>
            <a:r>
              <a:rPr sz="900" kern="0" spc="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</a:t>
            </a:r>
            <a:r>
              <a:rPr sz="1400" b="1" kern="0" spc="0" baseline="-200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900" b="1" kern="0" spc="4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40" baseline="-200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业务毛利拖</a:t>
            </a:r>
            <a:r>
              <a:rPr sz="1400" b="1" kern="0" spc="30" baseline="-200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</a:t>
            </a:r>
            <a:r>
              <a:rPr sz="9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</a:t>
            </a:r>
            <a:r>
              <a:rPr sz="1300" b="1" kern="0" spc="30" baseline="-600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库卡整合周期</a:t>
            </a:r>
            <a:endParaRPr sz="1300" baseline="-6000" dirty="0">
              <a:latin typeface="SimHei"/>
              <a:ea typeface="SimHei"/>
              <a:cs typeface="SimHei"/>
            </a:endParaRPr>
          </a:p>
        </p:txBody>
      </p:sp>
      <p:sp>
        <p:nvSpPr>
          <p:cNvPr id="1516" name="textbox 1516"/>
          <p:cNvSpPr/>
          <p:nvPr/>
        </p:nvSpPr>
        <p:spPr>
          <a:xfrm>
            <a:off x="1231889" y="1358007"/>
            <a:ext cx="1585595" cy="436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2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美国关税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700" kern="0" spc="-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出口成本上升，订单外移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洞察：关税直接抬升出口成本，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也倒逼产能向海外迁移。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518" name="textbox 1518"/>
          <p:cNvSpPr/>
          <p:nvPr/>
        </p:nvSpPr>
        <p:spPr>
          <a:xfrm>
            <a:off x="209590" y="589584"/>
            <a:ext cx="61499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海外增长仍具韧性，但贸易壁垒、欧美品牌认知与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700" kern="0" spc="1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盈利爬坡，正在共同考验美的从规模增长到高质量全球经营的能力。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520" name="picture 15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23880" y="2908289"/>
            <a:ext cx="660379" cy="590576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4673590" y="2870176"/>
            <a:ext cx="1140380" cy="323886"/>
            <a:chOff x="0" y="0"/>
            <a:chExt cx="1140380" cy="323886"/>
          </a:xfrm>
        </p:grpSpPr>
        <p:pic>
          <p:nvPicPr>
            <p:cNvPr id="1522" name="picture 15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04769" cy="323886"/>
            </a:xfrm>
            <a:prstGeom prst="rect">
              <a:avLst/>
            </a:prstGeom>
          </p:spPr>
        </p:pic>
        <p:sp>
          <p:nvSpPr>
            <p:cNvPr id="1524" name="textbox 1524"/>
            <p:cNvSpPr/>
            <p:nvPr/>
          </p:nvSpPr>
          <p:spPr>
            <a:xfrm>
              <a:off x="363654" y="180569"/>
              <a:ext cx="789940" cy="14795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9000"/>
                </a:lnSpc>
              </a:pPr>
              <a:r>
                <a:rPr sz="900" b="1" kern="0" spc="90" dirty="0">
                  <a:solidFill>
                    <a:srgbClr val="20509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拉低整体毛利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1526" name="textbox 1526"/>
            <p:cNvSpPr/>
            <p:nvPr/>
          </p:nvSpPr>
          <p:spPr>
            <a:xfrm>
              <a:off x="355620" y="2731"/>
              <a:ext cx="549275" cy="1092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2000"/>
                </a:lnSpc>
              </a:pPr>
              <a:r>
                <a:rPr sz="600" kern="0" spc="8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业务结构变化</a:t>
              </a:r>
              <a:endParaRPr sz="6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528" name="textbox 1528"/>
          <p:cNvSpPr/>
          <p:nvPr/>
        </p:nvSpPr>
        <p:spPr>
          <a:xfrm>
            <a:off x="8210590" y="1615960"/>
            <a:ext cx="581025" cy="691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4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份额优势尚未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完全转化为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盈利弹性，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本土化整合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仍需时间。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530" name="picture 153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19069" y="1142988"/>
            <a:ext cx="571500" cy="635016"/>
          </a:xfrm>
          <a:prstGeom prst="rect">
            <a:avLst/>
          </a:prstGeom>
        </p:spPr>
      </p:pic>
      <p:sp>
        <p:nvSpPr>
          <p:cNvPr id="1532" name="textbox 1532"/>
          <p:cNvSpPr/>
          <p:nvPr/>
        </p:nvSpPr>
        <p:spPr>
          <a:xfrm>
            <a:off x="8102599" y="3166478"/>
            <a:ext cx="680720" cy="513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1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份外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进入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深水区，挑战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从卖出产品转为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建立信任。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34" name="textbox 1534"/>
          <p:cNvSpPr/>
          <p:nvPr/>
        </p:nvSpPr>
        <p:spPr>
          <a:xfrm>
            <a:off x="4660890" y="3339390"/>
            <a:ext cx="1431925" cy="2393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r>
              <a:rPr sz="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高增速尚未责献等比例利润，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1125"/>
              </a:lnSpc>
            </a:pPr>
            <a:r>
              <a:rPr sz="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短期对整体毛利形成拖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累。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536" name="textbox 1536"/>
          <p:cNvSpPr/>
          <p:nvPr/>
        </p:nvSpPr>
        <p:spPr>
          <a:xfrm>
            <a:off x="1231889" y="2178884"/>
            <a:ext cx="1254125" cy="277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3000"/>
              </a:lnSpc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欧美竞争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7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西门子、博世、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惠而浦等品牌认知强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538" name="textbox 1538"/>
          <p:cNvSpPr/>
          <p:nvPr/>
        </p:nvSpPr>
        <p:spPr>
          <a:xfrm>
            <a:off x="1231889" y="3067886"/>
            <a:ext cx="1256665" cy="276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64" rIns="0" bIns="0"/>
          <a:lstStyle/>
          <a:p>
            <a:pPr marL="12700" algn="l" rtl="0" eaLnBrk="0">
              <a:lnSpc>
                <a:spcPct val="123000"/>
              </a:lnSpc>
              <a:spcBef>
                <a:spcPts val="5"/>
              </a:spcBef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本土化能力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</a:t>
            </a:r>
            <a:r>
              <a:rPr sz="700" kern="0" spc="-2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部分海外工厂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效率待提升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540" name="picture 154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19069" y="2044695"/>
            <a:ext cx="495330" cy="577872"/>
          </a:xfrm>
          <a:prstGeom prst="rect">
            <a:avLst/>
          </a:prstGeom>
        </p:spPr>
      </p:pic>
      <p:sp>
        <p:nvSpPr>
          <p:cNvPr id="1542" name="textbox 1542"/>
          <p:cNvSpPr/>
          <p:nvPr/>
        </p:nvSpPr>
        <p:spPr>
          <a:xfrm>
            <a:off x="3092419" y="3339390"/>
            <a:ext cx="1394460" cy="241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indent="-6350" algn="l" rtl="0" eaLnBrk="0">
              <a:lnSpc>
                <a:spcPct val="149000"/>
              </a:lnSpc>
            </a:pP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洞察：收入结构越向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倾斜，短期越依赖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项目交付效率和规模效应释放。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544" name="textbox 1544"/>
          <p:cNvSpPr/>
          <p:nvPr/>
        </p:nvSpPr>
        <p:spPr>
          <a:xfrm>
            <a:off x="1231889" y="2472897"/>
            <a:ext cx="13049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37" rIns="0" bIns="0"/>
          <a:lstStyle/>
          <a:p>
            <a:pPr marL="12700" algn="l" rtl="0" eaLnBrk="0">
              <a:lnSpc>
                <a:spcPct val="131000"/>
              </a:lnSpc>
              <a:spcBef>
                <a:spcPts val="5"/>
              </a:spcBef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洞察：成熟市场的品牌溢价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短期投放即可建立。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46" name="textbox 1546"/>
          <p:cNvSpPr/>
          <p:nvPr/>
        </p:nvSpPr>
        <p:spPr>
          <a:xfrm>
            <a:off x="1231889" y="3377381"/>
            <a:ext cx="1196975" cy="256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01" rIns="0" bIns="0"/>
          <a:lstStyle/>
          <a:p>
            <a:pPr marL="12700" algn="l" rtl="0" eaLnBrk="0">
              <a:lnSpc>
                <a:spcPct val="133000"/>
              </a:lnSpc>
              <a:spcBef>
                <a:spcPts val="0"/>
              </a:spcBef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洞察：全球制造网络扩张后，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运营一致性成为新瓶颈。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48" name="textbox 1548"/>
          <p:cNvSpPr/>
          <p:nvPr/>
        </p:nvSpPr>
        <p:spPr>
          <a:xfrm>
            <a:off x="4730750" y="4564809"/>
            <a:ext cx="11715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781" rIns="0" bIns="0"/>
          <a:lstStyle/>
          <a:p>
            <a:pPr marL="18415" indent="-5715" algn="l" rtl="0" eaLnBrk="0">
              <a:lnSpc>
                <a:spcPct val="133000"/>
              </a:lnSpc>
              <a:spcBef>
                <a:spcPts val="5"/>
              </a:spcBef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洞察：项目周期长、定制化高，</a:t>
            </a: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集成与实施成本持续累积。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50" name="textbox 1550"/>
          <p:cNvSpPr/>
          <p:nvPr/>
        </p:nvSpPr>
        <p:spPr>
          <a:xfrm>
            <a:off x="1803390" y="4577514"/>
            <a:ext cx="1203960" cy="250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indent="-6350" algn="l" rtl="0" eaLnBrk="0">
              <a:lnSpc>
                <a:spcPct val="129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洞察：为规避关税与贴近市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场，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需持续投入建厂与本地化布局。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52" name="textbox 1552"/>
          <p:cNvSpPr/>
          <p:nvPr/>
        </p:nvSpPr>
        <p:spPr>
          <a:xfrm>
            <a:off x="330200" y="4581064"/>
            <a:ext cx="1184275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洞察：关税波动与贸易壁垒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直接抬升出口成本与不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确定性。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54" name="textbox 1554"/>
          <p:cNvSpPr/>
          <p:nvPr/>
        </p:nvSpPr>
        <p:spPr>
          <a:xfrm>
            <a:off x="6159500" y="4574737"/>
            <a:ext cx="1177290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7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洞察：成本前置与效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率爬坡导致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毛利率阶段性承压。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56" name="textbox 1556"/>
          <p:cNvSpPr/>
          <p:nvPr/>
        </p:nvSpPr>
        <p:spPr>
          <a:xfrm>
            <a:off x="3276579" y="2558227"/>
            <a:ext cx="28676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</a:t>
            </a:r>
            <a:r>
              <a:rPr sz="6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察</a:t>
            </a:r>
            <a:r>
              <a:rPr sz="600" kern="0" spc="-6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板块仍在投入与集成爬坡阶段，高增长尚未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完全转换为高利润。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58" name="textbox 1558"/>
          <p:cNvSpPr/>
          <p:nvPr/>
        </p:nvSpPr>
        <p:spPr>
          <a:xfrm>
            <a:off x="7613670" y="4568689"/>
            <a:ext cx="107823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58" rIns="0" bIns="0"/>
          <a:lstStyle/>
          <a:p>
            <a:pPr marL="18415" indent="-5715" algn="l" rtl="0" eaLnBrk="0">
              <a:lnSpc>
                <a:spcPct val="131000"/>
              </a:lnSpc>
              <a:spcBef>
                <a:spcPts val="5"/>
              </a:spcBef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洞察：从规模增长到高质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盈利的路径仍需时间验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证。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60" name="textbox 1560"/>
          <p:cNvSpPr/>
          <p:nvPr/>
        </p:nvSpPr>
        <p:spPr>
          <a:xfrm>
            <a:off x="7251659" y="1800097"/>
            <a:ext cx="801370" cy="2806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重载机器人份额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350"/>
              </a:lnSpc>
            </a:pP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47</a:t>
            </a:r>
            <a:r>
              <a:rPr sz="6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.</a:t>
            </a:r>
            <a:r>
              <a:rPr sz="600" kern="0" spc="-1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4%(细分第</a:t>
            </a:r>
            <a:r>
              <a:rPr sz="6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600" kern="0" spc="-1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562" name="textbox 1562"/>
          <p:cNvSpPr/>
          <p:nvPr/>
        </p:nvSpPr>
        <p:spPr>
          <a:xfrm>
            <a:off x="6878754" y="2618467"/>
            <a:ext cx="101092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b="1" kern="0" spc="6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欧美高端品牌建设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564" name="textbox 1564"/>
          <p:cNvSpPr/>
          <p:nvPr/>
        </p:nvSpPr>
        <p:spPr>
          <a:xfrm>
            <a:off x="3479759" y="3032039"/>
            <a:ext cx="796925" cy="167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-2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24%</a:t>
            </a:r>
            <a:r>
              <a:rPr sz="1100" b="1" kern="0" spc="12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kern="0" spc="-20" dirty="0">
                <a:solidFill>
                  <a:srgbClr val="3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→</a:t>
            </a:r>
            <a:r>
              <a:rPr sz="1100" kern="0" spc="-280" dirty="0">
                <a:solidFill>
                  <a:srgbClr val="30405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b="1" kern="0" spc="-2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26%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66" name="textbox 1566"/>
          <p:cNvSpPr/>
          <p:nvPr/>
        </p:nvSpPr>
        <p:spPr>
          <a:xfrm>
            <a:off x="6546840" y="2272454"/>
            <a:ext cx="1254125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但净利率偏低，仍处爬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坡期。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568" name="picture 156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130539" y="2876554"/>
            <a:ext cx="317479" cy="317508"/>
          </a:xfrm>
          <a:prstGeom prst="rect">
            <a:avLst/>
          </a:prstGeom>
        </p:spPr>
      </p:pic>
      <p:sp>
        <p:nvSpPr>
          <p:cNvPr id="1570" name="textbox 1570"/>
          <p:cNvSpPr/>
          <p:nvPr/>
        </p:nvSpPr>
        <p:spPr>
          <a:xfrm>
            <a:off x="7251659" y="1349744"/>
            <a:ext cx="7594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9.6%(行业前三)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572" name="textbox 1572"/>
          <p:cNvSpPr/>
          <p:nvPr/>
        </p:nvSpPr>
        <p:spPr>
          <a:xfrm>
            <a:off x="6642120" y="1305104"/>
            <a:ext cx="35242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565"/>
              </a:lnSpc>
            </a:pPr>
            <a:r>
              <a:rPr sz="1100" kern="0" spc="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9.6%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574" name="picture 15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197869" y="1142988"/>
            <a:ext cx="241310" cy="253985"/>
          </a:xfrm>
          <a:prstGeom prst="rect">
            <a:avLst/>
          </a:prstGeom>
        </p:spPr>
      </p:pic>
      <p:pic>
        <p:nvPicPr>
          <p:cNvPr id="1576" name="picture 15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194090" y="1365239"/>
            <a:ext cx="228600" cy="266690"/>
          </a:xfrm>
          <a:prstGeom prst="rect">
            <a:avLst/>
          </a:prstGeom>
        </p:spPr>
      </p:pic>
      <p:pic>
        <p:nvPicPr>
          <p:cNvPr id="1578" name="picture 15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282720" y="1142988"/>
            <a:ext cx="380938" cy="139697"/>
          </a:xfrm>
          <a:prstGeom prst="rect">
            <a:avLst/>
          </a:prstGeom>
        </p:spPr>
      </p:pic>
      <p:sp>
        <p:nvSpPr>
          <p:cNvPr id="1580" name="textbox 1580"/>
          <p:cNvSpPr/>
          <p:nvPr/>
        </p:nvSpPr>
        <p:spPr>
          <a:xfrm>
            <a:off x="3479759" y="2861674"/>
            <a:ext cx="56451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收入占比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582" name="picture 158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1282720" y="2895585"/>
            <a:ext cx="374629" cy="133370"/>
          </a:xfrm>
          <a:prstGeom prst="rect">
            <a:avLst/>
          </a:prstGeom>
        </p:spPr>
      </p:pic>
      <p:pic>
        <p:nvPicPr>
          <p:cNvPr id="1584" name="picture 158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1282720" y="1987551"/>
            <a:ext cx="374629" cy="133370"/>
          </a:xfrm>
          <a:prstGeom prst="rect">
            <a:avLst/>
          </a:prstGeom>
        </p:spPr>
      </p:pic>
      <p:sp>
        <p:nvSpPr>
          <p:cNvPr id="1586" name="textbox 1586"/>
          <p:cNvSpPr/>
          <p:nvPr/>
        </p:nvSpPr>
        <p:spPr>
          <a:xfrm>
            <a:off x="7251659" y="1190490"/>
            <a:ext cx="5829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库卡中国份额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pic>
        <p:nvPicPr>
          <p:cNvPr id="1588" name="picture 158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8089880" y="2787674"/>
            <a:ext cx="215889" cy="215872"/>
          </a:xfrm>
          <a:prstGeom prst="rect">
            <a:avLst/>
          </a:prstGeom>
        </p:spPr>
      </p:pic>
      <p:sp>
        <p:nvSpPr>
          <p:cNvPr id="1590" name="textbox 1590"/>
          <p:cNvSpPr/>
          <p:nvPr/>
        </p:nvSpPr>
        <p:spPr>
          <a:xfrm>
            <a:off x="6597680" y="1951710"/>
            <a:ext cx="436880" cy="1517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</a:pPr>
            <a:r>
              <a:rPr sz="1100" b="1" kern="0" spc="2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47.4%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92" name="textbox 1592"/>
          <p:cNvSpPr/>
          <p:nvPr/>
        </p:nvSpPr>
        <p:spPr>
          <a:xfrm>
            <a:off x="1233433" y="2917082"/>
            <a:ext cx="4038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800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800" kern="0" spc="-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594" name="textbox 1594"/>
          <p:cNvSpPr/>
          <p:nvPr/>
        </p:nvSpPr>
        <p:spPr>
          <a:xfrm>
            <a:off x="1233433" y="2021753"/>
            <a:ext cx="403860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800" kern="0" spc="-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800" kern="0" spc="-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596" name="path 1596"/>
          <p:cNvSpPr/>
          <p:nvPr/>
        </p:nvSpPr>
        <p:spPr>
          <a:xfrm>
            <a:off x="5616544" y="1527171"/>
            <a:ext cx="361960" cy="88902"/>
          </a:xfrm>
          <a:custGeom>
            <a:avLst/>
            <a:gdLst/>
            <a:ahLst/>
            <a:cxnLst/>
            <a:rect l="0" t="0" r="0" b="0"/>
            <a:pathLst>
              <a:path w="570" h="140">
                <a:moveTo>
                  <a:pt x="5" y="5"/>
                </a:moveTo>
                <a:lnTo>
                  <a:pt x="5" y="135"/>
                </a:lnTo>
                <a:moveTo>
                  <a:pt x="5" y="5"/>
                </a:moveTo>
                <a:lnTo>
                  <a:pt x="565" y="5"/>
                </a:lnTo>
                <a:moveTo>
                  <a:pt x="565" y="5"/>
                </a:moveTo>
                <a:lnTo>
                  <a:pt x="565" y="135"/>
                </a:lnTo>
                <a:moveTo>
                  <a:pt x="5" y="135"/>
                </a:moveTo>
                <a:lnTo>
                  <a:pt x="565" y="135"/>
                </a:lnTo>
              </a:path>
            </a:pathLst>
          </a:custGeom>
          <a:noFill/>
          <a:ln w="6350" cap="flat">
            <a:solidFill>
              <a:srgbClr val="000000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98" name="textbox 1598"/>
          <p:cNvSpPr/>
          <p:nvPr/>
        </p:nvSpPr>
        <p:spPr>
          <a:xfrm>
            <a:off x="1231889" y="1178260"/>
            <a:ext cx="35496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</a:t>
            </a:r>
            <a:r>
              <a:rPr sz="700" kern="0" spc="-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险</a:t>
            </a:r>
            <a:r>
              <a:rPr sz="700" kern="0" spc="-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00" name="textbox 1600"/>
          <p:cNvSpPr/>
          <p:nvPr/>
        </p:nvSpPr>
        <p:spPr>
          <a:xfrm>
            <a:off x="8102599" y="3038818"/>
            <a:ext cx="3276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02" name="textbox 1602"/>
          <p:cNvSpPr/>
          <p:nvPr/>
        </p:nvSpPr>
        <p:spPr>
          <a:xfrm>
            <a:off x="8210589" y="1457655"/>
            <a:ext cx="2825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760"/>
              </a:lnSpc>
            </a:pPr>
            <a:r>
              <a:rPr sz="600" kern="0" spc="-6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</a:t>
            </a:r>
            <a:r>
              <a:rPr sz="600" kern="0" spc="-60" dirty="0">
                <a:solidFill>
                  <a:srgbClr val="107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04" name="textbox 1604"/>
          <p:cNvSpPr/>
          <p:nvPr/>
        </p:nvSpPr>
        <p:spPr>
          <a:xfrm>
            <a:off x="8731249" y="4908229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15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6" name="picture 16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7010" y="831858"/>
            <a:ext cx="8858250" cy="4171944"/>
          </a:xfrm>
          <a:prstGeom prst="rect">
            <a:avLst/>
          </a:prstGeom>
        </p:spPr>
      </p:pic>
      <p:sp>
        <p:nvSpPr>
          <p:cNvPr id="1608" name="textbox 1608"/>
          <p:cNvSpPr/>
          <p:nvPr/>
        </p:nvSpPr>
        <p:spPr>
          <a:xfrm>
            <a:off x="1777969" y="2692132"/>
            <a:ext cx="1686560" cy="10198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07950" algn="l" rtl="0" eaLnBrk="0">
              <a:lnSpc>
                <a:spcPct val="178000"/>
              </a:lnSpc>
            </a:pPr>
            <a:r>
              <a:rPr sz="800" kern="0" spc="-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35→29→6    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平台，运总兼品</a:t>
            </a: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类总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结构品零售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6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50%,     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类自营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</a:t>
            </a:r>
            <a:r>
              <a:rPr sz="700" kern="0" spc="-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20%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零售额</a:t>
            </a:r>
            <a:r>
              <a:rPr sz="700" kern="0" spc="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+60%</a:t>
            </a:r>
            <a:r>
              <a:rPr sz="700" kern="0" spc="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(H1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店</a:t>
            </a:r>
            <a:r>
              <a:rPr sz="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2250+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占比超</a:t>
            </a:r>
            <a:r>
              <a:rPr sz="800" kern="0" spc="-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45%,</a:t>
            </a:r>
            <a:r>
              <a:rPr sz="800" kern="0" spc="4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电商</a:t>
            </a:r>
            <a:r>
              <a:rPr sz="8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1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800" kern="0" spc="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35%</a:t>
            </a:r>
            <a:r>
              <a:rPr sz="800" kern="0" spc="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合同负债</a:t>
            </a:r>
            <a:r>
              <a:rPr sz="7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+20%</a:t>
            </a:r>
            <a:r>
              <a:rPr sz="700" kern="0" spc="10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,</a:t>
            </a: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金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</a:t>
            </a:r>
            <a:r>
              <a:rPr sz="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</a:t>
            </a:r>
            <a:r>
              <a:rPr sz="700" kern="0" spc="-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700" kern="0" spc="-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亿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10" name="textbox 1610"/>
          <p:cNvSpPr/>
          <p:nvPr/>
        </p:nvSpPr>
        <p:spPr>
          <a:xfrm>
            <a:off x="390891" y="252305"/>
            <a:ext cx="5209540" cy="276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9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总结：美的营销体系</a:t>
            </a:r>
            <a:r>
              <a:rPr sz="19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“三驾马车”模型与展望。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1612" name="textbox 1612"/>
          <p:cNvSpPr/>
          <p:nvPr/>
        </p:nvSpPr>
        <p:spPr>
          <a:xfrm>
            <a:off x="723940" y="2695520"/>
            <a:ext cx="723900" cy="1011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系统性重构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indent="62865" algn="l" rtl="0" eaLnBrk="0">
              <a:lnSpc>
                <a:spcPct val="208000"/>
              </a:lnSpc>
              <a:spcBef>
                <a:spcPts val="15"/>
              </a:spcBef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考核机制质变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双高端快速上量</a:t>
            </a:r>
            <a:r>
              <a:rPr sz="7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领航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经营质量提升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14" name="textbox 1614"/>
          <p:cNvSpPr/>
          <p:nvPr/>
        </p:nvSpPr>
        <p:spPr>
          <a:xfrm>
            <a:off x="203189" y="608458"/>
            <a:ext cx="551053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美的营销体系的核心，不是单点渠道改革，而是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宋体"/>
                <a:ea typeface="宋体"/>
                <a:cs typeface="宋体"/>
              </a:rPr>
              <a:t>、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双高端与海外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共同驱动的零售运营能力重构。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16" name="textbox 1616"/>
          <p:cNvSpPr/>
          <p:nvPr/>
        </p:nvSpPr>
        <p:spPr>
          <a:xfrm>
            <a:off x="7740679" y="4207216"/>
            <a:ext cx="1113790" cy="572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561" rIns="0" bIns="0"/>
          <a:lstStyle/>
          <a:p>
            <a:pPr marL="12700" algn="l" rtl="0" eaLnBrk="0">
              <a:lnSpc>
                <a:spcPct val="131000"/>
              </a:lnSpc>
              <a:spcBef>
                <a:spcPts val="5"/>
              </a:spcBef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2026年的关键变量是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质量、双高端溢价与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海外本地化效率能否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同步兑现。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18" name="textbox 1618"/>
          <p:cNvSpPr/>
          <p:nvPr/>
        </p:nvSpPr>
        <p:spPr>
          <a:xfrm>
            <a:off x="8178770" y="1350030"/>
            <a:ext cx="576580" cy="700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32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从产品出口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升级为品牌、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制造、渠道、</a:t>
            </a: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服务的端到端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经营。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20" name="textbox 1620"/>
          <p:cNvSpPr/>
          <p:nvPr/>
        </p:nvSpPr>
        <p:spPr>
          <a:xfrm>
            <a:off x="7639090" y="2568908"/>
            <a:ext cx="956310" cy="4114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3665" indent="-100965" algn="l" rtl="0" eaLnBrk="0">
              <a:lnSpc>
                <a:spcPct val="137000"/>
              </a:lnSpc>
            </a:pP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经销商转型阵痛管理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渠道伙伴利益需要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精细管理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22" name="textbox 1622"/>
          <p:cNvSpPr/>
          <p:nvPr/>
        </p:nvSpPr>
        <p:spPr>
          <a:xfrm>
            <a:off x="6705580" y="1618152"/>
            <a:ext cx="1191895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87" rIns="0" bIns="0"/>
          <a:lstStyle/>
          <a:p>
            <a:pPr marL="443865" indent="-431165" algn="l" rtl="0" eaLnBrk="0">
              <a:lnSpc>
                <a:spcPct val="139000"/>
              </a:lnSpc>
              <a:spcBef>
                <a:spcPts val="5"/>
              </a:spcBef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关键指标：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占比</a:t>
            </a:r>
            <a:r>
              <a:rPr sz="700" kern="0" spc="3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&gt;4</a:t>
            </a:r>
            <a:r>
              <a:rPr sz="700" kern="0" spc="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 </a:t>
            </a:r>
            <a:r>
              <a:rPr sz="700" kern="0" spc="2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%,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海外营收</a:t>
            </a:r>
            <a:r>
              <a:rPr sz="700" kern="0" spc="2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+15.9%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24" name="textbox 1624"/>
          <p:cNvSpPr/>
          <p:nvPr/>
        </p:nvSpPr>
        <p:spPr>
          <a:xfrm>
            <a:off x="3975090" y="1618407"/>
            <a:ext cx="1177925" cy="316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636" rIns="0" bIns="0"/>
          <a:lstStyle/>
          <a:p>
            <a:pPr marL="438150" indent="-425450" algn="l" rtl="0" eaLnBrk="0">
              <a:lnSpc>
                <a:spcPct val="142000"/>
              </a:lnSpc>
              <a:spcBef>
                <a:spcPts val="5"/>
              </a:spcBef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关键指标：零售额双位数增长，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门店</a:t>
            </a:r>
            <a:r>
              <a:rPr sz="800" b="1" kern="0" spc="-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2250  </a:t>
            </a:r>
            <a:r>
              <a:rPr sz="800" kern="0" spc="-1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626" name="textbox 1626"/>
          <p:cNvSpPr/>
          <p:nvPr/>
        </p:nvSpPr>
        <p:spPr>
          <a:xfrm>
            <a:off x="4190979" y="4130659"/>
            <a:ext cx="926464" cy="3835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141" rIns="0" bIns="0"/>
          <a:lstStyle/>
          <a:p>
            <a:pPr marL="12700" algn="l" rtl="0" eaLnBrk="0">
              <a:lnSpc>
                <a:spcPct val="135000"/>
              </a:lnSpc>
              <a:spcBef>
                <a:spcPts val="0"/>
              </a:spcBef>
              <a:tabLst>
                <a:tab pos="88900" algn="l"/>
              </a:tabLst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ToC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协同发展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·打通家用与商用场</a:t>
            </a: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景，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提升整体解决方案能力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628" name="textbox 1628"/>
          <p:cNvSpPr/>
          <p:nvPr/>
        </p:nvSpPr>
        <p:spPr>
          <a:xfrm>
            <a:off x="3975089" y="3129599"/>
            <a:ext cx="850264" cy="413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31" rIns="0" bIns="0"/>
          <a:lstStyle/>
          <a:p>
            <a:pPr marL="12700" algn="l" rtl="0" eaLnBrk="0">
              <a:lnSpc>
                <a:spcPct val="125000"/>
              </a:lnSpc>
              <a:spcBef>
                <a:spcPts val="0"/>
              </a:spcBef>
            </a:pP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同时改善，说明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改革已从组织动作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进入经营结果。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30" name="textbox 1630"/>
          <p:cNvSpPr/>
          <p:nvPr/>
        </p:nvSpPr>
        <p:spPr>
          <a:xfrm>
            <a:off x="2470170" y="1399706"/>
            <a:ext cx="549910" cy="5962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59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把渠道利润、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用户数据与</a:t>
            </a:r>
            <a:r>
              <a:rPr sz="6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库存管理收回</a:t>
            </a: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到可控闭环。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32" name="textbox 1632"/>
          <p:cNvSpPr/>
          <p:nvPr/>
        </p:nvSpPr>
        <p:spPr>
          <a:xfrm>
            <a:off x="1035019" y="1610751"/>
            <a:ext cx="1099185" cy="302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206" rIns="0" bIns="0"/>
          <a:lstStyle/>
          <a:p>
            <a:pPr marL="444500" indent="-431800" algn="l" rtl="0" eaLnBrk="0">
              <a:lnSpc>
                <a:spcPct val="158000"/>
              </a:lnSpc>
              <a:spcBef>
                <a:spcPts val="0"/>
              </a:spcBef>
            </a:pP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关键指标：结构品零售</a:t>
            </a:r>
            <a:r>
              <a:rPr sz="600" kern="0" spc="7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50%,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合同负债</a:t>
            </a:r>
            <a:r>
              <a:rPr sz="6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7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+20%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34" name="textbox 1634"/>
          <p:cNvSpPr/>
          <p:nvPr/>
        </p:nvSpPr>
        <p:spPr>
          <a:xfrm>
            <a:off x="5276829" y="1431493"/>
            <a:ext cx="608330" cy="481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以高端产品结构</a:t>
            </a:r>
            <a:endParaRPr sz="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203000"/>
              </a:lnSpc>
              <a:spcBef>
                <a:spcPts val="10"/>
              </a:spcBef>
            </a:pPr>
            <a:r>
              <a:rPr sz="6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对冲价格战与</a:t>
            </a:r>
            <a:r>
              <a:rPr sz="6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原材料波动。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36" name="textbox 1636"/>
          <p:cNvSpPr/>
          <p:nvPr/>
        </p:nvSpPr>
        <p:spPr>
          <a:xfrm>
            <a:off x="3905229" y="4666445"/>
            <a:ext cx="113411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5" rIns="0" bIns="0"/>
          <a:lstStyle/>
          <a:p>
            <a:pPr marL="19050" indent="-6350" algn="l" rtl="0" eaLnBrk="0">
              <a:lnSpc>
                <a:spcPct val="126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洞察：规模与利润双轮驱动，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提升风险抵御能力。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38" name="textbox 1638"/>
          <p:cNvSpPr/>
          <p:nvPr/>
        </p:nvSpPr>
        <p:spPr>
          <a:xfrm>
            <a:off x="2095540" y="4666445"/>
            <a:ext cx="1127125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25" rIns="0" bIns="0"/>
          <a:lstStyle/>
          <a:p>
            <a:pPr marL="12700" indent="5715" algn="l" rtl="0" eaLnBrk="0">
              <a:lnSpc>
                <a:spcPct val="126000"/>
              </a:lnSpc>
              <a:spcBef>
                <a:spcPts val="5"/>
              </a:spcBef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洞察：资源向优势战</a:t>
            </a: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场集中，</a:t>
            </a:r>
            <a:r>
              <a:rPr sz="6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形成突破性优势。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40" name="textbox 1640"/>
          <p:cNvSpPr/>
          <p:nvPr/>
        </p:nvSpPr>
        <p:spPr>
          <a:xfrm>
            <a:off x="5613420" y="4670325"/>
            <a:ext cx="1146810" cy="2279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indent="-5715" algn="l" rtl="0" eaLnBrk="0">
              <a:lnSpc>
                <a:spcPct val="116000"/>
              </a:lnSpc>
            </a:pP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洞察：构建可持续的用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户价值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增长与运营闾皑觎环能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力。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42" name="textbox 1642"/>
          <p:cNvSpPr/>
          <p:nvPr/>
        </p:nvSpPr>
        <p:spPr>
          <a:xfrm>
            <a:off x="5969030" y="4130659"/>
            <a:ext cx="975995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1000"/>
              </a:lnSpc>
            </a:pPr>
            <a:r>
              <a:rPr sz="700" kern="0" spc="1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从组织流程调整进入</a:t>
            </a:r>
            <a:r>
              <a:rPr sz="700" kern="0" spc="13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业务用户运营新阶段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44" name="textbox 1644"/>
          <p:cNvSpPr/>
          <p:nvPr/>
        </p:nvSpPr>
        <p:spPr>
          <a:xfrm>
            <a:off x="3975090" y="2854966"/>
            <a:ext cx="874395" cy="279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4000"/>
              </a:lnSpc>
            </a:pP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组织、考核、品牌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与现金流指标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46" name="textbox 1646"/>
          <p:cNvSpPr/>
          <p:nvPr/>
        </p:nvSpPr>
        <p:spPr>
          <a:xfrm>
            <a:off x="5822909" y="2507287"/>
            <a:ext cx="923925" cy="2597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5000"/>
              </a:lnSpc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中低端价格战持续，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毛利率承压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48" name="textbox 1648"/>
          <p:cNvSpPr/>
          <p:nvPr/>
        </p:nvSpPr>
        <p:spPr>
          <a:xfrm>
            <a:off x="7639090" y="3463814"/>
            <a:ext cx="960120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3665" indent="-100965" algn="l" rtl="0" eaLnBrk="0">
              <a:lnSpc>
                <a:spcPct val="127000"/>
              </a:lnSpc>
            </a:pP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品牌心智与溢价能力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仍需时间沉淀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50" name="textbox 1650"/>
          <p:cNvSpPr/>
          <p:nvPr/>
        </p:nvSpPr>
        <p:spPr>
          <a:xfrm>
            <a:off x="387350" y="4666445"/>
            <a:ext cx="955675" cy="245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6000"/>
              </a:lnSpc>
            </a:pPr>
            <a:r>
              <a:rPr sz="6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洞察：聚焦高质量增长，</a:t>
            </a:r>
            <a:r>
              <a:rPr sz="6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拒绝低质量规模扩张</a:t>
            </a:r>
            <a:r>
              <a:rPr sz="6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52" name="textbox 1652"/>
          <p:cNvSpPr/>
          <p:nvPr/>
        </p:nvSpPr>
        <p:spPr>
          <a:xfrm>
            <a:off x="7639090" y="3165430"/>
            <a:ext cx="842010" cy="262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6000"/>
              </a:lnSpc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海外高端品牌建设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长期投入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54" name="textbox 1654"/>
          <p:cNvSpPr/>
          <p:nvPr/>
        </p:nvSpPr>
        <p:spPr>
          <a:xfrm>
            <a:off x="5822909" y="3387587"/>
            <a:ext cx="778510" cy="246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67" rIns="0" bIns="0"/>
          <a:lstStyle/>
          <a:p>
            <a:pPr marL="114300" indent="-101600" algn="l" rtl="0" eaLnBrk="0">
              <a:lnSpc>
                <a:spcPct val="127000"/>
              </a:lnSpc>
              <a:spcBef>
                <a:spcPts val="5"/>
              </a:spcBef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盈利结构优化与</a:t>
            </a:r>
            <a:r>
              <a:rPr sz="6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交付效率是关键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56" name="textbox 1656"/>
          <p:cNvSpPr/>
          <p:nvPr/>
        </p:nvSpPr>
        <p:spPr>
          <a:xfrm>
            <a:off x="5969030" y="4380795"/>
            <a:ext cx="841375" cy="224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872" rIns="0" bIns="0"/>
          <a:lstStyle/>
          <a:p>
            <a:pPr marL="88265" indent="-75565" algn="l" rtl="0" eaLnBrk="0">
              <a:lnSpc>
                <a:spcPct val="126000"/>
              </a:lnSpc>
              <a:spcBef>
                <a:spcPts val="5"/>
              </a:spcBef>
            </a:pP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以用户为中心，</a:t>
            </a:r>
            <a:r>
              <a:rPr sz="5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数据驱动精细化运营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58" name="textbox 1658"/>
          <p:cNvSpPr/>
          <p:nvPr/>
        </p:nvSpPr>
        <p:spPr>
          <a:xfrm>
            <a:off x="5822909" y="2777650"/>
            <a:ext cx="761365" cy="240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14300" indent="-101600" algn="l" rtl="0" eaLnBrk="0">
              <a:lnSpc>
                <a:spcPct val="124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6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份额与利润仍需</a:t>
            </a:r>
            <a:r>
              <a:rPr sz="6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动态平衡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60" name="textbox 1660"/>
          <p:cNvSpPr/>
          <p:nvPr/>
        </p:nvSpPr>
        <p:spPr>
          <a:xfrm>
            <a:off x="2872218" y="3876691"/>
            <a:ext cx="937895" cy="168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1100" b="1" kern="0" spc="6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2026战略展望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1662" name="textbox 1662"/>
          <p:cNvSpPr/>
          <p:nvPr/>
        </p:nvSpPr>
        <p:spPr>
          <a:xfrm>
            <a:off x="3975090" y="1362449"/>
            <a:ext cx="11150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核心：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COLMO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东芝双品牌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64" name="textbox 1664"/>
          <p:cNvSpPr/>
          <p:nvPr/>
        </p:nvSpPr>
        <p:spPr>
          <a:xfrm>
            <a:off x="1993859" y="2265053"/>
            <a:ext cx="829310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五大核心成就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6" name="textbox 1666"/>
          <p:cNvSpPr/>
          <p:nvPr/>
        </p:nvSpPr>
        <p:spPr>
          <a:xfrm>
            <a:off x="4065694" y="866353"/>
            <a:ext cx="828039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b="1" kern="0" spc="14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三驾马车模型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68" name="textbox 1668"/>
          <p:cNvSpPr/>
          <p:nvPr/>
        </p:nvSpPr>
        <p:spPr>
          <a:xfrm>
            <a:off x="2368580" y="4117955"/>
            <a:ext cx="100012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核心业务/核心市场/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70" name="textbox 1670"/>
          <p:cNvSpPr/>
          <p:nvPr/>
        </p:nvSpPr>
        <p:spPr>
          <a:xfrm>
            <a:off x="1035019" y="1374349"/>
            <a:ext cx="106553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核心：渠道扁平+考核重构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72" name="textbox 1672"/>
          <p:cNvSpPr/>
          <p:nvPr/>
        </p:nvSpPr>
        <p:spPr>
          <a:xfrm>
            <a:off x="6502399" y="2278119"/>
            <a:ext cx="697865" cy="147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sz="900" kern="0" spc="150" dirty="0">
                <a:solidFill>
                  <a:srgbClr val="104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待解决问题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74" name="textbox 1674"/>
          <p:cNvSpPr/>
          <p:nvPr/>
        </p:nvSpPr>
        <p:spPr>
          <a:xfrm>
            <a:off x="6705580" y="1387580"/>
            <a:ext cx="9944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核心：本土化+自主品</a:t>
            </a:r>
            <a:r>
              <a:rPr sz="6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牌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76" name="textbox 1676"/>
          <p:cNvSpPr/>
          <p:nvPr/>
        </p:nvSpPr>
        <p:spPr>
          <a:xfrm>
            <a:off x="5822909" y="3216248"/>
            <a:ext cx="837564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ToB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业务盈利改善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78" name="textbox 1678"/>
          <p:cNvSpPr/>
          <p:nvPr/>
        </p:nvSpPr>
        <p:spPr>
          <a:xfrm>
            <a:off x="361929" y="2486355"/>
            <a:ext cx="822960" cy="1238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#</a:t>
            </a:r>
            <a:r>
              <a:rPr sz="6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成就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80" name="textbox 1680"/>
          <p:cNvSpPr/>
          <p:nvPr/>
        </p:nvSpPr>
        <p:spPr>
          <a:xfrm>
            <a:off x="2368580" y="4402829"/>
            <a:ext cx="106997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5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聚焦冰箱、空调、洗衣机等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682" name="textbox 1682"/>
          <p:cNvSpPr/>
          <p:nvPr/>
        </p:nvSpPr>
        <p:spPr>
          <a:xfrm>
            <a:off x="2444749" y="4479480"/>
            <a:ext cx="76581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核心品类与重点区域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84" name="textbox 1684"/>
          <p:cNvSpPr/>
          <p:nvPr/>
        </p:nvSpPr>
        <p:spPr>
          <a:xfrm>
            <a:off x="704829" y="4301245"/>
            <a:ext cx="876935" cy="965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5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坚守高端化、全球化与</a:t>
            </a:r>
            <a:endParaRPr sz="500" dirty="0">
              <a:latin typeface="SimHei"/>
              <a:ea typeface="SimHei"/>
              <a:cs typeface="SimHei"/>
            </a:endParaRPr>
          </a:p>
        </p:txBody>
      </p:sp>
      <p:sp>
        <p:nvSpPr>
          <p:cNvPr id="1686" name="textbox 1686"/>
          <p:cNvSpPr/>
          <p:nvPr/>
        </p:nvSpPr>
        <p:spPr>
          <a:xfrm>
            <a:off x="723940" y="4124948"/>
            <a:ext cx="64135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围绕核心增长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88" name="textbox 1688"/>
          <p:cNvSpPr/>
          <p:nvPr/>
        </p:nvSpPr>
        <p:spPr>
          <a:xfrm>
            <a:off x="768380" y="4415957"/>
            <a:ext cx="683260" cy="109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6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效率提升三大方向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690" name="textbox 1690"/>
          <p:cNvSpPr/>
          <p:nvPr/>
        </p:nvSpPr>
        <p:spPr>
          <a:xfrm>
            <a:off x="1035019" y="1115475"/>
            <a:ext cx="482600" cy="1435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DTC</a:t>
            </a:r>
            <a:r>
              <a:rPr sz="9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变革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692" name="textbox 1692"/>
          <p:cNvSpPr/>
          <p:nvPr/>
        </p:nvSpPr>
        <p:spPr>
          <a:xfrm>
            <a:off x="6705579" y="1127968"/>
            <a:ext cx="48196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海外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OBM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94" name="textbox 1694"/>
          <p:cNvSpPr/>
          <p:nvPr/>
        </p:nvSpPr>
        <p:spPr>
          <a:xfrm>
            <a:off x="3975090" y="1133439"/>
            <a:ext cx="4730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</a:t>
            </a:r>
            <a:r>
              <a:rPr sz="700" kern="0" spc="-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端</a:t>
            </a:r>
            <a:r>
              <a:rPr sz="700" kern="0" spc="-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突</a:t>
            </a:r>
            <a:r>
              <a:rPr sz="7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96" name="textbox 1696"/>
          <p:cNvSpPr/>
          <p:nvPr/>
        </p:nvSpPr>
        <p:spPr>
          <a:xfrm>
            <a:off x="3975090" y="2721310"/>
            <a:ext cx="447675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总洞察：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698" name="textbox 1698"/>
          <p:cNvSpPr/>
          <p:nvPr/>
        </p:nvSpPr>
        <p:spPr>
          <a:xfrm>
            <a:off x="2368580" y="4238951"/>
            <a:ext cx="44069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核心能力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700" name="textbox 1700"/>
          <p:cNvSpPr/>
          <p:nvPr/>
        </p:nvSpPr>
        <p:spPr>
          <a:xfrm>
            <a:off x="2495590" y="2493781"/>
            <a:ext cx="43053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量化证据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702" name="textbox 1702"/>
          <p:cNvSpPr/>
          <p:nvPr/>
        </p:nvSpPr>
        <p:spPr>
          <a:xfrm>
            <a:off x="7740680" y="4037445"/>
            <a:ext cx="352425" cy="1352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800" kern="0" spc="-6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判断：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704" name="textbox 1704"/>
          <p:cNvSpPr/>
          <p:nvPr/>
        </p:nvSpPr>
        <p:spPr>
          <a:xfrm>
            <a:off x="8235920" y="1178260"/>
            <a:ext cx="2895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6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706" name="textbox 1706"/>
          <p:cNvSpPr/>
          <p:nvPr/>
        </p:nvSpPr>
        <p:spPr>
          <a:xfrm>
            <a:off x="2533629" y="1190964"/>
            <a:ext cx="2895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6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708" name="textbox 1708"/>
          <p:cNvSpPr/>
          <p:nvPr/>
        </p:nvSpPr>
        <p:spPr>
          <a:xfrm>
            <a:off x="5391130" y="1190964"/>
            <a:ext cx="289560" cy="122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760"/>
              </a:lnSpc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洞察：</a:t>
            </a:r>
            <a:endParaRPr sz="600" dirty="0">
              <a:latin typeface="SimHei"/>
              <a:ea typeface="SimHei"/>
              <a:cs typeface="SimHei"/>
            </a:endParaRPr>
          </a:p>
        </p:txBody>
      </p:sp>
      <p:sp>
        <p:nvSpPr>
          <p:cNvPr id="1710" name="textbox 1710"/>
          <p:cNvSpPr/>
          <p:nvPr/>
        </p:nvSpPr>
        <p:spPr>
          <a:xfrm>
            <a:off x="7639090" y="1962385"/>
            <a:ext cx="215265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45%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12" name="textbox 1712"/>
          <p:cNvSpPr/>
          <p:nvPr/>
        </p:nvSpPr>
        <p:spPr>
          <a:xfrm>
            <a:off x="8788399" y="4920933"/>
            <a:ext cx="159385" cy="207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430"/>
              </a:lnSpc>
            </a:pPr>
            <a:r>
              <a:rPr sz="1000" kern="0" spc="-20" dirty="0">
                <a:solidFill>
                  <a:srgbClr val="1040A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16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14" name="textbox 1714"/>
          <p:cNvSpPr/>
          <p:nvPr/>
        </p:nvSpPr>
        <p:spPr>
          <a:xfrm>
            <a:off x="1955820" y="1956058"/>
            <a:ext cx="212090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50%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16" name="textbox 1716"/>
          <p:cNvSpPr/>
          <p:nvPr/>
        </p:nvSpPr>
        <p:spPr>
          <a:xfrm>
            <a:off x="4851359" y="1956058"/>
            <a:ext cx="212090" cy="155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20"/>
              </a:lnSpc>
            </a:pPr>
            <a:r>
              <a:rPr sz="700" kern="0" spc="10" dirty="0">
                <a:solidFill>
                  <a:srgbClr val="10409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72%</a:t>
            </a: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13619</Words>
  <Application>WPS Office WWO_wpscloud_20260508175737-a9385e8bc7</Application>
  <PresentationFormat>宽屏</PresentationFormat>
  <Paragraphs>2085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Arial</vt:lpstr>
      <vt:lpstr>SimHei</vt:lpstr>
      <vt:lpstr>宋体</vt:lpstr>
      <vt:lpstr>Office 主题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dcterms:created xsi:type="dcterms:W3CDTF">2026-05-18T02:14:25Z</dcterms:created>
  <dcterms:modified xsi:type="dcterms:W3CDTF">2026-05-18T02:14:25Z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2052-12.9.0.26427</vt:lpwstr>
  </property>
  <property fmtid="{D5CDD505-2E9C-101B-9397-08002B2CF9AE}" pid="3" name="ICV">
    <vt:lpwstr>802C03DE445D992201760A6A10283B87_42</vt:lpwstr>
  </property>
</Properties>
</file>