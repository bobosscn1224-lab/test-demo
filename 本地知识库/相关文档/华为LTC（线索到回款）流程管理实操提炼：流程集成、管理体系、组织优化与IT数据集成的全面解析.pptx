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46"/>
  </p:handoutMasterIdLst>
  <p:sldIdLst>
    <p:sldId id="307" r:id="rId4"/>
    <p:sldId id="545" r:id="rId6"/>
    <p:sldId id="620" r:id="rId7"/>
    <p:sldId id="502" r:id="rId8"/>
    <p:sldId id="581" r:id="rId9"/>
    <p:sldId id="597" r:id="rId10"/>
    <p:sldId id="504" r:id="rId11"/>
    <p:sldId id="604" r:id="rId12"/>
    <p:sldId id="625" r:id="rId13"/>
    <p:sldId id="626" r:id="rId14"/>
    <p:sldId id="628" r:id="rId15"/>
    <p:sldId id="617" r:id="rId16"/>
    <p:sldId id="540" r:id="rId17"/>
    <p:sldId id="613" r:id="rId18"/>
    <p:sldId id="614" r:id="rId19"/>
    <p:sldId id="615" r:id="rId20"/>
    <p:sldId id="555" r:id="rId21"/>
    <p:sldId id="558" r:id="rId22"/>
    <p:sldId id="596" r:id="rId23"/>
    <p:sldId id="556" r:id="rId24"/>
    <p:sldId id="627" r:id="rId25"/>
    <p:sldId id="629" r:id="rId26"/>
    <p:sldId id="630" r:id="rId27"/>
    <p:sldId id="631" r:id="rId28"/>
    <p:sldId id="632" r:id="rId29"/>
    <p:sldId id="633" r:id="rId30"/>
    <p:sldId id="634" r:id="rId31"/>
    <p:sldId id="635" r:id="rId32"/>
    <p:sldId id="636" r:id="rId33"/>
    <p:sldId id="637" r:id="rId34"/>
    <p:sldId id="638" r:id="rId35"/>
    <p:sldId id="639" r:id="rId36"/>
    <p:sldId id="640" r:id="rId37"/>
    <p:sldId id="641" r:id="rId38"/>
    <p:sldId id="642" r:id="rId39"/>
    <p:sldId id="643" r:id="rId40"/>
    <p:sldId id="644" r:id="rId41"/>
    <p:sldId id="645" r:id="rId42"/>
    <p:sldId id="646" r:id="rId43"/>
    <p:sldId id="647" r:id="rId44"/>
    <p:sldId id="648" r:id="rId45"/>
  </p:sldIdLst>
  <p:sldSz cx="9144000" cy="5143500" type="screen16x9"/>
  <p:notesSz cx="6805295" cy="9939020"/>
  <p:custDataLst>
    <p:tags r:id="rId5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389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7791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16903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558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948180" algn="l" defTabSz="77914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338070" algn="l" defTabSz="77914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727960" algn="l" defTabSz="77914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117850" algn="l" defTabSz="77914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" userDrawn="1">
          <p15:clr>
            <a:srgbClr val="A4A3A4"/>
          </p15:clr>
        </p15:guide>
        <p15:guide id="2" orient="horz" pos="1586" userDrawn="1">
          <p15:clr>
            <a:srgbClr val="A4A3A4"/>
          </p15:clr>
        </p15:guide>
        <p15:guide id="3" orient="horz" pos="3079" userDrawn="1">
          <p15:clr>
            <a:srgbClr val="A4A3A4"/>
          </p15:clr>
        </p15:guide>
        <p15:guide id="4" orient="horz" pos="2098" userDrawn="1">
          <p15:clr>
            <a:srgbClr val="A4A3A4"/>
          </p15:clr>
        </p15:guide>
        <p15:guide id="5" pos="5187" userDrawn="1">
          <p15:clr>
            <a:srgbClr val="A4A3A4"/>
          </p15:clr>
        </p15:guide>
        <p15:guide id="6" pos="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B021"/>
    <a:srgbClr val="FBD893"/>
    <a:srgbClr val="00ACE2"/>
    <a:srgbClr val="336699"/>
    <a:srgbClr val="0033CC"/>
    <a:srgbClr val="CAE2FF"/>
    <a:srgbClr val="BFBFBF"/>
    <a:srgbClr val="FFCC99"/>
    <a:srgbClr val="BCE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438" autoAdjust="0"/>
  </p:normalViewPr>
  <p:slideViewPr>
    <p:cSldViewPr snapToGrid="0" showGuides="1">
      <p:cViewPr varScale="1">
        <p:scale>
          <a:sx n="76" d="100"/>
          <a:sy n="76" d="100"/>
        </p:scale>
        <p:origin x="1036" y="56"/>
      </p:cViewPr>
      <p:guideLst>
        <p:guide orient="horz" pos="350"/>
        <p:guide orient="horz" pos="1586"/>
        <p:guide orient="horz" pos="3079"/>
        <p:guide orient="horz" pos="2098"/>
        <p:guide pos="5187"/>
        <p:guide pos="26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790"/>
    </p:cViewPr>
  </p:sorterViewPr>
  <p:notesViewPr>
    <p:cSldViewPr snapToGrid="0" showGuides="1">
      <p:cViewPr varScale="1">
        <p:scale>
          <a:sx n="49" d="100"/>
          <a:sy n="49" d="100"/>
        </p:scale>
        <p:origin x="-2964" y="-9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3" Type="http://schemas.openxmlformats.org/officeDocument/2006/relationships/tags" Target="tags/tag15.xml"/><Relationship Id="rId52" Type="http://schemas.openxmlformats.org/officeDocument/2006/relationships/customXml" Target="../customXml/item3.xml"/><Relationship Id="rId51" Type="http://schemas.openxmlformats.org/officeDocument/2006/relationships/customXml" Target="../customXml/item2.xml"/><Relationship Id="rId50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2AEE7-0AE9-4225-BA91-EE044FAAD32B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E5AF815E-C83F-4CAB-BD7A-DEAD703BC57B}">
      <dgm:prSet phldrT="[文本]" custT="1"/>
      <dgm:spPr>
        <a:solidFill>
          <a:srgbClr val="0070C0"/>
        </a:solidFill>
      </dgm:spPr>
      <dgm:t>
        <a:bodyPr/>
        <a:lstStyle/>
        <a:p>
          <a:endParaRPr lang="zh-CN" altLang="en-US" sz="600" dirty="0"/>
        </a:p>
      </dgm:t>
    </dgm:pt>
    <dgm:pt modelId="{E7CF3231-CF34-46B5-8452-FCF975D09494}" cxnId="{8C8D87CD-D365-4CC3-890D-3730A16B98DC}" type="parTrans">
      <dgm:prSet/>
      <dgm:spPr/>
      <dgm:t>
        <a:bodyPr/>
        <a:lstStyle/>
        <a:p>
          <a:endParaRPr lang="zh-CN" altLang="en-US"/>
        </a:p>
      </dgm:t>
    </dgm:pt>
    <dgm:pt modelId="{4574C204-4D84-412D-96A0-ED8C39B25436}" cxnId="{8C8D87CD-D365-4CC3-890D-3730A16B98DC}" type="sibTrans">
      <dgm:prSet/>
      <dgm:spPr/>
      <dgm:t>
        <a:bodyPr/>
        <a:lstStyle/>
        <a:p>
          <a:endParaRPr lang="zh-CN" altLang="en-US"/>
        </a:p>
      </dgm:t>
    </dgm:pt>
    <dgm:pt modelId="{D1A09BE3-8683-48C1-8ECC-5FA9161D58CE}">
      <dgm:prSet phldrT="[文本]"/>
      <dgm:spPr>
        <a:solidFill>
          <a:srgbClr val="00ACE2"/>
        </a:solidFill>
      </dgm:spPr>
      <dgm:t>
        <a:bodyPr/>
        <a:lstStyle/>
        <a:p>
          <a:endParaRPr lang="zh-CN" altLang="en-US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B7CFCEB7-AF8B-4089-92A3-F8880FCBE75E}" cxnId="{2BF0100E-24B8-4B60-858C-367A97F9DD28}" type="parTrans">
      <dgm:prSet/>
      <dgm:spPr/>
      <dgm:t>
        <a:bodyPr/>
        <a:lstStyle/>
        <a:p>
          <a:endParaRPr lang="zh-CN" altLang="en-US"/>
        </a:p>
      </dgm:t>
    </dgm:pt>
    <dgm:pt modelId="{6BFC25E5-BEE6-4203-B65C-6F801C0B2FE9}" cxnId="{2BF0100E-24B8-4B60-858C-367A97F9DD28}" type="sibTrans">
      <dgm:prSet/>
      <dgm:spPr/>
      <dgm:t>
        <a:bodyPr/>
        <a:lstStyle/>
        <a:p>
          <a:endParaRPr lang="zh-CN" altLang="en-US"/>
        </a:p>
      </dgm:t>
    </dgm:pt>
    <dgm:pt modelId="{6F78BD38-0DAB-4BA9-979E-D51E4974A01B}">
      <dgm:prSet phldrT="[文本]"/>
      <dgm:spPr>
        <a:solidFill>
          <a:srgbClr val="FBD893"/>
        </a:solidFill>
      </dgm:spPr>
      <dgm:t>
        <a:bodyPr/>
        <a:lstStyle/>
        <a:p>
          <a:endParaRPr lang="zh-CN" altLang="en-US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969917C3-577D-4233-B6D1-80562A5325EA}" cxnId="{C06D6B05-AFF1-443E-BD4C-540B4E55166C}" type="parTrans">
      <dgm:prSet/>
      <dgm:spPr/>
      <dgm:t>
        <a:bodyPr/>
        <a:lstStyle/>
        <a:p>
          <a:endParaRPr lang="zh-CN" altLang="en-US"/>
        </a:p>
      </dgm:t>
    </dgm:pt>
    <dgm:pt modelId="{8FB430F0-D1E1-4444-A680-C2912AC9433E}" cxnId="{C06D6B05-AFF1-443E-BD4C-540B4E55166C}" type="sibTrans">
      <dgm:prSet/>
      <dgm:spPr/>
      <dgm:t>
        <a:bodyPr/>
        <a:lstStyle/>
        <a:p>
          <a:endParaRPr lang="zh-CN" altLang="en-US"/>
        </a:p>
      </dgm:t>
    </dgm:pt>
    <dgm:pt modelId="{FC8F5775-E030-4EA9-9FB5-7B9560B0C9B5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69DDDCC6-C359-4EE8-9D78-651A988663C5}" cxnId="{651BF770-A92F-4E61-AB94-BFFACF2CEC42}" type="parTrans">
      <dgm:prSet/>
      <dgm:spPr/>
      <dgm:t>
        <a:bodyPr/>
        <a:lstStyle/>
        <a:p>
          <a:endParaRPr lang="zh-CN" altLang="en-US"/>
        </a:p>
      </dgm:t>
    </dgm:pt>
    <dgm:pt modelId="{82943973-6A12-415B-A924-1A5AC118AE54}" cxnId="{651BF770-A92F-4E61-AB94-BFFACF2CEC42}" type="sibTrans">
      <dgm:prSet/>
      <dgm:spPr/>
      <dgm:t>
        <a:bodyPr/>
        <a:lstStyle/>
        <a:p>
          <a:endParaRPr lang="zh-CN" altLang="en-US"/>
        </a:p>
      </dgm:t>
    </dgm:pt>
    <dgm:pt modelId="{00BABC50-B6F5-46A8-B7C6-D84EDAFB0BA1}">
      <dgm:prSet/>
      <dgm:spPr>
        <a:solidFill>
          <a:srgbClr val="0070C0"/>
        </a:solidFill>
      </dgm:spPr>
      <dgm:t>
        <a:bodyPr/>
        <a:lstStyle/>
        <a:p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DA90153F-965D-473A-8F72-690ACD31592B}" cxnId="{C32D97B4-C1E0-4EA8-835C-B4E6A3968A11}" type="parTrans">
      <dgm:prSet/>
      <dgm:spPr/>
      <dgm:t>
        <a:bodyPr/>
        <a:lstStyle/>
        <a:p>
          <a:endParaRPr lang="zh-CN" altLang="en-US"/>
        </a:p>
      </dgm:t>
    </dgm:pt>
    <dgm:pt modelId="{C5582380-BBA0-4706-B199-9F56987A75A5}" cxnId="{C32D97B4-C1E0-4EA8-835C-B4E6A3968A11}" type="sibTrans">
      <dgm:prSet/>
      <dgm:spPr/>
      <dgm:t>
        <a:bodyPr/>
        <a:lstStyle/>
        <a:p>
          <a:endParaRPr lang="zh-CN" altLang="en-US"/>
        </a:p>
      </dgm:t>
    </dgm:pt>
    <dgm:pt modelId="{7D08496E-D6FB-47F9-9026-93FE88257159}">
      <dgm:prSet/>
      <dgm:spPr>
        <a:solidFill>
          <a:srgbClr val="F7B021"/>
        </a:solidFill>
      </dgm:spPr>
      <dgm:t>
        <a:bodyPr/>
        <a:lstStyle/>
        <a:p>
          <a:endParaRPr lang="en-US" altLang="zh-CN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E856D694-A5C1-4218-AEB1-162792A8B998}" cxnId="{000992E1-7C7E-4DE1-859E-9E7C968ECD17}" type="parTrans">
      <dgm:prSet/>
      <dgm:spPr/>
      <dgm:t>
        <a:bodyPr/>
        <a:lstStyle/>
        <a:p>
          <a:endParaRPr lang="zh-CN" altLang="en-US"/>
        </a:p>
      </dgm:t>
    </dgm:pt>
    <dgm:pt modelId="{6755E587-7705-4170-B99A-CEA10419412B}" cxnId="{000992E1-7C7E-4DE1-859E-9E7C968ECD17}" type="sibTrans">
      <dgm:prSet/>
      <dgm:spPr/>
      <dgm:t>
        <a:bodyPr/>
        <a:lstStyle/>
        <a:p>
          <a:endParaRPr lang="zh-CN" altLang="en-US"/>
        </a:p>
      </dgm:t>
    </dgm:pt>
    <dgm:pt modelId="{F779A1A5-9A04-4D9C-9590-3A16EF1C7A1B}" type="pres">
      <dgm:prSet presAssocID="{4232AEE7-0AE9-4225-BA91-EE044FAAD32B}" presName="Name0" presStyleCnt="0">
        <dgm:presLayoutVars>
          <dgm:dir/>
          <dgm:animLvl val="lvl"/>
          <dgm:resizeHandles val="exact"/>
        </dgm:presLayoutVars>
      </dgm:prSet>
      <dgm:spPr/>
    </dgm:pt>
    <dgm:pt modelId="{818531F3-F124-4F18-9611-39EECCDF5454}" type="pres">
      <dgm:prSet presAssocID="{E5AF815E-C83F-4CAB-BD7A-DEAD703BC57B}" presName="Name8" presStyleCnt="0"/>
      <dgm:spPr/>
    </dgm:pt>
    <dgm:pt modelId="{E67AA2BE-FD3F-45F3-90F2-4ED9A1D5A5BD}" type="pres">
      <dgm:prSet presAssocID="{E5AF815E-C83F-4CAB-BD7A-DEAD703BC57B}" presName="level" presStyleLbl="node1" presStyleIdx="0" presStyleCnt="6">
        <dgm:presLayoutVars>
          <dgm:chMax val="1"/>
          <dgm:bulletEnabled val="1"/>
        </dgm:presLayoutVars>
      </dgm:prSet>
      <dgm:spPr/>
    </dgm:pt>
    <dgm:pt modelId="{48EE8A3A-AA09-4817-AAA0-A666F9059BD4}" type="pres">
      <dgm:prSet presAssocID="{E5AF815E-C83F-4CAB-BD7A-DEAD703BC57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AC243B0-9BB2-4DA9-B682-5657915345A0}" type="pres">
      <dgm:prSet presAssocID="{D1A09BE3-8683-48C1-8ECC-5FA9161D58CE}" presName="Name8" presStyleCnt="0"/>
      <dgm:spPr/>
    </dgm:pt>
    <dgm:pt modelId="{57476486-66E1-448F-B9E1-FDEC0503E90F}" type="pres">
      <dgm:prSet presAssocID="{D1A09BE3-8683-48C1-8ECC-5FA9161D58CE}" presName="level" presStyleLbl="node1" presStyleIdx="1" presStyleCnt="6">
        <dgm:presLayoutVars>
          <dgm:chMax val="1"/>
          <dgm:bulletEnabled val="1"/>
        </dgm:presLayoutVars>
      </dgm:prSet>
      <dgm:spPr/>
    </dgm:pt>
    <dgm:pt modelId="{BD146406-13A1-47BC-98E4-17412914F10C}" type="pres">
      <dgm:prSet presAssocID="{D1A09BE3-8683-48C1-8ECC-5FA9161D58C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B4DD4CD-0493-42A4-856A-11DE3A2FA1A9}" type="pres">
      <dgm:prSet presAssocID="{6F78BD38-0DAB-4BA9-979E-D51E4974A01B}" presName="Name8" presStyleCnt="0"/>
      <dgm:spPr/>
    </dgm:pt>
    <dgm:pt modelId="{9166248D-7A15-4F32-A9D6-62667445BC5B}" type="pres">
      <dgm:prSet presAssocID="{6F78BD38-0DAB-4BA9-979E-D51E4974A01B}" presName="level" presStyleLbl="node1" presStyleIdx="2" presStyleCnt="6">
        <dgm:presLayoutVars>
          <dgm:chMax val="1"/>
          <dgm:bulletEnabled val="1"/>
        </dgm:presLayoutVars>
      </dgm:prSet>
      <dgm:spPr/>
    </dgm:pt>
    <dgm:pt modelId="{AE5F61D4-1852-407C-8D9A-A43AD8BF2788}" type="pres">
      <dgm:prSet presAssocID="{6F78BD38-0DAB-4BA9-979E-D51E4974A01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DFB67D4-2069-465E-8E03-53584F3D14DB}" type="pres">
      <dgm:prSet presAssocID="{FC8F5775-E030-4EA9-9FB5-7B9560B0C9B5}" presName="Name8" presStyleCnt="0"/>
      <dgm:spPr/>
    </dgm:pt>
    <dgm:pt modelId="{DC5F9F16-B30C-4058-A1DB-F603A5B33101}" type="pres">
      <dgm:prSet presAssocID="{FC8F5775-E030-4EA9-9FB5-7B9560B0C9B5}" presName="level" presStyleLbl="node1" presStyleIdx="3" presStyleCnt="6">
        <dgm:presLayoutVars>
          <dgm:chMax val="1"/>
          <dgm:bulletEnabled val="1"/>
        </dgm:presLayoutVars>
      </dgm:prSet>
      <dgm:spPr/>
    </dgm:pt>
    <dgm:pt modelId="{37AF8F7F-CA54-46A0-BC3D-44C2947C74AA}" type="pres">
      <dgm:prSet presAssocID="{FC8F5775-E030-4EA9-9FB5-7B9560B0C9B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7A7B1A3-C8D4-4A4B-86DE-FB2A44972EB9}" type="pres">
      <dgm:prSet presAssocID="{7D08496E-D6FB-47F9-9026-93FE88257159}" presName="Name8" presStyleCnt="0"/>
      <dgm:spPr/>
    </dgm:pt>
    <dgm:pt modelId="{7A7A3055-31E9-41C0-B5AB-F893F4852575}" type="pres">
      <dgm:prSet presAssocID="{7D08496E-D6FB-47F9-9026-93FE88257159}" presName="level" presStyleLbl="node1" presStyleIdx="4" presStyleCnt="6">
        <dgm:presLayoutVars>
          <dgm:chMax val="1"/>
          <dgm:bulletEnabled val="1"/>
        </dgm:presLayoutVars>
      </dgm:prSet>
      <dgm:spPr/>
    </dgm:pt>
    <dgm:pt modelId="{88487477-FA36-4EBD-B953-AA45EC7F2D2D}" type="pres">
      <dgm:prSet presAssocID="{7D08496E-D6FB-47F9-9026-93FE8825715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3A7B637-3731-4944-B000-D0F42CE07456}" type="pres">
      <dgm:prSet presAssocID="{00BABC50-B6F5-46A8-B7C6-D84EDAFB0BA1}" presName="Name8" presStyleCnt="0"/>
      <dgm:spPr/>
    </dgm:pt>
    <dgm:pt modelId="{46121CDC-9224-4533-B8AE-D3B9A80FD320}" type="pres">
      <dgm:prSet presAssocID="{00BABC50-B6F5-46A8-B7C6-D84EDAFB0BA1}" presName="level" presStyleLbl="node1" presStyleIdx="5" presStyleCnt="6">
        <dgm:presLayoutVars>
          <dgm:chMax val="1"/>
          <dgm:bulletEnabled val="1"/>
        </dgm:presLayoutVars>
      </dgm:prSet>
      <dgm:spPr/>
    </dgm:pt>
    <dgm:pt modelId="{03CE9E80-2899-4EB6-B380-70A2A6099EA1}" type="pres">
      <dgm:prSet presAssocID="{00BABC50-B6F5-46A8-B7C6-D84EDAFB0BA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06D6B05-AFF1-443E-BD4C-540B4E55166C}" srcId="{4232AEE7-0AE9-4225-BA91-EE044FAAD32B}" destId="{6F78BD38-0DAB-4BA9-979E-D51E4974A01B}" srcOrd="2" destOrd="0" parTransId="{969917C3-577D-4233-B6D1-80562A5325EA}" sibTransId="{8FB430F0-D1E1-4444-A680-C2912AC9433E}"/>
    <dgm:cxn modelId="{E25A200D-AA90-4D3F-9677-5D12B93BB919}" type="presOf" srcId="{E5AF815E-C83F-4CAB-BD7A-DEAD703BC57B}" destId="{E67AA2BE-FD3F-45F3-90F2-4ED9A1D5A5BD}" srcOrd="0" destOrd="0" presId="urn:microsoft.com/office/officeart/2005/8/layout/pyramid1"/>
    <dgm:cxn modelId="{2BF0100E-24B8-4B60-858C-367A97F9DD28}" srcId="{4232AEE7-0AE9-4225-BA91-EE044FAAD32B}" destId="{D1A09BE3-8683-48C1-8ECC-5FA9161D58CE}" srcOrd="1" destOrd="0" parTransId="{B7CFCEB7-AF8B-4089-92A3-F8880FCBE75E}" sibTransId="{6BFC25E5-BEE6-4203-B65C-6F801C0B2FE9}"/>
    <dgm:cxn modelId="{4502315D-4CD3-4C6A-8DB5-E0DBD0B5288E}" type="presOf" srcId="{D1A09BE3-8683-48C1-8ECC-5FA9161D58CE}" destId="{57476486-66E1-448F-B9E1-FDEC0503E90F}" srcOrd="0" destOrd="0" presId="urn:microsoft.com/office/officeart/2005/8/layout/pyramid1"/>
    <dgm:cxn modelId="{4F106C6D-E30D-405E-A2B5-6B25E13F9425}" type="presOf" srcId="{6F78BD38-0DAB-4BA9-979E-D51E4974A01B}" destId="{9166248D-7A15-4F32-A9D6-62667445BC5B}" srcOrd="0" destOrd="0" presId="urn:microsoft.com/office/officeart/2005/8/layout/pyramid1"/>
    <dgm:cxn modelId="{5168A44E-42AF-4BAD-B05B-1DD171FF1996}" type="presOf" srcId="{00BABC50-B6F5-46A8-B7C6-D84EDAFB0BA1}" destId="{46121CDC-9224-4533-B8AE-D3B9A80FD320}" srcOrd="0" destOrd="0" presId="urn:microsoft.com/office/officeart/2005/8/layout/pyramid1"/>
    <dgm:cxn modelId="{651BF770-A92F-4E61-AB94-BFFACF2CEC42}" srcId="{4232AEE7-0AE9-4225-BA91-EE044FAAD32B}" destId="{FC8F5775-E030-4EA9-9FB5-7B9560B0C9B5}" srcOrd="3" destOrd="0" parTransId="{69DDDCC6-C359-4EE8-9D78-651A988663C5}" sibTransId="{82943973-6A12-415B-A924-1A5AC118AE54}"/>
    <dgm:cxn modelId="{E3903F71-827D-498B-A3B1-3D3F21F3E0F9}" type="presOf" srcId="{4232AEE7-0AE9-4225-BA91-EE044FAAD32B}" destId="{F779A1A5-9A04-4D9C-9590-3A16EF1C7A1B}" srcOrd="0" destOrd="0" presId="urn:microsoft.com/office/officeart/2005/8/layout/pyramid1"/>
    <dgm:cxn modelId="{42F60155-E7DB-4FB7-A157-4AD5BCFB0197}" type="presOf" srcId="{00BABC50-B6F5-46A8-B7C6-D84EDAFB0BA1}" destId="{03CE9E80-2899-4EB6-B380-70A2A6099EA1}" srcOrd="1" destOrd="0" presId="urn:microsoft.com/office/officeart/2005/8/layout/pyramid1"/>
    <dgm:cxn modelId="{C32D97B4-C1E0-4EA8-835C-B4E6A3968A11}" srcId="{4232AEE7-0AE9-4225-BA91-EE044FAAD32B}" destId="{00BABC50-B6F5-46A8-B7C6-D84EDAFB0BA1}" srcOrd="5" destOrd="0" parTransId="{DA90153F-965D-473A-8F72-690ACD31592B}" sibTransId="{C5582380-BBA0-4706-B199-9F56987A75A5}"/>
    <dgm:cxn modelId="{83A3CCC4-A818-40CB-91D2-4E92A48E0C6F}" type="presOf" srcId="{7D08496E-D6FB-47F9-9026-93FE88257159}" destId="{7A7A3055-31E9-41C0-B5AB-F893F4852575}" srcOrd="0" destOrd="0" presId="urn:microsoft.com/office/officeart/2005/8/layout/pyramid1"/>
    <dgm:cxn modelId="{C30553CA-8FA6-4ADB-85A2-AF594626E96F}" type="presOf" srcId="{FC8F5775-E030-4EA9-9FB5-7B9560B0C9B5}" destId="{DC5F9F16-B30C-4058-A1DB-F603A5B33101}" srcOrd="0" destOrd="0" presId="urn:microsoft.com/office/officeart/2005/8/layout/pyramid1"/>
    <dgm:cxn modelId="{242219CC-A281-468D-A2E1-CC590B4A389B}" type="presOf" srcId="{7D08496E-D6FB-47F9-9026-93FE88257159}" destId="{88487477-FA36-4EBD-B953-AA45EC7F2D2D}" srcOrd="1" destOrd="0" presId="urn:microsoft.com/office/officeart/2005/8/layout/pyramid1"/>
    <dgm:cxn modelId="{8C8D87CD-D365-4CC3-890D-3730A16B98DC}" srcId="{4232AEE7-0AE9-4225-BA91-EE044FAAD32B}" destId="{E5AF815E-C83F-4CAB-BD7A-DEAD703BC57B}" srcOrd="0" destOrd="0" parTransId="{E7CF3231-CF34-46B5-8452-FCF975D09494}" sibTransId="{4574C204-4D84-412D-96A0-ED8C39B25436}"/>
    <dgm:cxn modelId="{F4E99ADD-BDB9-4881-B9B7-3EFE77A921E9}" type="presOf" srcId="{6F78BD38-0DAB-4BA9-979E-D51E4974A01B}" destId="{AE5F61D4-1852-407C-8D9A-A43AD8BF2788}" srcOrd="1" destOrd="0" presId="urn:microsoft.com/office/officeart/2005/8/layout/pyramid1"/>
    <dgm:cxn modelId="{000992E1-7C7E-4DE1-859E-9E7C968ECD17}" srcId="{4232AEE7-0AE9-4225-BA91-EE044FAAD32B}" destId="{7D08496E-D6FB-47F9-9026-93FE88257159}" srcOrd="4" destOrd="0" parTransId="{E856D694-A5C1-4218-AEB1-162792A8B998}" sibTransId="{6755E587-7705-4170-B99A-CEA10419412B}"/>
    <dgm:cxn modelId="{579505F0-0082-47A1-B527-94F631F2B7E1}" type="presOf" srcId="{E5AF815E-C83F-4CAB-BD7A-DEAD703BC57B}" destId="{48EE8A3A-AA09-4817-AAA0-A666F9059BD4}" srcOrd="1" destOrd="0" presId="urn:microsoft.com/office/officeart/2005/8/layout/pyramid1"/>
    <dgm:cxn modelId="{06A938F0-0FE5-41E9-AEE0-AB8935506F05}" type="presOf" srcId="{FC8F5775-E030-4EA9-9FB5-7B9560B0C9B5}" destId="{37AF8F7F-CA54-46A0-BC3D-44C2947C74AA}" srcOrd="1" destOrd="0" presId="urn:microsoft.com/office/officeart/2005/8/layout/pyramid1"/>
    <dgm:cxn modelId="{65FBFDFD-DCA3-434C-B070-6FAAA139B573}" type="presOf" srcId="{D1A09BE3-8683-48C1-8ECC-5FA9161D58CE}" destId="{BD146406-13A1-47BC-98E4-17412914F10C}" srcOrd="1" destOrd="0" presId="urn:microsoft.com/office/officeart/2005/8/layout/pyramid1"/>
    <dgm:cxn modelId="{748CA3FF-13C2-4B2C-8642-EE4950638921}" type="presParOf" srcId="{F779A1A5-9A04-4D9C-9590-3A16EF1C7A1B}" destId="{818531F3-F124-4F18-9611-39EECCDF5454}" srcOrd="0" destOrd="0" presId="urn:microsoft.com/office/officeart/2005/8/layout/pyramid1"/>
    <dgm:cxn modelId="{F02AC41E-2F96-4EC9-824B-82A8EF4B355E}" type="presParOf" srcId="{818531F3-F124-4F18-9611-39EECCDF5454}" destId="{E67AA2BE-FD3F-45F3-90F2-4ED9A1D5A5BD}" srcOrd="0" destOrd="0" presId="urn:microsoft.com/office/officeart/2005/8/layout/pyramid1"/>
    <dgm:cxn modelId="{E509956F-AFD4-421F-A1E9-A3824E2E897A}" type="presParOf" srcId="{818531F3-F124-4F18-9611-39EECCDF5454}" destId="{48EE8A3A-AA09-4817-AAA0-A666F9059BD4}" srcOrd="1" destOrd="0" presId="urn:microsoft.com/office/officeart/2005/8/layout/pyramid1"/>
    <dgm:cxn modelId="{0EEC95AA-9ECB-4491-92A6-C02693D78885}" type="presParOf" srcId="{F779A1A5-9A04-4D9C-9590-3A16EF1C7A1B}" destId="{EAC243B0-9BB2-4DA9-B682-5657915345A0}" srcOrd="1" destOrd="0" presId="urn:microsoft.com/office/officeart/2005/8/layout/pyramid1"/>
    <dgm:cxn modelId="{C737C45D-C0F4-4302-9ABE-23DACE19BC05}" type="presParOf" srcId="{EAC243B0-9BB2-4DA9-B682-5657915345A0}" destId="{57476486-66E1-448F-B9E1-FDEC0503E90F}" srcOrd="0" destOrd="0" presId="urn:microsoft.com/office/officeart/2005/8/layout/pyramid1"/>
    <dgm:cxn modelId="{B5F5054D-4956-4D69-AA79-06572FC427B4}" type="presParOf" srcId="{EAC243B0-9BB2-4DA9-B682-5657915345A0}" destId="{BD146406-13A1-47BC-98E4-17412914F10C}" srcOrd="1" destOrd="0" presId="urn:microsoft.com/office/officeart/2005/8/layout/pyramid1"/>
    <dgm:cxn modelId="{F6D36FC6-7166-440E-B6B8-B3685CBF2391}" type="presParOf" srcId="{F779A1A5-9A04-4D9C-9590-3A16EF1C7A1B}" destId="{5B4DD4CD-0493-42A4-856A-11DE3A2FA1A9}" srcOrd="2" destOrd="0" presId="urn:microsoft.com/office/officeart/2005/8/layout/pyramid1"/>
    <dgm:cxn modelId="{2C267467-9036-43D4-903E-5B2F718D5489}" type="presParOf" srcId="{5B4DD4CD-0493-42A4-856A-11DE3A2FA1A9}" destId="{9166248D-7A15-4F32-A9D6-62667445BC5B}" srcOrd="0" destOrd="0" presId="urn:microsoft.com/office/officeart/2005/8/layout/pyramid1"/>
    <dgm:cxn modelId="{CBBE670C-0D45-494D-B973-1A3FD4BBD0F3}" type="presParOf" srcId="{5B4DD4CD-0493-42A4-856A-11DE3A2FA1A9}" destId="{AE5F61D4-1852-407C-8D9A-A43AD8BF2788}" srcOrd="1" destOrd="0" presId="urn:microsoft.com/office/officeart/2005/8/layout/pyramid1"/>
    <dgm:cxn modelId="{7F8FFB9B-F935-4984-A713-30C56448195B}" type="presParOf" srcId="{F779A1A5-9A04-4D9C-9590-3A16EF1C7A1B}" destId="{0DFB67D4-2069-465E-8E03-53584F3D14DB}" srcOrd="3" destOrd="0" presId="urn:microsoft.com/office/officeart/2005/8/layout/pyramid1"/>
    <dgm:cxn modelId="{3749D36F-2A08-4967-A0EB-DB4DF880C843}" type="presParOf" srcId="{0DFB67D4-2069-465E-8E03-53584F3D14DB}" destId="{DC5F9F16-B30C-4058-A1DB-F603A5B33101}" srcOrd="0" destOrd="0" presId="urn:microsoft.com/office/officeart/2005/8/layout/pyramid1"/>
    <dgm:cxn modelId="{FA60A0F4-0BCD-4A05-B822-8647A6DD0636}" type="presParOf" srcId="{0DFB67D4-2069-465E-8E03-53584F3D14DB}" destId="{37AF8F7F-CA54-46A0-BC3D-44C2947C74AA}" srcOrd="1" destOrd="0" presId="urn:microsoft.com/office/officeart/2005/8/layout/pyramid1"/>
    <dgm:cxn modelId="{FFB61DFA-64CC-4534-AD3B-7222D5C99F50}" type="presParOf" srcId="{F779A1A5-9A04-4D9C-9590-3A16EF1C7A1B}" destId="{D7A7B1A3-C8D4-4A4B-86DE-FB2A44972EB9}" srcOrd="4" destOrd="0" presId="urn:microsoft.com/office/officeart/2005/8/layout/pyramid1"/>
    <dgm:cxn modelId="{E3E88D72-569F-4C6D-8534-961EB2E66ADC}" type="presParOf" srcId="{D7A7B1A3-C8D4-4A4B-86DE-FB2A44972EB9}" destId="{7A7A3055-31E9-41C0-B5AB-F893F4852575}" srcOrd="0" destOrd="0" presId="urn:microsoft.com/office/officeart/2005/8/layout/pyramid1"/>
    <dgm:cxn modelId="{2C917FD2-204C-486E-A604-207455CBD958}" type="presParOf" srcId="{D7A7B1A3-C8D4-4A4B-86DE-FB2A44972EB9}" destId="{88487477-FA36-4EBD-B953-AA45EC7F2D2D}" srcOrd="1" destOrd="0" presId="urn:microsoft.com/office/officeart/2005/8/layout/pyramid1"/>
    <dgm:cxn modelId="{8184FAC1-C5E8-4D56-B5D3-B842CE90D2E9}" type="presParOf" srcId="{F779A1A5-9A04-4D9C-9590-3A16EF1C7A1B}" destId="{83A7B637-3731-4944-B000-D0F42CE07456}" srcOrd="5" destOrd="0" presId="urn:microsoft.com/office/officeart/2005/8/layout/pyramid1"/>
    <dgm:cxn modelId="{4EE4C25A-1B2F-497C-A3CD-966BA9AFDDA5}" type="presParOf" srcId="{83A7B637-3731-4944-B000-D0F42CE07456}" destId="{46121CDC-9224-4533-B8AE-D3B9A80FD320}" srcOrd="0" destOrd="0" presId="urn:microsoft.com/office/officeart/2005/8/layout/pyramid1"/>
    <dgm:cxn modelId="{A22CDE1E-8F82-4A9C-BC10-0BBE84A7682E}" type="presParOf" srcId="{83A7B637-3731-4944-B000-D0F42CE07456}" destId="{03CE9E80-2899-4EB6-B380-70A2A6099EA1}" srcOrd="1" destOrd="0" presId="urn:microsoft.com/office/officeart/2005/8/layout/pyramid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5A84DE-CBF5-4A0D-9CBF-4DAD6A29A4E4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55AE01C-E013-4A6A-AF17-DE5E1BF70C0E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CD676FE-5090-47E8-AFB0-10DFC04F7EC7}" cxnId="{C0BB2218-8512-4337-A630-474A1A213899}" type="parTrans">
      <dgm:prSet/>
      <dgm:spPr/>
      <dgm:t>
        <a:bodyPr/>
        <a:lstStyle/>
        <a:p>
          <a:endParaRPr lang="zh-CN" altLang="en-US"/>
        </a:p>
      </dgm:t>
    </dgm:pt>
    <dgm:pt modelId="{060FD457-A980-40B8-B7AA-C21CD8976422}" cxnId="{C0BB2218-8512-4337-A630-474A1A213899}" type="sibTrans">
      <dgm:prSet/>
      <dgm:spPr/>
      <dgm:t>
        <a:bodyPr/>
        <a:lstStyle/>
        <a:p>
          <a:endParaRPr lang="zh-CN" altLang="en-US"/>
        </a:p>
      </dgm:t>
    </dgm:pt>
    <dgm:pt modelId="{9BA1A26A-508D-4DC2-A2B8-77C1F7F32EA1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FA35BAB-FD62-4ADC-B829-6D5EBD3420CD}" cxnId="{08B18052-D253-46ED-A5B7-8226AEADA7C2}" type="parTrans">
      <dgm:prSet/>
      <dgm:spPr/>
      <dgm:t>
        <a:bodyPr/>
        <a:lstStyle/>
        <a:p>
          <a:endParaRPr lang="zh-CN" altLang="en-US"/>
        </a:p>
      </dgm:t>
    </dgm:pt>
    <dgm:pt modelId="{21331F2D-C7F8-44AE-9CA8-EB9BCC562CE4}" cxnId="{08B18052-D253-46ED-A5B7-8226AEADA7C2}" type="sibTrans">
      <dgm:prSet/>
      <dgm:spPr/>
      <dgm:t>
        <a:bodyPr/>
        <a:lstStyle/>
        <a:p>
          <a:endParaRPr lang="zh-CN" altLang="en-US"/>
        </a:p>
      </dgm:t>
    </dgm:pt>
    <dgm:pt modelId="{4EEA21D1-3087-4788-93A6-F4FE9F9977B2}">
      <dgm:prSet/>
      <dgm:spPr>
        <a:solidFill>
          <a:srgbClr val="FBD893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66E1CDB3-4980-44E9-BA76-097AF10FD769}" cxnId="{992461DA-BB96-4D7A-B605-0F6E49FC26E2}" type="parTrans">
      <dgm:prSet/>
      <dgm:spPr/>
      <dgm:t>
        <a:bodyPr/>
        <a:lstStyle/>
        <a:p>
          <a:endParaRPr lang="zh-CN" altLang="en-US"/>
        </a:p>
      </dgm:t>
    </dgm:pt>
    <dgm:pt modelId="{6FC293BE-17E4-49B6-A456-F1473E1D1057}" cxnId="{992461DA-BB96-4D7A-B605-0F6E49FC26E2}" type="sibTrans">
      <dgm:prSet/>
      <dgm:spPr/>
      <dgm:t>
        <a:bodyPr/>
        <a:lstStyle/>
        <a:p>
          <a:endParaRPr lang="zh-CN" altLang="en-US"/>
        </a:p>
      </dgm:t>
    </dgm:pt>
    <dgm:pt modelId="{720ED9A1-B6E2-435F-BEB4-5A289ECC6B0C}">
      <dgm:prSet/>
      <dgm:spPr>
        <a:solidFill>
          <a:srgbClr val="0070C0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8F8B7BA6-3BF4-47B0-B03E-D45F9DB83C78}" cxnId="{91D0E707-AC0D-41D2-9022-4E93D978D98F}" type="parTrans">
      <dgm:prSet/>
      <dgm:spPr/>
      <dgm:t>
        <a:bodyPr/>
        <a:lstStyle/>
        <a:p>
          <a:endParaRPr lang="zh-CN" altLang="en-US"/>
        </a:p>
      </dgm:t>
    </dgm:pt>
    <dgm:pt modelId="{1AA2E043-4E6A-45C0-B1DE-37B0859DE813}" cxnId="{91D0E707-AC0D-41D2-9022-4E93D978D98F}" type="sibTrans">
      <dgm:prSet/>
      <dgm:spPr/>
      <dgm:t>
        <a:bodyPr/>
        <a:lstStyle/>
        <a:p>
          <a:endParaRPr lang="zh-CN" altLang="en-US"/>
        </a:p>
      </dgm:t>
    </dgm:pt>
    <dgm:pt modelId="{5CD24136-81AA-4B43-B064-90D471D4B37A}" type="pres">
      <dgm:prSet presAssocID="{9F5A84DE-CBF5-4A0D-9CBF-4DAD6A29A4E4}" presName="Name0" presStyleCnt="0">
        <dgm:presLayoutVars>
          <dgm:dir/>
          <dgm:animLvl val="lvl"/>
          <dgm:resizeHandles val="exact"/>
        </dgm:presLayoutVars>
      </dgm:prSet>
      <dgm:spPr/>
    </dgm:pt>
    <dgm:pt modelId="{0FAEA01A-4B7D-4863-9233-E73513BD4D71}" type="pres">
      <dgm:prSet presAssocID="{9BA1A26A-508D-4DC2-A2B8-77C1F7F32EA1}" presName="Name8" presStyleCnt="0"/>
      <dgm:spPr/>
    </dgm:pt>
    <dgm:pt modelId="{B8D9092D-1B0A-4A84-8D91-AD4E0AFA8A4E}" type="pres">
      <dgm:prSet presAssocID="{9BA1A26A-508D-4DC2-A2B8-77C1F7F32EA1}" presName="level" presStyleLbl="node1" presStyleIdx="0" presStyleCnt="4">
        <dgm:presLayoutVars>
          <dgm:chMax val="1"/>
          <dgm:bulletEnabled val="1"/>
        </dgm:presLayoutVars>
      </dgm:prSet>
      <dgm:spPr/>
    </dgm:pt>
    <dgm:pt modelId="{3892B68E-B924-42B0-B3E5-0F694E01F097}" type="pres">
      <dgm:prSet presAssocID="{9BA1A26A-508D-4DC2-A2B8-77C1F7F32EA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1E4F23B-A564-4F01-9D77-CC92B7807997}" type="pres">
      <dgm:prSet presAssocID="{720ED9A1-B6E2-435F-BEB4-5A289ECC6B0C}" presName="Name8" presStyleCnt="0"/>
      <dgm:spPr/>
    </dgm:pt>
    <dgm:pt modelId="{31A9D167-7519-40B5-9C42-565106CE9677}" type="pres">
      <dgm:prSet presAssocID="{720ED9A1-B6E2-435F-BEB4-5A289ECC6B0C}" presName="level" presStyleLbl="node1" presStyleIdx="1" presStyleCnt="4">
        <dgm:presLayoutVars>
          <dgm:chMax val="1"/>
          <dgm:bulletEnabled val="1"/>
        </dgm:presLayoutVars>
      </dgm:prSet>
      <dgm:spPr/>
    </dgm:pt>
    <dgm:pt modelId="{D396E301-5A3D-46A0-91E6-F2EA15192D55}" type="pres">
      <dgm:prSet presAssocID="{720ED9A1-B6E2-435F-BEB4-5A289ECC6B0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DCD2B2F-D93F-4A59-91E7-BC28F760FF3A}" type="pres">
      <dgm:prSet presAssocID="{4EEA21D1-3087-4788-93A6-F4FE9F9977B2}" presName="Name8" presStyleCnt="0"/>
      <dgm:spPr/>
    </dgm:pt>
    <dgm:pt modelId="{02F7E6B8-CA05-43BB-A084-B9303096DF86}" type="pres">
      <dgm:prSet presAssocID="{4EEA21D1-3087-4788-93A6-F4FE9F9977B2}" presName="level" presStyleLbl="node1" presStyleIdx="2" presStyleCnt="4">
        <dgm:presLayoutVars>
          <dgm:chMax val="1"/>
          <dgm:bulletEnabled val="1"/>
        </dgm:presLayoutVars>
      </dgm:prSet>
      <dgm:spPr/>
    </dgm:pt>
    <dgm:pt modelId="{2C26B334-F843-4C3B-86FB-9D6607012E32}" type="pres">
      <dgm:prSet presAssocID="{4EEA21D1-3087-4788-93A6-F4FE9F9977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FC2F20B-19E4-4BC3-885E-C8A23C9434BD}" type="pres">
      <dgm:prSet presAssocID="{D55AE01C-E013-4A6A-AF17-DE5E1BF70C0E}" presName="Name8" presStyleCnt="0"/>
      <dgm:spPr/>
    </dgm:pt>
    <dgm:pt modelId="{EDDE1C17-932D-4CD3-B8AC-E406491DAD54}" type="pres">
      <dgm:prSet presAssocID="{D55AE01C-E013-4A6A-AF17-DE5E1BF70C0E}" presName="level" presStyleLbl="node1" presStyleIdx="3" presStyleCnt="4">
        <dgm:presLayoutVars>
          <dgm:chMax val="1"/>
          <dgm:bulletEnabled val="1"/>
        </dgm:presLayoutVars>
      </dgm:prSet>
      <dgm:spPr/>
    </dgm:pt>
    <dgm:pt modelId="{FA9CF802-84D9-480C-B3F2-14ACFD2A145B}" type="pres">
      <dgm:prSet presAssocID="{D55AE01C-E013-4A6A-AF17-DE5E1BF70C0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1D0E707-AC0D-41D2-9022-4E93D978D98F}" srcId="{9F5A84DE-CBF5-4A0D-9CBF-4DAD6A29A4E4}" destId="{720ED9A1-B6E2-435F-BEB4-5A289ECC6B0C}" srcOrd="1" destOrd="0" parTransId="{8F8B7BA6-3BF4-47B0-B03E-D45F9DB83C78}" sibTransId="{1AA2E043-4E6A-45C0-B1DE-37B0859DE813}"/>
    <dgm:cxn modelId="{A9B46511-7723-4E01-8A8F-E5E067F4968E}" type="presOf" srcId="{9BA1A26A-508D-4DC2-A2B8-77C1F7F32EA1}" destId="{B8D9092D-1B0A-4A84-8D91-AD4E0AFA8A4E}" srcOrd="0" destOrd="0" presId="urn:microsoft.com/office/officeart/2005/8/layout/pyramid1"/>
    <dgm:cxn modelId="{01041F16-672C-4C92-AF6E-909CC6F3616C}" type="presOf" srcId="{D55AE01C-E013-4A6A-AF17-DE5E1BF70C0E}" destId="{EDDE1C17-932D-4CD3-B8AC-E406491DAD54}" srcOrd="0" destOrd="0" presId="urn:microsoft.com/office/officeart/2005/8/layout/pyramid1"/>
    <dgm:cxn modelId="{C0BB2218-8512-4337-A630-474A1A213899}" srcId="{9F5A84DE-CBF5-4A0D-9CBF-4DAD6A29A4E4}" destId="{D55AE01C-E013-4A6A-AF17-DE5E1BF70C0E}" srcOrd="3" destOrd="0" parTransId="{3CD676FE-5090-47E8-AFB0-10DFC04F7EC7}" sibTransId="{060FD457-A980-40B8-B7AA-C21CD8976422}"/>
    <dgm:cxn modelId="{44DC8A1E-ABE3-4727-8749-32CB9D715938}" type="presOf" srcId="{9F5A84DE-CBF5-4A0D-9CBF-4DAD6A29A4E4}" destId="{5CD24136-81AA-4B43-B064-90D471D4B37A}" srcOrd="0" destOrd="0" presId="urn:microsoft.com/office/officeart/2005/8/layout/pyramid1"/>
    <dgm:cxn modelId="{BD828B67-F1C1-43B0-A488-0519026F751F}" type="presOf" srcId="{4EEA21D1-3087-4788-93A6-F4FE9F9977B2}" destId="{02F7E6B8-CA05-43BB-A084-B9303096DF86}" srcOrd="0" destOrd="0" presId="urn:microsoft.com/office/officeart/2005/8/layout/pyramid1"/>
    <dgm:cxn modelId="{C86DF44D-120D-46C8-AB2F-60CB561912AA}" type="presOf" srcId="{9BA1A26A-508D-4DC2-A2B8-77C1F7F32EA1}" destId="{3892B68E-B924-42B0-B3E5-0F694E01F097}" srcOrd="1" destOrd="0" presId="urn:microsoft.com/office/officeart/2005/8/layout/pyramid1"/>
    <dgm:cxn modelId="{08B18052-D253-46ED-A5B7-8226AEADA7C2}" srcId="{9F5A84DE-CBF5-4A0D-9CBF-4DAD6A29A4E4}" destId="{9BA1A26A-508D-4DC2-A2B8-77C1F7F32EA1}" srcOrd="0" destOrd="0" parTransId="{3FA35BAB-FD62-4ADC-B829-6D5EBD3420CD}" sibTransId="{21331F2D-C7F8-44AE-9CA8-EB9BCC562CE4}"/>
    <dgm:cxn modelId="{A4652888-7D32-4E24-B7B3-35D8D5A655A6}" type="presOf" srcId="{720ED9A1-B6E2-435F-BEB4-5A289ECC6B0C}" destId="{D396E301-5A3D-46A0-91E6-F2EA15192D55}" srcOrd="1" destOrd="0" presId="urn:microsoft.com/office/officeart/2005/8/layout/pyramid1"/>
    <dgm:cxn modelId="{0F051F9C-2CC4-4440-841C-6AC2725800CD}" type="presOf" srcId="{D55AE01C-E013-4A6A-AF17-DE5E1BF70C0E}" destId="{FA9CF802-84D9-480C-B3F2-14ACFD2A145B}" srcOrd="1" destOrd="0" presId="urn:microsoft.com/office/officeart/2005/8/layout/pyramid1"/>
    <dgm:cxn modelId="{69CEB1C8-ED39-48A8-B613-12748F76604E}" type="presOf" srcId="{4EEA21D1-3087-4788-93A6-F4FE9F9977B2}" destId="{2C26B334-F843-4C3B-86FB-9D6607012E32}" srcOrd="1" destOrd="0" presId="urn:microsoft.com/office/officeart/2005/8/layout/pyramid1"/>
    <dgm:cxn modelId="{992461DA-BB96-4D7A-B605-0F6E49FC26E2}" srcId="{9F5A84DE-CBF5-4A0D-9CBF-4DAD6A29A4E4}" destId="{4EEA21D1-3087-4788-93A6-F4FE9F9977B2}" srcOrd="2" destOrd="0" parTransId="{66E1CDB3-4980-44E9-BA76-097AF10FD769}" sibTransId="{6FC293BE-17E4-49B6-A456-F1473E1D1057}"/>
    <dgm:cxn modelId="{4D6B0DFB-3ECA-4894-B611-FA3FEC3A34A9}" type="presOf" srcId="{720ED9A1-B6E2-435F-BEB4-5A289ECC6B0C}" destId="{31A9D167-7519-40B5-9C42-565106CE9677}" srcOrd="0" destOrd="0" presId="urn:microsoft.com/office/officeart/2005/8/layout/pyramid1"/>
    <dgm:cxn modelId="{1B219E28-D7CD-479C-B305-B98A220C4219}" type="presParOf" srcId="{5CD24136-81AA-4B43-B064-90D471D4B37A}" destId="{0FAEA01A-4B7D-4863-9233-E73513BD4D71}" srcOrd="0" destOrd="0" presId="urn:microsoft.com/office/officeart/2005/8/layout/pyramid1"/>
    <dgm:cxn modelId="{35F187A8-6A39-46B6-B4F1-4747AF9D4C1E}" type="presParOf" srcId="{0FAEA01A-4B7D-4863-9233-E73513BD4D71}" destId="{B8D9092D-1B0A-4A84-8D91-AD4E0AFA8A4E}" srcOrd="0" destOrd="0" presId="urn:microsoft.com/office/officeart/2005/8/layout/pyramid1"/>
    <dgm:cxn modelId="{F1ABE804-BCBD-4E84-9FD5-A23DC20AFA56}" type="presParOf" srcId="{0FAEA01A-4B7D-4863-9233-E73513BD4D71}" destId="{3892B68E-B924-42B0-B3E5-0F694E01F097}" srcOrd="1" destOrd="0" presId="urn:microsoft.com/office/officeart/2005/8/layout/pyramid1"/>
    <dgm:cxn modelId="{ED226029-1518-472A-A7AD-B0A05FDADA2C}" type="presParOf" srcId="{5CD24136-81AA-4B43-B064-90D471D4B37A}" destId="{41E4F23B-A564-4F01-9D77-CC92B7807997}" srcOrd="1" destOrd="0" presId="urn:microsoft.com/office/officeart/2005/8/layout/pyramid1"/>
    <dgm:cxn modelId="{083721EA-21A5-4827-B49A-9766B782A0CE}" type="presParOf" srcId="{41E4F23B-A564-4F01-9D77-CC92B7807997}" destId="{31A9D167-7519-40B5-9C42-565106CE9677}" srcOrd="0" destOrd="0" presId="urn:microsoft.com/office/officeart/2005/8/layout/pyramid1"/>
    <dgm:cxn modelId="{49B35DC6-91FA-4DFB-AEA0-00EDC0A8E4DF}" type="presParOf" srcId="{41E4F23B-A564-4F01-9D77-CC92B7807997}" destId="{D396E301-5A3D-46A0-91E6-F2EA15192D55}" srcOrd="1" destOrd="0" presId="urn:microsoft.com/office/officeart/2005/8/layout/pyramid1"/>
    <dgm:cxn modelId="{EF0E8037-AAEC-4D19-98D0-85B5AB47E96A}" type="presParOf" srcId="{5CD24136-81AA-4B43-B064-90D471D4B37A}" destId="{8DCD2B2F-D93F-4A59-91E7-BC28F760FF3A}" srcOrd="2" destOrd="0" presId="urn:microsoft.com/office/officeart/2005/8/layout/pyramid1"/>
    <dgm:cxn modelId="{8961E540-CFFC-4034-90AD-8ED812E68336}" type="presParOf" srcId="{8DCD2B2F-D93F-4A59-91E7-BC28F760FF3A}" destId="{02F7E6B8-CA05-43BB-A084-B9303096DF86}" srcOrd="0" destOrd="0" presId="urn:microsoft.com/office/officeart/2005/8/layout/pyramid1"/>
    <dgm:cxn modelId="{24279B48-C17A-41B1-8F46-3A28D65710F3}" type="presParOf" srcId="{8DCD2B2F-D93F-4A59-91E7-BC28F760FF3A}" destId="{2C26B334-F843-4C3B-86FB-9D6607012E32}" srcOrd="1" destOrd="0" presId="urn:microsoft.com/office/officeart/2005/8/layout/pyramid1"/>
    <dgm:cxn modelId="{86A4A2F7-F7E3-4DDE-9E56-0BD9138286A9}" type="presParOf" srcId="{5CD24136-81AA-4B43-B064-90D471D4B37A}" destId="{4FC2F20B-19E4-4BC3-885E-C8A23C9434BD}" srcOrd="3" destOrd="0" presId="urn:microsoft.com/office/officeart/2005/8/layout/pyramid1"/>
    <dgm:cxn modelId="{EFB8625F-2237-45C6-8D18-CF11FA270C54}" type="presParOf" srcId="{4FC2F20B-19E4-4BC3-885E-C8A23C9434BD}" destId="{EDDE1C17-932D-4CD3-B8AC-E406491DAD54}" srcOrd="0" destOrd="0" presId="urn:microsoft.com/office/officeart/2005/8/layout/pyramid1"/>
    <dgm:cxn modelId="{B8EE1FBC-C2AD-44BB-9BED-6CFEE87DCF58}" type="presParOf" srcId="{4FC2F20B-19E4-4BC3-885E-C8A23C9434BD}" destId="{FA9CF802-84D9-480C-B3F2-14ACFD2A145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04E1BC-B0A9-495F-9458-CBFA2C6E95CF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207BE846-262B-418D-A28F-A1966DECBBA3}">
      <dgm:prSet/>
      <dgm:spPr>
        <a:solidFill>
          <a:srgbClr val="0070C0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6D3174D7-F2A1-4A34-9FA8-0FC0E0038B59}" cxnId="{F1362290-773D-4A92-AF4B-5C9EBBE3A444}" type="parTrans">
      <dgm:prSet/>
      <dgm:spPr/>
      <dgm:t>
        <a:bodyPr/>
        <a:lstStyle/>
        <a:p>
          <a:endParaRPr lang="zh-CN" altLang="en-US"/>
        </a:p>
      </dgm:t>
    </dgm:pt>
    <dgm:pt modelId="{4A5A5D1B-24F7-4DC3-9A34-5D7B1FE0746E}" cxnId="{F1362290-773D-4A92-AF4B-5C9EBBE3A444}" type="sibTrans">
      <dgm:prSet/>
      <dgm:spPr/>
      <dgm:t>
        <a:bodyPr/>
        <a:lstStyle/>
        <a:p>
          <a:endParaRPr lang="zh-CN" altLang="en-US"/>
        </a:p>
      </dgm:t>
    </dgm:pt>
    <dgm:pt modelId="{8F6D3B17-3788-47E1-864F-72F68D2177C0}">
      <dgm:prSet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A0A1EA16-5ADE-4B69-8515-67B444BE7664}" cxnId="{A5232B36-4264-446C-A930-47C3754820FE}" type="parTrans">
      <dgm:prSet/>
      <dgm:spPr/>
      <dgm:t>
        <a:bodyPr/>
        <a:lstStyle/>
        <a:p>
          <a:endParaRPr lang="zh-CN" altLang="en-US"/>
        </a:p>
      </dgm:t>
    </dgm:pt>
    <dgm:pt modelId="{0FBB4FE9-90E1-42BC-8338-D616944D645B}" cxnId="{A5232B36-4264-446C-A930-47C3754820FE}" type="sibTrans">
      <dgm:prSet/>
      <dgm:spPr/>
      <dgm:t>
        <a:bodyPr/>
        <a:lstStyle/>
        <a:p>
          <a:endParaRPr lang="zh-CN" altLang="en-US"/>
        </a:p>
      </dgm:t>
    </dgm:pt>
    <dgm:pt modelId="{49F09B36-BB89-44A1-A345-61095EDAF580}">
      <dgm:prSet/>
      <dgm:spPr>
        <a:solidFill>
          <a:srgbClr val="FBD893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28B0746D-DE78-4046-8631-0A5BD13ED649}" cxnId="{7F2EBCB6-BE36-4486-90F7-0721AB787E1F}" type="parTrans">
      <dgm:prSet/>
      <dgm:spPr/>
      <dgm:t>
        <a:bodyPr/>
        <a:lstStyle/>
        <a:p>
          <a:endParaRPr lang="zh-CN" altLang="en-US"/>
        </a:p>
      </dgm:t>
    </dgm:pt>
    <dgm:pt modelId="{8C6028A7-5DB4-44FF-B104-F872A3E8A20B}" cxnId="{7F2EBCB6-BE36-4486-90F7-0721AB787E1F}" type="sibTrans">
      <dgm:prSet/>
      <dgm:spPr/>
      <dgm:t>
        <a:bodyPr/>
        <a:lstStyle/>
        <a:p>
          <a:endParaRPr lang="zh-CN" altLang="en-US"/>
        </a:p>
      </dgm:t>
    </dgm:pt>
    <dgm:pt modelId="{1CB977B1-E0DD-4A6A-8FC1-4C403C8A778A}" type="pres">
      <dgm:prSet presAssocID="{D504E1BC-B0A9-495F-9458-CBFA2C6E95CF}" presName="Name0" presStyleCnt="0">
        <dgm:presLayoutVars>
          <dgm:dir/>
          <dgm:animLvl val="lvl"/>
          <dgm:resizeHandles val="exact"/>
        </dgm:presLayoutVars>
      </dgm:prSet>
      <dgm:spPr/>
    </dgm:pt>
    <dgm:pt modelId="{19B402DE-837B-4540-B5FA-3C32BB887351}" type="pres">
      <dgm:prSet presAssocID="{207BE846-262B-418D-A28F-A1966DECBBA3}" presName="Name8" presStyleCnt="0"/>
      <dgm:spPr/>
    </dgm:pt>
    <dgm:pt modelId="{42863C4F-FAF0-4164-BAA8-1D315BCF3B84}" type="pres">
      <dgm:prSet presAssocID="{207BE846-262B-418D-A28F-A1966DECBBA3}" presName="level" presStyleLbl="node1" presStyleIdx="0" presStyleCnt="3">
        <dgm:presLayoutVars>
          <dgm:chMax val="1"/>
          <dgm:bulletEnabled val="1"/>
        </dgm:presLayoutVars>
      </dgm:prSet>
      <dgm:spPr/>
    </dgm:pt>
    <dgm:pt modelId="{6A419899-5626-40D6-BAE9-1A1908AEE954}" type="pres">
      <dgm:prSet presAssocID="{207BE846-262B-418D-A28F-A1966DECBBA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6944E9-BB38-4E3A-A86C-1D6F364B2CAA}" type="pres">
      <dgm:prSet presAssocID="{8F6D3B17-3788-47E1-864F-72F68D2177C0}" presName="Name8" presStyleCnt="0"/>
      <dgm:spPr/>
    </dgm:pt>
    <dgm:pt modelId="{2C235F41-8FB1-4AA0-8478-19434C255C9A}" type="pres">
      <dgm:prSet presAssocID="{8F6D3B17-3788-47E1-864F-72F68D2177C0}" presName="level" presStyleLbl="node1" presStyleIdx="1" presStyleCnt="3">
        <dgm:presLayoutVars>
          <dgm:chMax val="1"/>
          <dgm:bulletEnabled val="1"/>
        </dgm:presLayoutVars>
      </dgm:prSet>
      <dgm:spPr/>
    </dgm:pt>
    <dgm:pt modelId="{1B717A36-DA20-4AA1-A76C-61B137B450A8}" type="pres">
      <dgm:prSet presAssocID="{8F6D3B17-3788-47E1-864F-72F68D2177C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CC370FB-87B0-413E-9E8A-B7D9C4ED4EBD}" type="pres">
      <dgm:prSet presAssocID="{49F09B36-BB89-44A1-A345-61095EDAF580}" presName="Name8" presStyleCnt="0"/>
      <dgm:spPr/>
    </dgm:pt>
    <dgm:pt modelId="{6ED9BF31-DE2D-400D-AB2F-A414DC7ED068}" type="pres">
      <dgm:prSet presAssocID="{49F09B36-BB89-44A1-A345-61095EDAF580}" presName="level" presStyleLbl="node1" presStyleIdx="2" presStyleCnt="3">
        <dgm:presLayoutVars>
          <dgm:chMax val="1"/>
          <dgm:bulletEnabled val="1"/>
        </dgm:presLayoutVars>
      </dgm:prSet>
      <dgm:spPr/>
    </dgm:pt>
    <dgm:pt modelId="{E006A418-6D26-4E59-AD5C-62897A32369B}" type="pres">
      <dgm:prSet presAssocID="{49F09B36-BB89-44A1-A345-61095EDAF58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AD89E1E-727A-4302-A79D-D0A573785F18}" type="presOf" srcId="{49F09B36-BB89-44A1-A345-61095EDAF580}" destId="{6ED9BF31-DE2D-400D-AB2F-A414DC7ED068}" srcOrd="0" destOrd="0" presId="urn:microsoft.com/office/officeart/2005/8/layout/pyramid1"/>
    <dgm:cxn modelId="{858D3F22-AC4C-46CC-839A-1EB7E06E2459}" type="presOf" srcId="{8F6D3B17-3788-47E1-864F-72F68D2177C0}" destId="{2C235F41-8FB1-4AA0-8478-19434C255C9A}" srcOrd="0" destOrd="0" presId="urn:microsoft.com/office/officeart/2005/8/layout/pyramid1"/>
    <dgm:cxn modelId="{B212FF22-C985-431B-B036-117B80EB431C}" type="presOf" srcId="{207BE846-262B-418D-A28F-A1966DECBBA3}" destId="{6A419899-5626-40D6-BAE9-1A1908AEE954}" srcOrd="1" destOrd="0" presId="urn:microsoft.com/office/officeart/2005/8/layout/pyramid1"/>
    <dgm:cxn modelId="{A5232B36-4264-446C-A930-47C3754820FE}" srcId="{D504E1BC-B0A9-495F-9458-CBFA2C6E95CF}" destId="{8F6D3B17-3788-47E1-864F-72F68D2177C0}" srcOrd="1" destOrd="0" parTransId="{A0A1EA16-5ADE-4B69-8515-67B444BE7664}" sibTransId="{0FBB4FE9-90E1-42BC-8338-D616944D645B}"/>
    <dgm:cxn modelId="{F1362290-773D-4A92-AF4B-5C9EBBE3A444}" srcId="{D504E1BC-B0A9-495F-9458-CBFA2C6E95CF}" destId="{207BE846-262B-418D-A28F-A1966DECBBA3}" srcOrd="0" destOrd="0" parTransId="{6D3174D7-F2A1-4A34-9FA8-0FC0E0038B59}" sibTransId="{4A5A5D1B-24F7-4DC3-9A34-5D7B1FE0746E}"/>
    <dgm:cxn modelId="{725BA1AC-5570-423E-AB71-FEDFDB28846D}" type="presOf" srcId="{207BE846-262B-418D-A28F-A1966DECBBA3}" destId="{42863C4F-FAF0-4164-BAA8-1D315BCF3B84}" srcOrd="0" destOrd="0" presId="urn:microsoft.com/office/officeart/2005/8/layout/pyramid1"/>
    <dgm:cxn modelId="{7F2EBCB6-BE36-4486-90F7-0721AB787E1F}" srcId="{D504E1BC-B0A9-495F-9458-CBFA2C6E95CF}" destId="{49F09B36-BB89-44A1-A345-61095EDAF580}" srcOrd="2" destOrd="0" parTransId="{28B0746D-DE78-4046-8631-0A5BD13ED649}" sibTransId="{8C6028A7-5DB4-44FF-B104-F872A3E8A20B}"/>
    <dgm:cxn modelId="{6DDE25D6-B0AF-4D42-9B4A-6983451BFC3C}" type="presOf" srcId="{D504E1BC-B0A9-495F-9458-CBFA2C6E95CF}" destId="{1CB977B1-E0DD-4A6A-8FC1-4C403C8A778A}" srcOrd="0" destOrd="0" presId="urn:microsoft.com/office/officeart/2005/8/layout/pyramid1"/>
    <dgm:cxn modelId="{C0407EE0-5B9B-4343-BF8D-6A11C72C8AAB}" type="presOf" srcId="{49F09B36-BB89-44A1-A345-61095EDAF580}" destId="{E006A418-6D26-4E59-AD5C-62897A32369B}" srcOrd="1" destOrd="0" presId="urn:microsoft.com/office/officeart/2005/8/layout/pyramid1"/>
    <dgm:cxn modelId="{039C66EC-1247-4BDB-99B5-0B70C12E0BE2}" type="presOf" srcId="{8F6D3B17-3788-47E1-864F-72F68D2177C0}" destId="{1B717A36-DA20-4AA1-A76C-61B137B450A8}" srcOrd="1" destOrd="0" presId="urn:microsoft.com/office/officeart/2005/8/layout/pyramid1"/>
    <dgm:cxn modelId="{57D30B49-C9E0-44F2-AFE5-21FC45399347}" type="presParOf" srcId="{1CB977B1-E0DD-4A6A-8FC1-4C403C8A778A}" destId="{19B402DE-837B-4540-B5FA-3C32BB887351}" srcOrd="0" destOrd="0" presId="urn:microsoft.com/office/officeart/2005/8/layout/pyramid1"/>
    <dgm:cxn modelId="{2CA9F440-9267-40A4-BD45-4FA6E1385506}" type="presParOf" srcId="{19B402DE-837B-4540-B5FA-3C32BB887351}" destId="{42863C4F-FAF0-4164-BAA8-1D315BCF3B84}" srcOrd="0" destOrd="0" presId="urn:microsoft.com/office/officeart/2005/8/layout/pyramid1"/>
    <dgm:cxn modelId="{3AAE6C5E-01A4-45C4-8D98-35EFC9368E42}" type="presParOf" srcId="{19B402DE-837B-4540-B5FA-3C32BB887351}" destId="{6A419899-5626-40D6-BAE9-1A1908AEE954}" srcOrd="1" destOrd="0" presId="urn:microsoft.com/office/officeart/2005/8/layout/pyramid1"/>
    <dgm:cxn modelId="{DA167A35-7247-4942-8709-ACA591E27587}" type="presParOf" srcId="{1CB977B1-E0DD-4A6A-8FC1-4C403C8A778A}" destId="{B86944E9-BB38-4E3A-A86C-1D6F364B2CAA}" srcOrd="1" destOrd="0" presId="urn:microsoft.com/office/officeart/2005/8/layout/pyramid1"/>
    <dgm:cxn modelId="{F1AB8778-1C88-4BAB-8FA5-3976B94D38DD}" type="presParOf" srcId="{B86944E9-BB38-4E3A-A86C-1D6F364B2CAA}" destId="{2C235F41-8FB1-4AA0-8478-19434C255C9A}" srcOrd="0" destOrd="0" presId="urn:microsoft.com/office/officeart/2005/8/layout/pyramid1"/>
    <dgm:cxn modelId="{4998D965-DABB-452B-85EE-A675816667A4}" type="presParOf" srcId="{B86944E9-BB38-4E3A-A86C-1D6F364B2CAA}" destId="{1B717A36-DA20-4AA1-A76C-61B137B450A8}" srcOrd="1" destOrd="0" presId="urn:microsoft.com/office/officeart/2005/8/layout/pyramid1"/>
    <dgm:cxn modelId="{37926F52-D647-4C30-8250-802C28134CDE}" type="presParOf" srcId="{1CB977B1-E0DD-4A6A-8FC1-4C403C8A778A}" destId="{BCC370FB-87B0-413E-9E8A-B7D9C4ED4EBD}" srcOrd="2" destOrd="0" presId="urn:microsoft.com/office/officeart/2005/8/layout/pyramid1"/>
    <dgm:cxn modelId="{A4B95F34-0F92-4A51-A998-E06C3486A564}" type="presParOf" srcId="{BCC370FB-87B0-413E-9E8A-B7D9C4ED4EBD}" destId="{6ED9BF31-DE2D-400D-AB2F-A414DC7ED068}" srcOrd="0" destOrd="0" presId="urn:microsoft.com/office/officeart/2005/8/layout/pyramid1"/>
    <dgm:cxn modelId="{CA88161D-8BFE-4523-887C-14F6C3F06CFF}" type="presParOf" srcId="{BCC370FB-87B0-413E-9E8A-B7D9C4ED4EBD}" destId="{E006A418-6D26-4E59-AD5C-62897A32369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04E1BC-B0A9-495F-9458-CBFA2C6E95CF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207BE846-262B-418D-A28F-A1966DECBBA3}">
      <dgm:prSet/>
      <dgm:spPr>
        <a:solidFill>
          <a:srgbClr val="0070C0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6D3174D7-F2A1-4A34-9FA8-0FC0E0038B59}" cxnId="{F1362290-773D-4A92-AF4B-5C9EBBE3A444}" type="parTrans">
      <dgm:prSet/>
      <dgm:spPr/>
      <dgm:t>
        <a:bodyPr/>
        <a:lstStyle/>
        <a:p>
          <a:endParaRPr lang="zh-CN" altLang="en-US"/>
        </a:p>
      </dgm:t>
    </dgm:pt>
    <dgm:pt modelId="{4A5A5D1B-24F7-4DC3-9A34-5D7B1FE0746E}" cxnId="{F1362290-773D-4A92-AF4B-5C9EBBE3A444}" type="sibTrans">
      <dgm:prSet/>
      <dgm:spPr/>
      <dgm:t>
        <a:bodyPr/>
        <a:lstStyle/>
        <a:p>
          <a:endParaRPr lang="zh-CN" altLang="en-US"/>
        </a:p>
      </dgm:t>
    </dgm:pt>
    <dgm:pt modelId="{8F6D3B17-3788-47E1-864F-72F68D2177C0}">
      <dgm:prSet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A0A1EA16-5ADE-4B69-8515-67B444BE7664}" cxnId="{A5232B36-4264-446C-A930-47C3754820FE}" type="parTrans">
      <dgm:prSet/>
      <dgm:spPr/>
      <dgm:t>
        <a:bodyPr/>
        <a:lstStyle/>
        <a:p>
          <a:endParaRPr lang="zh-CN" altLang="en-US"/>
        </a:p>
      </dgm:t>
    </dgm:pt>
    <dgm:pt modelId="{0FBB4FE9-90E1-42BC-8338-D616944D645B}" cxnId="{A5232B36-4264-446C-A930-47C3754820FE}" type="sibTrans">
      <dgm:prSet/>
      <dgm:spPr/>
      <dgm:t>
        <a:bodyPr/>
        <a:lstStyle/>
        <a:p>
          <a:endParaRPr lang="zh-CN" altLang="en-US"/>
        </a:p>
      </dgm:t>
    </dgm:pt>
    <dgm:pt modelId="{49F09B36-BB89-44A1-A345-61095EDAF580}">
      <dgm:prSet/>
      <dgm:spPr>
        <a:solidFill>
          <a:srgbClr val="FBD893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28B0746D-DE78-4046-8631-0A5BD13ED649}" cxnId="{7F2EBCB6-BE36-4486-90F7-0721AB787E1F}" type="parTrans">
      <dgm:prSet/>
      <dgm:spPr/>
      <dgm:t>
        <a:bodyPr/>
        <a:lstStyle/>
        <a:p>
          <a:endParaRPr lang="zh-CN" altLang="en-US"/>
        </a:p>
      </dgm:t>
    </dgm:pt>
    <dgm:pt modelId="{8C6028A7-5DB4-44FF-B104-F872A3E8A20B}" cxnId="{7F2EBCB6-BE36-4486-90F7-0721AB787E1F}" type="sibTrans">
      <dgm:prSet/>
      <dgm:spPr/>
      <dgm:t>
        <a:bodyPr/>
        <a:lstStyle/>
        <a:p>
          <a:endParaRPr lang="zh-CN" altLang="en-US"/>
        </a:p>
      </dgm:t>
    </dgm:pt>
    <dgm:pt modelId="{1CB977B1-E0DD-4A6A-8FC1-4C403C8A778A}" type="pres">
      <dgm:prSet presAssocID="{D504E1BC-B0A9-495F-9458-CBFA2C6E95CF}" presName="Name0" presStyleCnt="0">
        <dgm:presLayoutVars>
          <dgm:dir/>
          <dgm:animLvl val="lvl"/>
          <dgm:resizeHandles val="exact"/>
        </dgm:presLayoutVars>
      </dgm:prSet>
      <dgm:spPr/>
    </dgm:pt>
    <dgm:pt modelId="{19B402DE-837B-4540-B5FA-3C32BB887351}" type="pres">
      <dgm:prSet presAssocID="{207BE846-262B-418D-A28F-A1966DECBBA3}" presName="Name8" presStyleCnt="0"/>
      <dgm:spPr/>
    </dgm:pt>
    <dgm:pt modelId="{42863C4F-FAF0-4164-BAA8-1D315BCF3B84}" type="pres">
      <dgm:prSet presAssocID="{207BE846-262B-418D-A28F-A1966DECBBA3}" presName="level" presStyleLbl="node1" presStyleIdx="0" presStyleCnt="3">
        <dgm:presLayoutVars>
          <dgm:chMax val="1"/>
          <dgm:bulletEnabled val="1"/>
        </dgm:presLayoutVars>
      </dgm:prSet>
      <dgm:spPr/>
    </dgm:pt>
    <dgm:pt modelId="{6A419899-5626-40D6-BAE9-1A1908AEE954}" type="pres">
      <dgm:prSet presAssocID="{207BE846-262B-418D-A28F-A1966DECBBA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6944E9-BB38-4E3A-A86C-1D6F364B2CAA}" type="pres">
      <dgm:prSet presAssocID="{8F6D3B17-3788-47E1-864F-72F68D2177C0}" presName="Name8" presStyleCnt="0"/>
      <dgm:spPr/>
    </dgm:pt>
    <dgm:pt modelId="{2C235F41-8FB1-4AA0-8478-19434C255C9A}" type="pres">
      <dgm:prSet presAssocID="{8F6D3B17-3788-47E1-864F-72F68D2177C0}" presName="level" presStyleLbl="node1" presStyleIdx="1" presStyleCnt="3">
        <dgm:presLayoutVars>
          <dgm:chMax val="1"/>
          <dgm:bulletEnabled val="1"/>
        </dgm:presLayoutVars>
      </dgm:prSet>
      <dgm:spPr/>
    </dgm:pt>
    <dgm:pt modelId="{1B717A36-DA20-4AA1-A76C-61B137B450A8}" type="pres">
      <dgm:prSet presAssocID="{8F6D3B17-3788-47E1-864F-72F68D2177C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CC370FB-87B0-413E-9E8A-B7D9C4ED4EBD}" type="pres">
      <dgm:prSet presAssocID="{49F09B36-BB89-44A1-A345-61095EDAF580}" presName="Name8" presStyleCnt="0"/>
      <dgm:spPr/>
    </dgm:pt>
    <dgm:pt modelId="{6ED9BF31-DE2D-400D-AB2F-A414DC7ED068}" type="pres">
      <dgm:prSet presAssocID="{49F09B36-BB89-44A1-A345-61095EDAF580}" presName="level" presStyleLbl="node1" presStyleIdx="2" presStyleCnt="3" custLinFactY="100000" custLinFactNeighborX="34036" custLinFactNeighborY="151959">
        <dgm:presLayoutVars>
          <dgm:chMax val="1"/>
          <dgm:bulletEnabled val="1"/>
        </dgm:presLayoutVars>
      </dgm:prSet>
      <dgm:spPr/>
    </dgm:pt>
    <dgm:pt modelId="{E006A418-6D26-4E59-AD5C-62897A32369B}" type="pres">
      <dgm:prSet presAssocID="{49F09B36-BB89-44A1-A345-61095EDAF58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AD868905-049B-4C35-B806-670283FAD973}" type="presOf" srcId="{D504E1BC-B0A9-495F-9458-CBFA2C6E95CF}" destId="{1CB977B1-E0DD-4A6A-8FC1-4C403C8A778A}" srcOrd="0" destOrd="0" presId="urn:microsoft.com/office/officeart/2005/8/layout/pyramid1"/>
    <dgm:cxn modelId="{40827711-3972-4471-8899-99317BAB2A8C}" type="presOf" srcId="{207BE846-262B-418D-A28F-A1966DECBBA3}" destId="{6A419899-5626-40D6-BAE9-1A1908AEE954}" srcOrd="1" destOrd="0" presId="urn:microsoft.com/office/officeart/2005/8/layout/pyramid1"/>
    <dgm:cxn modelId="{A5232B36-4264-446C-A930-47C3754820FE}" srcId="{D504E1BC-B0A9-495F-9458-CBFA2C6E95CF}" destId="{8F6D3B17-3788-47E1-864F-72F68D2177C0}" srcOrd="1" destOrd="0" parTransId="{A0A1EA16-5ADE-4B69-8515-67B444BE7664}" sibTransId="{0FBB4FE9-90E1-42BC-8338-D616944D645B}"/>
    <dgm:cxn modelId="{2E9E1B3A-1B5C-4203-A4F4-532B84DFA634}" type="presOf" srcId="{49F09B36-BB89-44A1-A345-61095EDAF580}" destId="{E006A418-6D26-4E59-AD5C-62897A32369B}" srcOrd="1" destOrd="0" presId="urn:microsoft.com/office/officeart/2005/8/layout/pyramid1"/>
    <dgm:cxn modelId="{F1362290-773D-4A92-AF4B-5C9EBBE3A444}" srcId="{D504E1BC-B0A9-495F-9458-CBFA2C6E95CF}" destId="{207BE846-262B-418D-A28F-A1966DECBBA3}" srcOrd="0" destOrd="0" parTransId="{6D3174D7-F2A1-4A34-9FA8-0FC0E0038B59}" sibTransId="{4A5A5D1B-24F7-4DC3-9A34-5D7B1FE0746E}"/>
    <dgm:cxn modelId="{47B23391-5029-4B27-8B40-17C26BFBF6D7}" type="presOf" srcId="{8F6D3B17-3788-47E1-864F-72F68D2177C0}" destId="{2C235F41-8FB1-4AA0-8478-19434C255C9A}" srcOrd="0" destOrd="0" presId="urn:microsoft.com/office/officeart/2005/8/layout/pyramid1"/>
    <dgm:cxn modelId="{D7287895-AFE0-402E-ABF2-4472E8312C20}" type="presOf" srcId="{207BE846-262B-418D-A28F-A1966DECBBA3}" destId="{42863C4F-FAF0-4164-BAA8-1D315BCF3B84}" srcOrd="0" destOrd="0" presId="urn:microsoft.com/office/officeart/2005/8/layout/pyramid1"/>
    <dgm:cxn modelId="{208D80AB-7B40-43C9-B543-F28FC2C7068B}" type="presOf" srcId="{8F6D3B17-3788-47E1-864F-72F68D2177C0}" destId="{1B717A36-DA20-4AA1-A76C-61B137B450A8}" srcOrd="1" destOrd="0" presId="urn:microsoft.com/office/officeart/2005/8/layout/pyramid1"/>
    <dgm:cxn modelId="{7F2EBCB6-BE36-4486-90F7-0721AB787E1F}" srcId="{D504E1BC-B0A9-495F-9458-CBFA2C6E95CF}" destId="{49F09B36-BB89-44A1-A345-61095EDAF580}" srcOrd="2" destOrd="0" parTransId="{28B0746D-DE78-4046-8631-0A5BD13ED649}" sibTransId="{8C6028A7-5DB4-44FF-B104-F872A3E8A20B}"/>
    <dgm:cxn modelId="{3980FEFC-AD9E-45D4-B593-1013C1E9EE11}" type="presOf" srcId="{49F09B36-BB89-44A1-A345-61095EDAF580}" destId="{6ED9BF31-DE2D-400D-AB2F-A414DC7ED068}" srcOrd="0" destOrd="0" presId="urn:microsoft.com/office/officeart/2005/8/layout/pyramid1"/>
    <dgm:cxn modelId="{15770A41-5081-4319-8E70-D7D722786FE1}" type="presParOf" srcId="{1CB977B1-E0DD-4A6A-8FC1-4C403C8A778A}" destId="{19B402DE-837B-4540-B5FA-3C32BB887351}" srcOrd="0" destOrd="0" presId="urn:microsoft.com/office/officeart/2005/8/layout/pyramid1"/>
    <dgm:cxn modelId="{3B2DFF80-A05A-4452-ABDE-75E54CFE1E2D}" type="presParOf" srcId="{19B402DE-837B-4540-B5FA-3C32BB887351}" destId="{42863C4F-FAF0-4164-BAA8-1D315BCF3B84}" srcOrd="0" destOrd="0" presId="urn:microsoft.com/office/officeart/2005/8/layout/pyramid1"/>
    <dgm:cxn modelId="{96344B72-24F4-41B4-9C6A-2FBFF510B822}" type="presParOf" srcId="{19B402DE-837B-4540-B5FA-3C32BB887351}" destId="{6A419899-5626-40D6-BAE9-1A1908AEE954}" srcOrd="1" destOrd="0" presId="urn:microsoft.com/office/officeart/2005/8/layout/pyramid1"/>
    <dgm:cxn modelId="{7B4EF425-D126-434F-84F5-805E456728DC}" type="presParOf" srcId="{1CB977B1-E0DD-4A6A-8FC1-4C403C8A778A}" destId="{B86944E9-BB38-4E3A-A86C-1D6F364B2CAA}" srcOrd="1" destOrd="0" presId="urn:microsoft.com/office/officeart/2005/8/layout/pyramid1"/>
    <dgm:cxn modelId="{DE2169AE-2CFE-4511-9124-244BA7CDBF54}" type="presParOf" srcId="{B86944E9-BB38-4E3A-A86C-1D6F364B2CAA}" destId="{2C235F41-8FB1-4AA0-8478-19434C255C9A}" srcOrd="0" destOrd="0" presId="urn:microsoft.com/office/officeart/2005/8/layout/pyramid1"/>
    <dgm:cxn modelId="{EF2FAAF2-3249-4D98-B7CE-C4D98AA3C209}" type="presParOf" srcId="{B86944E9-BB38-4E3A-A86C-1D6F364B2CAA}" destId="{1B717A36-DA20-4AA1-A76C-61B137B450A8}" srcOrd="1" destOrd="0" presId="urn:microsoft.com/office/officeart/2005/8/layout/pyramid1"/>
    <dgm:cxn modelId="{D0154157-25BC-46DF-90DB-A6FD307BC9FC}" type="presParOf" srcId="{1CB977B1-E0DD-4A6A-8FC1-4C403C8A778A}" destId="{BCC370FB-87B0-413E-9E8A-B7D9C4ED4EBD}" srcOrd="2" destOrd="0" presId="urn:microsoft.com/office/officeart/2005/8/layout/pyramid1"/>
    <dgm:cxn modelId="{F5D4D076-85BA-433B-BE75-402998B97E11}" type="presParOf" srcId="{BCC370FB-87B0-413E-9E8A-B7D9C4ED4EBD}" destId="{6ED9BF31-DE2D-400D-AB2F-A414DC7ED068}" srcOrd="0" destOrd="0" presId="urn:microsoft.com/office/officeart/2005/8/layout/pyramid1"/>
    <dgm:cxn modelId="{D330D206-A91E-4834-940E-E0817A409C66}" type="presParOf" srcId="{BCC370FB-87B0-413E-9E8A-B7D9C4ED4EBD}" destId="{E006A418-6D26-4E59-AD5C-62897A32369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5A84DE-CBF5-4A0D-9CBF-4DAD6A29A4E4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55AE01C-E013-4A6A-AF17-DE5E1BF70C0E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CD676FE-5090-47E8-AFB0-10DFC04F7EC7}" cxnId="{C0BB2218-8512-4337-A630-474A1A213899}" type="parTrans">
      <dgm:prSet/>
      <dgm:spPr/>
      <dgm:t>
        <a:bodyPr/>
        <a:lstStyle/>
        <a:p>
          <a:endParaRPr lang="zh-CN" altLang="en-US"/>
        </a:p>
      </dgm:t>
    </dgm:pt>
    <dgm:pt modelId="{060FD457-A980-40B8-B7AA-C21CD8976422}" cxnId="{C0BB2218-8512-4337-A630-474A1A213899}" type="sibTrans">
      <dgm:prSet/>
      <dgm:spPr/>
      <dgm:t>
        <a:bodyPr/>
        <a:lstStyle/>
        <a:p>
          <a:endParaRPr lang="zh-CN" altLang="en-US"/>
        </a:p>
      </dgm:t>
    </dgm:pt>
    <dgm:pt modelId="{9BA1A26A-508D-4DC2-A2B8-77C1F7F32EA1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FA35BAB-FD62-4ADC-B829-6D5EBD3420CD}" cxnId="{08B18052-D253-46ED-A5B7-8226AEADA7C2}" type="parTrans">
      <dgm:prSet/>
      <dgm:spPr/>
      <dgm:t>
        <a:bodyPr/>
        <a:lstStyle/>
        <a:p>
          <a:endParaRPr lang="zh-CN" altLang="en-US"/>
        </a:p>
      </dgm:t>
    </dgm:pt>
    <dgm:pt modelId="{21331F2D-C7F8-44AE-9CA8-EB9BCC562CE4}" cxnId="{08B18052-D253-46ED-A5B7-8226AEADA7C2}" type="sibTrans">
      <dgm:prSet/>
      <dgm:spPr/>
      <dgm:t>
        <a:bodyPr/>
        <a:lstStyle/>
        <a:p>
          <a:endParaRPr lang="zh-CN" altLang="en-US"/>
        </a:p>
      </dgm:t>
    </dgm:pt>
    <dgm:pt modelId="{4EEA21D1-3087-4788-93A6-F4FE9F9977B2}">
      <dgm:prSet/>
      <dgm:spPr>
        <a:solidFill>
          <a:srgbClr val="FBD893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66E1CDB3-4980-44E9-BA76-097AF10FD769}" cxnId="{992461DA-BB96-4D7A-B605-0F6E49FC26E2}" type="parTrans">
      <dgm:prSet/>
      <dgm:spPr/>
      <dgm:t>
        <a:bodyPr/>
        <a:lstStyle/>
        <a:p>
          <a:endParaRPr lang="zh-CN" altLang="en-US"/>
        </a:p>
      </dgm:t>
    </dgm:pt>
    <dgm:pt modelId="{6FC293BE-17E4-49B6-A456-F1473E1D1057}" cxnId="{992461DA-BB96-4D7A-B605-0F6E49FC26E2}" type="sibTrans">
      <dgm:prSet/>
      <dgm:spPr/>
      <dgm:t>
        <a:bodyPr/>
        <a:lstStyle/>
        <a:p>
          <a:endParaRPr lang="zh-CN" altLang="en-US"/>
        </a:p>
      </dgm:t>
    </dgm:pt>
    <dgm:pt modelId="{720ED9A1-B6E2-435F-BEB4-5A289ECC6B0C}">
      <dgm:prSet/>
      <dgm:spPr>
        <a:solidFill>
          <a:srgbClr val="0070C0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8F8B7BA6-3BF4-47B0-B03E-D45F9DB83C78}" cxnId="{91D0E707-AC0D-41D2-9022-4E93D978D98F}" type="parTrans">
      <dgm:prSet/>
      <dgm:spPr/>
      <dgm:t>
        <a:bodyPr/>
        <a:lstStyle/>
        <a:p>
          <a:endParaRPr lang="zh-CN" altLang="en-US"/>
        </a:p>
      </dgm:t>
    </dgm:pt>
    <dgm:pt modelId="{1AA2E043-4E6A-45C0-B1DE-37B0859DE813}" cxnId="{91D0E707-AC0D-41D2-9022-4E93D978D98F}" type="sibTrans">
      <dgm:prSet/>
      <dgm:spPr/>
      <dgm:t>
        <a:bodyPr/>
        <a:lstStyle/>
        <a:p>
          <a:endParaRPr lang="zh-CN" altLang="en-US"/>
        </a:p>
      </dgm:t>
    </dgm:pt>
    <dgm:pt modelId="{5CD24136-81AA-4B43-B064-90D471D4B37A}" type="pres">
      <dgm:prSet presAssocID="{9F5A84DE-CBF5-4A0D-9CBF-4DAD6A29A4E4}" presName="Name0" presStyleCnt="0">
        <dgm:presLayoutVars>
          <dgm:dir/>
          <dgm:animLvl val="lvl"/>
          <dgm:resizeHandles val="exact"/>
        </dgm:presLayoutVars>
      </dgm:prSet>
      <dgm:spPr/>
    </dgm:pt>
    <dgm:pt modelId="{0FAEA01A-4B7D-4863-9233-E73513BD4D71}" type="pres">
      <dgm:prSet presAssocID="{9BA1A26A-508D-4DC2-A2B8-77C1F7F32EA1}" presName="Name8" presStyleCnt="0"/>
      <dgm:spPr/>
    </dgm:pt>
    <dgm:pt modelId="{B8D9092D-1B0A-4A84-8D91-AD4E0AFA8A4E}" type="pres">
      <dgm:prSet presAssocID="{9BA1A26A-508D-4DC2-A2B8-77C1F7F32EA1}" presName="level" presStyleLbl="node1" presStyleIdx="0" presStyleCnt="4">
        <dgm:presLayoutVars>
          <dgm:chMax val="1"/>
          <dgm:bulletEnabled val="1"/>
        </dgm:presLayoutVars>
      </dgm:prSet>
      <dgm:spPr/>
    </dgm:pt>
    <dgm:pt modelId="{3892B68E-B924-42B0-B3E5-0F694E01F097}" type="pres">
      <dgm:prSet presAssocID="{9BA1A26A-508D-4DC2-A2B8-77C1F7F32EA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1E4F23B-A564-4F01-9D77-CC92B7807997}" type="pres">
      <dgm:prSet presAssocID="{720ED9A1-B6E2-435F-BEB4-5A289ECC6B0C}" presName="Name8" presStyleCnt="0"/>
      <dgm:spPr/>
    </dgm:pt>
    <dgm:pt modelId="{31A9D167-7519-40B5-9C42-565106CE9677}" type="pres">
      <dgm:prSet presAssocID="{720ED9A1-B6E2-435F-BEB4-5A289ECC6B0C}" presName="level" presStyleLbl="node1" presStyleIdx="1" presStyleCnt="4">
        <dgm:presLayoutVars>
          <dgm:chMax val="1"/>
          <dgm:bulletEnabled val="1"/>
        </dgm:presLayoutVars>
      </dgm:prSet>
      <dgm:spPr/>
    </dgm:pt>
    <dgm:pt modelId="{D396E301-5A3D-46A0-91E6-F2EA15192D55}" type="pres">
      <dgm:prSet presAssocID="{720ED9A1-B6E2-435F-BEB4-5A289ECC6B0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DCD2B2F-D93F-4A59-91E7-BC28F760FF3A}" type="pres">
      <dgm:prSet presAssocID="{4EEA21D1-3087-4788-93A6-F4FE9F9977B2}" presName="Name8" presStyleCnt="0"/>
      <dgm:spPr/>
    </dgm:pt>
    <dgm:pt modelId="{02F7E6B8-CA05-43BB-A084-B9303096DF86}" type="pres">
      <dgm:prSet presAssocID="{4EEA21D1-3087-4788-93A6-F4FE9F9977B2}" presName="level" presStyleLbl="node1" presStyleIdx="2" presStyleCnt="4">
        <dgm:presLayoutVars>
          <dgm:chMax val="1"/>
          <dgm:bulletEnabled val="1"/>
        </dgm:presLayoutVars>
      </dgm:prSet>
      <dgm:spPr/>
    </dgm:pt>
    <dgm:pt modelId="{2C26B334-F843-4C3B-86FB-9D6607012E32}" type="pres">
      <dgm:prSet presAssocID="{4EEA21D1-3087-4788-93A6-F4FE9F9977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FC2F20B-19E4-4BC3-885E-C8A23C9434BD}" type="pres">
      <dgm:prSet presAssocID="{D55AE01C-E013-4A6A-AF17-DE5E1BF70C0E}" presName="Name8" presStyleCnt="0"/>
      <dgm:spPr/>
    </dgm:pt>
    <dgm:pt modelId="{EDDE1C17-932D-4CD3-B8AC-E406491DAD54}" type="pres">
      <dgm:prSet presAssocID="{D55AE01C-E013-4A6A-AF17-DE5E1BF70C0E}" presName="level" presStyleLbl="node1" presStyleIdx="3" presStyleCnt="4">
        <dgm:presLayoutVars>
          <dgm:chMax val="1"/>
          <dgm:bulletEnabled val="1"/>
        </dgm:presLayoutVars>
      </dgm:prSet>
      <dgm:spPr/>
    </dgm:pt>
    <dgm:pt modelId="{FA9CF802-84D9-480C-B3F2-14ACFD2A145B}" type="pres">
      <dgm:prSet presAssocID="{D55AE01C-E013-4A6A-AF17-DE5E1BF70C0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1D0E707-AC0D-41D2-9022-4E93D978D98F}" srcId="{9F5A84DE-CBF5-4A0D-9CBF-4DAD6A29A4E4}" destId="{720ED9A1-B6E2-435F-BEB4-5A289ECC6B0C}" srcOrd="1" destOrd="0" parTransId="{8F8B7BA6-3BF4-47B0-B03E-D45F9DB83C78}" sibTransId="{1AA2E043-4E6A-45C0-B1DE-37B0859DE813}"/>
    <dgm:cxn modelId="{BE94B514-7625-4DF0-86A6-109C03A158ED}" type="presOf" srcId="{D55AE01C-E013-4A6A-AF17-DE5E1BF70C0E}" destId="{FA9CF802-84D9-480C-B3F2-14ACFD2A145B}" srcOrd="1" destOrd="0" presId="urn:microsoft.com/office/officeart/2005/8/layout/pyramid1"/>
    <dgm:cxn modelId="{C0BB2218-8512-4337-A630-474A1A213899}" srcId="{9F5A84DE-CBF5-4A0D-9CBF-4DAD6A29A4E4}" destId="{D55AE01C-E013-4A6A-AF17-DE5E1BF70C0E}" srcOrd="3" destOrd="0" parTransId="{3CD676FE-5090-47E8-AFB0-10DFC04F7EC7}" sibTransId="{060FD457-A980-40B8-B7AA-C21CD8976422}"/>
    <dgm:cxn modelId="{19435E24-63B1-4DE4-8368-393E1AB2B21D}" type="presOf" srcId="{4EEA21D1-3087-4788-93A6-F4FE9F9977B2}" destId="{2C26B334-F843-4C3B-86FB-9D6607012E32}" srcOrd="1" destOrd="0" presId="urn:microsoft.com/office/officeart/2005/8/layout/pyramid1"/>
    <dgm:cxn modelId="{874FE42F-2A66-429B-80C0-CB8E3061E6AB}" type="presOf" srcId="{D55AE01C-E013-4A6A-AF17-DE5E1BF70C0E}" destId="{EDDE1C17-932D-4CD3-B8AC-E406491DAD54}" srcOrd="0" destOrd="0" presId="urn:microsoft.com/office/officeart/2005/8/layout/pyramid1"/>
    <dgm:cxn modelId="{3844D867-7B1C-4770-8149-1FFFAE447F7C}" type="presOf" srcId="{4EEA21D1-3087-4788-93A6-F4FE9F9977B2}" destId="{02F7E6B8-CA05-43BB-A084-B9303096DF86}" srcOrd="0" destOrd="0" presId="urn:microsoft.com/office/officeart/2005/8/layout/pyramid1"/>
    <dgm:cxn modelId="{5490054D-13F7-40A3-954C-D6D354A2853E}" type="presOf" srcId="{720ED9A1-B6E2-435F-BEB4-5A289ECC6B0C}" destId="{D396E301-5A3D-46A0-91E6-F2EA15192D55}" srcOrd="1" destOrd="0" presId="urn:microsoft.com/office/officeart/2005/8/layout/pyramid1"/>
    <dgm:cxn modelId="{08B18052-D253-46ED-A5B7-8226AEADA7C2}" srcId="{9F5A84DE-CBF5-4A0D-9CBF-4DAD6A29A4E4}" destId="{9BA1A26A-508D-4DC2-A2B8-77C1F7F32EA1}" srcOrd="0" destOrd="0" parTransId="{3FA35BAB-FD62-4ADC-B829-6D5EBD3420CD}" sibTransId="{21331F2D-C7F8-44AE-9CA8-EB9BCC562CE4}"/>
    <dgm:cxn modelId="{E2F4D58A-5109-460B-BFF2-98C7B05A2799}" type="presOf" srcId="{9F5A84DE-CBF5-4A0D-9CBF-4DAD6A29A4E4}" destId="{5CD24136-81AA-4B43-B064-90D471D4B37A}" srcOrd="0" destOrd="0" presId="urn:microsoft.com/office/officeart/2005/8/layout/pyramid1"/>
    <dgm:cxn modelId="{06C823B5-3CE8-45EA-87C6-1FF67190932D}" type="presOf" srcId="{9BA1A26A-508D-4DC2-A2B8-77C1F7F32EA1}" destId="{3892B68E-B924-42B0-B3E5-0F694E01F097}" srcOrd="1" destOrd="0" presId="urn:microsoft.com/office/officeart/2005/8/layout/pyramid1"/>
    <dgm:cxn modelId="{8D28FDD8-30AA-4B00-924A-55284BBC3A37}" type="presOf" srcId="{720ED9A1-B6E2-435F-BEB4-5A289ECC6B0C}" destId="{31A9D167-7519-40B5-9C42-565106CE9677}" srcOrd="0" destOrd="0" presId="urn:microsoft.com/office/officeart/2005/8/layout/pyramid1"/>
    <dgm:cxn modelId="{992461DA-BB96-4D7A-B605-0F6E49FC26E2}" srcId="{9F5A84DE-CBF5-4A0D-9CBF-4DAD6A29A4E4}" destId="{4EEA21D1-3087-4788-93A6-F4FE9F9977B2}" srcOrd="2" destOrd="0" parTransId="{66E1CDB3-4980-44E9-BA76-097AF10FD769}" sibTransId="{6FC293BE-17E4-49B6-A456-F1473E1D1057}"/>
    <dgm:cxn modelId="{E2D83DDF-A825-44B0-BADF-17E3138A7E33}" type="presOf" srcId="{9BA1A26A-508D-4DC2-A2B8-77C1F7F32EA1}" destId="{B8D9092D-1B0A-4A84-8D91-AD4E0AFA8A4E}" srcOrd="0" destOrd="0" presId="urn:microsoft.com/office/officeart/2005/8/layout/pyramid1"/>
    <dgm:cxn modelId="{3840F259-7E3B-49DD-9BE8-C9C022CE7C45}" type="presParOf" srcId="{5CD24136-81AA-4B43-B064-90D471D4B37A}" destId="{0FAEA01A-4B7D-4863-9233-E73513BD4D71}" srcOrd="0" destOrd="0" presId="urn:microsoft.com/office/officeart/2005/8/layout/pyramid1"/>
    <dgm:cxn modelId="{629E84FC-48CB-43B9-A8B3-D23E2D1D7CFE}" type="presParOf" srcId="{0FAEA01A-4B7D-4863-9233-E73513BD4D71}" destId="{B8D9092D-1B0A-4A84-8D91-AD4E0AFA8A4E}" srcOrd="0" destOrd="0" presId="urn:microsoft.com/office/officeart/2005/8/layout/pyramid1"/>
    <dgm:cxn modelId="{A2FE95F3-7D5F-437C-91F2-427CCDF92D9D}" type="presParOf" srcId="{0FAEA01A-4B7D-4863-9233-E73513BD4D71}" destId="{3892B68E-B924-42B0-B3E5-0F694E01F097}" srcOrd="1" destOrd="0" presId="urn:microsoft.com/office/officeart/2005/8/layout/pyramid1"/>
    <dgm:cxn modelId="{8A65870A-98CA-4CAA-A1DC-0F793FFB15D9}" type="presParOf" srcId="{5CD24136-81AA-4B43-B064-90D471D4B37A}" destId="{41E4F23B-A564-4F01-9D77-CC92B7807997}" srcOrd="1" destOrd="0" presId="urn:microsoft.com/office/officeart/2005/8/layout/pyramid1"/>
    <dgm:cxn modelId="{24A8AF5E-ECF9-45F3-AF4C-640CBEC26271}" type="presParOf" srcId="{41E4F23B-A564-4F01-9D77-CC92B7807997}" destId="{31A9D167-7519-40B5-9C42-565106CE9677}" srcOrd="0" destOrd="0" presId="urn:microsoft.com/office/officeart/2005/8/layout/pyramid1"/>
    <dgm:cxn modelId="{5BD5DD72-3E17-46E3-8E4A-AD6550B7A188}" type="presParOf" srcId="{41E4F23B-A564-4F01-9D77-CC92B7807997}" destId="{D396E301-5A3D-46A0-91E6-F2EA15192D55}" srcOrd="1" destOrd="0" presId="urn:microsoft.com/office/officeart/2005/8/layout/pyramid1"/>
    <dgm:cxn modelId="{C9F99E24-3EA5-4AB3-86AC-7FD65E5CB96C}" type="presParOf" srcId="{5CD24136-81AA-4B43-B064-90D471D4B37A}" destId="{8DCD2B2F-D93F-4A59-91E7-BC28F760FF3A}" srcOrd="2" destOrd="0" presId="urn:microsoft.com/office/officeart/2005/8/layout/pyramid1"/>
    <dgm:cxn modelId="{5B6EE75B-CDD3-4368-80EB-D63939DCF792}" type="presParOf" srcId="{8DCD2B2F-D93F-4A59-91E7-BC28F760FF3A}" destId="{02F7E6B8-CA05-43BB-A084-B9303096DF86}" srcOrd="0" destOrd="0" presId="urn:microsoft.com/office/officeart/2005/8/layout/pyramid1"/>
    <dgm:cxn modelId="{1DF79FE6-62A0-4734-80A7-1570B12DCE82}" type="presParOf" srcId="{8DCD2B2F-D93F-4A59-91E7-BC28F760FF3A}" destId="{2C26B334-F843-4C3B-86FB-9D6607012E32}" srcOrd="1" destOrd="0" presId="urn:microsoft.com/office/officeart/2005/8/layout/pyramid1"/>
    <dgm:cxn modelId="{94740427-162A-41B0-A30F-5851B3DC4119}" type="presParOf" srcId="{5CD24136-81AA-4B43-B064-90D471D4B37A}" destId="{4FC2F20B-19E4-4BC3-885E-C8A23C9434BD}" srcOrd="3" destOrd="0" presId="urn:microsoft.com/office/officeart/2005/8/layout/pyramid1"/>
    <dgm:cxn modelId="{D3A52BCF-AAA0-44EB-BCDE-67C662DA2107}" type="presParOf" srcId="{4FC2F20B-19E4-4BC3-885E-C8A23C9434BD}" destId="{EDDE1C17-932D-4CD3-B8AC-E406491DAD54}" srcOrd="0" destOrd="0" presId="urn:microsoft.com/office/officeart/2005/8/layout/pyramid1"/>
    <dgm:cxn modelId="{387F0B82-2EDD-4607-9D10-A1672BE81CE0}" type="presParOf" srcId="{4FC2F20B-19E4-4BC3-885E-C8A23C9434BD}" destId="{FA9CF802-84D9-480C-B3F2-14ACFD2A145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5A84DE-CBF5-4A0D-9CBF-4DAD6A29A4E4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55AE01C-E013-4A6A-AF17-DE5E1BF70C0E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CD676FE-5090-47E8-AFB0-10DFC04F7EC7}" cxnId="{C0BB2218-8512-4337-A630-474A1A213899}" type="parTrans">
      <dgm:prSet/>
      <dgm:spPr/>
      <dgm:t>
        <a:bodyPr/>
        <a:lstStyle/>
        <a:p>
          <a:endParaRPr lang="zh-CN" altLang="en-US"/>
        </a:p>
      </dgm:t>
    </dgm:pt>
    <dgm:pt modelId="{060FD457-A980-40B8-B7AA-C21CD8976422}" cxnId="{C0BB2218-8512-4337-A630-474A1A213899}" type="sibTrans">
      <dgm:prSet/>
      <dgm:spPr/>
      <dgm:t>
        <a:bodyPr/>
        <a:lstStyle/>
        <a:p>
          <a:endParaRPr lang="zh-CN" altLang="en-US"/>
        </a:p>
      </dgm:t>
    </dgm:pt>
    <dgm:pt modelId="{9BA1A26A-508D-4DC2-A2B8-77C1F7F32EA1}">
      <dgm:prSet/>
      <dgm:spPr>
        <a:solidFill>
          <a:srgbClr val="F7B021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3FA35BAB-FD62-4ADC-B829-6D5EBD3420CD}" cxnId="{08B18052-D253-46ED-A5B7-8226AEADA7C2}" type="parTrans">
      <dgm:prSet/>
      <dgm:spPr/>
      <dgm:t>
        <a:bodyPr/>
        <a:lstStyle/>
        <a:p>
          <a:endParaRPr lang="zh-CN" altLang="en-US"/>
        </a:p>
      </dgm:t>
    </dgm:pt>
    <dgm:pt modelId="{21331F2D-C7F8-44AE-9CA8-EB9BCC562CE4}" cxnId="{08B18052-D253-46ED-A5B7-8226AEADA7C2}" type="sibTrans">
      <dgm:prSet/>
      <dgm:spPr/>
      <dgm:t>
        <a:bodyPr/>
        <a:lstStyle/>
        <a:p>
          <a:endParaRPr lang="zh-CN" altLang="en-US"/>
        </a:p>
      </dgm:t>
    </dgm:pt>
    <dgm:pt modelId="{4EEA21D1-3087-4788-93A6-F4FE9F9977B2}">
      <dgm:prSet/>
      <dgm:spPr>
        <a:solidFill>
          <a:srgbClr val="FBD893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66E1CDB3-4980-44E9-BA76-097AF10FD769}" cxnId="{992461DA-BB96-4D7A-B605-0F6E49FC26E2}" type="parTrans">
      <dgm:prSet/>
      <dgm:spPr/>
      <dgm:t>
        <a:bodyPr/>
        <a:lstStyle/>
        <a:p>
          <a:endParaRPr lang="zh-CN" altLang="en-US"/>
        </a:p>
      </dgm:t>
    </dgm:pt>
    <dgm:pt modelId="{6FC293BE-17E4-49B6-A456-F1473E1D1057}" cxnId="{992461DA-BB96-4D7A-B605-0F6E49FC26E2}" type="sibTrans">
      <dgm:prSet/>
      <dgm:spPr/>
      <dgm:t>
        <a:bodyPr/>
        <a:lstStyle/>
        <a:p>
          <a:endParaRPr lang="zh-CN" altLang="en-US"/>
        </a:p>
      </dgm:t>
    </dgm:pt>
    <dgm:pt modelId="{720ED9A1-B6E2-435F-BEB4-5A289ECC6B0C}">
      <dgm:prSet/>
      <dgm:spPr>
        <a:solidFill>
          <a:srgbClr val="0070C0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8F8B7BA6-3BF4-47B0-B03E-D45F9DB83C78}" cxnId="{91D0E707-AC0D-41D2-9022-4E93D978D98F}" type="parTrans">
      <dgm:prSet/>
      <dgm:spPr/>
      <dgm:t>
        <a:bodyPr/>
        <a:lstStyle/>
        <a:p>
          <a:endParaRPr lang="zh-CN" altLang="en-US"/>
        </a:p>
      </dgm:t>
    </dgm:pt>
    <dgm:pt modelId="{1AA2E043-4E6A-45C0-B1DE-37B0859DE813}" cxnId="{91D0E707-AC0D-41D2-9022-4E93D978D98F}" type="sibTrans">
      <dgm:prSet/>
      <dgm:spPr/>
      <dgm:t>
        <a:bodyPr/>
        <a:lstStyle/>
        <a:p>
          <a:endParaRPr lang="zh-CN" altLang="en-US"/>
        </a:p>
      </dgm:t>
    </dgm:pt>
    <dgm:pt modelId="{5CD24136-81AA-4B43-B064-90D471D4B37A}" type="pres">
      <dgm:prSet presAssocID="{9F5A84DE-CBF5-4A0D-9CBF-4DAD6A29A4E4}" presName="Name0" presStyleCnt="0">
        <dgm:presLayoutVars>
          <dgm:dir/>
          <dgm:animLvl val="lvl"/>
          <dgm:resizeHandles val="exact"/>
        </dgm:presLayoutVars>
      </dgm:prSet>
      <dgm:spPr/>
    </dgm:pt>
    <dgm:pt modelId="{0FAEA01A-4B7D-4863-9233-E73513BD4D71}" type="pres">
      <dgm:prSet presAssocID="{9BA1A26A-508D-4DC2-A2B8-77C1F7F32EA1}" presName="Name8" presStyleCnt="0"/>
      <dgm:spPr/>
    </dgm:pt>
    <dgm:pt modelId="{B8D9092D-1B0A-4A84-8D91-AD4E0AFA8A4E}" type="pres">
      <dgm:prSet presAssocID="{9BA1A26A-508D-4DC2-A2B8-77C1F7F32EA1}" presName="level" presStyleLbl="node1" presStyleIdx="0" presStyleCnt="4">
        <dgm:presLayoutVars>
          <dgm:chMax val="1"/>
          <dgm:bulletEnabled val="1"/>
        </dgm:presLayoutVars>
      </dgm:prSet>
      <dgm:spPr/>
    </dgm:pt>
    <dgm:pt modelId="{3892B68E-B924-42B0-B3E5-0F694E01F097}" type="pres">
      <dgm:prSet presAssocID="{9BA1A26A-508D-4DC2-A2B8-77C1F7F32EA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1E4F23B-A564-4F01-9D77-CC92B7807997}" type="pres">
      <dgm:prSet presAssocID="{720ED9A1-B6E2-435F-BEB4-5A289ECC6B0C}" presName="Name8" presStyleCnt="0"/>
      <dgm:spPr/>
    </dgm:pt>
    <dgm:pt modelId="{31A9D167-7519-40B5-9C42-565106CE9677}" type="pres">
      <dgm:prSet presAssocID="{720ED9A1-B6E2-435F-BEB4-5A289ECC6B0C}" presName="level" presStyleLbl="node1" presStyleIdx="1" presStyleCnt="4">
        <dgm:presLayoutVars>
          <dgm:chMax val="1"/>
          <dgm:bulletEnabled val="1"/>
        </dgm:presLayoutVars>
      </dgm:prSet>
      <dgm:spPr/>
    </dgm:pt>
    <dgm:pt modelId="{D396E301-5A3D-46A0-91E6-F2EA15192D55}" type="pres">
      <dgm:prSet presAssocID="{720ED9A1-B6E2-435F-BEB4-5A289ECC6B0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DCD2B2F-D93F-4A59-91E7-BC28F760FF3A}" type="pres">
      <dgm:prSet presAssocID="{4EEA21D1-3087-4788-93A6-F4FE9F9977B2}" presName="Name8" presStyleCnt="0"/>
      <dgm:spPr/>
    </dgm:pt>
    <dgm:pt modelId="{02F7E6B8-CA05-43BB-A084-B9303096DF86}" type="pres">
      <dgm:prSet presAssocID="{4EEA21D1-3087-4788-93A6-F4FE9F9977B2}" presName="level" presStyleLbl="node1" presStyleIdx="2" presStyleCnt="4">
        <dgm:presLayoutVars>
          <dgm:chMax val="1"/>
          <dgm:bulletEnabled val="1"/>
        </dgm:presLayoutVars>
      </dgm:prSet>
      <dgm:spPr/>
    </dgm:pt>
    <dgm:pt modelId="{2C26B334-F843-4C3B-86FB-9D6607012E32}" type="pres">
      <dgm:prSet presAssocID="{4EEA21D1-3087-4788-93A6-F4FE9F9977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FC2F20B-19E4-4BC3-885E-C8A23C9434BD}" type="pres">
      <dgm:prSet presAssocID="{D55AE01C-E013-4A6A-AF17-DE5E1BF70C0E}" presName="Name8" presStyleCnt="0"/>
      <dgm:spPr/>
    </dgm:pt>
    <dgm:pt modelId="{EDDE1C17-932D-4CD3-B8AC-E406491DAD54}" type="pres">
      <dgm:prSet presAssocID="{D55AE01C-E013-4A6A-AF17-DE5E1BF70C0E}" presName="level" presStyleLbl="node1" presStyleIdx="3" presStyleCnt="4">
        <dgm:presLayoutVars>
          <dgm:chMax val="1"/>
          <dgm:bulletEnabled val="1"/>
        </dgm:presLayoutVars>
      </dgm:prSet>
      <dgm:spPr/>
    </dgm:pt>
    <dgm:pt modelId="{FA9CF802-84D9-480C-B3F2-14ACFD2A145B}" type="pres">
      <dgm:prSet presAssocID="{D55AE01C-E013-4A6A-AF17-DE5E1BF70C0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1B70B01-5B16-4881-BC12-9CACB11CC996}" type="presOf" srcId="{D55AE01C-E013-4A6A-AF17-DE5E1BF70C0E}" destId="{EDDE1C17-932D-4CD3-B8AC-E406491DAD54}" srcOrd="0" destOrd="0" presId="urn:microsoft.com/office/officeart/2005/8/layout/pyramid1"/>
    <dgm:cxn modelId="{91D0E707-AC0D-41D2-9022-4E93D978D98F}" srcId="{9F5A84DE-CBF5-4A0D-9CBF-4DAD6A29A4E4}" destId="{720ED9A1-B6E2-435F-BEB4-5A289ECC6B0C}" srcOrd="1" destOrd="0" parTransId="{8F8B7BA6-3BF4-47B0-B03E-D45F9DB83C78}" sibTransId="{1AA2E043-4E6A-45C0-B1DE-37B0859DE813}"/>
    <dgm:cxn modelId="{C0BB2218-8512-4337-A630-474A1A213899}" srcId="{9F5A84DE-CBF5-4A0D-9CBF-4DAD6A29A4E4}" destId="{D55AE01C-E013-4A6A-AF17-DE5E1BF70C0E}" srcOrd="3" destOrd="0" parTransId="{3CD676FE-5090-47E8-AFB0-10DFC04F7EC7}" sibTransId="{060FD457-A980-40B8-B7AA-C21CD8976422}"/>
    <dgm:cxn modelId="{1F499826-5A52-428F-88A5-CE6296B5C890}" type="presOf" srcId="{4EEA21D1-3087-4788-93A6-F4FE9F9977B2}" destId="{02F7E6B8-CA05-43BB-A084-B9303096DF86}" srcOrd="0" destOrd="0" presId="urn:microsoft.com/office/officeart/2005/8/layout/pyramid1"/>
    <dgm:cxn modelId="{C800D730-7266-4B72-8143-985F37DB3D0C}" type="presOf" srcId="{720ED9A1-B6E2-435F-BEB4-5A289ECC6B0C}" destId="{D396E301-5A3D-46A0-91E6-F2EA15192D55}" srcOrd="1" destOrd="0" presId="urn:microsoft.com/office/officeart/2005/8/layout/pyramid1"/>
    <dgm:cxn modelId="{B8DD325E-0308-4987-8412-1631D72AED17}" type="presOf" srcId="{9BA1A26A-508D-4DC2-A2B8-77C1F7F32EA1}" destId="{3892B68E-B924-42B0-B3E5-0F694E01F097}" srcOrd="1" destOrd="0" presId="urn:microsoft.com/office/officeart/2005/8/layout/pyramid1"/>
    <dgm:cxn modelId="{4223AD42-3E8A-4B87-BD27-41CAA0FEEB57}" type="presOf" srcId="{D55AE01C-E013-4A6A-AF17-DE5E1BF70C0E}" destId="{FA9CF802-84D9-480C-B3F2-14ACFD2A145B}" srcOrd="1" destOrd="0" presId="urn:microsoft.com/office/officeart/2005/8/layout/pyramid1"/>
    <dgm:cxn modelId="{08B18052-D253-46ED-A5B7-8226AEADA7C2}" srcId="{9F5A84DE-CBF5-4A0D-9CBF-4DAD6A29A4E4}" destId="{9BA1A26A-508D-4DC2-A2B8-77C1F7F32EA1}" srcOrd="0" destOrd="0" parTransId="{3FA35BAB-FD62-4ADC-B829-6D5EBD3420CD}" sibTransId="{21331F2D-C7F8-44AE-9CA8-EB9BCC562CE4}"/>
    <dgm:cxn modelId="{89D94785-5E2B-4B82-B07F-6F6C6E6A34E3}" type="presOf" srcId="{720ED9A1-B6E2-435F-BEB4-5A289ECC6B0C}" destId="{31A9D167-7519-40B5-9C42-565106CE9677}" srcOrd="0" destOrd="0" presId="urn:microsoft.com/office/officeart/2005/8/layout/pyramid1"/>
    <dgm:cxn modelId="{95B393BA-A7FE-463C-BC98-667968CEB9EB}" type="presOf" srcId="{4EEA21D1-3087-4788-93A6-F4FE9F9977B2}" destId="{2C26B334-F843-4C3B-86FB-9D6607012E32}" srcOrd="1" destOrd="0" presId="urn:microsoft.com/office/officeart/2005/8/layout/pyramid1"/>
    <dgm:cxn modelId="{992461DA-BB96-4D7A-B605-0F6E49FC26E2}" srcId="{9F5A84DE-CBF5-4A0D-9CBF-4DAD6A29A4E4}" destId="{4EEA21D1-3087-4788-93A6-F4FE9F9977B2}" srcOrd="2" destOrd="0" parTransId="{66E1CDB3-4980-44E9-BA76-097AF10FD769}" sibTransId="{6FC293BE-17E4-49B6-A456-F1473E1D1057}"/>
    <dgm:cxn modelId="{35DCA7FA-4878-4AE5-B55C-4281190959E6}" type="presOf" srcId="{9F5A84DE-CBF5-4A0D-9CBF-4DAD6A29A4E4}" destId="{5CD24136-81AA-4B43-B064-90D471D4B37A}" srcOrd="0" destOrd="0" presId="urn:microsoft.com/office/officeart/2005/8/layout/pyramid1"/>
    <dgm:cxn modelId="{A5EBBAFD-9033-4D5B-9330-9B7D4349A67A}" type="presOf" srcId="{9BA1A26A-508D-4DC2-A2B8-77C1F7F32EA1}" destId="{B8D9092D-1B0A-4A84-8D91-AD4E0AFA8A4E}" srcOrd="0" destOrd="0" presId="urn:microsoft.com/office/officeart/2005/8/layout/pyramid1"/>
    <dgm:cxn modelId="{7480DA98-38D4-4969-8328-D5C8FD8B2501}" type="presParOf" srcId="{5CD24136-81AA-4B43-B064-90D471D4B37A}" destId="{0FAEA01A-4B7D-4863-9233-E73513BD4D71}" srcOrd="0" destOrd="0" presId="urn:microsoft.com/office/officeart/2005/8/layout/pyramid1"/>
    <dgm:cxn modelId="{67D7F7E2-B443-4125-A862-2DEEC4CB2624}" type="presParOf" srcId="{0FAEA01A-4B7D-4863-9233-E73513BD4D71}" destId="{B8D9092D-1B0A-4A84-8D91-AD4E0AFA8A4E}" srcOrd="0" destOrd="0" presId="urn:microsoft.com/office/officeart/2005/8/layout/pyramid1"/>
    <dgm:cxn modelId="{553059CA-D1DA-40D5-9077-17851D6DF177}" type="presParOf" srcId="{0FAEA01A-4B7D-4863-9233-E73513BD4D71}" destId="{3892B68E-B924-42B0-B3E5-0F694E01F097}" srcOrd="1" destOrd="0" presId="urn:microsoft.com/office/officeart/2005/8/layout/pyramid1"/>
    <dgm:cxn modelId="{160F67C1-7E09-4909-A682-41C27337F39F}" type="presParOf" srcId="{5CD24136-81AA-4B43-B064-90D471D4B37A}" destId="{41E4F23B-A564-4F01-9D77-CC92B7807997}" srcOrd="1" destOrd="0" presId="urn:microsoft.com/office/officeart/2005/8/layout/pyramid1"/>
    <dgm:cxn modelId="{1D91F672-C29B-4504-8F0B-497908BABC14}" type="presParOf" srcId="{41E4F23B-A564-4F01-9D77-CC92B7807997}" destId="{31A9D167-7519-40B5-9C42-565106CE9677}" srcOrd="0" destOrd="0" presId="urn:microsoft.com/office/officeart/2005/8/layout/pyramid1"/>
    <dgm:cxn modelId="{E1621C4B-3EBC-499B-B0F3-FF0EED7636D9}" type="presParOf" srcId="{41E4F23B-A564-4F01-9D77-CC92B7807997}" destId="{D396E301-5A3D-46A0-91E6-F2EA15192D55}" srcOrd="1" destOrd="0" presId="urn:microsoft.com/office/officeart/2005/8/layout/pyramid1"/>
    <dgm:cxn modelId="{E7235781-9B93-493A-8444-DFED897672B9}" type="presParOf" srcId="{5CD24136-81AA-4B43-B064-90D471D4B37A}" destId="{8DCD2B2F-D93F-4A59-91E7-BC28F760FF3A}" srcOrd="2" destOrd="0" presId="urn:microsoft.com/office/officeart/2005/8/layout/pyramid1"/>
    <dgm:cxn modelId="{3225B376-608B-4C44-BDB8-A207C63BAB61}" type="presParOf" srcId="{8DCD2B2F-D93F-4A59-91E7-BC28F760FF3A}" destId="{02F7E6B8-CA05-43BB-A084-B9303096DF86}" srcOrd="0" destOrd="0" presId="urn:microsoft.com/office/officeart/2005/8/layout/pyramid1"/>
    <dgm:cxn modelId="{7ED7901B-A27E-47E0-94BF-C72BA4D7585D}" type="presParOf" srcId="{8DCD2B2F-D93F-4A59-91E7-BC28F760FF3A}" destId="{2C26B334-F843-4C3B-86FB-9D6607012E32}" srcOrd="1" destOrd="0" presId="urn:microsoft.com/office/officeart/2005/8/layout/pyramid1"/>
    <dgm:cxn modelId="{243B4FCE-F187-41AF-9DE8-4EDF6055F784}" type="presParOf" srcId="{5CD24136-81AA-4B43-B064-90D471D4B37A}" destId="{4FC2F20B-19E4-4BC3-885E-C8A23C9434BD}" srcOrd="3" destOrd="0" presId="urn:microsoft.com/office/officeart/2005/8/layout/pyramid1"/>
    <dgm:cxn modelId="{AE797D35-78D2-4CA3-85E5-ABE195121377}" type="presParOf" srcId="{4FC2F20B-19E4-4BC3-885E-C8A23C9434BD}" destId="{EDDE1C17-932D-4CD3-B8AC-E406491DAD54}" srcOrd="0" destOrd="0" presId="urn:microsoft.com/office/officeart/2005/8/layout/pyramid1"/>
    <dgm:cxn modelId="{4ABDB5EF-DECF-451E-A559-7A83BB426B15}" type="presParOf" srcId="{4FC2F20B-19E4-4BC3-885E-C8A23C9434BD}" destId="{FA9CF802-84D9-480C-B3F2-14ACFD2A145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872268" cy="3743178"/>
        <a:chOff x="0" y="0"/>
        <a:chExt cx="3872268" cy="3743178"/>
      </a:xfrm>
    </dsp:grpSpPr>
    <dsp:sp modelId="{E67AA2BE-FD3F-45F3-90F2-4ED9A1D5A5BD}">
      <dsp:nvSpPr>
        <dsp:cNvPr id="3" name="梯形 2"/>
        <dsp:cNvSpPr/>
      </dsp:nvSpPr>
      <dsp:spPr bwMode="white">
        <a:xfrm>
          <a:off x="1613445" y="0"/>
          <a:ext cx="645378" cy="623863"/>
        </a:xfrm>
        <a:prstGeom prst="trapezoid">
          <a:avLst>
            <a:gd name="adj" fmla="val 51724"/>
          </a:avLst>
        </a:prstGeom>
        <a:solidFill>
          <a:srgbClr val="0070C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600" dirty="0">
            <a:solidFill>
              <a:schemeClr val="tx1"/>
            </a:solidFill>
          </a:endParaRPr>
        </a:p>
      </dsp:txBody>
      <dsp:txXfrm>
        <a:off x="1613445" y="0"/>
        <a:ext cx="645378" cy="623863"/>
      </dsp:txXfrm>
    </dsp:sp>
    <dsp:sp modelId="{57476486-66E1-448F-B9E1-FDEC0503E90F}">
      <dsp:nvSpPr>
        <dsp:cNvPr id="4" name="梯形 3"/>
        <dsp:cNvSpPr/>
      </dsp:nvSpPr>
      <dsp:spPr bwMode="white">
        <a:xfrm>
          <a:off x="1290756" y="623863"/>
          <a:ext cx="1290756" cy="623863"/>
        </a:xfrm>
        <a:prstGeom prst="trapezoid">
          <a:avLst>
            <a:gd name="adj" fmla="val 51724"/>
          </a:avLst>
        </a:prstGeom>
        <a:solidFill>
          <a:srgbClr val="00ACE2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41910" rIns="41910" bIns="4191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290756" y="623863"/>
        <a:ext cx="1290756" cy="623863"/>
      </dsp:txXfrm>
    </dsp:sp>
    <dsp:sp modelId="{9166248D-7A15-4F32-A9D6-62667445BC5B}">
      <dsp:nvSpPr>
        <dsp:cNvPr id="5" name="梯形 4"/>
        <dsp:cNvSpPr/>
      </dsp:nvSpPr>
      <dsp:spPr bwMode="white">
        <a:xfrm>
          <a:off x="968067" y="1247726"/>
          <a:ext cx="1936134" cy="623863"/>
        </a:xfrm>
        <a:prstGeom prst="trapezoid">
          <a:avLst>
            <a:gd name="adj" fmla="val 51724"/>
          </a:avLst>
        </a:prstGeom>
        <a:solidFill>
          <a:srgbClr val="FBD893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41910" rIns="41910" bIns="4191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968067" y="1247726"/>
        <a:ext cx="1936134" cy="623863"/>
      </dsp:txXfrm>
    </dsp:sp>
    <dsp:sp modelId="{DC5F9F16-B30C-4058-A1DB-F603A5B33101}">
      <dsp:nvSpPr>
        <dsp:cNvPr id="6" name="梯形 5"/>
        <dsp:cNvSpPr/>
      </dsp:nvSpPr>
      <dsp:spPr bwMode="white">
        <a:xfrm>
          <a:off x="645378" y="1871589"/>
          <a:ext cx="2581512" cy="623863"/>
        </a:xfrm>
        <a:prstGeom prst="trapezoid">
          <a:avLst>
            <a:gd name="adj" fmla="val 51724"/>
          </a:avLst>
        </a:prstGeom>
        <a:solidFill>
          <a:schemeClr val="bg1">
            <a:lumMod val="8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41910" rIns="41910" bIns="4191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645378" y="1871589"/>
        <a:ext cx="2581512" cy="623863"/>
      </dsp:txXfrm>
    </dsp:sp>
    <dsp:sp modelId="{7A7A3055-31E9-41C0-B5AB-F893F4852575}">
      <dsp:nvSpPr>
        <dsp:cNvPr id="7" name="梯形 6"/>
        <dsp:cNvSpPr/>
      </dsp:nvSpPr>
      <dsp:spPr bwMode="white">
        <a:xfrm>
          <a:off x="322689" y="2495452"/>
          <a:ext cx="3226890" cy="623863"/>
        </a:xfrm>
        <a:prstGeom prst="trapezoid">
          <a:avLst>
            <a:gd name="adj" fmla="val 51724"/>
          </a:avLst>
        </a:prstGeom>
        <a:solidFill>
          <a:srgbClr val="F7B021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41910" rIns="41910" bIns="4191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zh-CN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322689" y="2495452"/>
        <a:ext cx="3226890" cy="623863"/>
      </dsp:txXfrm>
    </dsp:sp>
    <dsp:sp modelId="{46121CDC-9224-4533-B8AE-D3B9A80FD320}">
      <dsp:nvSpPr>
        <dsp:cNvPr id="8" name="梯形 7"/>
        <dsp:cNvSpPr/>
      </dsp:nvSpPr>
      <dsp:spPr bwMode="white">
        <a:xfrm>
          <a:off x="0" y="3119315"/>
          <a:ext cx="3872268" cy="623863"/>
        </a:xfrm>
        <a:prstGeom prst="trapezoid">
          <a:avLst>
            <a:gd name="adj" fmla="val 51724"/>
          </a:avLst>
        </a:prstGeom>
        <a:solidFill>
          <a:srgbClr val="0070C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41910" rIns="41910" bIns="4191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3119315"/>
        <a:ext cx="3872268" cy="6238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331852" cy="887901"/>
        <a:chOff x="0" y="0"/>
        <a:chExt cx="1331852" cy="887901"/>
      </a:xfrm>
    </dsp:grpSpPr>
    <dsp:sp modelId="{B8D9092D-1B0A-4A84-8D91-AD4E0AFA8A4E}">
      <dsp:nvSpPr>
        <dsp:cNvPr id="3" name="梯形 2"/>
        <dsp:cNvSpPr/>
      </dsp:nvSpPr>
      <dsp:spPr bwMode="white">
        <a:xfrm>
          <a:off x="499444" y="0"/>
          <a:ext cx="332963" cy="221975"/>
        </a:xfrm>
        <a:prstGeom prst="trapezoid">
          <a:avLst>
            <a:gd name="adj" fmla="val 75000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99444" y="0"/>
        <a:ext cx="332963" cy="221975"/>
      </dsp:txXfrm>
    </dsp:sp>
    <dsp:sp modelId="{31A9D167-7519-40B5-9C42-565106CE9677}">
      <dsp:nvSpPr>
        <dsp:cNvPr id="4" name="梯形 3"/>
        <dsp:cNvSpPr/>
      </dsp:nvSpPr>
      <dsp:spPr bwMode="white">
        <a:xfrm>
          <a:off x="332963" y="221975"/>
          <a:ext cx="665926" cy="221975"/>
        </a:xfrm>
        <a:prstGeom prst="trapezoid">
          <a:avLst>
            <a:gd name="adj" fmla="val 75000"/>
          </a:avLst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2963" y="221975"/>
        <a:ext cx="665926" cy="221975"/>
      </dsp:txXfrm>
    </dsp:sp>
    <dsp:sp modelId="{02F7E6B8-CA05-43BB-A084-B9303096DF86}">
      <dsp:nvSpPr>
        <dsp:cNvPr id="5" name="梯形 4"/>
        <dsp:cNvSpPr/>
      </dsp:nvSpPr>
      <dsp:spPr bwMode="white">
        <a:xfrm>
          <a:off x="166482" y="443951"/>
          <a:ext cx="998889" cy="221975"/>
        </a:xfrm>
        <a:prstGeom prst="trapezoid">
          <a:avLst>
            <a:gd name="adj" fmla="val 75000"/>
          </a:avLst>
        </a:prstGeom>
        <a:solidFill>
          <a:srgbClr val="FBD893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66482" y="443951"/>
        <a:ext cx="998889" cy="221975"/>
      </dsp:txXfrm>
    </dsp:sp>
    <dsp:sp modelId="{EDDE1C17-932D-4CD3-B8AC-E406491DAD54}">
      <dsp:nvSpPr>
        <dsp:cNvPr id="6" name="梯形 5"/>
        <dsp:cNvSpPr/>
      </dsp:nvSpPr>
      <dsp:spPr bwMode="white">
        <a:xfrm>
          <a:off x="0" y="665926"/>
          <a:ext cx="1331852" cy="221975"/>
        </a:xfrm>
        <a:prstGeom prst="trapezoid">
          <a:avLst>
            <a:gd name="adj" fmla="val 75000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0" y="665926"/>
        <a:ext cx="1331852" cy="2219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68198" cy="1381878"/>
        <a:chOff x="0" y="0"/>
        <a:chExt cx="1068198" cy="1381878"/>
      </a:xfrm>
    </dsp:grpSpPr>
    <dsp:sp modelId="{42863C4F-FAF0-4164-BAA8-1D315BCF3B84}">
      <dsp:nvSpPr>
        <dsp:cNvPr id="3" name="梯形 2"/>
        <dsp:cNvSpPr/>
      </dsp:nvSpPr>
      <dsp:spPr bwMode="white">
        <a:xfrm>
          <a:off x="356066" y="0"/>
          <a:ext cx="356066" cy="460626"/>
        </a:xfrm>
        <a:prstGeom prst="trapezoid">
          <a:avLst>
            <a:gd name="adj" fmla="val 50000"/>
          </a:avLst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56066" y="0"/>
        <a:ext cx="356066" cy="460626"/>
      </dsp:txXfrm>
    </dsp:sp>
    <dsp:sp modelId="{2C235F41-8FB1-4AA0-8478-19434C255C9A}">
      <dsp:nvSpPr>
        <dsp:cNvPr id="4" name="梯形 3"/>
        <dsp:cNvSpPr/>
      </dsp:nvSpPr>
      <dsp:spPr bwMode="white">
        <a:xfrm>
          <a:off x="178033" y="460626"/>
          <a:ext cx="712132" cy="460626"/>
        </a:xfrm>
        <a:prstGeom prst="trapezoid">
          <a:avLst>
            <a:gd name="adj" fmla="val 38650"/>
          </a:avLst>
        </a:prstGeom>
        <a:solidFill>
          <a:schemeClr val="bg1">
            <a:lumMod val="85000"/>
          </a:schemeClr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78033" y="460626"/>
        <a:ext cx="712132" cy="460626"/>
      </dsp:txXfrm>
    </dsp:sp>
    <dsp:sp modelId="{6ED9BF31-DE2D-400D-AB2F-A414DC7ED068}">
      <dsp:nvSpPr>
        <dsp:cNvPr id="5" name="梯形 4"/>
        <dsp:cNvSpPr/>
      </dsp:nvSpPr>
      <dsp:spPr bwMode="white">
        <a:xfrm>
          <a:off x="0" y="921252"/>
          <a:ext cx="1068198" cy="460626"/>
        </a:xfrm>
        <a:prstGeom prst="trapezoid">
          <a:avLst>
            <a:gd name="adj" fmla="val 38650"/>
          </a:avLst>
        </a:prstGeom>
        <a:solidFill>
          <a:srgbClr val="FBD893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0" y="921252"/>
        <a:ext cx="1068198" cy="4606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68198" cy="1381878"/>
        <a:chOff x="0" y="0"/>
        <a:chExt cx="1068198" cy="1381878"/>
      </a:xfrm>
    </dsp:grpSpPr>
    <dsp:sp modelId="{42863C4F-FAF0-4164-BAA8-1D315BCF3B84}">
      <dsp:nvSpPr>
        <dsp:cNvPr id="3" name="梯形 2"/>
        <dsp:cNvSpPr/>
      </dsp:nvSpPr>
      <dsp:spPr bwMode="white">
        <a:xfrm>
          <a:off x="356066" y="0"/>
          <a:ext cx="356066" cy="460626"/>
        </a:xfrm>
        <a:prstGeom prst="trapezoid">
          <a:avLst>
            <a:gd name="adj" fmla="val 50000"/>
          </a:avLst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56066" y="0"/>
        <a:ext cx="356066" cy="460626"/>
      </dsp:txXfrm>
    </dsp:sp>
    <dsp:sp modelId="{2C235F41-8FB1-4AA0-8478-19434C255C9A}">
      <dsp:nvSpPr>
        <dsp:cNvPr id="4" name="梯形 3"/>
        <dsp:cNvSpPr/>
      </dsp:nvSpPr>
      <dsp:spPr bwMode="white">
        <a:xfrm>
          <a:off x="178033" y="460626"/>
          <a:ext cx="712132" cy="460626"/>
        </a:xfrm>
        <a:prstGeom prst="trapezoid">
          <a:avLst>
            <a:gd name="adj" fmla="val 38650"/>
          </a:avLst>
        </a:prstGeom>
        <a:solidFill>
          <a:schemeClr val="bg1">
            <a:lumMod val="85000"/>
          </a:schemeClr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78033" y="460626"/>
        <a:ext cx="712132" cy="460626"/>
      </dsp:txXfrm>
    </dsp:sp>
    <dsp:sp modelId="{6ED9BF31-DE2D-400D-AB2F-A414DC7ED068}">
      <dsp:nvSpPr>
        <dsp:cNvPr id="5" name="梯形 4"/>
        <dsp:cNvSpPr/>
      </dsp:nvSpPr>
      <dsp:spPr bwMode="white">
        <a:xfrm>
          <a:off x="0" y="921252"/>
          <a:ext cx="1068198" cy="460626"/>
        </a:xfrm>
        <a:prstGeom prst="trapezoid">
          <a:avLst>
            <a:gd name="adj" fmla="val 38650"/>
          </a:avLst>
        </a:prstGeom>
        <a:solidFill>
          <a:srgbClr val="FBD893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0" y="921252"/>
        <a:ext cx="1068198" cy="4606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099559" cy="1394178"/>
        <a:chOff x="0" y="0"/>
        <a:chExt cx="2099559" cy="1394178"/>
      </a:xfrm>
    </dsp:grpSpPr>
    <dsp:sp modelId="{B8D9092D-1B0A-4A84-8D91-AD4E0AFA8A4E}">
      <dsp:nvSpPr>
        <dsp:cNvPr id="3" name="梯形 2"/>
        <dsp:cNvSpPr/>
      </dsp:nvSpPr>
      <dsp:spPr bwMode="white">
        <a:xfrm>
          <a:off x="787335" y="0"/>
          <a:ext cx="524890" cy="348545"/>
        </a:xfrm>
        <a:prstGeom prst="trapezoid">
          <a:avLst>
            <a:gd name="adj" fmla="val 75297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130" tIns="24130" rIns="24130" bIns="2413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787335" y="0"/>
        <a:ext cx="524890" cy="348545"/>
      </dsp:txXfrm>
    </dsp:sp>
    <dsp:sp modelId="{31A9D167-7519-40B5-9C42-565106CE9677}">
      <dsp:nvSpPr>
        <dsp:cNvPr id="4" name="梯形 3"/>
        <dsp:cNvSpPr/>
      </dsp:nvSpPr>
      <dsp:spPr bwMode="white">
        <a:xfrm>
          <a:off x="524890" y="348545"/>
          <a:ext cx="1049780" cy="348545"/>
        </a:xfrm>
        <a:prstGeom prst="trapezoid">
          <a:avLst>
            <a:gd name="adj" fmla="val 75297"/>
          </a:avLst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130" tIns="24130" rIns="24130" bIns="2413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524890" y="348545"/>
        <a:ext cx="1049780" cy="348545"/>
      </dsp:txXfrm>
    </dsp:sp>
    <dsp:sp modelId="{02F7E6B8-CA05-43BB-A084-B9303096DF86}">
      <dsp:nvSpPr>
        <dsp:cNvPr id="5" name="梯形 4"/>
        <dsp:cNvSpPr/>
      </dsp:nvSpPr>
      <dsp:spPr bwMode="white">
        <a:xfrm>
          <a:off x="262445" y="697089"/>
          <a:ext cx="1574669" cy="348545"/>
        </a:xfrm>
        <a:prstGeom prst="trapezoid">
          <a:avLst>
            <a:gd name="adj" fmla="val 75297"/>
          </a:avLst>
        </a:prstGeom>
        <a:solidFill>
          <a:srgbClr val="FBD893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130" tIns="24130" rIns="24130" bIns="2413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262445" y="697089"/>
        <a:ext cx="1574669" cy="348545"/>
      </dsp:txXfrm>
    </dsp:sp>
    <dsp:sp modelId="{EDDE1C17-932D-4CD3-B8AC-E406491DAD54}">
      <dsp:nvSpPr>
        <dsp:cNvPr id="6" name="梯形 5"/>
        <dsp:cNvSpPr/>
      </dsp:nvSpPr>
      <dsp:spPr bwMode="white">
        <a:xfrm>
          <a:off x="0" y="1045634"/>
          <a:ext cx="2099559" cy="348545"/>
        </a:xfrm>
        <a:prstGeom prst="trapezoid">
          <a:avLst>
            <a:gd name="adj" fmla="val 75297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130" tIns="24130" rIns="24130" bIns="2413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0" y="1045634"/>
        <a:ext cx="2099559" cy="3485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685186" cy="1783052"/>
        <a:chOff x="0" y="0"/>
        <a:chExt cx="2685186" cy="1783052"/>
      </a:xfrm>
    </dsp:grpSpPr>
    <dsp:sp modelId="{B8D9092D-1B0A-4A84-8D91-AD4E0AFA8A4E}">
      <dsp:nvSpPr>
        <dsp:cNvPr id="3" name="梯形 2"/>
        <dsp:cNvSpPr/>
      </dsp:nvSpPr>
      <dsp:spPr bwMode="white">
        <a:xfrm>
          <a:off x="1006945" y="0"/>
          <a:ext cx="671297" cy="445763"/>
        </a:xfrm>
        <a:prstGeom prst="trapezoid">
          <a:avLst>
            <a:gd name="adj" fmla="val 75297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006945" y="0"/>
        <a:ext cx="671297" cy="445763"/>
      </dsp:txXfrm>
    </dsp:sp>
    <dsp:sp modelId="{31A9D167-7519-40B5-9C42-565106CE9677}">
      <dsp:nvSpPr>
        <dsp:cNvPr id="4" name="梯形 3"/>
        <dsp:cNvSpPr/>
      </dsp:nvSpPr>
      <dsp:spPr bwMode="white">
        <a:xfrm>
          <a:off x="671297" y="445763"/>
          <a:ext cx="1342593" cy="445763"/>
        </a:xfrm>
        <a:prstGeom prst="trapezoid">
          <a:avLst>
            <a:gd name="adj" fmla="val 75297"/>
          </a:avLst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671297" y="445763"/>
        <a:ext cx="1342593" cy="445763"/>
      </dsp:txXfrm>
    </dsp:sp>
    <dsp:sp modelId="{02F7E6B8-CA05-43BB-A084-B9303096DF86}">
      <dsp:nvSpPr>
        <dsp:cNvPr id="5" name="梯形 4"/>
        <dsp:cNvSpPr/>
      </dsp:nvSpPr>
      <dsp:spPr bwMode="white">
        <a:xfrm>
          <a:off x="335648" y="891526"/>
          <a:ext cx="2013890" cy="445763"/>
        </a:xfrm>
        <a:prstGeom prst="trapezoid">
          <a:avLst>
            <a:gd name="adj" fmla="val 75297"/>
          </a:avLst>
        </a:prstGeom>
        <a:solidFill>
          <a:srgbClr val="FBD893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5648" y="891526"/>
        <a:ext cx="2013890" cy="445763"/>
      </dsp:txXfrm>
    </dsp:sp>
    <dsp:sp modelId="{EDDE1C17-932D-4CD3-B8AC-E406491DAD54}">
      <dsp:nvSpPr>
        <dsp:cNvPr id="6" name="梯形 5"/>
        <dsp:cNvSpPr/>
      </dsp:nvSpPr>
      <dsp:spPr bwMode="white">
        <a:xfrm>
          <a:off x="0" y="1337289"/>
          <a:ext cx="2685186" cy="445763"/>
        </a:xfrm>
        <a:prstGeom prst="trapezoid">
          <a:avLst>
            <a:gd name="adj" fmla="val 75297"/>
          </a:avLst>
        </a:prstGeom>
        <a:solidFill>
          <a:srgbClr val="F7B021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0" y="1337289"/>
        <a:ext cx="2685186" cy="445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099" cy="4969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939" y="0"/>
            <a:ext cx="2949099" cy="4969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99ECB0-6573-4573-97F8-0F22CF6BD3F2}" type="datetimeFigureOut">
              <a:rPr lang="zh-CN" altLang="en-US"/>
            </a:fld>
            <a:endParaRPr lang="en-US" altLang="zh-CN"/>
          </a:p>
        </p:txBody>
      </p:sp>
      <p:sp>
        <p:nvSpPr>
          <p:cNvPr id="227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646"/>
            <a:ext cx="2949099" cy="4969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7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939" y="9440646"/>
            <a:ext cx="2949099" cy="4969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F672297-AFAB-40D7-9FB7-D5F863C7FB9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1093-7E3D-4F84-85CF-AA447437FB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989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9145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9035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8925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818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807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96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850" algn="l" defTabSz="77914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54183" y="9440774"/>
            <a:ext cx="2949841" cy="496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33" tIns="45917" rIns="91833" bIns="45917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>
                <a:solidFill>
                  <a:srgbClr val="000000"/>
                </a:solidFill>
              </a:rPr>
              <a:t>1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1985"/>
            <a:ext cx="5441947" cy="44727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HK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（高原）</a:t>
            </a:r>
            <a:endParaRPr lang="zh-HK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dirty="0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87CB9-3E77-4A42-9607-FB3E27A9F41F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10E700-D6B7-4DE1-8DDE-AB4B6D01D89F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963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6963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7" name="Slide Number Placeholder 3"/>
          <p:cNvSpPr txBox="1">
            <a:spLocks noGrp="1"/>
          </p:cNvSpPr>
          <p:nvPr/>
        </p:nvSpPr>
        <p:spPr bwMode="auto">
          <a:xfrm>
            <a:off x="3854183" y="9440774"/>
            <a:ext cx="2949841" cy="4969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833" tIns="45917" rIns="91833" bIns="45917" anchor="b"/>
          <a:lstStyle/>
          <a:p>
            <a:pPr algn="r"/>
            <a:fld id="{5AF027BA-9A5B-4BA7-8347-2B0803095D6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4625" lvl="1" indent="-174625">
              <a:lnSpc>
                <a:spcPts val="1600"/>
              </a:lnSpc>
              <a:spcBef>
                <a:spcPct val="0"/>
              </a:spcBef>
              <a:buClr>
                <a:schemeClr val="tx2"/>
              </a:buClr>
              <a:buSzPct val="130000"/>
            </a:pPr>
            <a:r>
              <a:rPr lang="en-US" altLang="zh-CN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zh-CN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个授权要素</a:t>
            </a:r>
            <a:r>
              <a:rPr lang="en-US" altLang="zh-CN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zh-CN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现金流</a:t>
            </a:r>
            <a:r>
              <a:rPr lang="en-US" altLang="zh-CN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”</a:t>
            </a:r>
            <a:r>
              <a:rPr lang="zh-CN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白色表示暂未发布。</a:t>
            </a:r>
            <a:endParaRPr lang="en-US" altLang="zh-CN" b="1" i="1" dirty="0">
              <a:solidFill>
                <a:srgbClr val="FF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174625" lvl="1" indent="-174625">
              <a:lnSpc>
                <a:spcPts val="1600"/>
              </a:lnSpc>
              <a:spcBef>
                <a:spcPct val="0"/>
              </a:spcBef>
              <a:buClr>
                <a:schemeClr val="tx2"/>
              </a:buClr>
              <a:buSzPct val="130000"/>
            </a:pPr>
            <a:endParaRPr lang="en-US" altLang="zh-CN" b="1" i="1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174625" lvl="1" indent="-174625">
              <a:lnSpc>
                <a:spcPts val="1600"/>
              </a:lnSpc>
              <a:spcBef>
                <a:spcPct val="0"/>
              </a:spcBef>
              <a:buClr>
                <a:schemeClr val="tx2"/>
              </a:buClr>
              <a:buSzPct val="130000"/>
            </a:pPr>
            <a:r>
              <a:rPr lang="zh-CN" altLang="en-US" b="1" i="1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对</a:t>
            </a:r>
            <a:r>
              <a:rPr lang="en-US" altLang="zh-CN" b="1" i="1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CC3</a:t>
            </a:r>
            <a:r>
              <a:rPr lang="zh-CN" altLang="en-US" b="1" i="1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的关键收益</a:t>
            </a:r>
            <a:endParaRPr lang="en-US" altLang="zh-CN" b="1" i="1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174625" lvl="1" indent="-174625">
              <a:lnSpc>
                <a:spcPts val="1600"/>
              </a:lnSpc>
              <a:spcBef>
                <a:spcPct val="0"/>
              </a:spcBef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</a:pPr>
            <a:r>
              <a:rPr lang="zh-CN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众多的专业评审整合成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个评审要素，简化了评审界面，提升了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CC3</a:t>
            </a:r>
            <a:r>
              <a:rPr lang="zh-CN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的工作效率</a:t>
            </a:r>
            <a:endParaRPr lang="en-US" altLang="zh-CN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lvl="1" indent="-174625">
              <a:lnSpc>
                <a:spcPts val="1600"/>
              </a:lnSpc>
              <a:spcBef>
                <a:spcPct val="0"/>
              </a:spcBef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</a:pPr>
            <a:r>
              <a:rPr lang="zh-CN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引入综合评审，整合和分析专业评审反馈，综合考虑风险和机会点之间的平衡，作出更优评审建议</a:t>
            </a:r>
            <a:endParaRPr lang="zh-CN" alt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EFFFAD-E46C-4CC4-8DA5-BDE153390FD9}" type="slidenum">
              <a:rPr lang="en-US" smtClean="0">
                <a:solidFill>
                  <a:prstClr val="black"/>
                </a:solidFill>
              </a:rPr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149508" name="Slide Number Placeholder 3"/>
          <p:cNvSpPr txBox="1">
            <a:spLocks noGrp="1"/>
          </p:cNvSpPr>
          <p:nvPr/>
        </p:nvSpPr>
        <p:spPr bwMode="auto">
          <a:xfrm>
            <a:off x="3854358" y="9440334"/>
            <a:ext cx="2949716" cy="4973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833" tIns="45917" rIns="91833" bIns="45917" anchor="b"/>
          <a:lstStyle/>
          <a:p>
            <a:pPr algn="r"/>
            <a:r>
              <a:rPr lang="en-US" altLang="zh-CN" sz="12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lang="en-US" altLang="zh-CN" sz="12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27DF90-04BB-43D7-B57F-D5DCB67653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1463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C54F02-A131-4D2A-82FE-6FB712818CA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02D3F3-996D-4973-BDD6-E637E9837056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2458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B2D2D1-67EE-4E1D-8DC5-AE0E900AD40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8131-EE01-43DA-AFBF-82A195346D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</p:spPr>
      </p:sp>
      <p:sp>
        <p:nvSpPr>
          <p:cNvPr id="2529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</a:rPr>
              <a:t>6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BF2F6-ADE0-49A4-893B-0FD3BB56F2F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 txBox="1">
            <a:spLocks noGrp="1" noChangeArrowheads="1"/>
          </p:cNvSpPr>
          <p:nvPr/>
        </p:nvSpPr>
        <p:spPr bwMode="auto">
          <a:xfrm>
            <a:off x="3884027" y="8684926"/>
            <a:ext cx="2972422" cy="457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833" tIns="45917" rIns="91833" bIns="45917" anchor="b"/>
          <a:lstStyle/>
          <a:p>
            <a:pPr algn="r"/>
            <a:r>
              <a:rPr lang="en-US" altLang="zh-HK" sz="1200">
                <a:solidFill>
                  <a:srgbClr val="000000"/>
                </a:solidFill>
                <a:ea typeface="宋体" panose="02010600030101010101" pitchFamily="2" charset="-122"/>
              </a:rPr>
              <a:t>27</a:t>
            </a:r>
            <a:endParaRPr lang="en-US" altLang="zh-HK" sz="12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7588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r>
              <a:rPr lang="en-US" altLang="zh-CN" b="1"/>
              <a:t>Deal hub </a:t>
            </a:r>
            <a:r>
              <a:rPr lang="zh-CN" altLang="en-US" b="1"/>
              <a:t>的工作分为两类，一类是项目化的工作，一个是非项目化的工作。</a:t>
            </a:r>
            <a:endParaRPr lang="en-US" altLang="zh-CN" b="1"/>
          </a:p>
          <a:p>
            <a:pPr>
              <a:spcBef>
                <a:spcPct val="0"/>
              </a:spcBef>
            </a:pPr>
            <a:r>
              <a:rPr lang="en-US" altLang="zh-CN"/>
              <a:t>1.</a:t>
            </a:r>
            <a:r>
              <a:rPr lang="zh-CN" altLang="en-US"/>
              <a:t>项目化工作起始于客户发出的需求，包括投标类，合同</a:t>
            </a:r>
            <a:r>
              <a:rPr lang="en-US" altLang="zh-CN"/>
              <a:t>PO</a:t>
            </a:r>
            <a:r>
              <a:rPr lang="zh-CN" altLang="en-US"/>
              <a:t>生成类，合同变更类等）；纳入交易管道管理后经过分解集成，质量控制，评审决策，最后统一出口给客户。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数据管理贯穿整个项目化工作中，其中包含结构化的信息管理（</a:t>
            </a:r>
            <a:r>
              <a:rPr lang="en-US" altLang="zh-CN"/>
              <a:t>IT</a:t>
            </a:r>
            <a:r>
              <a:rPr lang="zh-CN" altLang="en-US"/>
              <a:t>承载），文档配置与版本管理。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en-US" altLang="zh-CN"/>
              <a:t>2.</a:t>
            </a:r>
            <a:r>
              <a:rPr lang="zh-CN" altLang="en-US"/>
              <a:t>非项目化的工作是为了项目化工作更高质高效，包含了客户化基线模板的维护和应用，评审资源池的建设与维护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 b="1"/>
              <a:t>下面将对</a:t>
            </a:r>
            <a:r>
              <a:rPr lang="en-US" altLang="zh-CN" b="1"/>
              <a:t>DEAL HUB</a:t>
            </a:r>
            <a:r>
              <a:rPr lang="zh-CN" altLang="en-US" b="1"/>
              <a:t>两类工作逐个介绍。</a:t>
            </a:r>
            <a:endParaRPr lang="zh-CN" altLang="en-US" b="1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C8320729-C3D6-4C28-8DB4-BFE654322E8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通过配置打通和交付上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项目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2013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年的努力，在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2+3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国家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德国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土耳其，埃及，尼日利亚，沙特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成功上线，实现了在上述国家贯通集成大管道：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实现配置同源，提高合同端到端履行效率 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项目交付与供应、采购、财经集成，提高项目管理效率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实现收入成本匹配，账实一致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通过设备配置打通、服务配置打通、财经集成和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zh-CN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集成方案的四个方案包在一线的适配和落地，全球典型业务场景得到覆盖，方案具备了全球推行的基础：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规范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UPL(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单价表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、合同配置对准验收，清晰销售配置进入后端履行实现配置同源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服务产品化，服务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BOM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高效贯通销售报价、项目管理，服务交付、采购履行全流程 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SO(Sales Oder)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承载收入，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WBS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 breakdown structure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）归集成本，交付触发开票，实现收入和成本匹配，帐实一致 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配置打通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CCM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（合同配置管理系统）系统及交付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共同支撑了合同、 配置、交付、财经的业务集成 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994A6-2459-410B-9BCD-9DEC56C3EC78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、配置打通和交付上</a:t>
            </a:r>
            <a:r>
              <a:rPr lang="en-US" altLang="zh-CN" dirty="0"/>
              <a:t>ERP</a:t>
            </a:r>
            <a:r>
              <a:rPr lang="zh-CN" altLang="en-US" dirty="0"/>
              <a:t>方案上线后，实现了两个层面的打通，首先是业务流层面的打通，从客户下发</a:t>
            </a:r>
            <a:r>
              <a:rPr lang="en-US" altLang="zh-CN" dirty="0"/>
              <a:t>PO</a:t>
            </a:r>
            <a:r>
              <a:rPr lang="zh-CN" altLang="en-US" dirty="0"/>
              <a:t>到化为</a:t>
            </a:r>
            <a:r>
              <a:rPr lang="en-US" altLang="zh-CN" dirty="0"/>
              <a:t>PO</a:t>
            </a:r>
            <a:r>
              <a:rPr lang="zh-CN" altLang="en-US" dirty="0"/>
              <a:t>接收、配置发布、启动内部的供应、货到中心仓后，派送到客户站点，交付验收，开票等关键业务流实现了打通。并且通过集成的</a:t>
            </a:r>
            <a:r>
              <a:rPr lang="en-US" altLang="zh-CN" dirty="0"/>
              <a:t>IT</a:t>
            </a:r>
            <a:r>
              <a:rPr lang="zh-CN" altLang="en-US" dirty="0"/>
              <a:t>平台，把这些业务集成起来了。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、完整的配置数据</a:t>
            </a:r>
            <a:r>
              <a:rPr lang="en-US" altLang="zh-CN" dirty="0"/>
              <a:t>C-S-B</a:t>
            </a:r>
            <a:r>
              <a:rPr lang="zh-CN" altLang="en-US" dirty="0"/>
              <a:t>支撑业务流的高效集成和贯通。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BF2F6-ADE0-49A4-893B-0FD3BB56F2F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7588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623AFA-5526-460C-B32B-7A844F57969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7262446" y="2213374"/>
            <a:ext cx="1322092" cy="25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294" tIns="34148" rIns="68294" bIns="34148">
            <a:spAutoFit/>
          </a:bodyPr>
          <a:lstStyle>
            <a:lvl1pPr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>
                <a:solidFill>
                  <a:srgbClr val="FFFFFF"/>
                </a:solidFill>
                <a:latin typeface="FrutigerNext LT Regular" pitchFamily="34" charset="0"/>
                <a:ea typeface="MS PGothic" panose="020B0600070205080204" pitchFamily="34" charset="-128"/>
              </a:rPr>
              <a:t>www.huawei.com</a:t>
            </a:r>
            <a:endParaRPr lang="en-US" altLang="zh-CN">
              <a:solidFill>
                <a:srgbClr val="FFFFFF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744FD0-71C7-445A-BC19-376078EFAE8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\7</a:t>
            </a: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9" descr="d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4657210"/>
            <a:ext cx="9150350" cy="47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52464" y="86916"/>
            <a:ext cx="7929562" cy="42898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361117" y="4867279"/>
            <a:ext cx="2097087" cy="341710"/>
          </a:xfrm>
          <a:prstGeom prst="rect">
            <a:avLst/>
          </a:prstGeom>
        </p:spPr>
        <p:txBody>
          <a:bodyPr lIns="81619" tIns="40810" rIns="81619" bIns="40810"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e-DE" altLang="zh-CN">
                <a:solidFill>
                  <a:srgbClr val="000000"/>
                </a:solidFill>
                <a:latin typeface="Calibri" panose="020F0502020204030204"/>
                <a:ea typeface="微软雅黑" panose="020B0503020204020204" charset="-122"/>
              </a:rPr>
              <a:t>Page </a:t>
            </a:r>
            <a:fld id="{A2C39A91-F912-4BF5-8C76-D95B945A9965}" type="slidenum">
              <a:rPr lang="de-DE" altLang="zh-CN">
                <a:solidFill>
                  <a:srgbClr val="000000"/>
                </a:solidFill>
                <a:latin typeface="Calibri" panose="020F0502020204030204"/>
                <a:ea typeface="微软雅黑" panose="020B0503020204020204" charset="-122"/>
              </a:rPr>
            </a:fld>
            <a:endParaRPr lang="en-GB" altLang="zh-CN">
              <a:solidFill>
                <a:srgbClr val="00000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2302" y="205979"/>
            <a:ext cx="8064500" cy="470297"/>
          </a:xfrm>
          <a:prstGeom prst="rect">
            <a:avLst/>
          </a:prstGeom>
        </p:spPr>
        <p:txBody>
          <a:bodyPr lIns="81624" tIns="40812" rIns="81624" bIns="40812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6218242" y="4779171"/>
            <a:ext cx="1233487" cy="964407"/>
          </a:xfrm>
          <a:prstGeom prst="rect">
            <a:avLst/>
          </a:prstGeom>
        </p:spPr>
        <p:txBody>
          <a:bodyPr lIns="81624" tIns="40812" rIns="81624" bIns="40812"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de-DE" altLang="zh-CN">
              <a:solidFill>
                <a:srgbClr val="000000"/>
              </a:solidFill>
              <a:latin typeface="Calibri" panose="020F0502020204030204"/>
              <a:ea typeface="微软雅黑" panose="020B050302020402020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e-DE" altLang="zh-CN">
                <a:solidFill>
                  <a:srgbClr val="000000"/>
                </a:solidFill>
                <a:latin typeface="Calibri" panose="020F0502020204030204"/>
                <a:ea typeface="微软雅黑" panose="020B0503020204020204" charset="-122"/>
              </a:rPr>
              <a:t>Page </a:t>
            </a:r>
            <a:fld id="{63256884-979D-449C-895C-D19B7013FFFE}" type="slidenum">
              <a:rPr lang="de-DE" altLang="zh-CN">
                <a:solidFill>
                  <a:srgbClr val="000000"/>
                </a:solidFill>
                <a:latin typeface="Calibri" panose="020F0502020204030204"/>
                <a:ea typeface="微软雅黑" panose="020B0503020204020204" charset="-122"/>
              </a:rPr>
            </a:fld>
            <a:endParaRPr lang="en-GB" altLang="zh-CN">
              <a:solidFill>
                <a:srgbClr val="00000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67" y="269084"/>
            <a:ext cx="7731125" cy="651273"/>
          </a:xfrm>
          <a:prstGeom prst="rect">
            <a:avLst/>
          </a:prstGeom>
        </p:spPr>
        <p:txBody>
          <a:bodyPr lIns="73556" tIns="36778" rIns="73556" bIns="36778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V="1">
            <a:off x="-2193243" y="3498066"/>
            <a:ext cx="415925" cy="288131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</a:ln>
          <a:effectLst/>
        </p:spPr>
        <p:txBody>
          <a:bodyPr wrap="none" lIns="81583" tIns="40792" rIns="81583" bIns="40792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ectangle 1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1827" y="4957932"/>
            <a:ext cx="612175" cy="1855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defTabSz="751205" eaLnBrk="0" fontAlgn="base" hangingPunct="0">
              <a:lnSpc>
                <a:spcPct val="85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FrutigerNext LT Bold" pitchFamily="34" charset="0"/>
                <a:ea typeface="MS PGothic" panose="020B0600070205080204" pitchFamily="34" charset="-128"/>
              </a:defRPr>
            </a:lvl1pPr>
          </a:lstStyle>
          <a:p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</a:rPr>
              <a:t>Page</a:t>
            </a:r>
            <a:fld id="{D4789C36-C1FE-4AFB-B45B-65918AF97793}" type="slidenum">
              <a:rPr lang="en-US" altLang="zh-CN" smtClean="0">
                <a:solidFill>
                  <a:prstClr val="black">
                    <a:lumMod val="65000"/>
                    <a:lumOff val="35000"/>
                  </a:prstClr>
                </a:solidFill>
              </a:rPr>
            </a:fld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tags" Target="../tags/tag5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AcnSubjectTitle_ID_28819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gray">
          <a:xfrm>
            <a:off x="652097" y="1065612"/>
            <a:ext cx="698548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buClr>
                <a:srgbClr val="777777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400" b="1">
                <a:solidFill>
                  <a:srgbClr val="000000"/>
                </a:solidFill>
                <a:latin typeface="FrutigerNext LT Regular" pitchFamily="34" charset="0"/>
              </a:rPr>
              <a:t>Subject Title</a:t>
            </a:r>
            <a:endParaRPr lang="en-US" altLang="zh-CN" sz="1400" b="1">
              <a:solidFill>
                <a:srgbClr val="000000"/>
              </a:solidFill>
              <a:latin typeface="FrutigerNext LT Regular" pitchFamily="34" charset="0"/>
            </a:endParaRPr>
          </a:p>
        </p:txBody>
      </p:sp>
      <p:sp>
        <p:nvSpPr>
          <p:cNvPr id="1033" name="AcnStamp_ID_28820" hidden="1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gray">
          <a:xfrm>
            <a:off x="7178428" y="1058467"/>
            <a:ext cx="1219693" cy="228389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21650" rIns="0" bIns="21650">
            <a:spAutoFit/>
          </a:bodyPr>
          <a:lstStyle>
            <a:lvl1pPr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802005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80200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b="1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rPr>
              <a:t>MASTER STAMP</a:t>
            </a:r>
            <a:endParaRPr lang="en-US" altLang="zh-CN" sz="1200" b="1"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cxnSp>
        <p:nvCxnSpPr>
          <p:cNvPr id="1034" name="AcnStpConnector_ID_28821" hidden="1"/>
          <p:cNvCxnSpPr>
            <a:cxnSpLocks noChangeShapeType="1"/>
            <a:stCxn id="1033" idx="2"/>
            <a:endCxn id="1033" idx="0"/>
          </p:cNvCxnSpPr>
          <p:nvPr userDrawn="1">
            <p:custDataLst>
              <p:tags r:id="rId8"/>
            </p:custDataLst>
          </p:nvPr>
        </p:nvCxnSpPr>
        <p:spPr bwMode="gray">
          <a:xfrm>
            <a:off x="7178428" y="1058467"/>
            <a:ext cx="121969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5" name="AcnStpConnector_ID_28822" hidden="1"/>
          <p:cNvCxnSpPr>
            <a:cxnSpLocks noChangeShapeType="1"/>
            <a:stCxn id="1033" idx="4"/>
            <a:endCxn id="1033" idx="6"/>
          </p:cNvCxnSpPr>
          <p:nvPr userDrawn="1">
            <p:custDataLst>
              <p:tags r:id="rId9"/>
            </p:custDataLst>
          </p:nvPr>
        </p:nvCxnSpPr>
        <p:spPr bwMode="gray">
          <a:xfrm>
            <a:off x="7178428" y="1286856"/>
            <a:ext cx="121969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矩形 9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27279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683260" rtl="0" eaLnBrk="0" fontAlgn="base" hangingPunct="0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+mj-lt"/>
          <a:ea typeface="+mj-ea"/>
          <a:cs typeface="+mj-cs"/>
        </a:defRPr>
      </a:lvl1pPr>
      <a:lvl2pPr algn="l" defTabSz="683260" rtl="0" eaLnBrk="0" fontAlgn="base" hangingPunct="0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2pPr>
      <a:lvl3pPr algn="l" defTabSz="683260" rtl="0" eaLnBrk="0" fontAlgn="base" hangingPunct="0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3pPr>
      <a:lvl4pPr algn="l" defTabSz="683260" rtl="0" eaLnBrk="0" fontAlgn="base" hangingPunct="0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4pPr>
      <a:lvl5pPr algn="l" defTabSz="683260" rtl="0" eaLnBrk="0" fontAlgn="base" hangingPunct="0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5pPr>
      <a:lvl6pPr marL="389890" algn="l" defTabSz="683260" rtl="0" eaLnBrk="1" fontAlgn="base" hangingPunct="1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6pPr>
      <a:lvl7pPr marL="779145" algn="l" defTabSz="683260" rtl="0" eaLnBrk="1" fontAlgn="base" hangingPunct="1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7pPr>
      <a:lvl8pPr marL="1169035" algn="l" defTabSz="683260" rtl="0" eaLnBrk="1" fontAlgn="base" hangingPunct="1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8pPr>
      <a:lvl9pPr marL="1558925" algn="l" defTabSz="683260" rtl="0" eaLnBrk="1" fontAlgn="base" hangingPunct="1">
        <a:spcBef>
          <a:spcPct val="0"/>
        </a:spcBef>
        <a:spcAft>
          <a:spcPct val="0"/>
        </a:spcAft>
        <a:defRPr sz="1700" b="1">
          <a:solidFill>
            <a:srgbClr val="CC3300"/>
          </a:solidFill>
          <a:latin typeface="Arial" panose="020B0604020202020204" pitchFamily="34" charset="0"/>
          <a:ea typeface="华文细黑" panose="02010600040101010101" pitchFamily="2" charset="-122"/>
          <a:cs typeface="Arial" panose="020B0604020202020204" pitchFamily="34" charset="0"/>
        </a:defRPr>
      </a:lvl9pPr>
    </p:titleStyle>
    <p:bodyStyle>
      <a:lvl1pPr marL="255905" indent="-255905" algn="l" defTabSz="68326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l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56260" indent="-213995" algn="l" defTabSz="68326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anose="05000000000000000000" pitchFamily="2" charset="2"/>
        <a:buChar char="p"/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855345" indent="-172085" algn="l" defTabSz="68326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200">
          <a:solidFill>
            <a:schemeClr val="tx1"/>
          </a:solidFill>
          <a:latin typeface="+mn-lt"/>
          <a:ea typeface="+mn-ea"/>
          <a:cs typeface="+mn-cs"/>
        </a:defRPr>
      </a:lvl3pPr>
      <a:lvl4pPr marL="1195070" indent="-170180" algn="l" defTabSz="68326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000">
          <a:solidFill>
            <a:schemeClr val="tx1"/>
          </a:solidFill>
          <a:latin typeface="+mn-lt"/>
          <a:ea typeface="+mn-ea"/>
          <a:cs typeface="+mn-cs"/>
        </a:defRPr>
      </a:lvl4pPr>
      <a:lvl5pPr marL="1537335" indent="-172085" algn="l" defTabSz="68326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000">
          <a:solidFill>
            <a:schemeClr val="tx1"/>
          </a:solidFill>
          <a:latin typeface="FrutigerNext LT Medium" pitchFamily="34" charset="0"/>
          <a:ea typeface="+mn-ea"/>
          <a:cs typeface="+mn-cs"/>
        </a:defRPr>
      </a:lvl5pPr>
      <a:lvl6pPr marL="1926590" indent="-172085" algn="l" defTabSz="683260" rtl="0" eaLnBrk="1" fontAlgn="base" hangingPunct="1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000">
          <a:solidFill>
            <a:schemeClr val="tx1"/>
          </a:solidFill>
          <a:latin typeface="FrutigerNext LT Medium" pitchFamily="34" charset="0"/>
          <a:ea typeface="+mn-ea"/>
          <a:cs typeface="+mn-cs"/>
        </a:defRPr>
      </a:lvl6pPr>
      <a:lvl7pPr marL="2316480" indent="-172085" algn="l" defTabSz="683260" rtl="0" eaLnBrk="1" fontAlgn="base" hangingPunct="1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000">
          <a:solidFill>
            <a:schemeClr val="tx1"/>
          </a:solidFill>
          <a:latin typeface="FrutigerNext LT Medium" pitchFamily="34" charset="0"/>
          <a:ea typeface="+mn-ea"/>
          <a:cs typeface="+mn-cs"/>
        </a:defRPr>
      </a:lvl7pPr>
      <a:lvl8pPr marL="2706370" indent="-172085" algn="l" defTabSz="683260" rtl="0" eaLnBrk="1" fontAlgn="base" hangingPunct="1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000">
          <a:solidFill>
            <a:schemeClr val="tx1"/>
          </a:solidFill>
          <a:latin typeface="FrutigerNext LT Medium" pitchFamily="34" charset="0"/>
          <a:ea typeface="+mn-ea"/>
          <a:cs typeface="+mn-cs"/>
        </a:defRPr>
      </a:lvl8pPr>
      <a:lvl9pPr marL="3095625" indent="-172085" algn="l" defTabSz="683260" rtl="0" eaLnBrk="1" fontAlgn="base" hangingPunct="1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000">
          <a:solidFill>
            <a:schemeClr val="tx1"/>
          </a:solidFill>
          <a:latin typeface="FrutigerNext LT Medium" pitchFamily="34" charset="0"/>
          <a:ea typeface="+mn-ea"/>
          <a:cs typeface="+mn-cs"/>
        </a:defRPr>
      </a:lvl9pPr>
    </p:bodyStyle>
    <p:otherStyle>
      <a:defPPr>
        <a:defRPr lang="zh-CN"/>
      </a:defPPr>
      <a:lvl1pPr marL="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89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45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9035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925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18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807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96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7850" algn="l" defTabSz="77914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57342" y="46612"/>
            <a:ext cx="7632700" cy="65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071" rIns="60144" bIns="30071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3" y="1221587"/>
            <a:ext cx="7632700" cy="314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153" tIns="30076" rIns="60153" bIns="3007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10249" name="Rectangle 15"/>
          <p:cNvSpPr>
            <a:spLocks noChangeArrowheads="1"/>
          </p:cNvSpPr>
          <p:nvPr userDrawn="1"/>
        </p:nvSpPr>
        <p:spPr bwMode="auto">
          <a:xfrm>
            <a:off x="-1952618" y="519117"/>
            <a:ext cx="1844676" cy="401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0141" tIns="30071" rIns="60141" bIns="30071">
            <a:spAutoFit/>
          </a:bodyPr>
          <a:lstStyle/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英文标题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:32-35pt  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颜色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 R153 G0 B0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内部使用字体 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800" dirty="0" err="1">
                <a:solidFill>
                  <a:srgbClr val="FFFFFF"/>
                </a:solidFill>
                <a:ea typeface="宋体" panose="02010600030101010101" pitchFamily="2" charset="-122"/>
              </a:rPr>
              <a:t>FrutigerNext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 LT Medium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外部使用字体 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 Arial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中文标题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:30-32pt  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颜色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 R153 G0 B0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字体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黑体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英文正文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:20-22pt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子目录 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(2-5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级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) :18pt  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颜色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黑色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内部使用字体 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800" dirty="0" err="1">
                <a:solidFill>
                  <a:srgbClr val="FFFFFF"/>
                </a:solidFill>
                <a:ea typeface="宋体" panose="02010600030101010101" pitchFamily="2" charset="-122"/>
              </a:rPr>
              <a:t>FrutigerNext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 LT Regular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外部使用字体 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 Arial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中文正文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:18-20pt</a:t>
            </a:r>
            <a:endParaRPr lang="en-US" altLang="zh-CN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子目录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(2-5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级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):18pt 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颜色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黑色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marL="257175" indent="-257175" algn="r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字体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: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细黑体</a:t>
            </a:r>
            <a:r>
              <a:rPr lang="zh-CN" altLang="en-US" sz="8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zh-CN" altLang="en-US" sz="8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Group 16"/>
          <p:cNvGrpSpPr/>
          <p:nvPr userDrawn="1"/>
        </p:nvGrpSpPr>
        <p:grpSpPr bwMode="auto">
          <a:xfrm>
            <a:off x="9324990" y="2633663"/>
            <a:ext cx="919163" cy="2418159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04"/>
              <a:ext cx="579" cy="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25" tIns="45712" rIns="91425" bIns="45712"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" name="Group 18"/>
            <p:cNvGrpSpPr/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23"/>
            <p:cNvGrpSpPr/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Group 28"/>
            <p:cNvGrpSpPr/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33"/>
            <p:cNvGrpSpPr/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Group 38"/>
            <p:cNvGrpSpPr/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Group 43"/>
            <p:cNvGrpSpPr/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Group 48"/>
            <p:cNvGrpSpPr/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" name="Group 53"/>
            <p:cNvGrpSpPr/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" name="Group 58"/>
            <p:cNvGrpSpPr/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" name="Group 63"/>
            <p:cNvGrpSpPr/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Group 68"/>
            <p:cNvGrpSpPr/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Group 73"/>
            <p:cNvGrpSpPr/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" name="Group 78"/>
            <p:cNvGrpSpPr/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 userDrawn="1"/>
        </p:nvSpPr>
        <p:spPr bwMode="auto">
          <a:xfrm>
            <a:off x="9251987" y="1006084"/>
            <a:ext cx="1192213" cy="97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0141" tIns="30071" rIns="60141" bIns="30071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配色参考方案：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建议同一页面内不超过四种颜色，以下是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13</a:t>
            </a: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组配色方案，同一页面内只选择一组使用。（仅供参考）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0252" name="Rectangle 84"/>
          <p:cNvSpPr>
            <a:spLocks noChangeArrowheads="1"/>
          </p:cNvSpPr>
          <p:nvPr userDrawn="1"/>
        </p:nvSpPr>
        <p:spPr bwMode="auto">
          <a:xfrm>
            <a:off x="9251964" y="5955"/>
            <a:ext cx="1120775" cy="35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0141" tIns="30071" rIns="60141" bIns="30071">
            <a:spAutoFit/>
          </a:bodyPr>
          <a:lstStyle/>
          <a:p>
            <a:pPr>
              <a:lnSpc>
                <a:spcPct val="120000"/>
              </a:lnSpc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800" dirty="0">
                <a:solidFill>
                  <a:srgbClr val="FFFFFF"/>
                </a:solidFill>
                <a:ea typeface="宋体" panose="02010600030101010101" pitchFamily="2" charset="-122"/>
              </a:rPr>
              <a:t>客户或者合作伙伴的标志放在右上角</a:t>
            </a:r>
            <a:r>
              <a:rPr lang="en-US" altLang="zh-CN" sz="800" dirty="0">
                <a:solidFill>
                  <a:srgbClr val="FFFFFF"/>
                </a:solidFill>
                <a:ea typeface="宋体" panose="02010600030101010101" pitchFamily="2" charset="-122"/>
              </a:rPr>
              <a:t>.</a:t>
            </a:r>
            <a:endParaRPr lang="zh-CN" altLang="en-US" sz="8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80" name="灯片编号占位符 79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4744FD0-71C7-445A-BC19-376078EFAE8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微软雅黑" panose="020B0503020204020204" charset="-122"/>
              </a:rPr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微软雅黑" panose="020B0503020204020204" charset="-122"/>
              </a:rPr>
              <a:t>\7</a:t>
            </a:r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22860" y="4898390"/>
            <a:ext cx="9168765" cy="254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no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2295525" y="5715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ransition advClick="0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990000"/>
          </a:solidFill>
          <a:latin typeface="微软雅黑" panose="020B0503020204020204" charset="-122"/>
          <a:ea typeface="微软雅黑" panose="020B0503020204020204" charset="-122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黑体" panose="02010609060101010101" pitchFamily="49" charset="-122"/>
          <a:ea typeface="黑体" panose="02010609060101010101" pitchFamily="49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黑体" panose="02010609060101010101" pitchFamily="49" charset="-122"/>
          <a:ea typeface="黑体" panose="02010609060101010101" pitchFamily="49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黑体" panose="02010609060101010101" pitchFamily="49" charset="-122"/>
          <a:ea typeface="黑体" panose="02010609060101010101" pitchFamily="49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黑体" panose="02010609060101010101" pitchFamily="49" charset="-122"/>
          <a:ea typeface="黑体" panose="02010609060101010101" pitchFamily="49" charset="-122"/>
          <a:cs typeface="宋体" panose="02010600030101010101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FrutigerNext LT Medium" pitchFamily="34" charset="0"/>
          <a:ea typeface="华文细黑" panose="02010600040101010101" pitchFamily="2" charset="-122"/>
          <a:cs typeface="宋体" panose="02010600030101010101" pitchFamily="2" charset="-122"/>
        </a:defRPr>
      </a:lvl6pPr>
      <a:lvl7pPr marL="686435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FrutigerNext LT Medium" pitchFamily="34" charset="0"/>
          <a:ea typeface="华文细黑" panose="02010600040101010101" pitchFamily="2" charset="-122"/>
          <a:cs typeface="宋体" panose="02010600030101010101" pitchFamily="2" charset="-122"/>
        </a:defRPr>
      </a:lvl7pPr>
      <a:lvl8pPr marL="1029335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FrutigerNext LT Medium" pitchFamily="34" charset="0"/>
          <a:ea typeface="华文细黑" panose="02010600040101010101" pitchFamily="2" charset="-122"/>
          <a:cs typeface="宋体" panose="02010600030101010101" pitchFamily="2" charset="-122"/>
        </a:defRPr>
      </a:lvl8pPr>
      <a:lvl9pPr marL="137287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FrutigerNext LT Medium" pitchFamily="34" charset="0"/>
          <a:ea typeface="华文细黑" panose="02010600040101010101" pitchFamily="2" charset="-122"/>
          <a:cs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557530" indent="-21463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857885" indent="-1714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200">
          <a:solidFill>
            <a:schemeClr val="tx1"/>
          </a:solidFill>
          <a:latin typeface="+mn-lt"/>
          <a:ea typeface="+mn-ea"/>
          <a:cs typeface="+mn-cs"/>
        </a:defRPr>
      </a:lvl3pPr>
      <a:lvl4pPr marL="1200785" indent="-1714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000">
          <a:solidFill>
            <a:schemeClr val="tx1"/>
          </a:solidFill>
          <a:latin typeface="+mn-lt"/>
          <a:ea typeface="+mn-ea"/>
          <a:cs typeface="+mn-cs"/>
        </a:defRPr>
      </a:lvl4pPr>
      <a:lvl5pPr marL="1544320" indent="-1714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~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88722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230755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2573655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291719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6435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9335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2870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5770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9305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02205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45105" algn="l" defTabSz="68643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4.xml"/><Relationship Id="rId8" Type="http://schemas.openxmlformats.org/officeDocument/2006/relationships/diagramQuickStyle" Target="../diagrams/quickStyle4.xml"/><Relationship Id="rId7" Type="http://schemas.openxmlformats.org/officeDocument/2006/relationships/diagramLayout" Target="../diagrams/layout4.xml"/><Relationship Id="rId6" Type="http://schemas.openxmlformats.org/officeDocument/2006/relationships/diagramData" Target="../diagrams/data4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5.xml"/><Relationship Id="rId10" Type="http://schemas.microsoft.com/office/2007/relationships/diagramDrawing" Target="../diagrams/drawing4.xml"/><Relationship Id="rId1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5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tags" Target="../tags/tag9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tags" Target="../tags/tag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001-01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77680" y="1525474"/>
            <a:ext cx="2966320" cy="2595072"/>
          </a:xfrm>
          <a:prstGeom prst="rect">
            <a:avLst/>
          </a:prstGeom>
        </p:spPr>
      </p:pic>
      <p:pic>
        <p:nvPicPr>
          <p:cNvPr id="11" name="图片 10" descr="00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26388"/>
            <a:ext cx="6574549" cy="2593244"/>
          </a:xfrm>
          <a:prstGeom prst="rect">
            <a:avLst/>
          </a:prstGeom>
        </p:spPr>
      </p:pic>
      <p:sp>
        <p:nvSpPr>
          <p:cNvPr id="4098" name="DtsShapeName" descr="6D9B0G208DBE5@45@45C@1DC3D5EB63@09;F:T9:?:k[11023851@!!BIHO@]{11023851!@58B9771107DB9E235C1107DB9E235C!!!!!!!!!!!!!!!!!!!!!!!!!!!!!!!!!!!!!!!!!!!!!!!!!!!!9=5&lt;f85DCAF44673@!!!!!BIHO@]f44673!!!!@58B97D1104B4D413311104B4D41331!!!!!!!!!!!!!!!!!!!!!!!!!!!!!!!!!!!!!!!!!!!!!!!!!!!!85G:R86ECW[KV[[IC114!!whobdou/x/vt!!!111111111109ED@D0D481109ED@D0D48!!!!!!!!!!!!!!!!!!!!!!!!!!!!!!!!!!!!!!!!!!!!!!!!!!!!86&gt;?:86&gt;?_P11032605!!!BIHO@]p1103260511111111110G2B25CD69110G2B25CD69!!!!!!!!!!!!!!!!!!!!!!!!!!!!!!!!!!!!!!!!!!!!!!!!!!!!86D;086DAQR77696!!!!!!BIHO@]r77696!!!11111111113086179490RRRU^w3/4^181630^DO^[I,BO/qqu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1!1" hidden="1"/>
          <p:cNvSpPr>
            <a:spLocks noChangeArrowheads="1"/>
          </p:cNvSpPr>
          <p:nvPr/>
        </p:nvSpPr>
        <p:spPr bwMode="auto">
          <a:xfrm>
            <a:off x="2" y="-218048"/>
            <a:ext cx="293000" cy="437286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3 w 21600"/>
              <a:gd name="T13" fmla="*/ 2272 h 21600"/>
              <a:gd name="T14" fmla="*/ 16554 w 21600"/>
              <a:gd name="T15" fmla="*/ 1368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939" tIns="38970" rIns="77939" bIns="38970" anchor="ctr">
            <a:spAutoFit/>
          </a:bodyPr>
          <a:lstStyle/>
          <a:p>
            <a:endParaRPr lang="en-US" sz="1000">
              <a:solidFill>
                <a:srgbClr val="000000"/>
              </a:solidFill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858937" y="3633868"/>
            <a:ext cx="5308322" cy="5940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7939" tIns="38970" rIns="77939" bIns="38970" anchor="ctr"/>
          <a:lstStyle/>
          <a:p>
            <a:pPr marL="194945"/>
            <a:endParaRPr lang="zh-CN" altLang="en-US" sz="27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3153" y="477297"/>
            <a:ext cx="7319071" cy="910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总体介绍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化为</a:t>
            </a: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实操提炼（上）</a:t>
            </a:r>
            <a:endParaRPr lang="zh-CN" altLang="en-US" sz="27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 descr="华为大学教育学院Logo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938507" y="456139"/>
            <a:ext cx="666445" cy="550205"/>
          </a:xfrm>
          <a:prstGeom prst="rect">
            <a:avLst/>
          </a:prstGeom>
        </p:spPr>
      </p:pic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4"/>
          <p:cNvSpPr>
            <a:spLocks noGrp="1"/>
          </p:cNvSpPr>
          <p:nvPr>
            <p:ph type="title" idx="4294967295"/>
          </p:nvPr>
        </p:nvSpPr>
        <p:spPr>
          <a:xfrm>
            <a:off x="325316" y="169129"/>
            <a:ext cx="7539038" cy="6286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LTC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总体解决方案</a:t>
            </a:r>
            <a:endParaRPr lang="zh-CN" altLang="en-US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1465" y="1092364"/>
            <a:ext cx="8230135" cy="3373493"/>
            <a:chOff x="443769" y="1016164"/>
            <a:chExt cx="8230135" cy="3373493"/>
          </a:xfrm>
        </p:grpSpPr>
        <p:sp>
          <p:nvSpPr>
            <p:cNvPr id="46" name="Rectangle 45"/>
            <p:cNvSpPr/>
            <p:nvPr/>
          </p:nvSpPr>
          <p:spPr bwMode="auto">
            <a:xfrm>
              <a:off x="4705543" y="1275608"/>
              <a:ext cx="3953707" cy="12795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defTabSz="779145"/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443770" y="1316247"/>
              <a:ext cx="3953707" cy="12795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defTabSz="779145"/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" name="Rectangle 45"/>
            <p:cNvSpPr/>
            <p:nvPr/>
          </p:nvSpPr>
          <p:spPr bwMode="auto">
            <a:xfrm>
              <a:off x="474277" y="2856403"/>
              <a:ext cx="3953707" cy="12795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defTabSz="779145"/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173" name="Line 5"/>
            <p:cNvSpPr>
              <a:spLocks noChangeShapeType="1"/>
            </p:cNvSpPr>
            <p:nvPr/>
          </p:nvSpPr>
          <p:spPr bwMode="auto">
            <a:xfrm flipV="1">
              <a:off x="495172" y="2679764"/>
              <a:ext cx="2793023" cy="0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457690" y="3998060"/>
              <a:ext cx="3968361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3. </a:t>
              </a:r>
              <a:r>
                <a:rPr lang="zh-CN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组织、</a:t>
              </a:r>
              <a:r>
                <a:rPr lang="zh-CN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角色职责及</a:t>
              </a:r>
              <a:r>
                <a:rPr lang="zh-CN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</a:t>
              </a:r>
              <a:endParaRPr lang="zh-HK" altLang="zh-CN" sz="1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77" name="Rectangle 9"/>
            <p:cNvSpPr>
              <a:spLocks noChangeArrowheads="1"/>
            </p:cNvSpPr>
            <p:nvPr/>
          </p:nvSpPr>
          <p:spPr bwMode="auto">
            <a:xfrm>
              <a:off x="443769" y="1016164"/>
              <a:ext cx="3953707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None/>
              </a:pPr>
              <a:r>
                <a:rPr lang="en-US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1. </a:t>
              </a:r>
              <a:r>
                <a:rPr lang="zh-CN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流程和集成</a:t>
              </a:r>
              <a:endParaRPr lang="en-US" altLang="zh-HK" sz="1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78" name="Rectangle 10"/>
            <p:cNvSpPr>
              <a:spLocks noChangeArrowheads="1"/>
            </p:cNvSpPr>
            <p:nvPr/>
          </p:nvSpPr>
          <p:spPr bwMode="auto">
            <a:xfrm>
              <a:off x="4705543" y="1016164"/>
              <a:ext cx="3968361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HK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2. </a:t>
              </a:r>
              <a:r>
                <a:rPr lang="zh-HK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管理体系</a:t>
              </a:r>
              <a:endParaRPr lang="zh-HK" altLang="en-US" sz="1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ectangle 45"/>
            <p:cNvSpPr/>
            <p:nvPr/>
          </p:nvSpPr>
          <p:spPr bwMode="auto">
            <a:xfrm>
              <a:off x="4720197" y="2859782"/>
              <a:ext cx="3953707" cy="12795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defTabSz="779145"/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179" name="Rectangle 11"/>
            <p:cNvSpPr>
              <a:spLocks noChangeArrowheads="1"/>
            </p:cNvSpPr>
            <p:nvPr/>
          </p:nvSpPr>
          <p:spPr bwMode="auto">
            <a:xfrm>
              <a:off x="4705543" y="3998060"/>
              <a:ext cx="3968361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4. </a:t>
              </a:r>
              <a:r>
                <a:rPr lang="zh-CN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集成的</a:t>
              </a:r>
              <a:r>
                <a:rPr lang="en-US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IT</a:t>
              </a:r>
              <a:r>
                <a:rPr lang="zh-CN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及数据</a:t>
              </a:r>
              <a:endParaRPr lang="zh-HK" altLang="en-US" sz="1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80" name="Rectangle 12"/>
            <p:cNvSpPr>
              <a:spLocks noChangeArrowheads="1"/>
            </p:cNvSpPr>
            <p:nvPr/>
          </p:nvSpPr>
          <p:spPr bwMode="auto">
            <a:xfrm>
              <a:off x="761565" y="1437626"/>
              <a:ext cx="3145531" cy="100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80975" indent="-180975"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tabLst>
                  <a:tab pos="17462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tabLst>
                  <a:tab pos="174625" algn="l"/>
                </a:tabLs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tabLst>
                  <a:tab pos="174625" algn="l"/>
                </a:tabLs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tabLst>
                  <a:tab pos="174625" algn="l"/>
                </a:tabLst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marL="252095"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LTC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(ML/MO/MCE)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国家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客户群视角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L5L6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对准客户流程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对准业务痛点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对准内部集成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)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92100" indent="-292100" eaLnBrk="1" hangingPunct="1">
                <a:lnSpc>
                  <a:spcPct val="100000"/>
                </a:lnSpc>
                <a:buClrTx/>
                <a:buSzTx/>
                <a:buFontTx/>
                <a:buAutoNum type="arabicPeriod"/>
              </a:pPr>
              <a:endParaRPr lang="zh-HK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Oval 3"/>
            <p:cNvSpPr>
              <a:spLocks noChangeArrowheads="1"/>
            </p:cNvSpPr>
            <p:nvPr/>
          </p:nvSpPr>
          <p:spPr bwMode="auto">
            <a:xfrm>
              <a:off x="3461145" y="1853335"/>
              <a:ext cx="2220699" cy="1642865"/>
            </a:xfrm>
            <a:prstGeom prst="ellipse">
              <a:avLst/>
            </a:prstGeom>
            <a:solidFill>
              <a:srgbClr val="0070C0"/>
            </a:solidFill>
            <a:ln w="9525" algn="ctr">
              <a:noFill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421174" y="2139704"/>
              <a:ext cx="22864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LTC</a:t>
              </a:r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总体解决方案</a:t>
              </a:r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5569352" y="1491632"/>
              <a:ext cx="2206302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授权、评审、决策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交易质量管理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Metrics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运营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761565" y="2931790"/>
              <a:ext cx="2370274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系统部优化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CC3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项目制运作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Deal Hub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建立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52095" indent="-252095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质量运营组织建设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>
              <a:off x="4551509" y="1016164"/>
              <a:ext cx="0" cy="745498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 flipV="1">
              <a:off x="5814824" y="2679764"/>
              <a:ext cx="2793023" cy="0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4551509" y="3554446"/>
              <a:ext cx="0" cy="745498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569352" y="3075806"/>
              <a:ext cx="2818998" cy="861331"/>
              <a:chOff x="5569352" y="2967649"/>
              <a:chExt cx="2818998" cy="861331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5569352" y="2967649"/>
                <a:ext cx="211468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端到端的作业平台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5820467" y="3244205"/>
                <a:ext cx="256788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44145" indent="-252095">
                  <a:buClr>
                    <a:srgbClr val="0070C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iSales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144145" indent="-252095">
                  <a:buClr>
                    <a:srgbClr val="0070C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配置打通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交付上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ERP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9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2/20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4"/>
          <p:cNvSpPr>
            <a:spLocks noGrp="1"/>
          </p:cNvSpPr>
          <p:nvPr>
            <p:ph type="title" idx="4294967295"/>
          </p:nvPr>
        </p:nvSpPr>
        <p:spPr>
          <a:xfrm>
            <a:off x="324753" y="169130"/>
            <a:ext cx="7539038" cy="39528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总体解决方案</a:t>
            </a:r>
            <a:b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8136" y="665014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3/20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1465" y="1092364"/>
            <a:ext cx="8315725" cy="3373493"/>
            <a:chOff x="421465" y="1092364"/>
            <a:chExt cx="8315725" cy="3373493"/>
          </a:xfrm>
        </p:grpSpPr>
        <p:grpSp>
          <p:nvGrpSpPr>
            <p:cNvPr id="46" name="组合 45"/>
            <p:cNvGrpSpPr/>
            <p:nvPr/>
          </p:nvGrpSpPr>
          <p:grpSpPr>
            <a:xfrm>
              <a:off x="421465" y="1092364"/>
              <a:ext cx="8315725" cy="3373493"/>
              <a:chOff x="443769" y="1016164"/>
              <a:chExt cx="8315725" cy="3373493"/>
            </a:xfrm>
          </p:grpSpPr>
          <p:sp>
            <p:nvSpPr>
              <p:cNvPr id="51" name="Rectangle 45"/>
              <p:cNvSpPr/>
              <p:nvPr/>
            </p:nvSpPr>
            <p:spPr bwMode="auto">
              <a:xfrm>
                <a:off x="4705543" y="1275608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angle 6"/>
              <p:cNvSpPr/>
              <p:nvPr/>
            </p:nvSpPr>
            <p:spPr bwMode="auto">
              <a:xfrm>
                <a:off x="443770" y="1316247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3" name="Rectangle 45"/>
              <p:cNvSpPr/>
              <p:nvPr/>
            </p:nvSpPr>
            <p:spPr bwMode="auto">
              <a:xfrm>
                <a:off x="474277" y="2856403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4" name="Line 5"/>
              <p:cNvSpPr>
                <a:spLocks noChangeShapeType="1"/>
              </p:cNvSpPr>
              <p:nvPr/>
            </p:nvSpPr>
            <p:spPr bwMode="auto">
              <a:xfrm flipV="1">
                <a:off x="495172" y="2679764"/>
                <a:ext cx="2793023" cy="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Rectangle 8"/>
              <p:cNvSpPr>
                <a:spLocks noChangeArrowheads="1"/>
              </p:cNvSpPr>
              <p:nvPr/>
            </p:nvSpPr>
            <p:spPr bwMode="auto">
              <a:xfrm>
                <a:off x="457690" y="3998060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3. 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组织、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角色职责及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能力</a:t>
                </a:r>
                <a:endParaRPr lang="zh-HK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6" name="Rectangle 9"/>
              <p:cNvSpPr>
                <a:spLocks noChangeArrowheads="1"/>
              </p:cNvSpPr>
              <p:nvPr/>
            </p:nvSpPr>
            <p:spPr bwMode="auto">
              <a:xfrm>
                <a:off x="443769" y="1016164"/>
                <a:ext cx="3953707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1. 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流程和集成</a:t>
                </a:r>
                <a:endParaRPr lang="en-US" altLang="zh-HK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Rectangle 10"/>
              <p:cNvSpPr>
                <a:spLocks noChangeArrowheads="1"/>
              </p:cNvSpPr>
              <p:nvPr/>
            </p:nvSpPr>
            <p:spPr bwMode="auto">
              <a:xfrm>
                <a:off x="4705543" y="1016164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HK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2. </a:t>
                </a:r>
                <a:r>
                  <a:rPr lang="zh-HK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管理体系</a:t>
                </a:r>
                <a:endParaRPr lang="zh-HK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8" name="Rectangle 45"/>
              <p:cNvSpPr/>
              <p:nvPr/>
            </p:nvSpPr>
            <p:spPr bwMode="auto">
              <a:xfrm>
                <a:off x="4720197" y="2859782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4705543" y="3998060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4. 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集成的</a:t>
                </a: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IT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及数据</a:t>
                </a:r>
                <a:endParaRPr lang="zh-HK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761565" y="1437625"/>
                <a:ext cx="3145531" cy="1418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180975" indent="-180975"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tabLst>
                    <a:tab pos="1746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tabLst>
                    <a:tab pos="174625" algn="l"/>
                  </a:tabLs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tabLst>
                    <a:tab pos="174625" algn="l"/>
                  </a:tabLs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LTC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主业务流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(ML/MO/MCE)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国家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客户群视角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L5L6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适配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对准客户流程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对准业务痛点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对准内部集成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)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92100" indent="-292100" eaLnBrk="1" hangingPunct="1">
                  <a:lnSpc>
                    <a:spcPct val="100000"/>
                  </a:lnSpc>
                  <a:buClrTx/>
                  <a:buSzTx/>
                  <a:buFontTx/>
                  <a:buAutoNum type="arabicPeriod"/>
                </a:pPr>
                <a:endParaRPr lang="zh-HK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1" name="Oval 3"/>
              <p:cNvSpPr>
                <a:spLocks noChangeArrowheads="1"/>
              </p:cNvSpPr>
              <p:nvPr/>
            </p:nvSpPr>
            <p:spPr bwMode="auto">
              <a:xfrm>
                <a:off x="3461145" y="1853335"/>
                <a:ext cx="2220699" cy="1642865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noFill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altLang="zh-CN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421174" y="2139704"/>
                <a:ext cx="2286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LTC</a:t>
                </a:r>
                <a:endParaRPr 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总体解决方案</a:t>
                </a:r>
                <a:endParaRPr 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3" name="Rectangle 2"/>
              <p:cNvSpPr/>
              <p:nvPr/>
            </p:nvSpPr>
            <p:spPr>
              <a:xfrm>
                <a:off x="5569352" y="1491632"/>
                <a:ext cx="3190142" cy="861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授权、评审、决策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交易质量管理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Metrics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运营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4" name="Rectangle 3"/>
              <p:cNvSpPr/>
              <p:nvPr/>
            </p:nvSpPr>
            <p:spPr>
              <a:xfrm>
                <a:off x="761565" y="2931790"/>
                <a:ext cx="2370274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系统部优化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CC3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项目制运作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Deal Hub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建立</a:t>
                </a:r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质量运营组织建设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5" name="Line 7"/>
              <p:cNvSpPr>
                <a:spLocks noChangeShapeType="1"/>
              </p:cNvSpPr>
              <p:nvPr/>
            </p:nvSpPr>
            <p:spPr bwMode="auto">
              <a:xfrm>
                <a:off x="4551509" y="1016164"/>
                <a:ext cx="0" cy="74549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6" name="Line 5"/>
              <p:cNvSpPr>
                <a:spLocks noChangeShapeType="1"/>
              </p:cNvSpPr>
              <p:nvPr/>
            </p:nvSpPr>
            <p:spPr bwMode="auto">
              <a:xfrm flipV="1">
                <a:off x="5814824" y="2679764"/>
                <a:ext cx="2793023" cy="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7" name="Line 7"/>
              <p:cNvSpPr>
                <a:spLocks noChangeShapeType="1"/>
              </p:cNvSpPr>
              <p:nvPr/>
            </p:nvSpPr>
            <p:spPr bwMode="auto">
              <a:xfrm>
                <a:off x="4551509" y="3554446"/>
                <a:ext cx="0" cy="74549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5569352" y="3075806"/>
                <a:ext cx="2818998" cy="861331"/>
                <a:chOff x="5569352" y="2967649"/>
                <a:chExt cx="2818998" cy="861331"/>
              </a:xfrm>
            </p:grpSpPr>
            <p:sp>
              <p:nvSpPr>
                <p:cNvPr id="69" name="Rectangle 4"/>
                <p:cNvSpPr/>
                <p:nvPr/>
              </p:nvSpPr>
              <p:spPr>
                <a:xfrm>
                  <a:off x="5569352" y="2967649"/>
                  <a:ext cx="211468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252095" indent="-252095">
                    <a:buClr>
                      <a:srgbClr val="0070C0"/>
                    </a:buClr>
                    <a:buFont typeface="Wingdings" panose="05000000000000000000" pitchFamily="2" charset="2"/>
                    <a:buChar char="u"/>
                  </a:pP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端到端的作业平台</a:t>
                  </a:r>
                  <a:endPara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5820467" y="3244205"/>
                  <a:ext cx="2567883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44145" indent="-252095">
                    <a:buClr>
                      <a:srgbClr val="0070C0"/>
                    </a:buClr>
                    <a:buSzPct val="80000"/>
                    <a:buFont typeface="Wingdings" panose="05000000000000000000" pitchFamily="2" charset="2"/>
                    <a:buChar char="l"/>
                  </a:pP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 </a:t>
                  </a:r>
                  <a:r>
                    <a:rPr lang="en-US" altLang="zh-CN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iSales</a:t>
                  </a:r>
                  <a:endPara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  <a:p>
                  <a:pPr marL="144145" indent="-252095">
                    <a:buClr>
                      <a:srgbClr val="0070C0"/>
                    </a:buClr>
                    <a:buSzPct val="80000"/>
                    <a:buFont typeface="Wingdings" panose="05000000000000000000" pitchFamily="2" charset="2"/>
                    <a:buChar char="l"/>
                  </a:pP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 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配置打通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/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交付上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ERP</a:t>
                  </a:r>
                  <a:endPara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" name="矩形 1"/>
            <p:cNvSpPr/>
            <p:nvPr/>
          </p:nvSpPr>
          <p:spPr bwMode="auto">
            <a:xfrm>
              <a:off x="421465" y="1092364"/>
              <a:ext cx="8230135" cy="3373493"/>
            </a:xfrm>
            <a:prstGeom prst="rect">
              <a:avLst/>
            </a:prstGeom>
            <a:solidFill>
              <a:schemeClr val="bg1">
                <a:lumMod val="95000"/>
                <a:alpha val="79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619560" y="1115174"/>
            <a:ext cx="15376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zh-CN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en-US" altLang="zh-HK" sz="17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12"/>
          <p:cNvSpPr>
            <a:spLocks noChangeArrowheads="1"/>
          </p:cNvSpPr>
          <p:nvPr/>
        </p:nvSpPr>
        <p:spPr bwMode="auto">
          <a:xfrm>
            <a:off x="739261" y="1513826"/>
            <a:ext cx="3145531" cy="10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" indent="-180975"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174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tabLst>
                <a:tab pos="1746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tabLst>
                <a:tab pos="1746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tabLst>
                <a:tab pos="174625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252095" indent="-252095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LTC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主业务流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(ML/MO/MCE)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52095" indent="-252095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国家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客户群视角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L5L6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适配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52095" indent="-252095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对准客户流程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对准业务痛点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对准内部集成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92100" indent="-292100" eaLnBrk="1" hangingPunct="1">
              <a:lnSpc>
                <a:spcPct val="100000"/>
              </a:lnSpc>
              <a:buClrTx/>
              <a:buSzTx/>
              <a:buFontTx/>
              <a:buAutoNum type="arabicPeriod"/>
            </a:pPr>
            <a:endParaRPr lang="zh-HK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 bwMode="auto">
          <a:xfrm>
            <a:off x="451375" y="1092365"/>
            <a:ext cx="3902304" cy="1658602"/>
          </a:xfrm>
          <a:prstGeom prst="roundRect">
            <a:avLst>
              <a:gd name="adj" fmla="val 5307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val 70"/>
          <p:cNvSpPr/>
          <p:nvPr/>
        </p:nvSpPr>
        <p:spPr bwMode="auto">
          <a:xfrm>
            <a:off x="824845" y="1292896"/>
            <a:ext cx="7337348" cy="295275"/>
          </a:xfrm>
          <a:prstGeom prst="roundRect">
            <a:avLst/>
          </a:prstGeom>
          <a:solidFill>
            <a:srgbClr val="0070C0"/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77939" tIns="38970" rIns="77939" bIns="3897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客户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118697" y="2035846"/>
            <a:ext cx="8891954" cy="2184797"/>
          </a:xfrm>
          <a:prstGeom prst="roundRect">
            <a:avLst>
              <a:gd name="adj" fmla="val 8384"/>
            </a:avLst>
          </a:prstGeom>
          <a:solidFill>
            <a:srgbClr val="00ACE2">
              <a:alpha val="69804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 anchor="ctr"/>
          <a:lstStyle/>
          <a:p>
            <a:pPr algn="ctr" defTabSz="582930">
              <a:defRPr/>
            </a:pPr>
            <a:endParaRPr lang="en-US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5" name="Rounded Rectangle 84"/>
          <p:cNvSpPr/>
          <p:nvPr/>
        </p:nvSpPr>
        <p:spPr bwMode="auto">
          <a:xfrm>
            <a:off x="118697" y="4370663"/>
            <a:ext cx="8891954" cy="389335"/>
          </a:xfrm>
          <a:prstGeom prst="roundRect">
            <a:avLst>
              <a:gd name="adj" fmla="val 7386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 anchor="ctr"/>
          <a:lstStyle/>
          <a:p>
            <a:pPr marL="213995" indent="-213995" algn="ctr" defTabSz="582930">
              <a:lnSpc>
                <a:spcPct val="90000"/>
              </a:lnSpc>
              <a:buClr>
                <a:srgbClr val="990000"/>
              </a:buClr>
              <a:buSzPct val="120000"/>
              <a:defRPr/>
            </a:pPr>
            <a:endParaRPr 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545994" y="4440526"/>
            <a:ext cx="1598400" cy="248403"/>
            <a:chOff x="5433668" y="4268009"/>
            <a:chExt cx="1598400" cy="248403"/>
          </a:xfrm>
        </p:grpSpPr>
        <p:sp>
          <p:nvSpPr>
            <p:cNvPr id="88" name="圆角矩形 87"/>
            <p:cNvSpPr/>
            <p:nvPr/>
          </p:nvSpPr>
          <p:spPr bwMode="auto">
            <a:xfrm>
              <a:off x="5433668" y="4268009"/>
              <a:ext cx="1598400" cy="2484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73"/>
            <p:cNvGrpSpPr/>
            <p:nvPr/>
          </p:nvGrpSpPr>
          <p:grpSpPr bwMode="auto">
            <a:xfrm>
              <a:off x="5508826" y="4268009"/>
              <a:ext cx="1448084" cy="248402"/>
              <a:chOff x="4244925" y="5410741"/>
              <a:chExt cx="1568758" cy="331203"/>
            </a:xfrm>
          </p:grpSpPr>
          <p:sp>
            <p:nvSpPr>
              <p:cNvPr id="42054" name="Text Box 31"/>
              <p:cNvSpPr txBox="1">
                <a:spLocks noChangeArrowheads="1"/>
              </p:cNvSpPr>
              <p:nvPr/>
            </p:nvSpPr>
            <p:spPr bwMode="auto">
              <a:xfrm>
                <a:off x="4627821" y="5410741"/>
                <a:ext cx="1185862" cy="3312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 algn="ctr">
                  <a:buClr>
                    <a:srgbClr val="777777"/>
                  </a:buClr>
                  <a:buSzPct val="60000"/>
                </a:pPr>
                <a:r>
                  <a:rPr lang="zh-CN" altLang="en-US" sz="10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合同关闭决策</a:t>
                </a:r>
                <a:endParaRPr lang="zh-CN" altLang="en-US" sz="10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55" name="AutoShape 85"/>
              <p:cNvSpPr>
                <a:spLocks noChangeArrowheads="1"/>
              </p:cNvSpPr>
              <p:nvPr/>
            </p:nvSpPr>
            <p:spPr bwMode="auto">
              <a:xfrm>
                <a:off x="4244925" y="5442992"/>
                <a:ext cx="500063" cy="268287"/>
              </a:xfrm>
              <a:prstGeom prst="diamond">
                <a:avLst/>
              </a:prstGeom>
              <a:solidFill>
                <a:srgbClr val="F7B021"/>
              </a:solidFill>
              <a:ln w="9525" algn="ctr">
                <a:noFill/>
                <a:miter lim="800000"/>
              </a:ln>
            </p:spPr>
            <p:txBody>
              <a:bodyPr wrap="none" lIns="68415" tIns="34208" rIns="68415" bIns="34208" anchor="ctr"/>
              <a:lstStyle/>
              <a:p>
                <a:pPr algn="ctr" defTabSz="582930"/>
                <a:r>
                  <a:rPr lang="en-US" altLang="zh-CN" sz="9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ATCC</a:t>
                </a:r>
                <a:endParaRPr lang="en-US" altLang="zh-HK" sz="9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195629" y="4440526"/>
            <a:ext cx="1598400" cy="248403"/>
            <a:chOff x="252779" y="4268009"/>
            <a:chExt cx="1598400" cy="248403"/>
          </a:xfrm>
        </p:grpSpPr>
        <p:sp>
          <p:nvSpPr>
            <p:cNvPr id="17" name="圆角矩形 16"/>
            <p:cNvSpPr/>
            <p:nvPr/>
          </p:nvSpPr>
          <p:spPr bwMode="auto">
            <a:xfrm>
              <a:off x="252779" y="4268009"/>
              <a:ext cx="1598400" cy="2484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80"/>
            <p:cNvGrpSpPr/>
            <p:nvPr/>
          </p:nvGrpSpPr>
          <p:grpSpPr bwMode="auto">
            <a:xfrm>
              <a:off x="418934" y="4268009"/>
              <a:ext cx="1266091" cy="248402"/>
              <a:chOff x="560338" y="5410741"/>
              <a:chExt cx="1371599" cy="331203"/>
            </a:xfrm>
          </p:grpSpPr>
          <p:sp>
            <p:nvSpPr>
              <p:cNvPr id="42052" name="Text Box 34"/>
              <p:cNvSpPr txBox="1">
                <a:spLocks noChangeArrowheads="1"/>
              </p:cNvSpPr>
              <p:nvPr/>
            </p:nvSpPr>
            <p:spPr bwMode="auto">
              <a:xfrm>
                <a:off x="923874" y="5410741"/>
                <a:ext cx="1008063" cy="3312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 algn="ctr">
                  <a:buClr>
                    <a:srgbClr val="777777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zh-CN" altLang="en-US" sz="10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立项决策</a:t>
                </a:r>
                <a:endParaRPr lang="zh-CN" altLang="en-US" sz="10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53" name="AutoShape 85"/>
              <p:cNvSpPr>
                <a:spLocks noChangeArrowheads="1"/>
              </p:cNvSpPr>
              <p:nvPr/>
            </p:nvSpPr>
            <p:spPr bwMode="auto">
              <a:xfrm>
                <a:off x="560338" y="5442992"/>
                <a:ext cx="501650" cy="268287"/>
              </a:xfrm>
              <a:prstGeom prst="diamond">
                <a:avLst/>
              </a:prstGeom>
              <a:solidFill>
                <a:srgbClr val="F7B021"/>
              </a:solidFill>
              <a:ln w="9525" algn="ctr">
                <a:noFill/>
                <a:miter lim="800000"/>
              </a:ln>
            </p:spPr>
            <p:txBody>
              <a:bodyPr wrap="none" lIns="68415" tIns="34208" rIns="68415" bIns="34208" anchor="ctr"/>
              <a:lstStyle/>
              <a:p>
                <a:pPr algn="ctr" defTabSz="582930"/>
                <a:r>
                  <a:rPr lang="en-US" altLang="zh-CN" sz="90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ATI</a:t>
                </a:r>
                <a:endParaRPr lang="en-US" altLang="zh-HK" sz="90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1979084" y="4440828"/>
            <a:ext cx="1598400" cy="248403"/>
            <a:chOff x="1883604" y="4268311"/>
            <a:chExt cx="1598400" cy="248403"/>
          </a:xfrm>
        </p:grpSpPr>
        <p:sp>
          <p:nvSpPr>
            <p:cNvPr id="86" name="圆角矩形 85"/>
            <p:cNvSpPr/>
            <p:nvPr/>
          </p:nvSpPr>
          <p:spPr bwMode="auto">
            <a:xfrm>
              <a:off x="1883604" y="4268311"/>
              <a:ext cx="1598400" cy="2484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Group 75"/>
            <p:cNvGrpSpPr/>
            <p:nvPr/>
          </p:nvGrpSpPr>
          <p:grpSpPr bwMode="auto">
            <a:xfrm>
              <a:off x="2079799" y="4268311"/>
              <a:ext cx="1206010" cy="248402"/>
              <a:chOff x="1857325" y="5410743"/>
              <a:chExt cx="1306510" cy="331203"/>
            </a:xfrm>
          </p:grpSpPr>
          <p:sp>
            <p:nvSpPr>
              <p:cNvPr id="42050" name="Text Box 37"/>
              <p:cNvSpPr txBox="1">
                <a:spLocks noChangeArrowheads="1"/>
              </p:cNvSpPr>
              <p:nvPr/>
            </p:nvSpPr>
            <p:spPr bwMode="auto">
              <a:xfrm>
                <a:off x="2260548" y="5410743"/>
                <a:ext cx="903287" cy="3312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 algn="ctr">
                  <a:buClr>
                    <a:srgbClr val="777777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zh-CN" altLang="en-US" sz="10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投标决策</a:t>
                </a:r>
                <a:endParaRPr lang="zh-CN" altLang="en-US" sz="10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51" name="AutoShape 85"/>
              <p:cNvSpPr>
                <a:spLocks noChangeArrowheads="1"/>
              </p:cNvSpPr>
              <p:nvPr/>
            </p:nvSpPr>
            <p:spPr bwMode="auto">
              <a:xfrm>
                <a:off x="1857325" y="5442992"/>
                <a:ext cx="501650" cy="268287"/>
              </a:xfrm>
              <a:prstGeom prst="diamond">
                <a:avLst/>
              </a:prstGeom>
              <a:solidFill>
                <a:srgbClr val="F7B021"/>
              </a:solidFill>
              <a:ln w="9525" algn="ctr">
                <a:noFill/>
                <a:miter lim="800000"/>
              </a:ln>
            </p:spPr>
            <p:txBody>
              <a:bodyPr wrap="none" lIns="68415" tIns="34208" rIns="68415" bIns="34208" anchor="ctr"/>
              <a:lstStyle/>
              <a:p>
                <a:pPr algn="ctr" defTabSz="582930"/>
                <a:r>
                  <a:rPr lang="en-US" altLang="zh-CN" sz="9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ATB</a:t>
                </a:r>
                <a:endParaRPr lang="en-US" altLang="zh-HK" sz="9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7329451" y="4440526"/>
            <a:ext cx="1598807" cy="248403"/>
            <a:chOff x="7329451" y="4268009"/>
            <a:chExt cx="1598807" cy="248403"/>
          </a:xfrm>
        </p:grpSpPr>
        <p:sp>
          <p:nvSpPr>
            <p:cNvPr id="90" name="圆角矩形 89"/>
            <p:cNvSpPr/>
            <p:nvPr/>
          </p:nvSpPr>
          <p:spPr bwMode="auto">
            <a:xfrm>
              <a:off x="7329451" y="4268009"/>
              <a:ext cx="1598807" cy="2484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7414841" y="4268009"/>
              <a:ext cx="1513417" cy="248402"/>
              <a:chOff x="7363696" y="4268009"/>
              <a:chExt cx="1595667" cy="248402"/>
            </a:xfrm>
          </p:grpSpPr>
          <p:sp>
            <p:nvSpPr>
              <p:cNvPr id="42048" name="AutoShape 85"/>
              <p:cNvSpPr>
                <a:spLocks noChangeArrowheads="1"/>
              </p:cNvSpPr>
              <p:nvPr/>
            </p:nvSpPr>
            <p:spPr bwMode="auto">
              <a:xfrm>
                <a:off x="7363696" y="4292197"/>
                <a:ext cx="539913" cy="200025"/>
              </a:xfrm>
              <a:prstGeom prst="diamond">
                <a:avLst/>
              </a:prstGeom>
              <a:solidFill>
                <a:srgbClr val="FBD893"/>
              </a:solidFill>
              <a:ln w="9525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miter lim="800000"/>
              </a:ln>
            </p:spPr>
            <p:txBody>
              <a:bodyPr wrap="none" lIns="0" tIns="0" rIns="0" bIns="0" anchor="ctr" anchorCtr="1"/>
              <a:lstStyle/>
              <a:p>
                <a:pPr algn="ctr" defTabSz="582930"/>
                <a:r>
                  <a:rPr lang="en-US" altLang="zh-CN" sz="9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ATAC</a:t>
                </a:r>
                <a:endParaRPr lang="en-US" altLang="zh-HK" sz="9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49" name="Text Box 40"/>
              <p:cNvSpPr txBox="1">
                <a:spLocks noChangeArrowheads="1"/>
              </p:cNvSpPr>
              <p:nvPr/>
            </p:nvSpPr>
            <p:spPr bwMode="auto">
              <a:xfrm>
                <a:off x="7754016" y="4268009"/>
                <a:ext cx="1205347" cy="248402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algn="ctr">
                  <a:buClr>
                    <a:srgbClr val="777777"/>
                  </a:buClr>
                  <a:buSzPct val="60000"/>
                </a:pPr>
                <a:r>
                  <a:rPr lang="zh-CN" altLang="en-US" sz="1000" dirty="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合同变更决策</a:t>
                </a:r>
                <a:endParaRPr lang="zh-CN" altLang="en-US" sz="1000" dirty="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3762539" y="4440525"/>
            <a:ext cx="1598400" cy="248403"/>
            <a:chOff x="3714516" y="4268008"/>
            <a:chExt cx="1598400" cy="248403"/>
          </a:xfrm>
        </p:grpSpPr>
        <p:sp>
          <p:nvSpPr>
            <p:cNvPr id="87" name="圆角矩形 86"/>
            <p:cNvSpPr/>
            <p:nvPr/>
          </p:nvSpPr>
          <p:spPr bwMode="auto">
            <a:xfrm>
              <a:off x="3714516" y="4268008"/>
              <a:ext cx="1598400" cy="2484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74"/>
            <p:cNvGrpSpPr/>
            <p:nvPr/>
          </p:nvGrpSpPr>
          <p:grpSpPr bwMode="auto">
            <a:xfrm>
              <a:off x="3797429" y="4268008"/>
              <a:ext cx="1432575" cy="248402"/>
              <a:chOff x="3082875" y="5410741"/>
              <a:chExt cx="1551956" cy="331203"/>
            </a:xfrm>
          </p:grpSpPr>
          <p:sp>
            <p:nvSpPr>
              <p:cNvPr id="42046" name="Text Box 31"/>
              <p:cNvSpPr txBox="1">
                <a:spLocks noChangeArrowheads="1"/>
              </p:cNvSpPr>
              <p:nvPr/>
            </p:nvSpPr>
            <p:spPr bwMode="auto">
              <a:xfrm>
                <a:off x="3474368" y="5410741"/>
                <a:ext cx="1160463" cy="3312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 algn="ctr">
                  <a:buClr>
                    <a:srgbClr val="777777"/>
                  </a:buClr>
                  <a:buSzPct val="60000"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合同签约决策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47" name="AutoShape 85"/>
              <p:cNvSpPr>
                <a:spLocks noChangeArrowheads="1"/>
              </p:cNvSpPr>
              <p:nvPr/>
            </p:nvSpPr>
            <p:spPr bwMode="auto">
              <a:xfrm>
                <a:off x="3082875" y="5442992"/>
                <a:ext cx="501650" cy="268287"/>
              </a:xfrm>
              <a:prstGeom prst="diamond">
                <a:avLst/>
              </a:prstGeom>
              <a:solidFill>
                <a:srgbClr val="F7B021"/>
              </a:solidFill>
              <a:ln w="9525" algn="ctr">
                <a:noFill/>
                <a:miter lim="800000"/>
              </a:ln>
            </p:spPr>
            <p:txBody>
              <a:bodyPr wrap="none" lIns="68415" tIns="34208" rIns="68415" bIns="34208" anchor="ctr"/>
              <a:lstStyle/>
              <a:p>
                <a:pPr algn="ctr" defTabSz="582930"/>
                <a:r>
                  <a:rPr lang="en-US" altLang="zh-CN" sz="900">
                    <a:solidFill>
                      <a:srgbClr val="080808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ATC</a:t>
                </a:r>
                <a:endParaRPr lang="en-US" altLang="zh-HK" sz="900">
                  <a:solidFill>
                    <a:srgbClr val="080808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2039" name="Rectangle 75"/>
          <p:cNvSpPr>
            <a:spLocks noChangeArrowheads="1"/>
          </p:cNvSpPr>
          <p:nvPr/>
        </p:nvSpPr>
        <p:spPr bwMode="auto">
          <a:xfrm>
            <a:off x="381174" y="1740573"/>
            <a:ext cx="8043496" cy="292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7939" tIns="38970" rIns="77939" bIns="38970">
            <a:spAutoFit/>
          </a:bodyPr>
          <a:lstStyle/>
          <a:p>
            <a:pPr algn="ctr" defTabSz="582930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总结化为成功的销售经验，引入领先的解决方案销售方法，提升面向客户的销售能力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042" name="Text Box 37"/>
          <p:cNvSpPr txBox="1">
            <a:spLocks noChangeArrowheads="1"/>
          </p:cNvSpPr>
          <p:nvPr/>
        </p:nvSpPr>
        <p:spPr bwMode="auto">
          <a:xfrm>
            <a:off x="-23548" y="2596981"/>
            <a:ext cx="589358" cy="115777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76713" tIns="39890" rIns="76713" bIns="39890" anchor="ctr">
            <a:spAutoFit/>
          </a:bodyPr>
          <a:lstStyle/>
          <a:p>
            <a:pPr algn="ctr"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LTC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主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业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务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流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4" name="AutoShape 21"/>
          <p:cNvSpPr>
            <a:spLocks noChangeArrowheads="1"/>
          </p:cNvSpPr>
          <p:nvPr/>
        </p:nvSpPr>
        <p:spPr bwMode="gray">
          <a:xfrm>
            <a:off x="8030309" y="1819152"/>
            <a:ext cx="929053" cy="166688"/>
          </a:xfrm>
          <a:prstGeom prst="chevron">
            <a:avLst>
              <a:gd name="adj" fmla="val 1808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lgDash"/>
            <a:miter lim="800000"/>
          </a:ln>
        </p:spPr>
        <p:txBody>
          <a:bodyPr lIns="7793" tIns="38970" rIns="7793" bIns="38970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调用流程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2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4/21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等腰三角形 15"/>
          <p:cNvSpPr/>
          <p:nvPr/>
        </p:nvSpPr>
        <p:spPr bwMode="auto">
          <a:xfrm>
            <a:off x="1860296" y="1635940"/>
            <a:ext cx="5649713" cy="109539"/>
          </a:xfrm>
          <a:prstGeom prst="triangle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424962" y="2252541"/>
            <a:ext cx="8565172" cy="1758553"/>
            <a:chOff x="424962" y="2032399"/>
            <a:chExt cx="8565172" cy="1758553"/>
          </a:xfrm>
        </p:grpSpPr>
        <p:sp>
          <p:nvSpPr>
            <p:cNvPr id="49" name="AutoShape 16"/>
            <p:cNvSpPr>
              <a:spLocks noChangeArrowheads="1"/>
            </p:cNvSpPr>
            <p:nvPr/>
          </p:nvSpPr>
          <p:spPr bwMode="auto">
            <a:xfrm>
              <a:off x="2085807" y="2032399"/>
              <a:ext cx="3222877" cy="1758553"/>
            </a:xfrm>
            <a:prstGeom prst="chevron">
              <a:avLst>
                <a:gd name="adj" fmla="val 11465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7939" tIns="38970" rIns="77939" bIns="38970"/>
            <a:lstStyle/>
            <a:p>
              <a:pPr algn="ctr" defTabSz="582930"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管理机会点</a:t>
              </a:r>
              <a:r>
                <a:rPr lang="en-US" altLang="zh-CN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(MO)</a:t>
              </a:r>
              <a:endParaRPr lang="zh-HK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000" name="AutoShape 12"/>
            <p:cNvSpPr>
              <a:spLocks noChangeArrowheads="1"/>
            </p:cNvSpPr>
            <p:nvPr/>
          </p:nvSpPr>
          <p:spPr bwMode="gray">
            <a:xfrm>
              <a:off x="3010145" y="2693194"/>
              <a:ext cx="720000" cy="1028700"/>
            </a:xfrm>
            <a:prstGeom prst="chevron">
              <a:avLst>
                <a:gd name="adj" fmla="val 15458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 eaLnBrk="0" hangingPunct="0">
                <a:buSzPct val="100000"/>
                <a:buFont typeface="Wingdings" panose="05000000000000000000" pitchFamily="2" charset="2"/>
                <a:buNone/>
              </a:pP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标前</a:t>
              </a:r>
              <a:b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</a:b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引导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8" name="Pentagon 57"/>
            <p:cNvSpPr/>
            <p:nvPr/>
          </p:nvSpPr>
          <p:spPr bwMode="auto">
            <a:xfrm>
              <a:off x="436684" y="2032399"/>
              <a:ext cx="1804047" cy="1758553"/>
            </a:xfrm>
            <a:prstGeom prst="homePlate">
              <a:avLst>
                <a:gd name="adj" fmla="val 12868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38970" rIns="0" bIns="38970"/>
            <a:lstStyle/>
            <a:p>
              <a:pPr algn="ctr" defTabSz="582930"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管理线索</a:t>
              </a:r>
              <a:r>
                <a:rPr lang="en-US" altLang="zh-CN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(ML)</a:t>
              </a:r>
              <a:endPara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014" name="AutoShape 12"/>
            <p:cNvSpPr>
              <a:spLocks noChangeArrowheads="1"/>
            </p:cNvSpPr>
            <p:nvPr/>
          </p:nvSpPr>
          <p:spPr bwMode="gray">
            <a:xfrm>
              <a:off x="964589" y="2328865"/>
              <a:ext cx="648000" cy="1393031"/>
            </a:xfrm>
            <a:prstGeom prst="chevron">
              <a:avLst>
                <a:gd name="adj" fmla="val 22403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验证和</a:t>
              </a:r>
              <a:b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</a:b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分发线索</a:t>
              </a:r>
              <a:endParaRPr lang="zh-CN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015" name="AutoShape 13"/>
            <p:cNvSpPr>
              <a:spLocks noChangeArrowheads="1"/>
            </p:cNvSpPr>
            <p:nvPr/>
          </p:nvSpPr>
          <p:spPr bwMode="gray">
            <a:xfrm>
              <a:off x="1504216" y="2328865"/>
              <a:ext cx="648000" cy="1393031"/>
            </a:xfrm>
            <a:prstGeom prst="chevron">
              <a:avLst>
                <a:gd name="adj" fmla="val 21940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跟踪和</a:t>
              </a:r>
              <a:b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</a:b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培育线索</a:t>
              </a:r>
              <a:endParaRPr lang="zh-CN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016" name="AutoShape 10"/>
            <p:cNvSpPr>
              <a:spLocks noChangeArrowheads="1"/>
            </p:cNvSpPr>
            <p:nvPr/>
          </p:nvSpPr>
          <p:spPr bwMode="gray">
            <a:xfrm>
              <a:off x="424962" y="2328865"/>
              <a:ext cx="648000" cy="1393031"/>
            </a:xfrm>
            <a:prstGeom prst="chevron">
              <a:avLst>
                <a:gd name="adj" fmla="val 22630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收集和</a:t>
              </a:r>
              <a:b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</a:b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生成线索</a:t>
              </a:r>
              <a:endParaRPr lang="zh-CN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026" name="AutoShape 10"/>
            <p:cNvSpPr>
              <a:spLocks noChangeArrowheads="1"/>
            </p:cNvSpPr>
            <p:nvPr/>
          </p:nvSpPr>
          <p:spPr bwMode="gray">
            <a:xfrm>
              <a:off x="2258970" y="2333627"/>
              <a:ext cx="2876550" cy="177874"/>
            </a:xfrm>
            <a:prstGeom prst="chevron">
              <a:avLst>
                <a:gd name="adj" fmla="val 15731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 eaLnBrk="0" hangingPunct="0">
                <a:buSzPct val="100000"/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管理决策链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741617" y="2593854"/>
              <a:ext cx="720000" cy="1128040"/>
              <a:chOff x="3720980" y="2431929"/>
              <a:chExt cx="720000" cy="1128040"/>
            </a:xfrm>
          </p:grpSpPr>
          <p:sp>
            <p:nvSpPr>
              <p:cNvPr id="42001" name="AutoShape 13"/>
              <p:cNvSpPr>
                <a:spLocks noChangeArrowheads="1"/>
              </p:cNvSpPr>
              <p:nvPr/>
            </p:nvSpPr>
            <p:spPr bwMode="gray">
              <a:xfrm>
                <a:off x="3720980" y="2531269"/>
                <a:ext cx="720000" cy="1028700"/>
              </a:xfrm>
              <a:prstGeom prst="chevron">
                <a:avLst>
                  <a:gd name="adj" fmla="val 16731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GB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制定并提交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标书</a:t>
                </a:r>
                <a:endPara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" name="Group 86"/>
              <p:cNvGrpSpPr/>
              <p:nvPr/>
            </p:nvGrpSpPr>
            <p:grpSpPr bwMode="auto">
              <a:xfrm>
                <a:off x="3804022" y="2431929"/>
                <a:ext cx="553916" cy="230832"/>
                <a:chOff x="3238488" y="2213476"/>
                <a:chExt cx="617538" cy="264094"/>
              </a:xfrm>
              <a:effectLst/>
            </p:grpSpPr>
            <p:sp>
              <p:nvSpPr>
                <p:cNvPr id="42060" name="AutoShape 47"/>
                <p:cNvSpPr>
                  <a:spLocks noChangeArrowheads="1"/>
                </p:cNvSpPr>
                <p:nvPr/>
              </p:nvSpPr>
              <p:spPr bwMode="auto">
                <a:xfrm>
                  <a:off x="3295638" y="2222488"/>
                  <a:ext cx="503238" cy="246063"/>
                </a:xfrm>
                <a:prstGeom prst="diamond">
                  <a:avLst/>
                </a:prstGeom>
                <a:solidFill>
                  <a:srgbClr val="F7B021"/>
                </a:solidFill>
                <a:ln w="9525" algn="ctr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>
                    <a:lnSpc>
                      <a:spcPct val="80000"/>
                    </a:lnSpc>
                  </a:pP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61" name="Rectangle 76"/>
                <p:cNvSpPr>
                  <a:spLocks noChangeArrowheads="1"/>
                </p:cNvSpPr>
                <p:nvPr/>
              </p:nvSpPr>
              <p:spPr bwMode="auto">
                <a:xfrm>
                  <a:off x="3238488" y="2213476"/>
                  <a:ext cx="617538" cy="26409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sz="9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ATB</a:t>
                  </a:r>
                  <a:endParaRPr lang="en-US" altLang="zh-CN" sz="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4473088" y="2593851"/>
              <a:ext cx="720000" cy="1128043"/>
              <a:chOff x="4454038" y="2431926"/>
              <a:chExt cx="720000" cy="1128043"/>
            </a:xfrm>
          </p:grpSpPr>
          <p:sp>
            <p:nvSpPr>
              <p:cNvPr id="42012" name="AutoShape 14"/>
              <p:cNvSpPr>
                <a:spLocks noChangeArrowheads="1"/>
              </p:cNvSpPr>
              <p:nvPr/>
            </p:nvSpPr>
            <p:spPr bwMode="gray">
              <a:xfrm>
                <a:off x="4454038" y="2531269"/>
                <a:ext cx="720000" cy="1028700"/>
              </a:xfrm>
              <a:prstGeom prst="chevron">
                <a:avLst>
                  <a:gd name="adj" fmla="val 15657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谈判和</a:t>
                </a:r>
                <a:br>
                  <a: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生成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合同</a:t>
                </a:r>
                <a:endPara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87"/>
              <p:cNvGrpSpPr/>
              <p:nvPr/>
            </p:nvGrpSpPr>
            <p:grpSpPr bwMode="auto">
              <a:xfrm>
                <a:off x="4536348" y="2431926"/>
                <a:ext cx="555381" cy="230832"/>
                <a:chOff x="4332285" y="2219874"/>
                <a:chExt cx="574675" cy="251287"/>
              </a:xfrm>
              <a:effectLst/>
            </p:grpSpPr>
            <p:sp>
              <p:nvSpPr>
                <p:cNvPr id="42058" name="AutoShape 80"/>
                <p:cNvSpPr>
                  <a:spLocks noChangeArrowheads="1"/>
                </p:cNvSpPr>
                <p:nvPr/>
              </p:nvSpPr>
              <p:spPr bwMode="auto">
                <a:xfrm>
                  <a:off x="4369590" y="2220901"/>
                  <a:ext cx="500063" cy="249237"/>
                </a:xfrm>
                <a:prstGeom prst="diamond">
                  <a:avLst/>
                </a:prstGeom>
                <a:solidFill>
                  <a:srgbClr val="F7B021"/>
                </a:solidFill>
                <a:ln w="9525" algn="ctr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>
                    <a:lnSpc>
                      <a:spcPct val="80000"/>
                    </a:lnSpc>
                  </a:pP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59" name="Rectangle 81"/>
                <p:cNvSpPr>
                  <a:spLocks noChangeArrowheads="1"/>
                </p:cNvSpPr>
                <p:nvPr/>
              </p:nvSpPr>
              <p:spPr bwMode="auto">
                <a:xfrm>
                  <a:off x="4332285" y="2219874"/>
                  <a:ext cx="574675" cy="25128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sz="9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ATC</a:t>
                  </a:r>
                  <a:endParaRPr lang="en-US" altLang="zh-CN" sz="9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2278673" y="2593854"/>
              <a:ext cx="720000" cy="1128040"/>
              <a:chOff x="2269148" y="2431929"/>
              <a:chExt cx="720000" cy="1128040"/>
            </a:xfrm>
          </p:grpSpPr>
          <p:sp>
            <p:nvSpPr>
              <p:cNvPr id="42011" name="AutoShape 10"/>
              <p:cNvSpPr>
                <a:spLocks noChangeArrowheads="1"/>
              </p:cNvSpPr>
              <p:nvPr/>
            </p:nvSpPr>
            <p:spPr bwMode="gray">
              <a:xfrm>
                <a:off x="2269148" y="2531269"/>
                <a:ext cx="720000" cy="1028700"/>
              </a:xfrm>
              <a:prstGeom prst="chevron">
                <a:avLst>
                  <a:gd name="adj" fmla="val 15685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</a:pP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验证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algn="ctr" eaLnBrk="0" hangingPunct="0">
                  <a:buSzPct val="100000"/>
                </a:pP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机会点 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5" name="Group 86"/>
              <p:cNvGrpSpPr/>
              <p:nvPr/>
            </p:nvGrpSpPr>
            <p:grpSpPr bwMode="auto">
              <a:xfrm>
                <a:off x="2352923" y="2431929"/>
                <a:ext cx="552450" cy="230832"/>
                <a:chOff x="3238488" y="2213476"/>
                <a:chExt cx="617538" cy="264094"/>
              </a:xfrm>
              <a:effectLst/>
            </p:grpSpPr>
            <p:sp>
              <p:nvSpPr>
                <p:cNvPr id="42056" name="AutoShape 47"/>
                <p:cNvSpPr>
                  <a:spLocks noChangeArrowheads="1"/>
                </p:cNvSpPr>
                <p:nvPr/>
              </p:nvSpPr>
              <p:spPr bwMode="auto">
                <a:xfrm>
                  <a:off x="3295638" y="2222488"/>
                  <a:ext cx="503238" cy="246063"/>
                </a:xfrm>
                <a:prstGeom prst="diamond">
                  <a:avLst/>
                </a:prstGeom>
                <a:solidFill>
                  <a:srgbClr val="F7B021"/>
                </a:solidFill>
                <a:ln w="9525" algn="ctr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>
                    <a:lnSpc>
                      <a:spcPct val="80000"/>
                    </a:lnSpc>
                  </a:pP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57" name="Rectangle 76"/>
                <p:cNvSpPr>
                  <a:spLocks noChangeArrowheads="1"/>
                </p:cNvSpPr>
                <p:nvPr/>
              </p:nvSpPr>
              <p:spPr bwMode="auto">
                <a:xfrm>
                  <a:off x="3238488" y="2213476"/>
                  <a:ext cx="617538" cy="26409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sz="9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ATI</a:t>
                  </a:r>
                  <a:endParaRPr lang="en-US" altLang="zh-CN" sz="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5153759" y="2032399"/>
              <a:ext cx="3836375" cy="1758553"/>
              <a:chOff x="5153759" y="2032399"/>
              <a:chExt cx="3836375" cy="1758553"/>
            </a:xfrm>
          </p:grpSpPr>
          <p:sp>
            <p:nvSpPr>
              <p:cNvPr id="50" name="AutoShape 16"/>
              <p:cNvSpPr>
                <a:spLocks noChangeArrowheads="1"/>
              </p:cNvSpPr>
              <p:nvPr/>
            </p:nvSpPr>
            <p:spPr bwMode="auto">
              <a:xfrm>
                <a:off x="5153759" y="2032399"/>
                <a:ext cx="3836375" cy="1758553"/>
              </a:xfrm>
              <a:prstGeom prst="chevron">
                <a:avLst>
                  <a:gd name="adj" fmla="val 12108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7939" tIns="38970" rIns="77939" bIns="38970"/>
              <a:lstStyle/>
              <a:p>
                <a:pPr algn="ctr" defTabSz="582930">
                  <a:defRPr/>
                </a:pPr>
                <a:r>
                  <a:rPr lang="zh-CN" altLang="en-US" sz="10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管理合同执行</a:t>
                </a:r>
                <a:r>
                  <a:rPr lang="en-US" altLang="zh-CN" sz="10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(MCE)</a:t>
                </a:r>
                <a:endPara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1999" name="AutoShape 20"/>
              <p:cNvSpPr>
                <a:spLocks noChangeArrowheads="1"/>
              </p:cNvSpPr>
              <p:nvPr/>
            </p:nvSpPr>
            <p:spPr bwMode="gray">
              <a:xfrm>
                <a:off x="5242415" y="2330055"/>
                <a:ext cx="955431" cy="1391840"/>
              </a:xfrm>
              <a:prstGeom prst="chevron">
                <a:avLst>
                  <a:gd name="adj" fmla="val 22037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38970" rIns="0" bIns="15588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管理合同 </a:t>
                </a:r>
                <a:r>
                  <a: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/PO</a:t>
                </a: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接收和确认</a:t>
                </a:r>
                <a:endPara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2005" name="AutoShape 33"/>
              <p:cNvCxnSpPr>
                <a:cxnSpLocks noChangeShapeType="1"/>
                <a:stCxn id="41999" idx="3"/>
                <a:endCxn id="32813" idx="1"/>
              </p:cNvCxnSpPr>
              <p:nvPr/>
            </p:nvCxnSpPr>
            <p:spPr bwMode="auto">
              <a:xfrm flipV="1">
                <a:off x="6197846" y="2843213"/>
                <a:ext cx="196064" cy="182762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sp>
            <p:nvSpPr>
              <p:cNvPr id="42009" name="AutoShape 25"/>
              <p:cNvSpPr>
                <a:spLocks noChangeArrowheads="1"/>
              </p:cNvSpPr>
              <p:nvPr/>
            </p:nvSpPr>
            <p:spPr bwMode="gray">
              <a:xfrm>
                <a:off x="8109441" y="2364582"/>
                <a:ext cx="835269" cy="1357313"/>
              </a:xfrm>
              <a:prstGeom prst="chevron">
                <a:avLst>
                  <a:gd name="adj" fmla="val 24769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GB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关闭和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GB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评价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GB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合同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2010" name="AutoShape 34"/>
              <p:cNvCxnSpPr>
                <a:cxnSpLocks noChangeShapeType="1"/>
                <a:stCxn id="32812" idx="3"/>
                <a:endCxn id="42009" idx="1"/>
              </p:cNvCxnSpPr>
              <p:nvPr/>
            </p:nvCxnSpPr>
            <p:spPr bwMode="auto">
              <a:xfrm>
                <a:off x="7921871" y="2478884"/>
                <a:ext cx="394458" cy="564355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grpSp>
            <p:nvGrpSpPr>
              <p:cNvPr id="2" name="Group 138"/>
              <p:cNvGrpSpPr/>
              <p:nvPr/>
            </p:nvGrpSpPr>
            <p:grpSpPr bwMode="auto">
              <a:xfrm>
                <a:off x="8251583" y="2297975"/>
                <a:ext cx="580293" cy="230832"/>
                <a:chOff x="8991340" y="1514983"/>
                <a:chExt cx="623434" cy="264713"/>
              </a:xfrm>
              <a:effectLst/>
            </p:grpSpPr>
            <p:sp>
              <p:nvSpPr>
                <p:cNvPr id="42062" name="AutoShape 80"/>
                <p:cNvSpPr>
                  <a:spLocks noChangeArrowheads="1"/>
                </p:cNvSpPr>
                <p:nvPr/>
              </p:nvSpPr>
              <p:spPr bwMode="auto">
                <a:xfrm>
                  <a:off x="9018623" y="1522721"/>
                  <a:ext cx="500062" cy="249237"/>
                </a:xfrm>
                <a:prstGeom prst="diamond">
                  <a:avLst/>
                </a:prstGeom>
                <a:solidFill>
                  <a:srgbClr val="F7B021"/>
                </a:solidFill>
                <a:ln w="9525" algn="ctr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>
                    <a:lnSpc>
                      <a:spcPct val="80000"/>
                    </a:lnSpc>
                  </a:pP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63" name="Rectangle 81"/>
                <p:cNvSpPr>
                  <a:spLocks noChangeArrowheads="1"/>
                </p:cNvSpPr>
                <p:nvPr/>
              </p:nvSpPr>
              <p:spPr bwMode="auto">
                <a:xfrm>
                  <a:off x="8991340" y="1514983"/>
                  <a:ext cx="623434" cy="26471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sz="9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ATCC</a:t>
                  </a:r>
                  <a:endParaRPr lang="en-US" altLang="zh-CN" sz="9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2812" name="AutoShape 21"/>
              <p:cNvSpPr>
                <a:spLocks noChangeArrowheads="1"/>
              </p:cNvSpPr>
              <p:nvPr/>
            </p:nvSpPr>
            <p:spPr bwMode="gray">
              <a:xfrm>
                <a:off x="6337791" y="2330056"/>
                <a:ext cx="1584080" cy="297656"/>
              </a:xfrm>
              <a:prstGeom prst="chevron">
                <a:avLst>
                  <a:gd name="adj" fmla="val 18146"/>
                </a:avLst>
              </a:prstGeom>
              <a:solidFill>
                <a:schemeClr val="bg1">
                  <a:lumMod val="75000"/>
                </a:schemeClr>
              </a:solidFill>
              <a:ln w="19050" algn="ctr">
                <a:noFill/>
                <a:prstDash val="dash"/>
                <a:miter lim="800000"/>
              </a:ln>
              <a:effectLst/>
            </p:spPr>
            <p:txBody>
              <a:bodyPr lIns="7793" tIns="38970" rIns="7793" bIns="38970" anchor="ctr"/>
              <a:lstStyle/>
              <a:p>
                <a:pPr algn="ctr" eaLnBrk="0" hangingPunct="0">
                  <a:buSzPct val="100000"/>
                  <a:defRPr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管理交付</a:t>
                </a:r>
                <a:r>
                  <a: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</a:t>
                </a: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验收</a:t>
                </a:r>
                <a:r>
                  <a: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)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813" name="AutoShape 22"/>
              <p:cNvSpPr>
                <a:spLocks noChangeArrowheads="1"/>
              </p:cNvSpPr>
              <p:nvPr/>
            </p:nvSpPr>
            <p:spPr bwMode="gray">
              <a:xfrm>
                <a:off x="6337791" y="2693194"/>
                <a:ext cx="1584080" cy="300038"/>
              </a:xfrm>
              <a:prstGeom prst="chevron">
                <a:avLst>
                  <a:gd name="adj" fmla="val 18704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7793" tIns="38970" rIns="7793" bIns="15588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管理开票和回款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04" name="AutoShape 23"/>
              <p:cNvSpPr>
                <a:spLocks noChangeArrowheads="1"/>
              </p:cNvSpPr>
              <p:nvPr/>
            </p:nvSpPr>
            <p:spPr bwMode="gray">
              <a:xfrm>
                <a:off x="6337791" y="3423048"/>
                <a:ext cx="1584080" cy="298847"/>
              </a:xfrm>
              <a:prstGeom prst="chevron">
                <a:avLst>
                  <a:gd name="adj" fmla="val 19002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7793" tIns="38970" rIns="7793" bIns="15588" anchor="ctr"/>
              <a:lstStyle/>
              <a:p>
                <a:pPr algn="ctr" eaLnBrk="0" hangingPunct="0">
                  <a:buSzPct val="100000"/>
                </a:pP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管理风险和争议</a:t>
                </a:r>
                <a:endPara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018" name="AutoShape 21"/>
              <p:cNvSpPr>
                <a:spLocks noChangeArrowheads="1"/>
              </p:cNvSpPr>
              <p:nvPr/>
            </p:nvSpPr>
            <p:spPr bwMode="gray">
              <a:xfrm>
                <a:off x="6337791" y="3058716"/>
                <a:ext cx="1584080" cy="298847"/>
              </a:xfrm>
              <a:prstGeom prst="chevron">
                <a:avLst>
                  <a:gd name="adj" fmla="val 18084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7793" tIns="38970" rIns="7793" bIns="15588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en-GB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管理合同 </a:t>
                </a:r>
                <a:r>
                  <a:rPr lang="en-GB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 PO</a:t>
                </a: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变更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2019" name="AutoShape 33"/>
              <p:cNvCxnSpPr>
                <a:cxnSpLocks noChangeShapeType="1"/>
                <a:stCxn id="41999" idx="3"/>
                <a:endCxn id="42018" idx="1"/>
              </p:cNvCxnSpPr>
              <p:nvPr/>
            </p:nvCxnSpPr>
            <p:spPr bwMode="auto">
              <a:xfrm>
                <a:off x="6197846" y="3025975"/>
                <a:ext cx="193988" cy="182165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cxnSp>
            <p:nvCxnSpPr>
              <p:cNvPr id="42020" name="AutoShape 33"/>
              <p:cNvCxnSpPr>
                <a:cxnSpLocks noChangeShapeType="1"/>
                <a:stCxn id="41999" idx="3"/>
                <a:endCxn id="42004" idx="1"/>
              </p:cNvCxnSpPr>
              <p:nvPr/>
            </p:nvCxnSpPr>
            <p:spPr bwMode="auto">
              <a:xfrm>
                <a:off x="6197846" y="3025975"/>
                <a:ext cx="196732" cy="546497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cxnSp>
            <p:nvCxnSpPr>
              <p:cNvPr id="42021" name="AutoShape 34"/>
              <p:cNvCxnSpPr>
                <a:cxnSpLocks noChangeShapeType="1"/>
                <a:stCxn id="32813" idx="3"/>
                <a:endCxn id="42009" idx="1"/>
              </p:cNvCxnSpPr>
              <p:nvPr/>
            </p:nvCxnSpPr>
            <p:spPr bwMode="auto">
              <a:xfrm>
                <a:off x="7921871" y="2843213"/>
                <a:ext cx="394458" cy="200026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cxnSp>
            <p:nvCxnSpPr>
              <p:cNvPr id="42022" name="AutoShape 34"/>
              <p:cNvCxnSpPr>
                <a:cxnSpLocks noChangeShapeType="1"/>
                <a:stCxn id="42018" idx="3"/>
                <a:endCxn id="42009" idx="1"/>
              </p:cNvCxnSpPr>
              <p:nvPr/>
            </p:nvCxnSpPr>
            <p:spPr bwMode="auto">
              <a:xfrm flipV="1">
                <a:off x="7921871" y="3043239"/>
                <a:ext cx="394458" cy="164901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cxnSp>
            <p:nvCxnSpPr>
              <p:cNvPr id="42023" name="AutoShape 34"/>
              <p:cNvCxnSpPr>
                <a:cxnSpLocks noChangeShapeType="1"/>
                <a:stCxn id="42004" idx="3"/>
                <a:endCxn id="42009" idx="1"/>
              </p:cNvCxnSpPr>
              <p:nvPr/>
            </p:nvCxnSpPr>
            <p:spPr bwMode="auto">
              <a:xfrm flipV="1">
                <a:off x="7921871" y="3043239"/>
                <a:ext cx="394458" cy="529233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cxnSp>
            <p:nvCxnSpPr>
              <p:cNvPr id="42024" name="AutoShape 33"/>
              <p:cNvCxnSpPr>
                <a:cxnSpLocks noChangeShapeType="1"/>
                <a:stCxn id="41999" idx="3"/>
                <a:endCxn id="32812" idx="1"/>
              </p:cNvCxnSpPr>
              <p:nvPr/>
            </p:nvCxnSpPr>
            <p:spPr bwMode="auto">
              <a:xfrm flipV="1">
                <a:off x="6197846" y="2478884"/>
                <a:ext cx="193958" cy="547091"/>
              </a:xfrm>
              <a:prstGeom prst="bentConnector3">
                <a:avLst>
                  <a:gd name="adj1" fmla="val 50000"/>
                </a:avLst>
              </a:prstGeom>
              <a:noFill/>
              <a:ln w="28575">
                <a:noFill/>
                <a:miter lim="800000"/>
                <a:tailEnd type="triangle" w="med" len="med"/>
              </a:ln>
              <a:effectLst/>
            </p:spPr>
          </p:cxnSp>
          <p:sp>
            <p:nvSpPr>
              <p:cNvPr id="42025" name="AutoShape 85"/>
              <p:cNvSpPr>
                <a:spLocks noChangeArrowheads="1"/>
              </p:cNvSpPr>
              <p:nvPr/>
            </p:nvSpPr>
            <p:spPr bwMode="auto">
              <a:xfrm>
                <a:off x="7356232" y="3257552"/>
                <a:ext cx="445477" cy="227410"/>
              </a:xfrm>
              <a:prstGeom prst="diamond">
                <a:avLst/>
              </a:prstGeom>
              <a:solidFill>
                <a:srgbClr val="FBD893"/>
              </a:solidFill>
              <a:ln w="9525" algn="ctr">
                <a:solidFill>
                  <a:schemeClr val="tx1">
                    <a:lumMod val="75000"/>
                    <a:lumOff val="25000"/>
                  </a:schemeClr>
                </a:solidFill>
                <a:prstDash val="lgDash"/>
                <a:miter lim="800000"/>
              </a:ln>
              <a:effectLst/>
            </p:spPr>
            <p:txBody>
              <a:bodyPr wrap="none" lIns="0" tIns="0" rIns="0" bIns="0" anchor="ctr" anchorCtr="1"/>
              <a:lstStyle/>
              <a:p>
                <a:pPr algn="ctr" defTabSz="582930"/>
                <a:r>
                  <a:rPr lang="en-US" altLang="zh-CN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ATAC</a:t>
                </a:r>
                <a:endParaRPr lang="en-US" altLang="zh-HK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8" name="肘形连接符 17"/>
              <p:cNvCxnSpPr>
                <a:stCxn id="41999" idx="3"/>
                <a:endCxn id="32812" idx="1"/>
              </p:cNvCxnSpPr>
              <p:nvPr/>
            </p:nvCxnSpPr>
            <p:spPr bwMode="auto">
              <a:xfrm flipV="1">
                <a:off x="6197846" y="2478884"/>
                <a:ext cx="193958" cy="547091"/>
              </a:xfrm>
              <a:prstGeom prst="bentConnector3">
                <a:avLst>
                  <a:gd name="adj1" fmla="val 30357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1" name="肘形连接符 30"/>
              <p:cNvCxnSpPr>
                <a:stCxn id="41999" idx="3"/>
                <a:endCxn id="32813" idx="1"/>
              </p:cNvCxnSpPr>
              <p:nvPr/>
            </p:nvCxnSpPr>
            <p:spPr bwMode="auto">
              <a:xfrm flipV="1">
                <a:off x="6197846" y="2843213"/>
                <a:ext cx="196064" cy="182762"/>
              </a:xfrm>
              <a:prstGeom prst="bentConnector3">
                <a:avLst>
                  <a:gd name="adj1" fmla="val 30568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4" name="肘形连接符 33"/>
              <p:cNvCxnSpPr>
                <a:stCxn id="41999" idx="3"/>
                <a:endCxn id="42018" idx="1"/>
              </p:cNvCxnSpPr>
              <p:nvPr/>
            </p:nvCxnSpPr>
            <p:spPr bwMode="auto">
              <a:xfrm>
                <a:off x="6197846" y="3025975"/>
                <a:ext cx="193988" cy="182165"/>
              </a:xfrm>
              <a:prstGeom prst="bentConnector3">
                <a:avLst>
                  <a:gd name="adj1" fmla="val 30360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7" name="肘形连接符 36"/>
              <p:cNvCxnSpPr>
                <a:stCxn id="41999" idx="3"/>
                <a:endCxn id="42004" idx="1"/>
              </p:cNvCxnSpPr>
              <p:nvPr/>
            </p:nvCxnSpPr>
            <p:spPr bwMode="auto">
              <a:xfrm>
                <a:off x="6197846" y="3025975"/>
                <a:ext cx="196732" cy="546497"/>
              </a:xfrm>
              <a:prstGeom prst="bentConnector3">
                <a:avLst>
                  <a:gd name="adj1" fmla="val 30634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0" name="肘形连接符 39"/>
              <p:cNvCxnSpPr>
                <a:stCxn id="32812" idx="3"/>
                <a:endCxn id="42009" idx="1"/>
              </p:cNvCxnSpPr>
              <p:nvPr/>
            </p:nvCxnSpPr>
            <p:spPr bwMode="auto">
              <a:xfrm>
                <a:off x="7921871" y="2478884"/>
                <a:ext cx="394458" cy="564355"/>
              </a:xfrm>
              <a:prstGeom prst="bentConnector3">
                <a:avLst>
                  <a:gd name="adj1" fmla="val 25853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2" name="肘形连接符 41"/>
              <p:cNvCxnSpPr>
                <a:endCxn id="42009" idx="1"/>
              </p:cNvCxnSpPr>
              <p:nvPr/>
            </p:nvCxnSpPr>
            <p:spPr bwMode="auto">
              <a:xfrm>
                <a:off x="7926924" y="2843213"/>
                <a:ext cx="389405" cy="200026"/>
              </a:xfrm>
              <a:prstGeom prst="bentConnector3">
                <a:avLst>
                  <a:gd name="adj1" fmla="val 25540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4" name="肘形连接符 43"/>
              <p:cNvCxnSpPr>
                <a:stCxn id="42018" idx="3"/>
                <a:endCxn id="42009" idx="1"/>
              </p:cNvCxnSpPr>
              <p:nvPr/>
            </p:nvCxnSpPr>
            <p:spPr bwMode="auto">
              <a:xfrm flipV="1">
                <a:off x="7921871" y="3043239"/>
                <a:ext cx="394458" cy="164901"/>
              </a:xfrm>
              <a:prstGeom prst="bentConnector3">
                <a:avLst>
                  <a:gd name="adj1" fmla="val 25853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6" name="肘形连接符 45"/>
              <p:cNvCxnSpPr>
                <a:stCxn id="42004" idx="3"/>
                <a:endCxn id="42009" idx="1"/>
              </p:cNvCxnSpPr>
              <p:nvPr/>
            </p:nvCxnSpPr>
            <p:spPr bwMode="auto">
              <a:xfrm flipV="1">
                <a:off x="7921871" y="3043239"/>
                <a:ext cx="394458" cy="529233"/>
              </a:xfrm>
              <a:prstGeom prst="bentConnector3">
                <a:avLst>
                  <a:gd name="adj1" fmla="val 27060"/>
                </a:avLst>
              </a:prstGeom>
              <a:noFill/>
              <a:ln w="9525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94" name="组合 93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95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6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98693" y="749588"/>
            <a:ext cx="5865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是拉通从线索到回款的端到端销售流程，提升面向客户的销售能力</a:t>
            </a:r>
            <a:r>
              <a:rPr lang="zh-CN" altLang="en-US" sz="1400" dirty="0"/>
              <a:t>。</a:t>
            </a:r>
            <a:endParaRPr lang="en-US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itle 1"/>
          <p:cNvSpPr txBox="1"/>
          <p:nvPr/>
        </p:nvSpPr>
        <p:spPr bwMode="gray">
          <a:xfrm>
            <a:off x="383491" y="188120"/>
            <a:ext cx="545533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br>
              <a:rPr lang="en-US" altLang="zh-CN" dirty="0">
                <a:latin typeface="+mn-lt"/>
                <a:ea typeface="+mn-ea"/>
                <a:cs typeface="Arial" panose="020B0604020202020204" pitchFamily="34" charset="0"/>
              </a:rPr>
            </a:b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/>
          <p:nvPr/>
        </p:nvSpPr>
        <p:spPr bwMode="gray">
          <a:xfrm>
            <a:off x="383491" y="188120"/>
            <a:ext cx="545533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br>
              <a:rPr lang="en-US" altLang="zh-CN" dirty="0">
                <a:latin typeface="+mn-lt"/>
                <a:ea typeface="+mn-ea"/>
                <a:cs typeface="Arial" panose="020B0604020202020204" pitchFamily="34" charset="0"/>
              </a:rPr>
            </a:b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3863" y="1157318"/>
            <a:ext cx="7964487" cy="355700"/>
            <a:chOff x="423863" y="836586"/>
            <a:chExt cx="7964487" cy="355700"/>
          </a:xfrm>
        </p:grpSpPr>
        <p:sp>
          <p:nvSpPr>
            <p:cNvPr id="2" name="圆角矩形 1"/>
            <p:cNvSpPr/>
            <p:nvPr/>
          </p:nvSpPr>
          <p:spPr bwMode="auto">
            <a:xfrm>
              <a:off x="423863" y="867948"/>
              <a:ext cx="7964487" cy="324338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53088" y="836586"/>
              <a:ext cx="813732" cy="355700"/>
            </a:xfrm>
            <a:prstGeom prst="rect">
              <a:avLst/>
            </a:prstGeom>
          </p:spPr>
          <p:txBody>
            <a:bodyPr wrap="square" lIns="77939" tIns="38970" rIns="77939" bIns="38970">
              <a:spAutoFit/>
            </a:bodyPr>
            <a:lstStyle/>
            <a:p>
              <a:pPr marL="647700" indent="-504190">
                <a:spcBef>
                  <a:spcPct val="30000"/>
                </a:spcBef>
                <a:spcAft>
                  <a:spcPts val="510"/>
                </a:spcAft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线索</a:t>
              </a:r>
              <a:endParaRPr lang="zh-CN" alt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16191" y="914856"/>
              <a:ext cx="6370796" cy="2603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是特定客户在一定的时间窗中对特定产品或服务的</a:t>
              </a:r>
              <a:r>
                <a:rPr lang="zh-CN" altLang="en-US" sz="11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潜在购买意愿</a:t>
              </a: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，其最终将可能为化为带来</a:t>
              </a:r>
              <a:r>
                <a:rPr lang="zh-CN" altLang="en-US" sz="11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商业机会</a:t>
              </a: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。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5/21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78417" y="1870744"/>
            <a:ext cx="7587167" cy="2634144"/>
            <a:chOff x="856959" y="1870744"/>
            <a:chExt cx="7587167" cy="2634144"/>
          </a:xfrm>
        </p:grpSpPr>
        <p:sp>
          <p:nvSpPr>
            <p:cNvPr id="45067" name="Line 13"/>
            <p:cNvSpPr>
              <a:spLocks noChangeShapeType="1"/>
            </p:cNvSpPr>
            <p:nvPr/>
          </p:nvSpPr>
          <p:spPr bwMode="auto">
            <a:xfrm>
              <a:off x="6473653" y="2965919"/>
              <a:ext cx="0" cy="189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lIns="90935" tIns="45468" rIns="90935" bIns="45468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717726" y="1870745"/>
              <a:ext cx="3726400" cy="2634143"/>
              <a:chOff x="4692559" y="1870745"/>
              <a:chExt cx="3726400" cy="2634143"/>
            </a:xfrm>
          </p:grpSpPr>
          <p:sp>
            <p:nvSpPr>
              <p:cNvPr id="13" name="圆角矩形 12"/>
              <p:cNvSpPr/>
              <p:nvPr/>
            </p:nvSpPr>
            <p:spPr bwMode="auto">
              <a:xfrm>
                <a:off x="4692559" y="1904557"/>
                <a:ext cx="3713210" cy="2600331"/>
              </a:xfrm>
              <a:prstGeom prst="roundRect">
                <a:avLst>
                  <a:gd name="adj" fmla="val 5376"/>
                </a:avLst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 bwMode="auto">
              <a:xfrm>
                <a:off x="4692559" y="1870745"/>
                <a:ext cx="3726400" cy="10498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072" name="AutoShape 77"/>
            <p:cNvSpPr>
              <a:spLocks noChangeArrowheads="1"/>
            </p:cNvSpPr>
            <p:nvPr/>
          </p:nvSpPr>
          <p:spPr bwMode="auto">
            <a:xfrm>
              <a:off x="5211305" y="3407594"/>
              <a:ext cx="3030338" cy="904411"/>
            </a:xfrm>
            <a:prstGeom prst="wedgeRoundRectCallout">
              <a:avLst>
                <a:gd name="adj1" fmla="val -65988"/>
                <a:gd name="adj2" fmla="val -50663"/>
                <a:gd name="adj3" fmla="val 16667"/>
              </a:avLst>
            </a:prstGeom>
            <a:solidFill>
              <a:srgbClr val="FBD893">
                <a:alpha val="89803"/>
              </a:srgbClr>
            </a:solidFill>
            <a:ln w="28575" algn="ctr">
              <a:noFill/>
              <a:miter lim="800000"/>
            </a:ln>
          </p:spPr>
          <p:txBody>
            <a:bodyPr lIns="0" tIns="0" rIns="61370" bIns="0" anchor="ctr"/>
            <a:lstStyle/>
            <a:p>
              <a:pPr marL="247650" indent="-172085"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endParaRPr lang="en-US" altLang="zh-CN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989803" y="2151236"/>
              <a:ext cx="1379490" cy="522711"/>
              <a:chOff x="5207917" y="2072209"/>
              <a:chExt cx="1379490" cy="522711"/>
            </a:xfrm>
          </p:grpSpPr>
          <p:sp>
            <p:nvSpPr>
              <p:cNvPr id="33" name="Rectangle 31"/>
              <p:cNvSpPr>
                <a:spLocks noChangeArrowheads="1"/>
              </p:cNvSpPr>
              <p:nvPr/>
            </p:nvSpPr>
            <p:spPr bwMode="auto">
              <a:xfrm>
                <a:off x="5308103" y="2109288"/>
                <a:ext cx="1179119" cy="448552"/>
              </a:xfrm>
              <a:prstGeom prst="roundRect">
                <a:avLst/>
              </a:prstGeom>
              <a:solidFill>
                <a:srgbClr val="00ACE2"/>
              </a:solidFill>
              <a:ln w="9525" algn="ctr">
                <a:noFill/>
                <a:round/>
              </a:ln>
            </p:spPr>
            <p:txBody>
              <a:bodyPr wrap="square" lIns="77939" tIns="38970" rIns="77939" bIns="38970">
                <a:noAutofit/>
              </a:bodyPr>
              <a:lstStyle/>
              <a:p>
                <a:pPr>
                  <a:defRPr/>
                </a:pPr>
                <a:endParaRPr lang="en-US" altLang="zh-CN">
                  <a:latin typeface="+mn-lt"/>
                  <a:ea typeface="+mn-ea"/>
                </a:endParaRPr>
              </a:p>
            </p:txBody>
          </p:sp>
          <p:sp>
            <p:nvSpPr>
              <p:cNvPr id="25" name="Text Box 17"/>
              <p:cNvSpPr txBox="1">
                <a:spLocks noChangeArrowheads="1"/>
              </p:cNvSpPr>
              <p:nvPr/>
            </p:nvSpPr>
            <p:spPr bwMode="auto">
              <a:xfrm>
                <a:off x="5207917" y="2072209"/>
                <a:ext cx="1379490" cy="5227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0935" tIns="45468" rIns="90935" bIns="45468">
                <a:spAutoFit/>
              </a:bodyPr>
              <a:lstStyle/>
              <a:p>
                <a:pPr algn="ctr"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管理机会点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MO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763844" y="2151236"/>
              <a:ext cx="1477798" cy="522711"/>
              <a:chOff x="7091015" y="2082020"/>
              <a:chExt cx="1477798" cy="522711"/>
            </a:xfrm>
          </p:grpSpPr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7240355" y="2119099"/>
                <a:ext cx="1179119" cy="448552"/>
              </a:xfrm>
              <a:prstGeom prst="roundRect">
                <a:avLst/>
              </a:prstGeom>
              <a:solidFill>
                <a:srgbClr val="00ACE2"/>
              </a:solidFill>
              <a:ln w="9525" algn="ctr">
                <a:noFill/>
                <a:round/>
              </a:ln>
            </p:spPr>
            <p:txBody>
              <a:bodyPr wrap="square" lIns="77939" tIns="38970" rIns="77939" bIns="38970">
                <a:noAutofit/>
              </a:bodyPr>
              <a:lstStyle/>
              <a:p>
                <a:pPr>
                  <a:defRPr/>
                </a:pPr>
                <a:endParaRPr lang="en-US" altLang="zh-CN">
                  <a:latin typeface="+mn-lt"/>
                  <a:ea typeface="+mn-ea"/>
                </a:endParaRPr>
              </a:p>
            </p:txBody>
          </p:sp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7091015" y="2082020"/>
                <a:ext cx="1477798" cy="52271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0935" tIns="45468" rIns="90935" bIns="45468">
                <a:spAutoFit/>
              </a:bodyPr>
              <a:lstStyle/>
              <a:p>
                <a:pPr algn="ctr"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管理合同执行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MCE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45078" name="Rectangle 19"/>
            <p:cNvSpPr>
              <a:spLocks noChangeArrowheads="1"/>
            </p:cNvSpPr>
            <p:nvPr/>
          </p:nvSpPr>
          <p:spPr bwMode="auto">
            <a:xfrm>
              <a:off x="5229803" y="3043357"/>
              <a:ext cx="3011840" cy="338972"/>
            </a:xfrm>
            <a:prstGeom prst="roundRect">
              <a:avLst/>
            </a:prstGeom>
            <a:solidFill>
              <a:srgbClr val="F7B021"/>
            </a:solidFill>
            <a:ln w="9525">
              <a:noFill/>
              <a:miter lim="800000"/>
            </a:ln>
          </p:spPr>
          <p:txBody>
            <a:bodyPr lIns="77939" tIns="38970" rIns="77939" bIns="38970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机会点评判标准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07293" y="1870744"/>
              <a:ext cx="3726000" cy="2634144"/>
              <a:chOff x="528506" y="1870744"/>
              <a:chExt cx="3726000" cy="2634144"/>
            </a:xfrm>
          </p:grpSpPr>
          <p:sp>
            <p:nvSpPr>
              <p:cNvPr id="12" name="圆角矩形 11"/>
              <p:cNvSpPr/>
              <p:nvPr/>
            </p:nvSpPr>
            <p:spPr bwMode="auto">
              <a:xfrm>
                <a:off x="528506" y="1870744"/>
                <a:ext cx="3726000" cy="2634144"/>
              </a:xfrm>
              <a:prstGeom prst="roundRect">
                <a:avLst>
                  <a:gd name="adj" fmla="val 7113"/>
                </a:avLst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圆角矩形 13"/>
              <p:cNvSpPr/>
              <p:nvPr/>
            </p:nvSpPr>
            <p:spPr bwMode="auto">
              <a:xfrm>
                <a:off x="528506" y="1870744"/>
                <a:ext cx="3726000" cy="10498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68" name="Text Box 17"/>
              <p:cNvSpPr txBox="1">
                <a:spLocks noChangeArrowheads="1"/>
              </p:cNvSpPr>
              <p:nvPr/>
            </p:nvSpPr>
            <p:spPr bwMode="auto">
              <a:xfrm>
                <a:off x="1758452" y="1954891"/>
                <a:ext cx="1266109" cy="2764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0935" tIns="45468" rIns="90935" bIns="45468">
                <a:spAutoFit/>
              </a:bodyPr>
              <a:lstStyle/>
              <a:p>
                <a:pPr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管理线索（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ML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069" name="Line 57"/>
              <p:cNvSpPr>
                <a:spLocks noChangeShapeType="1"/>
              </p:cNvSpPr>
              <p:nvPr/>
            </p:nvSpPr>
            <p:spPr bwMode="auto">
              <a:xfrm>
                <a:off x="2936806" y="2897248"/>
                <a:ext cx="0" cy="233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lIns="90935" tIns="45468" rIns="90935" bIns="45468"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45073" name="AutoShape 77"/>
              <p:cNvSpPr>
                <a:spLocks noChangeArrowheads="1"/>
              </p:cNvSpPr>
              <p:nvPr/>
            </p:nvSpPr>
            <p:spPr bwMode="auto">
              <a:xfrm>
                <a:off x="971611" y="3407592"/>
                <a:ext cx="3076358" cy="898566"/>
              </a:xfrm>
              <a:prstGeom prst="wedgeRoundRectCallout">
                <a:avLst>
                  <a:gd name="adj1" fmla="val -64018"/>
                  <a:gd name="adj2" fmla="val -52332"/>
                  <a:gd name="adj3" fmla="val 16667"/>
                </a:avLst>
              </a:prstGeom>
              <a:solidFill>
                <a:srgbClr val="FBD893">
                  <a:alpha val="89803"/>
                </a:srgbClr>
              </a:solidFill>
              <a:ln w="28575" algn="ctr">
                <a:noFill/>
                <a:miter lim="800000"/>
              </a:ln>
            </p:spPr>
            <p:txBody>
              <a:bodyPr lIns="0" tIns="0" rIns="61370" bIns="0" anchor="ctr"/>
              <a:lstStyle/>
              <a:p>
                <a:pPr marL="247650" indent="-252095">
                  <a:buClr>
                    <a:srgbClr val="0070C0"/>
                  </a:buClr>
                  <a:buSzPct val="100000"/>
                  <a:buFont typeface="Wingdings" panose="05000000000000000000" pitchFamily="2" charset="2"/>
                  <a:buChar char="u"/>
                  <a:defRPr/>
                </a:pPr>
                <a:endPara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079" name="Rectangle 19"/>
              <p:cNvSpPr>
                <a:spLocks noChangeArrowheads="1"/>
              </p:cNvSpPr>
              <p:nvPr/>
            </p:nvSpPr>
            <p:spPr bwMode="auto">
              <a:xfrm>
                <a:off x="970070" y="3043356"/>
                <a:ext cx="3081813" cy="331666"/>
              </a:xfrm>
              <a:prstGeom prst="roundRect">
                <a:avLst/>
              </a:prstGeom>
              <a:solidFill>
                <a:srgbClr val="F7B021"/>
              </a:solidFill>
              <a:ln w="9525">
                <a:noFill/>
                <a:miter lim="800000"/>
              </a:ln>
            </p:spPr>
            <p:txBody>
              <a:bodyPr lIns="77939" tIns="38970" rIns="77939" bIns="38970" anchor="ctr"/>
              <a:lstStyle/>
              <a:p>
                <a:pPr algn="ctr">
                  <a:defRPr/>
                </a:pPr>
                <a:r>
                  <a:rPr lang="zh-CN" altLang="en-US" sz="1400" b="1">
                    <a:latin typeface="微软雅黑" panose="020B0503020204020204" charset="-122"/>
                    <a:ea typeface="微软雅黑" panose="020B0503020204020204" charset="-122"/>
                  </a:rPr>
                  <a:t>线索评判标准</a:t>
                </a:r>
                <a:endParaRPr lang="zh-CN" altLang="en-US" sz="1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654267" y="2318887"/>
                <a:ext cx="967511" cy="414987"/>
                <a:chOff x="488456" y="2079095"/>
                <a:chExt cx="1229497" cy="527361"/>
              </a:xfrm>
            </p:grpSpPr>
            <p:sp>
              <p:nvSpPr>
                <p:cNvPr id="45058" name="Rectangle 22"/>
                <p:cNvSpPr>
                  <a:spLocks noChangeArrowheads="1"/>
                </p:cNvSpPr>
                <p:nvPr/>
              </p:nvSpPr>
              <p:spPr bwMode="auto">
                <a:xfrm>
                  <a:off x="488456" y="2114106"/>
                  <a:ext cx="1229497" cy="448552"/>
                </a:xfrm>
                <a:prstGeom prst="roundRect">
                  <a:avLst/>
                </a:prstGeom>
                <a:solidFill>
                  <a:srgbClr val="0070C0"/>
                </a:solidFill>
                <a:ln w="9525" algn="ctr">
                  <a:noFill/>
                  <a:round/>
                </a:ln>
              </p:spPr>
              <p:txBody>
                <a:bodyPr wrap="square" lIns="77939" tIns="38970" rIns="77939" bIns="38970">
                  <a:noAutofit/>
                </a:bodyPr>
                <a:lstStyle/>
                <a:p>
                  <a:pPr>
                    <a:defRPr/>
                  </a:pPr>
                  <a:endParaRPr lang="en-US" altLang="zh-CN">
                    <a:latin typeface="+mn-lt"/>
                    <a:ea typeface="+mn-ea"/>
                  </a:endParaRPr>
                </a:p>
              </p:txBody>
            </p:sp>
            <p:sp>
              <p:nvSpPr>
                <p:cNvPr id="4507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529248" y="2079095"/>
                  <a:ext cx="1166392" cy="5273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90935" tIns="45468" rIns="90935" bIns="45468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105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收集和生成线索</a:t>
                  </a:r>
                  <a:endParaRPr lang="zh-CN" altLang="en-US" sz="105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3186788" y="2315103"/>
                <a:ext cx="927868" cy="414988"/>
                <a:chOff x="3205690" y="2074278"/>
                <a:chExt cx="1179119" cy="527360"/>
              </a:xfrm>
            </p:grpSpPr>
            <p:sp>
              <p:nvSpPr>
                <p:cNvPr id="45060" name="Rectangle 31"/>
                <p:cNvSpPr>
                  <a:spLocks noChangeArrowheads="1"/>
                </p:cNvSpPr>
                <p:nvPr/>
              </p:nvSpPr>
              <p:spPr bwMode="auto">
                <a:xfrm>
                  <a:off x="3205690" y="2114106"/>
                  <a:ext cx="1179119" cy="448552"/>
                </a:xfrm>
                <a:prstGeom prst="roundRect">
                  <a:avLst/>
                </a:prstGeom>
                <a:solidFill>
                  <a:srgbClr val="0070C0"/>
                </a:solidFill>
                <a:ln w="9525" algn="ctr">
                  <a:noFill/>
                  <a:round/>
                </a:ln>
              </p:spPr>
              <p:txBody>
                <a:bodyPr wrap="square" lIns="77939" tIns="38970" rIns="77939" bIns="38970">
                  <a:noAutofit/>
                </a:bodyPr>
                <a:lstStyle/>
                <a:p>
                  <a:pPr>
                    <a:defRPr/>
                  </a:pPr>
                  <a:endParaRPr lang="en-US" altLang="zh-CN">
                    <a:latin typeface="+mn-lt"/>
                    <a:ea typeface="+mn-ea"/>
                  </a:endParaRPr>
                </a:p>
              </p:txBody>
            </p:sp>
            <p:sp>
              <p:nvSpPr>
                <p:cNvPr id="45075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239944" y="2074278"/>
                  <a:ext cx="1132746" cy="5273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90935" tIns="45468" rIns="90935" bIns="45468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105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跟踪和培育线索</a:t>
                  </a:r>
                  <a:endParaRPr lang="zh-CN" altLang="en-US" sz="105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1912899" y="2318887"/>
                <a:ext cx="967607" cy="414987"/>
                <a:chOff x="2026639" y="2079095"/>
                <a:chExt cx="1229620" cy="527361"/>
              </a:xfrm>
            </p:grpSpPr>
            <p:sp>
              <p:nvSpPr>
                <p:cNvPr id="45059" name="Rectangle 29"/>
                <p:cNvSpPr>
                  <a:spLocks noChangeArrowheads="1"/>
                </p:cNvSpPr>
                <p:nvPr/>
              </p:nvSpPr>
              <p:spPr bwMode="auto">
                <a:xfrm>
                  <a:off x="2026639" y="2114106"/>
                  <a:ext cx="1199156" cy="448552"/>
                </a:xfrm>
                <a:prstGeom prst="roundRect">
                  <a:avLst/>
                </a:prstGeom>
                <a:solidFill>
                  <a:srgbClr val="0070C0"/>
                </a:solidFill>
                <a:ln w="9525" algn="ctr">
                  <a:noFill/>
                  <a:round/>
                </a:ln>
              </p:spPr>
              <p:txBody>
                <a:bodyPr wrap="square" lIns="77939" tIns="38970" rIns="77939" bIns="38970">
                  <a:noAutofit/>
                </a:bodyPr>
                <a:lstStyle/>
                <a:p>
                  <a:pPr>
                    <a:defRPr/>
                  </a:pPr>
                  <a:endParaRPr lang="en-US" altLang="zh-CN">
                    <a:latin typeface="+mn-lt"/>
                    <a:ea typeface="+mn-ea"/>
                  </a:endParaRPr>
                </a:p>
              </p:txBody>
            </p:sp>
            <p:sp>
              <p:nvSpPr>
                <p:cNvPr id="4508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053939" y="2079095"/>
                  <a:ext cx="1202320" cy="5273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90935" tIns="45468" rIns="90935" bIns="45468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105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验证和分发线索</a:t>
                  </a:r>
                  <a:endParaRPr lang="zh-CN" altLang="en-US" sz="105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cxnSp>
          <p:nvCxnSpPr>
            <p:cNvPr id="17" name="直接连接符 16"/>
            <p:cNvCxnSpPr/>
            <p:nvPr/>
          </p:nvCxnSpPr>
          <p:spPr bwMode="auto">
            <a:xfrm>
              <a:off x="4666849" y="1988447"/>
              <a:ext cx="0" cy="2357114"/>
            </a:xfrm>
            <a:prstGeom prst="line">
              <a:avLst/>
            </a:prstGeom>
            <a:noFill/>
            <a:ln w="381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856959" y="1988447"/>
              <a:ext cx="0" cy="2357114"/>
            </a:xfrm>
            <a:prstGeom prst="line">
              <a:avLst/>
            </a:prstGeom>
            <a:noFill/>
            <a:ln w="381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" name="矩形 4"/>
          <p:cNvSpPr/>
          <p:nvPr/>
        </p:nvSpPr>
        <p:spPr>
          <a:xfrm>
            <a:off x="1428005" y="3533709"/>
            <a:ext cx="252296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7650" indent="-252095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特定客户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7650" indent="-252095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具备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潜在的购买意愿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7650" indent="-252095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化为具有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潜在的参与可能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18372" y="3536633"/>
            <a:ext cx="276861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2095" indent="-252095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已进入购买流程，或有明确的投资计划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indent="-252095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化为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可参与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49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0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613963" y="634845"/>
            <a:ext cx="2900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主流程：管理线索流程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（ML）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 bwMode="auto">
          <a:xfrm>
            <a:off x="5937195" y="2004241"/>
            <a:ext cx="2757202" cy="8915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endParaRPr 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3242198" y="2004246"/>
            <a:ext cx="2526629" cy="8915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endParaRPr 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88093" y="2004246"/>
            <a:ext cx="2495995" cy="8915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endParaRPr lang="en-US" sz="14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16"/>
          <p:cNvSpPr>
            <a:spLocks noChangeArrowheads="1"/>
          </p:cNvSpPr>
          <p:nvPr/>
        </p:nvSpPr>
        <p:spPr bwMode="auto">
          <a:xfrm>
            <a:off x="316625" y="1042664"/>
            <a:ext cx="8643730" cy="887738"/>
          </a:xfrm>
          <a:prstGeom prst="chevron">
            <a:avLst>
              <a:gd name="adj" fmla="val 19979"/>
            </a:avLst>
          </a:prstGeom>
          <a:solidFill>
            <a:srgbClr val="00ACE2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/>
          <a:lstStyle/>
          <a:p>
            <a:pPr algn="ctr" defTabSz="582930"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管理线索</a:t>
            </a:r>
            <a:endParaRPr lang="zh-HK" alt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Flowchart: Process 109"/>
          <p:cNvSpPr>
            <a:spLocks noChangeArrowheads="1"/>
          </p:cNvSpPr>
          <p:nvPr/>
        </p:nvSpPr>
        <p:spPr bwMode="auto">
          <a:xfrm>
            <a:off x="571895" y="2212924"/>
            <a:ext cx="2604275" cy="510592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>
              <a:defRPr/>
            </a:pPr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从各种渠道收集信息并进行分析形成初始线索。</a:t>
            </a:r>
            <a:endParaRPr lang="zh-CN" altLang="en-US" sz="1100" spc="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0" name="Flowchart: Process 113"/>
          <p:cNvSpPr>
            <a:spLocks noChangeArrowheads="1"/>
          </p:cNvSpPr>
          <p:nvPr/>
        </p:nvSpPr>
        <p:spPr bwMode="auto">
          <a:xfrm>
            <a:off x="3280185" y="2100569"/>
            <a:ext cx="2450653" cy="701061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根据验证标准对初始线索进行筛选，对通过验证的线索建议线索级别及提名线索</a:t>
            </a:r>
            <a:r>
              <a:rPr lang="en-US" altLang="zh-CN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Owner</a:t>
            </a:r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100" spc="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1" name="Flowchart: Process 115"/>
          <p:cNvSpPr>
            <a:spLocks noChangeArrowheads="1"/>
          </p:cNvSpPr>
          <p:nvPr/>
        </p:nvSpPr>
        <p:spPr bwMode="auto">
          <a:xfrm>
            <a:off x="6067224" y="2004239"/>
            <a:ext cx="2497144" cy="796295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>
              <a:buClr>
                <a:srgbClr val="0070C0"/>
              </a:buClr>
            </a:pPr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线索通过</a:t>
            </a:r>
            <a:r>
              <a:rPr lang="en-US" altLang="zh-CN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LMT</a:t>
            </a:r>
            <a:r>
              <a:rPr lang="en-US" altLang="zh-CN" sz="1100" spc="5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评审后组建线索培育团队（地区部级以上线索需通过</a:t>
            </a:r>
            <a:r>
              <a:rPr lang="en-US" altLang="zh-CN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LDP</a:t>
            </a:r>
            <a:r>
              <a:rPr lang="en-US" altLang="zh-CN" sz="1100" spc="5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zh-CN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运用解决方案销售方法对线索进行培育，培育成熟后移交给机会点管理团队</a:t>
            </a:r>
            <a:r>
              <a:rPr lang="zh-CN" altLang="en-US" sz="11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100" spc="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6" name="AutoShape 12"/>
          <p:cNvSpPr>
            <a:spLocks noChangeArrowheads="1"/>
          </p:cNvSpPr>
          <p:nvPr/>
        </p:nvSpPr>
        <p:spPr bwMode="gray">
          <a:xfrm>
            <a:off x="3257995" y="1371598"/>
            <a:ext cx="2745691" cy="425094"/>
          </a:xfrm>
          <a:prstGeom prst="chevron">
            <a:avLst>
              <a:gd name="adj" fmla="val 22374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验证和分发线索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7" name="AutoShape 13"/>
          <p:cNvSpPr>
            <a:spLocks noChangeArrowheads="1"/>
          </p:cNvSpPr>
          <p:nvPr/>
        </p:nvSpPr>
        <p:spPr bwMode="gray">
          <a:xfrm>
            <a:off x="5927133" y="1371598"/>
            <a:ext cx="2753075" cy="425094"/>
          </a:xfrm>
          <a:prstGeom prst="chevron">
            <a:avLst>
              <a:gd name="adj" fmla="val 21925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跟踪和培育线索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8" name="AutoShape 10"/>
          <p:cNvSpPr>
            <a:spLocks noChangeArrowheads="1"/>
          </p:cNvSpPr>
          <p:nvPr/>
        </p:nvSpPr>
        <p:spPr bwMode="gray">
          <a:xfrm>
            <a:off x="581420" y="1371598"/>
            <a:ext cx="2751599" cy="425094"/>
          </a:xfrm>
          <a:prstGeom prst="chevron">
            <a:avLst>
              <a:gd name="adj" fmla="val 2260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收集和生成线索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4899352" y="3745661"/>
            <a:ext cx="4246685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55575" lvl="1" indent="-155575">
              <a:spcBef>
                <a:spcPts val="765"/>
              </a:spcBef>
              <a:buClr>
                <a:srgbClr val="990000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altLang="zh-CN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837965" y="4084460"/>
            <a:ext cx="4246685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 altLang="en-US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1227" y="3287006"/>
            <a:ext cx="8054526" cy="1681685"/>
            <a:chOff x="423863" y="3278539"/>
            <a:chExt cx="8054526" cy="1681685"/>
          </a:xfrm>
        </p:grpSpPr>
        <p:sp>
          <p:nvSpPr>
            <p:cNvPr id="36" name="圆角矩形 35"/>
            <p:cNvSpPr/>
            <p:nvPr/>
          </p:nvSpPr>
          <p:spPr bwMode="auto">
            <a:xfrm>
              <a:off x="4505512" y="3278539"/>
              <a:ext cx="3972877" cy="1678438"/>
            </a:xfrm>
            <a:prstGeom prst="roundRect">
              <a:avLst>
                <a:gd name="adj" fmla="val 8155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圆角矩形 1"/>
            <p:cNvSpPr/>
            <p:nvPr/>
          </p:nvSpPr>
          <p:spPr bwMode="auto">
            <a:xfrm>
              <a:off x="423863" y="3281786"/>
              <a:ext cx="3972877" cy="1678438"/>
            </a:xfrm>
            <a:prstGeom prst="roundRect">
              <a:avLst>
                <a:gd name="adj" fmla="val 8155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505512" y="3281786"/>
              <a:ext cx="3972877" cy="36665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423863" y="3281786"/>
              <a:ext cx="3972877" cy="36665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5"/>
            <p:cNvSpPr txBox="1"/>
            <p:nvPr/>
          </p:nvSpPr>
          <p:spPr bwMode="auto">
            <a:xfrm>
              <a:off x="1968261" y="3318042"/>
              <a:ext cx="884080" cy="29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77939" tIns="38970" rIns="77939" bIns="38970" anchor="b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变革要点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615850" y="4036212"/>
              <a:ext cx="196501" cy="17146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812351" y="4156211"/>
              <a:ext cx="3924300" cy="263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939" tIns="38970" rIns="77939" bIns="3897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en-US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15850" y="3745535"/>
              <a:ext cx="196501" cy="17850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812351" y="3725771"/>
              <a:ext cx="3584389" cy="112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lvl="1">
                <a:spcBef>
                  <a:spcPts val="765"/>
                </a:spcBef>
                <a:buClr>
                  <a:srgbClr val="990000"/>
                </a:buClr>
                <a:buSzPct val="130000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线索分级、项目化管理运作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0" lvl="1">
                <a:spcBef>
                  <a:spcPts val="765"/>
                </a:spcBef>
                <a:buClr>
                  <a:srgbClr val="990000"/>
                </a:buClr>
                <a:buSzPct val="130000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线索管理运营平台建设（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 LMT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组织和线索管理员）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0" lvl="1">
                <a:spcBef>
                  <a:spcPts val="765"/>
                </a:spcBef>
                <a:buClr>
                  <a:srgbClr val="990000"/>
                </a:buClr>
                <a:buSzPct val="130000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适配、丰富业务场景，规范各场景业务操作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0" lvl="1">
                <a:spcBef>
                  <a:spcPts val="765"/>
                </a:spcBef>
                <a:buClr>
                  <a:srgbClr val="990000"/>
                </a:buClr>
                <a:buSzPct val="130000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提供线索验证、培育等方法论和模板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Box 103"/>
            <p:cNvSpPr txBox="1"/>
            <p:nvPr/>
          </p:nvSpPr>
          <p:spPr bwMode="auto">
            <a:xfrm>
              <a:off x="6173058" y="3354298"/>
              <a:ext cx="637784" cy="29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77939" tIns="38970" rIns="77939" bIns="38970" anchor="b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价值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4595318" y="3725771"/>
              <a:ext cx="3408817" cy="1125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171450" lvl="1" indent="-252095">
                <a:spcBef>
                  <a:spcPts val="765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优化资源分配和管理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171450" lvl="1" indent="-252095">
                <a:spcBef>
                  <a:spcPts val="765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优化线索管理的组织支撑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171450" lvl="1" indent="-252095">
                <a:spcBef>
                  <a:spcPts val="765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支撑一线操作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  <a:p>
              <a:pPr marL="171450" lvl="1" indent="-252095">
                <a:spcBef>
                  <a:spcPts val="765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华文细黑" panose="02010600040101010101" pitchFamily="2" charset="-122"/>
                </a:rPr>
                <a:t>规范线索管理，提升线索质量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615850" y="4322299"/>
              <a:ext cx="196501" cy="17146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615850" y="4605698"/>
              <a:ext cx="196501" cy="17146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0" name="Title 1"/>
          <p:cNvSpPr txBox="1"/>
          <p:nvPr/>
        </p:nvSpPr>
        <p:spPr bwMode="gray">
          <a:xfrm>
            <a:off x="381918" y="186110"/>
            <a:ext cx="753940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en-US" altLang="zh-CN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06368" y="2962790"/>
            <a:ext cx="2688029" cy="386478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zh-CN" altLang="en-US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</a:t>
            </a:r>
            <a:r>
              <a:rPr lang="en-US" altLang="zh-CN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1: LMT = Lead Management Team, </a:t>
            </a:r>
            <a:r>
              <a:rPr lang="zh-CN" altLang="en-US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线索管理团队</a:t>
            </a:r>
            <a:endParaRPr lang="en-US" altLang="zh-CN" sz="1200" baseline="30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</a:t>
            </a:r>
            <a:r>
              <a:rPr lang="en-US" altLang="zh-CN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2: LDP = Lead Decision Point, </a:t>
            </a:r>
            <a:r>
              <a:rPr lang="zh-CN" altLang="en-US" sz="12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线索决策点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6/21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46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7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605496" y="694114"/>
            <a:ext cx="2900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主流程：管理线索流程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（ML）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31"/>
          <p:cNvSpPr>
            <a:spLocks noChangeArrowheads="1"/>
          </p:cNvSpPr>
          <p:nvPr/>
        </p:nvSpPr>
        <p:spPr bwMode="auto">
          <a:xfrm>
            <a:off x="12727" y="4787142"/>
            <a:ext cx="7728497" cy="2172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>
            <a:spAutoFit/>
          </a:bodyPr>
          <a:lstStyle/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注</a:t>
            </a:r>
            <a:r>
              <a:rPr lang="en-US" altLang="zh-CN" sz="9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VO = Verifiable Outcome，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可验证的成果，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L4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流程的关键输出，以证明某一阶段销售活动的完成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Title 1"/>
          <p:cNvSpPr txBox="1"/>
          <p:nvPr/>
        </p:nvSpPr>
        <p:spPr bwMode="gray">
          <a:xfrm>
            <a:off x="383115" y="185902"/>
            <a:ext cx="753940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en-US" altLang="zh-CN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4680255" y="2725888"/>
            <a:ext cx="4098464" cy="2001984"/>
            <a:chOff x="442256" y="2946030"/>
            <a:chExt cx="4199324" cy="2001984"/>
          </a:xfrm>
        </p:grpSpPr>
        <p:sp>
          <p:nvSpPr>
            <p:cNvPr id="111" name="圆角矩形 110"/>
            <p:cNvSpPr/>
            <p:nvPr/>
          </p:nvSpPr>
          <p:spPr bwMode="auto">
            <a:xfrm>
              <a:off x="449606" y="2946030"/>
              <a:ext cx="4191974" cy="2001984"/>
            </a:xfrm>
            <a:prstGeom prst="roundRect">
              <a:avLst>
                <a:gd name="adj" fmla="val 6098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11"/>
            <p:cNvSpPr/>
            <p:nvPr/>
          </p:nvSpPr>
          <p:spPr bwMode="auto">
            <a:xfrm>
              <a:off x="442256" y="2946030"/>
              <a:ext cx="4190645" cy="373482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93805" y="2716185"/>
            <a:ext cx="4175289" cy="2011687"/>
            <a:chOff x="442434" y="2936327"/>
            <a:chExt cx="4190645" cy="2011687"/>
          </a:xfrm>
        </p:grpSpPr>
        <p:sp>
          <p:nvSpPr>
            <p:cNvPr id="108" name="圆角矩形 107"/>
            <p:cNvSpPr/>
            <p:nvPr/>
          </p:nvSpPr>
          <p:spPr bwMode="auto">
            <a:xfrm>
              <a:off x="449606" y="2936327"/>
              <a:ext cx="4183473" cy="2011687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442434" y="2946030"/>
              <a:ext cx="4190645" cy="373482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AutoShape 16"/>
          <p:cNvSpPr>
            <a:spLocks noChangeArrowheads="1"/>
          </p:cNvSpPr>
          <p:nvPr/>
        </p:nvSpPr>
        <p:spPr bwMode="auto">
          <a:xfrm>
            <a:off x="402272" y="1002372"/>
            <a:ext cx="8376547" cy="918102"/>
          </a:xfrm>
          <a:prstGeom prst="chevron">
            <a:avLst>
              <a:gd name="adj" fmla="val 11465"/>
            </a:avLst>
          </a:prstGeom>
          <a:solidFill>
            <a:srgbClr val="00ACE2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/>
          <a:lstStyle/>
          <a:p>
            <a:pPr algn="ctr" defTabSz="582930"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管理机会点</a:t>
            </a:r>
            <a:endParaRPr lang="zh-HK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1" name="AutoShape 12"/>
          <p:cNvSpPr>
            <a:spLocks noChangeArrowheads="1"/>
          </p:cNvSpPr>
          <p:nvPr/>
        </p:nvSpPr>
        <p:spPr bwMode="gray">
          <a:xfrm>
            <a:off x="2355800" y="1560460"/>
            <a:ext cx="2044212" cy="309212"/>
          </a:xfrm>
          <a:prstGeom prst="chevron">
            <a:avLst>
              <a:gd name="adj" fmla="val 15486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标前引导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6" name="AutoShape 13"/>
          <p:cNvSpPr>
            <a:spLocks noChangeArrowheads="1"/>
          </p:cNvSpPr>
          <p:nvPr/>
        </p:nvSpPr>
        <p:spPr bwMode="gray">
          <a:xfrm>
            <a:off x="4381083" y="1560460"/>
            <a:ext cx="2180492" cy="309212"/>
          </a:xfrm>
          <a:prstGeom prst="chevron">
            <a:avLst>
              <a:gd name="adj" fmla="val 1678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制定并提交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标书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7" name="AutoShape 10"/>
          <p:cNvSpPr>
            <a:spLocks noChangeArrowheads="1"/>
          </p:cNvSpPr>
          <p:nvPr/>
        </p:nvSpPr>
        <p:spPr bwMode="gray">
          <a:xfrm>
            <a:off x="518087" y="1560460"/>
            <a:ext cx="1856642" cy="309212"/>
          </a:xfrm>
          <a:prstGeom prst="chevron">
            <a:avLst>
              <a:gd name="adj" fmla="val 1571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验证机会点 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8" name="AutoShape 14"/>
          <p:cNvSpPr>
            <a:spLocks noChangeArrowheads="1"/>
          </p:cNvSpPr>
          <p:nvPr/>
        </p:nvSpPr>
        <p:spPr bwMode="gray">
          <a:xfrm>
            <a:off x="6542646" y="1560460"/>
            <a:ext cx="2101361" cy="309212"/>
          </a:xfrm>
          <a:prstGeom prst="chevron">
            <a:avLst>
              <a:gd name="adj" fmla="val 15684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谈判和生成合同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9" name="AutoShape 10"/>
          <p:cNvSpPr>
            <a:spLocks noChangeArrowheads="1"/>
          </p:cNvSpPr>
          <p:nvPr/>
        </p:nvSpPr>
        <p:spPr bwMode="gray">
          <a:xfrm>
            <a:off x="601976" y="1301590"/>
            <a:ext cx="8042031" cy="204866"/>
          </a:xfrm>
          <a:prstGeom prst="chevron">
            <a:avLst>
              <a:gd name="adj" fmla="val 15711"/>
            </a:avLst>
          </a:prstGeom>
          <a:solidFill>
            <a:schemeClr val="bg1">
              <a:lumMod val="85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管理决策链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70" name="Group 86"/>
          <p:cNvGrpSpPr/>
          <p:nvPr/>
        </p:nvGrpSpPr>
        <p:grpSpPr bwMode="auto">
          <a:xfrm>
            <a:off x="5286810" y="1321897"/>
            <a:ext cx="594946" cy="230832"/>
            <a:chOff x="3238488" y="2189749"/>
            <a:chExt cx="617538" cy="310219"/>
          </a:xfrm>
          <a:effectLst/>
        </p:grpSpPr>
        <p:sp>
          <p:nvSpPr>
            <p:cNvPr id="71" name="AutoShape 47"/>
            <p:cNvSpPr>
              <a:spLocks noChangeArrowheads="1"/>
            </p:cNvSpPr>
            <p:nvPr/>
          </p:nvSpPr>
          <p:spPr bwMode="auto">
            <a:xfrm>
              <a:off x="3295638" y="2222488"/>
              <a:ext cx="503238" cy="246063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endParaRPr lang="zh-CN" altLang="en-US" sz="1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2" name="Rectangle 76"/>
            <p:cNvSpPr>
              <a:spLocks noChangeArrowheads="1"/>
            </p:cNvSpPr>
            <p:nvPr/>
          </p:nvSpPr>
          <p:spPr bwMode="auto">
            <a:xfrm>
              <a:off x="3238488" y="2189749"/>
              <a:ext cx="617538" cy="31021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ATB</a:t>
              </a:r>
              <a:endPara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3" name="Group 87"/>
          <p:cNvGrpSpPr/>
          <p:nvPr/>
        </p:nvGrpSpPr>
        <p:grpSpPr bwMode="auto">
          <a:xfrm>
            <a:off x="6914853" y="1320691"/>
            <a:ext cx="596412" cy="230832"/>
            <a:chOff x="4332285" y="2197349"/>
            <a:chExt cx="574675" cy="295080"/>
          </a:xfrm>
          <a:effectLst/>
        </p:grpSpPr>
        <p:sp>
          <p:nvSpPr>
            <p:cNvPr id="74" name="AutoShape 80"/>
            <p:cNvSpPr>
              <a:spLocks noChangeArrowheads="1"/>
            </p:cNvSpPr>
            <p:nvPr/>
          </p:nvSpPr>
          <p:spPr bwMode="auto">
            <a:xfrm>
              <a:off x="4369590" y="2220901"/>
              <a:ext cx="500063" cy="249237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endParaRPr lang="zh-CN" altLang="en-US" sz="1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5" name="Rectangle 81"/>
            <p:cNvSpPr>
              <a:spLocks noChangeArrowheads="1"/>
            </p:cNvSpPr>
            <p:nvPr/>
          </p:nvSpPr>
          <p:spPr bwMode="auto">
            <a:xfrm>
              <a:off x="4332285" y="2197349"/>
              <a:ext cx="574675" cy="29508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</a:t>
              </a:r>
              <a:endPara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86"/>
          <p:cNvGrpSpPr/>
          <p:nvPr/>
        </p:nvGrpSpPr>
        <p:grpSpPr bwMode="auto">
          <a:xfrm>
            <a:off x="1472414" y="1331422"/>
            <a:ext cx="594946" cy="230832"/>
            <a:chOff x="3238488" y="2189749"/>
            <a:chExt cx="617538" cy="310219"/>
          </a:xfrm>
          <a:effectLst/>
        </p:grpSpPr>
        <p:sp>
          <p:nvSpPr>
            <p:cNvPr id="77" name="AutoShape 47"/>
            <p:cNvSpPr>
              <a:spLocks noChangeArrowheads="1"/>
            </p:cNvSpPr>
            <p:nvPr/>
          </p:nvSpPr>
          <p:spPr bwMode="auto">
            <a:xfrm>
              <a:off x="3295638" y="2222488"/>
              <a:ext cx="503238" cy="246063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endParaRPr lang="zh-CN" altLang="en-US" sz="1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3238488" y="2189749"/>
              <a:ext cx="617538" cy="31021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ATI</a:t>
              </a:r>
              <a:endPara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9" name="Flowchart: Process 113"/>
          <p:cNvSpPr>
            <a:spLocks noChangeArrowheads="1"/>
          </p:cNvSpPr>
          <p:nvPr/>
        </p:nvSpPr>
        <p:spPr bwMode="auto">
          <a:xfrm>
            <a:off x="2530423" y="1896653"/>
            <a:ext cx="1884485" cy="781050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0" name="Flowchart: Process 115"/>
          <p:cNvSpPr>
            <a:spLocks noChangeArrowheads="1"/>
          </p:cNvSpPr>
          <p:nvPr/>
        </p:nvSpPr>
        <p:spPr bwMode="auto">
          <a:xfrm>
            <a:off x="4577565" y="1896653"/>
            <a:ext cx="1883019" cy="781050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1" name="Flowchart: Process 117"/>
          <p:cNvSpPr>
            <a:spLocks noChangeArrowheads="1"/>
          </p:cNvSpPr>
          <p:nvPr/>
        </p:nvSpPr>
        <p:spPr bwMode="auto">
          <a:xfrm>
            <a:off x="6623241" y="1974379"/>
            <a:ext cx="1954823" cy="59531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5" name="Flowchart: Process 109"/>
          <p:cNvSpPr>
            <a:spLocks noChangeArrowheads="1"/>
          </p:cNvSpPr>
          <p:nvPr/>
        </p:nvSpPr>
        <p:spPr bwMode="auto">
          <a:xfrm>
            <a:off x="365181" y="2043399"/>
            <a:ext cx="2096965" cy="510592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eaLnBrk="0" hangingPunct="0">
              <a:defRPr/>
            </a:pPr>
            <a:endParaRPr lang="en-US" altLang="zh-CN" sz="1400" dirty="0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6" name="Flowchart: Process 115"/>
          <p:cNvSpPr>
            <a:spLocks noChangeArrowheads="1"/>
          </p:cNvSpPr>
          <p:nvPr/>
        </p:nvSpPr>
        <p:spPr bwMode="auto">
          <a:xfrm>
            <a:off x="4436088" y="2028814"/>
            <a:ext cx="1925582" cy="540878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8" name="TextBox 15"/>
          <p:cNvSpPr txBox="1"/>
          <p:nvPr/>
        </p:nvSpPr>
        <p:spPr bwMode="auto">
          <a:xfrm>
            <a:off x="2012508" y="2716185"/>
            <a:ext cx="968859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2" name="TextBox 103"/>
          <p:cNvSpPr txBox="1"/>
          <p:nvPr/>
        </p:nvSpPr>
        <p:spPr bwMode="auto">
          <a:xfrm>
            <a:off x="6407924" y="2734355"/>
            <a:ext cx="650303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4815049" y="4360794"/>
            <a:ext cx="3208361" cy="245413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后续交付、合同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/PO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处理效率提升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815049" y="3434622"/>
            <a:ext cx="164306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投标赢率得到提升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815049" y="4133575"/>
            <a:ext cx="348972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提升可交付性，保障交付质量，降低项目风险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815049" y="3189209"/>
            <a:ext cx="2104728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提高销售项目成功把握度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4815049" y="3658716"/>
            <a:ext cx="3208361" cy="245413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提升标书制作的效率和质量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4815049" y="3874740"/>
            <a:ext cx="3208361" cy="245413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确保合同的合规性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592925" y="1999344"/>
            <a:ext cx="1944000" cy="676800"/>
            <a:chOff x="4641136" y="2109415"/>
            <a:chExt cx="1944000" cy="676800"/>
          </a:xfrm>
        </p:grpSpPr>
        <p:sp>
          <p:nvSpPr>
            <p:cNvPr id="82" name="Rectangle 81"/>
            <p:cNvSpPr/>
            <p:nvPr/>
          </p:nvSpPr>
          <p:spPr bwMode="auto">
            <a:xfrm>
              <a:off x="4641136" y="2109415"/>
              <a:ext cx="1944000" cy="676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582930" fontAlgn="ctr">
                <a:defRPr/>
              </a:pP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735640" y="2216983"/>
              <a:ext cx="17549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582930" fontAlgn="ctr"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制定并提交标书，澄清方案并进入短名单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70096" y="1999344"/>
            <a:ext cx="1962150" cy="676800"/>
            <a:chOff x="6718752" y="2109415"/>
            <a:chExt cx="1962150" cy="676800"/>
          </a:xfrm>
        </p:grpSpPr>
        <p:sp>
          <p:nvSpPr>
            <p:cNvPr id="87" name="Rectangle 86"/>
            <p:cNvSpPr/>
            <p:nvPr/>
          </p:nvSpPr>
          <p:spPr bwMode="auto">
            <a:xfrm>
              <a:off x="6727827" y="2109415"/>
              <a:ext cx="1944000" cy="676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582930" fontAlgn="ctr">
                <a:defRPr/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718752" y="2216983"/>
              <a:ext cx="19621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582930" fontAlgn="ctr"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与客户谈判并签约，准备合同交接并关闭机会点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0950" y="1999344"/>
            <a:ext cx="1981633" cy="676800"/>
            <a:chOff x="449606" y="2109415"/>
            <a:chExt cx="1981633" cy="676800"/>
          </a:xfrm>
        </p:grpSpPr>
        <p:sp>
          <p:nvSpPr>
            <p:cNvPr id="84" name="Rectangle 83"/>
            <p:cNvSpPr/>
            <p:nvPr/>
          </p:nvSpPr>
          <p:spPr bwMode="auto">
            <a:xfrm>
              <a:off x="449606" y="2109415"/>
              <a:ext cx="1944000" cy="676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582930" eaLnBrk="0" hangingPunct="0">
                <a:defRPr/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93400" y="2216983"/>
              <a:ext cx="19378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582930" eaLnBrk="0" hangingPunct="0"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分析和评估机会点，完成立项和项目开工会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515754" y="1999344"/>
            <a:ext cx="1944000" cy="676800"/>
            <a:chOff x="2545371" y="2147964"/>
            <a:chExt cx="1944000" cy="676800"/>
          </a:xfrm>
        </p:grpSpPr>
        <p:sp>
          <p:nvSpPr>
            <p:cNvPr id="83" name="Rectangle 82"/>
            <p:cNvSpPr/>
            <p:nvPr/>
          </p:nvSpPr>
          <p:spPr bwMode="auto">
            <a:xfrm>
              <a:off x="2545371" y="2147964"/>
              <a:ext cx="1944000" cy="676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582930" fontAlgn="ctr">
                <a:defRPr/>
              </a:pP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575129" y="2163199"/>
              <a:ext cx="188448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582930" fontAlgn="ctr"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影响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KDM</a:t>
              </a:r>
              <a:r>
                <a:rPr lang="en-US" altLang="zh-CN" sz="1200" baseline="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的购买构想并取得认可，引导客户标书和评标标准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8" name="Oval 19"/>
          <p:cNvSpPr/>
          <p:nvPr/>
        </p:nvSpPr>
        <p:spPr bwMode="auto">
          <a:xfrm>
            <a:off x="521183" y="3480730"/>
            <a:ext cx="167778" cy="146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Oval 21"/>
          <p:cNvSpPr/>
          <p:nvPr/>
        </p:nvSpPr>
        <p:spPr bwMode="auto">
          <a:xfrm>
            <a:off x="521183" y="3142532"/>
            <a:ext cx="167778" cy="1524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Oval 36"/>
          <p:cNvSpPr/>
          <p:nvPr/>
        </p:nvSpPr>
        <p:spPr bwMode="auto">
          <a:xfrm>
            <a:off x="521183" y="3831970"/>
            <a:ext cx="167778" cy="146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Oval 37"/>
          <p:cNvSpPr/>
          <p:nvPr/>
        </p:nvSpPr>
        <p:spPr bwMode="auto">
          <a:xfrm>
            <a:off x="521183" y="4021285"/>
            <a:ext cx="167778" cy="146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Oval 37"/>
          <p:cNvSpPr/>
          <p:nvPr/>
        </p:nvSpPr>
        <p:spPr bwMode="auto">
          <a:xfrm>
            <a:off x="523876" y="4220125"/>
            <a:ext cx="167778" cy="146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Oval 37"/>
          <p:cNvSpPr/>
          <p:nvPr/>
        </p:nvSpPr>
        <p:spPr bwMode="auto">
          <a:xfrm>
            <a:off x="530708" y="4552316"/>
            <a:ext cx="167778" cy="146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8652" y="3098661"/>
            <a:ext cx="3834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chemeClr val="tx2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设置销售流程的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VO</a:t>
            </a:r>
            <a:r>
              <a:rPr lang="en-US" altLang="zh-CN" sz="105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(Verifiable Outcome)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及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KCP,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规范销售项目运作管理</a:t>
            </a:r>
            <a:endParaRPr lang="en-US" altLang="zh-CN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2129" y="3442998"/>
            <a:ext cx="37656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chemeClr val="tx2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结合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HSSM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，塑造或重塑客户构想，基于价值主张有效进行标前引导</a:t>
            </a:r>
            <a:endParaRPr lang="en-US" altLang="zh-CN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8651" y="3787335"/>
            <a:ext cx="38347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rgbClr val="990000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适应投标共享中心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(BSSC)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参与标书制作的“前店后厂”模式</a:t>
            </a:r>
            <a:endParaRPr lang="en-US" altLang="zh-CN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8651" y="3977783"/>
            <a:ext cx="28568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chemeClr val="tx2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契约化合同通过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CCFM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或在其管控下统一出口</a:t>
            </a:r>
            <a:endParaRPr lang="en-US" altLang="zh-CN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8314" y="4168231"/>
            <a:ext cx="39039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chemeClr val="tx2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拉通售前售后，如交付团队早期介入、合同交接以及概、预算拉通</a:t>
            </a:r>
            <a:endParaRPr lang="en-US" altLang="zh-CN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8314" y="4512570"/>
            <a:ext cx="21259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1200"/>
              </a:lnSpc>
              <a:spcBef>
                <a:spcPts val="0"/>
              </a:spcBef>
              <a:buClr>
                <a:schemeClr val="tx2"/>
              </a:buClr>
              <a:buSzPct val="130000"/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优化合同交接，协助客户生成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PO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9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7/21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102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3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89" name="矩形 88"/>
          <p:cNvSpPr/>
          <p:nvPr/>
        </p:nvSpPr>
        <p:spPr>
          <a:xfrm>
            <a:off x="605496" y="617911"/>
            <a:ext cx="2900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主流程：管理线索流程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（ML）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49607" y="3115925"/>
            <a:ext cx="4013335" cy="1791183"/>
            <a:chOff x="400951" y="2875161"/>
            <a:chExt cx="4176614" cy="2072853"/>
          </a:xfrm>
        </p:grpSpPr>
        <p:sp>
          <p:nvSpPr>
            <p:cNvPr id="98" name="圆角矩形 97"/>
            <p:cNvSpPr/>
            <p:nvPr/>
          </p:nvSpPr>
          <p:spPr bwMode="auto">
            <a:xfrm>
              <a:off x="400951" y="2875161"/>
              <a:ext cx="4176614" cy="2072853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98"/>
            <p:cNvSpPr/>
            <p:nvPr/>
          </p:nvSpPr>
          <p:spPr bwMode="auto">
            <a:xfrm>
              <a:off x="400952" y="2875162"/>
              <a:ext cx="4176609" cy="45281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4594511" y="3115924"/>
            <a:ext cx="4013335" cy="1791183"/>
            <a:chOff x="400951" y="2875161"/>
            <a:chExt cx="4176614" cy="2072853"/>
          </a:xfrm>
        </p:grpSpPr>
        <p:sp>
          <p:nvSpPr>
            <p:cNvPr id="101" name="圆角矩形 100"/>
            <p:cNvSpPr/>
            <p:nvPr/>
          </p:nvSpPr>
          <p:spPr bwMode="auto">
            <a:xfrm>
              <a:off x="400951" y="2875161"/>
              <a:ext cx="4176614" cy="2072853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01"/>
            <p:cNvSpPr/>
            <p:nvPr/>
          </p:nvSpPr>
          <p:spPr bwMode="auto">
            <a:xfrm>
              <a:off x="400952" y="2875162"/>
              <a:ext cx="4176609" cy="45281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Flowchart: Process 109"/>
          <p:cNvSpPr>
            <a:spLocks noChangeArrowheads="1"/>
          </p:cNvSpPr>
          <p:nvPr/>
        </p:nvSpPr>
        <p:spPr bwMode="auto">
          <a:xfrm>
            <a:off x="383931" y="2293145"/>
            <a:ext cx="2592266" cy="59531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81632" tIns="40815" rIns="81632" bIns="40815"/>
          <a:lstStyle/>
          <a:p>
            <a:pPr marL="0" lvl="1" defTabSz="436245">
              <a:spcBef>
                <a:spcPts val="1785"/>
              </a:spcBef>
              <a:buClr>
                <a:srgbClr val="990000"/>
              </a:buClr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62" name="Flowchart: Process 115"/>
          <p:cNvSpPr>
            <a:spLocks noChangeArrowheads="1"/>
          </p:cNvSpPr>
          <p:nvPr/>
        </p:nvSpPr>
        <p:spPr bwMode="auto">
          <a:xfrm>
            <a:off x="2976200" y="2293145"/>
            <a:ext cx="3522785" cy="59531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81632" tIns="40815" rIns="81632" bIns="40815"/>
          <a:lstStyle/>
          <a:p>
            <a:pPr marL="0" lvl="1" defTabSz="436245">
              <a:spcBef>
                <a:spcPts val="1785"/>
              </a:spcBef>
              <a:buClr>
                <a:srgbClr val="990000"/>
              </a:buClr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Flowchart: Process 117"/>
          <p:cNvSpPr>
            <a:spLocks noChangeArrowheads="1"/>
          </p:cNvSpPr>
          <p:nvPr/>
        </p:nvSpPr>
        <p:spPr bwMode="auto">
          <a:xfrm>
            <a:off x="6737842" y="2293145"/>
            <a:ext cx="1954823" cy="59531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81632" tIns="40815" rIns="81632" bIns="40815"/>
          <a:lstStyle/>
          <a:p>
            <a:pPr defTabSz="61087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itle 1"/>
          <p:cNvSpPr txBox="1"/>
          <p:nvPr/>
        </p:nvSpPr>
        <p:spPr bwMode="gray">
          <a:xfrm>
            <a:off x="379535" y="188578"/>
            <a:ext cx="363049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0815" tIns="40815" rIns="40815" bIns="40815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en-US" altLang="zh-CN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6" name="Flowchart: Process 109"/>
          <p:cNvSpPr>
            <a:spLocks noChangeArrowheads="1"/>
          </p:cNvSpPr>
          <p:nvPr/>
        </p:nvSpPr>
        <p:spPr bwMode="auto">
          <a:xfrm>
            <a:off x="413837" y="2125754"/>
            <a:ext cx="2096965" cy="510592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81632" tIns="40815" rIns="81632" bIns="40815"/>
          <a:lstStyle/>
          <a:p>
            <a:pPr defTabSz="610870" eaLnBrk="0" hangingPunct="0">
              <a:defRPr/>
            </a:pPr>
            <a:endParaRPr lang="en-US" altLang="zh-CN" sz="1300" dirty="0">
              <a:solidFill>
                <a:srgbClr val="777777">
                  <a:lumMod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15"/>
          <p:cNvSpPr txBox="1"/>
          <p:nvPr/>
        </p:nvSpPr>
        <p:spPr bwMode="auto">
          <a:xfrm>
            <a:off x="2014893" y="3173005"/>
            <a:ext cx="882763" cy="2978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1632" tIns="40815" rIns="81632" bIns="40815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812352" y="3750005"/>
            <a:ext cx="3924301" cy="282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32" tIns="40815" rIns="81632" bIns="4081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 altLang="en-US" sz="13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103"/>
          <p:cNvSpPr txBox="1"/>
          <p:nvPr/>
        </p:nvSpPr>
        <p:spPr bwMode="auto">
          <a:xfrm>
            <a:off x="6338538" y="3183104"/>
            <a:ext cx="525281" cy="2978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1632" tIns="40815" rIns="81632" bIns="40815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4788210" y="3589783"/>
            <a:ext cx="3718227" cy="1198117"/>
          </a:xfrm>
          <a:prstGeom prst="rect">
            <a:avLst/>
          </a:prstGeom>
          <a:noFill/>
          <a:ln>
            <a:noFill/>
          </a:ln>
        </p:spPr>
        <p:txBody>
          <a:bodyPr wrap="square" lIns="81632" tIns="40815" rIns="81632" bIns="4081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52095" lvl="1" indent="-252095">
              <a:spcBef>
                <a:spcPts val="53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处理效率和质量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lvl="1" indent="-252095">
              <a:spcBef>
                <a:spcPts val="53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降低变更风险和损失，提升变更效率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lvl="1" indent="-252095">
              <a:spcBef>
                <a:spcPts val="53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保障公司现金流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lvl="1" indent="-252095">
              <a:spcBef>
                <a:spcPts val="53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拧紧水龙头控风险，清理烂尾楼促经营，合同度量传承和分享经验教训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8/21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AutoShape 21"/>
          <p:cNvSpPr>
            <a:spLocks noChangeArrowheads="1"/>
          </p:cNvSpPr>
          <p:nvPr/>
        </p:nvSpPr>
        <p:spPr bwMode="gray">
          <a:xfrm>
            <a:off x="7715253" y="841955"/>
            <a:ext cx="929053" cy="166688"/>
          </a:xfrm>
          <a:prstGeom prst="chevron">
            <a:avLst>
              <a:gd name="adj" fmla="val 1808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lgDash"/>
            <a:miter lim="800000"/>
          </a:ln>
        </p:spPr>
        <p:txBody>
          <a:bodyPr lIns="7793" tIns="38970" rIns="7793" bIns="38970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调用流程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368502" y="1084554"/>
            <a:ext cx="8378138" cy="1181219"/>
            <a:chOff x="5153759" y="2032399"/>
            <a:chExt cx="3836375" cy="1758553"/>
          </a:xfrm>
        </p:grpSpPr>
        <p:sp>
          <p:nvSpPr>
            <p:cNvPr id="62" name="AutoShape 16"/>
            <p:cNvSpPr>
              <a:spLocks noChangeArrowheads="1"/>
            </p:cNvSpPr>
            <p:nvPr/>
          </p:nvSpPr>
          <p:spPr bwMode="auto">
            <a:xfrm>
              <a:off x="5153759" y="2032399"/>
              <a:ext cx="3836375" cy="1758553"/>
            </a:xfrm>
            <a:prstGeom prst="chevron">
              <a:avLst>
                <a:gd name="adj" fmla="val 12108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7939" tIns="38970" rIns="77939" bIns="38970"/>
            <a:lstStyle/>
            <a:p>
              <a:pPr algn="ctr" defTabSz="582930"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管理合同执行</a:t>
              </a:r>
              <a:endPara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2" name="AutoShape 20"/>
            <p:cNvSpPr>
              <a:spLocks noChangeArrowheads="1"/>
            </p:cNvSpPr>
            <p:nvPr/>
          </p:nvSpPr>
          <p:spPr bwMode="gray">
            <a:xfrm>
              <a:off x="5242415" y="2330055"/>
              <a:ext cx="955431" cy="1391840"/>
            </a:xfrm>
            <a:prstGeom prst="chevron">
              <a:avLst>
                <a:gd name="adj" fmla="val 22037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38970" rIns="0" bIns="15588" anchor="ctr"/>
            <a:lstStyle/>
            <a:p>
              <a:pPr algn="ctr" eaLnBrk="0" hangingPunct="0">
                <a:buSzPct val="100000"/>
                <a:buFont typeface="Wingdings" panose="05000000000000000000" pitchFamily="2" charset="2"/>
                <a:buNone/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管理合同 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/PO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接收和确认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73" name="AutoShape 33"/>
            <p:cNvCxnSpPr>
              <a:cxnSpLocks noChangeShapeType="1"/>
              <a:stCxn id="72" idx="3"/>
              <a:endCxn id="78" idx="1"/>
            </p:cNvCxnSpPr>
            <p:nvPr/>
          </p:nvCxnSpPr>
          <p:spPr bwMode="auto">
            <a:xfrm flipV="1">
              <a:off x="6197846" y="2843213"/>
              <a:ext cx="196064" cy="182762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sp>
          <p:nvSpPr>
            <p:cNvPr id="74" name="AutoShape 25"/>
            <p:cNvSpPr>
              <a:spLocks noChangeArrowheads="1"/>
            </p:cNvSpPr>
            <p:nvPr/>
          </p:nvSpPr>
          <p:spPr bwMode="gray">
            <a:xfrm>
              <a:off x="8109441" y="2364582"/>
              <a:ext cx="835269" cy="1357313"/>
            </a:xfrm>
            <a:prstGeom prst="chevron">
              <a:avLst>
                <a:gd name="adj" fmla="val 24769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0" tIns="7793" rIns="0" bIns="7793" anchor="ctr"/>
            <a:lstStyle/>
            <a:p>
              <a:pPr algn="ctr" eaLnBrk="0" hangingPunct="0">
                <a:buSzPct val="100000"/>
                <a:buFont typeface="Wingdings" panose="05000000000000000000" pitchFamily="2" charset="2"/>
                <a:buNone/>
              </a:pPr>
              <a:r>
                <a:rPr lang="zh-CN" altLang="en-GB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关闭和评价合同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75" name="AutoShape 34"/>
            <p:cNvCxnSpPr>
              <a:cxnSpLocks noChangeShapeType="1"/>
              <a:stCxn id="77" idx="3"/>
              <a:endCxn id="74" idx="1"/>
            </p:cNvCxnSpPr>
            <p:nvPr/>
          </p:nvCxnSpPr>
          <p:spPr bwMode="auto">
            <a:xfrm>
              <a:off x="7921871" y="2478884"/>
              <a:ext cx="394458" cy="564355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grpSp>
          <p:nvGrpSpPr>
            <p:cNvPr id="76" name="Group 138"/>
            <p:cNvGrpSpPr/>
            <p:nvPr/>
          </p:nvGrpSpPr>
          <p:grpSpPr bwMode="auto">
            <a:xfrm>
              <a:off x="8524853" y="2204881"/>
              <a:ext cx="295120" cy="343653"/>
              <a:chOff x="9284918" y="1408230"/>
              <a:chExt cx="317060" cy="394095"/>
            </a:xfrm>
            <a:effectLst/>
          </p:grpSpPr>
          <p:sp>
            <p:nvSpPr>
              <p:cNvPr id="96" name="AutoShape 80"/>
              <p:cNvSpPr>
                <a:spLocks noChangeArrowheads="1"/>
              </p:cNvSpPr>
              <p:nvPr/>
            </p:nvSpPr>
            <p:spPr bwMode="auto">
              <a:xfrm>
                <a:off x="9311552" y="1454420"/>
                <a:ext cx="282928" cy="301712"/>
              </a:xfrm>
              <a:prstGeom prst="diamond">
                <a:avLst/>
              </a:prstGeom>
              <a:solidFill>
                <a:srgbClr val="F7B021"/>
              </a:solidFill>
              <a:ln w="9525" algn="ctr">
                <a:noFill/>
                <a:miter lim="800000"/>
              </a:ln>
            </p:spPr>
            <p:txBody>
              <a:bodyPr lIns="0" tIns="0" rIns="0" bIns="0"/>
              <a:lstStyle/>
              <a:p>
                <a:pPr>
                  <a:lnSpc>
                    <a:spcPct val="80000"/>
                  </a:lnSpc>
                </a:pP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81"/>
              <p:cNvSpPr>
                <a:spLocks noChangeArrowheads="1"/>
              </p:cNvSpPr>
              <p:nvPr/>
            </p:nvSpPr>
            <p:spPr bwMode="auto">
              <a:xfrm>
                <a:off x="9284918" y="1408230"/>
                <a:ext cx="317060" cy="39409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zh-CN" sz="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ATCC</a:t>
                </a:r>
                <a:endParaRPr lang="en-US" altLang="zh-CN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7" name="AutoShape 21"/>
            <p:cNvSpPr>
              <a:spLocks noChangeArrowheads="1"/>
            </p:cNvSpPr>
            <p:nvPr/>
          </p:nvSpPr>
          <p:spPr bwMode="gray">
            <a:xfrm>
              <a:off x="6337791" y="2330056"/>
              <a:ext cx="1584080" cy="297656"/>
            </a:xfrm>
            <a:prstGeom prst="chevron">
              <a:avLst>
                <a:gd name="adj" fmla="val 18146"/>
              </a:avLst>
            </a:prstGeom>
            <a:solidFill>
              <a:schemeClr val="bg1">
                <a:lumMod val="75000"/>
              </a:schemeClr>
            </a:solidFill>
            <a:ln w="19050" algn="ctr">
              <a:noFill/>
              <a:prstDash val="dash"/>
              <a:miter lim="800000"/>
            </a:ln>
            <a:effectLst/>
          </p:spPr>
          <p:txBody>
            <a:bodyPr lIns="7793" tIns="38970" rIns="7793" bIns="38970" anchor="ctr"/>
            <a:lstStyle/>
            <a:p>
              <a:pPr algn="ctr" eaLnBrk="0" hangingPunct="0">
                <a:buSzPct val="100000"/>
                <a:defRPr/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管理交付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验收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)</a:t>
              </a:r>
              <a:endPara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8" name="AutoShape 22"/>
            <p:cNvSpPr>
              <a:spLocks noChangeArrowheads="1"/>
            </p:cNvSpPr>
            <p:nvPr/>
          </p:nvSpPr>
          <p:spPr bwMode="gray">
            <a:xfrm>
              <a:off x="6337791" y="2693194"/>
              <a:ext cx="1584080" cy="300038"/>
            </a:xfrm>
            <a:prstGeom prst="chevron">
              <a:avLst>
                <a:gd name="adj" fmla="val 18704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7793" tIns="38970" rIns="7793" bIns="15588" anchor="ctr"/>
            <a:lstStyle/>
            <a:p>
              <a:pPr algn="ctr" eaLnBrk="0" hangingPunct="0">
                <a:buSzPct val="100000"/>
                <a:buFont typeface="Wingdings" panose="05000000000000000000" pitchFamily="2" charset="2"/>
                <a:buNone/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管理开票和回款</a:t>
              </a:r>
              <a:endPara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9" name="AutoShape 23"/>
            <p:cNvSpPr>
              <a:spLocks noChangeArrowheads="1"/>
            </p:cNvSpPr>
            <p:nvPr/>
          </p:nvSpPr>
          <p:spPr bwMode="gray">
            <a:xfrm>
              <a:off x="6337791" y="3423048"/>
              <a:ext cx="1584080" cy="298847"/>
            </a:xfrm>
            <a:prstGeom prst="chevron">
              <a:avLst>
                <a:gd name="adj" fmla="val 19002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7793" tIns="38970" rIns="7793" bIns="15588" anchor="ctr"/>
            <a:lstStyle/>
            <a:p>
              <a:pPr algn="ctr" eaLnBrk="0" hangingPunct="0">
                <a:buSzPct val="100000"/>
              </a:pPr>
              <a:r>
                <a: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管理风险和争议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0" name="AutoShape 21"/>
            <p:cNvSpPr>
              <a:spLocks noChangeArrowheads="1"/>
            </p:cNvSpPr>
            <p:nvPr/>
          </p:nvSpPr>
          <p:spPr bwMode="gray">
            <a:xfrm>
              <a:off x="6337791" y="3058716"/>
              <a:ext cx="1584080" cy="298847"/>
            </a:xfrm>
            <a:prstGeom prst="chevron">
              <a:avLst>
                <a:gd name="adj" fmla="val 18084"/>
              </a:avLst>
            </a:prstGeom>
            <a:solidFill>
              <a:schemeClr val="bg1"/>
            </a:solidFill>
            <a:ln w="12700" algn="ctr">
              <a:noFill/>
              <a:miter lim="800000"/>
            </a:ln>
            <a:effectLst/>
          </p:spPr>
          <p:txBody>
            <a:bodyPr lIns="7793" tIns="38970" rIns="7793" bIns="15588" anchor="ctr"/>
            <a:lstStyle/>
            <a:p>
              <a:pPr algn="ctr" eaLnBrk="0" hangingPunct="0">
                <a:buSzPct val="100000"/>
                <a:buFont typeface="Wingdings" panose="05000000000000000000" pitchFamily="2" charset="2"/>
                <a:buNone/>
              </a:pPr>
              <a:r>
                <a:rPr lang="en-GB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管理合同 </a:t>
              </a:r>
              <a:r>
                <a:rPr lang="en-GB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 PO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</a:t>
              </a:r>
              <a:endPara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81" name="AutoShape 33"/>
            <p:cNvCxnSpPr>
              <a:cxnSpLocks noChangeShapeType="1"/>
              <a:stCxn id="72" idx="3"/>
              <a:endCxn id="80" idx="1"/>
            </p:cNvCxnSpPr>
            <p:nvPr/>
          </p:nvCxnSpPr>
          <p:spPr bwMode="auto">
            <a:xfrm>
              <a:off x="6197846" y="3025975"/>
              <a:ext cx="193988" cy="182165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cxnSp>
          <p:nvCxnSpPr>
            <p:cNvPr id="82" name="AutoShape 33"/>
            <p:cNvCxnSpPr>
              <a:cxnSpLocks noChangeShapeType="1"/>
              <a:stCxn id="72" idx="3"/>
              <a:endCxn id="79" idx="1"/>
            </p:cNvCxnSpPr>
            <p:nvPr/>
          </p:nvCxnSpPr>
          <p:spPr bwMode="auto">
            <a:xfrm>
              <a:off x="6197846" y="3025975"/>
              <a:ext cx="196732" cy="546497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cxnSp>
          <p:nvCxnSpPr>
            <p:cNvPr id="83" name="AutoShape 34"/>
            <p:cNvCxnSpPr>
              <a:cxnSpLocks noChangeShapeType="1"/>
              <a:stCxn id="78" idx="3"/>
              <a:endCxn id="74" idx="1"/>
            </p:cNvCxnSpPr>
            <p:nvPr/>
          </p:nvCxnSpPr>
          <p:spPr bwMode="auto">
            <a:xfrm>
              <a:off x="7921871" y="2843213"/>
              <a:ext cx="394458" cy="200026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cxnSp>
          <p:nvCxnSpPr>
            <p:cNvPr id="84" name="AutoShape 34"/>
            <p:cNvCxnSpPr>
              <a:cxnSpLocks noChangeShapeType="1"/>
              <a:stCxn id="80" idx="3"/>
              <a:endCxn id="74" idx="1"/>
            </p:cNvCxnSpPr>
            <p:nvPr/>
          </p:nvCxnSpPr>
          <p:spPr bwMode="auto">
            <a:xfrm flipV="1">
              <a:off x="7921871" y="3043239"/>
              <a:ext cx="394458" cy="164901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cxnSp>
          <p:nvCxnSpPr>
            <p:cNvPr id="85" name="AutoShape 34"/>
            <p:cNvCxnSpPr>
              <a:cxnSpLocks noChangeShapeType="1"/>
              <a:stCxn id="79" idx="3"/>
              <a:endCxn id="74" idx="1"/>
            </p:cNvCxnSpPr>
            <p:nvPr/>
          </p:nvCxnSpPr>
          <p:spPr bwMode="auto">
            <a:xfrm flipV="1">
              <a:off x="7921871" y="3043239"/>
              <a:ext cx="394458" cy="529233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cxnSp>
          <p:nvCxnSpPr>
            <p:cNvPr id="86" name="AutoShape 33"/>
            <p:cNvCxnSpPr>
              <a:cxnSpLocks noChangeShapeType="1"/>
              <a:stCxn id="72" idx="3"/>
              <a:endCxn id="77" idx="1"/>
            </p:cNvCxnSpPr>
            <p:nvPr/>
          </p:nvCxnSpPr>
          <p:spPr bwMode="auto">
            <a:xfrm flipV="1">
              <a:off x="6197846" y="2478884"/>
              <a:ext cx="193958" cy="547091"/>
            </a:xfrm>
            <a:prstGeom prst="bentConnector3">
              <a:avLst>
                <a:gd name="adj1" fmla="val 50000"/>
              </a:avLst>
            </a:prstGeom>
            <a:noFill/>
            <a:ln w="28575">
              <a:noFill/>
              <a:miter lim="800000"/>
              <a:tailEnd type="triangle" w="med" len="med"/>
            </a:ln>
            <a:effectLst/>
          </p:spPr>
        </p:cxnSp>
        <p:sp>
          <p:nvSpPr>
            <p:cNvPr id="87" name="AutoShape 85"/>
            <p:cNvSpPr>
              <a:spLocks noChangeArrowheads="1"/>
            </p:cNvSpPr>
            <p:nvPr/>
          </p:nvSpPr>
          <p:spPr bwMode="auto">
            <a:xfrm>
              <a:off x="7356232" y="3257553"/>
              <a:ext cx="267512" cy="227410"/>
            </a:xfrm>
            <a:prstGeom prst="diamond">
              <a:avLst/>
            </a:prstGeom>
            <a:solidFill>
              <a:srgbClr val="FBD893"/>
            </a:solidFill>
            <a:ln w="9525" algn="ctr">
              <a:solidFill>
                <a:schemeClr val="tx1">
                  <a:lumMod val="75000"/>
                  <a:lumOff val="25000"/>
                </a:schemeClr>
              </a:solidFill>
              <a:prstDash val="lgDash"/>
              <a:miter lim="800000"/>
            </a:ln>
            <a:effectLst/>
          </p:spPr>
          <p:txBody>
            <a:bodyPr wrap="none" lIns="0" tIns="0" rIns="0" bIns="0" anchor="ctr" anchorCtr="1"/>
            <a:lstStyle/>
            <a:p>
              <a:pPr algn="ctr" defTabSz="582930"/>
              <a:r>
                <a:rPr lang="en-US" altLang="zh-CN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ATAC</a:t>
              </a:r>
              <a:endParaRPr lang="en-US" altLang="zh-HK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88" name="肘形连接符 87"/>
            <p:cNvCxnSpPr>
              <a:stCxn id="72" idx="3"/>
              <a:endCxn id="77" idx="1"/>
            </p:cNvCxnSpPr>
            <p:nvPr/>
          </p:nvCxnSpPr>
          <p:spPr bwMode="auto">
            <a:xfrm flipV="1">
              <a:off x="6197846" y="2478884"/>
              <a:ext cx="193958" cy="547091"/>
            </a:xfrm>
            <a:prstGeom prst="bentConnector3">
              <a:avLst>
                <a:gd name="adj1" fmla="val 30357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肘形连接符 88"/>
            <p:cNvCxnSpPr>
              <a:stCxn id="72" idx="3"/>
              <a:endCxn id="78" idx="1"/>
            </p:cNvCxnSpPr>
            <p:nvPr/>
          </p:nvCxnSpPr>
          <p:spPr bwMode="auto">
            <a:xfrm flipV="1">
              <a:off x="6197846" y="2843213"/>
              <a:ext cx="196064" cy="182762"/>
            </a:xfrm>
            <a:prstGeom prst="bentConnector3">
              <a:avLst>
                <a:gd name="adj1" fmla="val 30568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肘形连接符 89"/>
            <p:cNvCxnSpPr>
              <a:stCxn id="72" idx="3"/>
              <a:endCxn id="80" idx="1"/>
            </p:cNvCxnSpPr>
            <p:nvPr/>
          </p:nvCxnSpPr>
          <p:spPr bwMode="auto">
            <a:xfrm>
              <a:off x="6197846" y="3025975"/>
              <a:ext cx="193988" cy="182165"/>
            </a:xfrm>
            <a:prstGeom prst="bentConnector3">
              <a:avLst>
                <a:gd name="adj1" fmla="val 30360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肘形连接符 90"/>
            <p:cNvCxnSpPr>
              <a:stCxn id="72" idx="3"/>
              <a:endCxn id="79" idx="1"/>
            </p:cNvCxnSpPr>
            <p:nvPr/>
          </p:nvCxnSpPr>
          <p:spPr bwMode="auto">
            <a:xfrm>
              <a:off x="6197846" y="3025975"/>
              <a:ext cx="196732" cy="546497"/>
            </a:xfrm>
            <a:prstGeom prst="bentConnector3">
              <a:avLst>
                <a:gd name="adj1" fmla="val 30634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肘形连接符 91"/>
            <p:cNvCxnSpPr>
              <a:stCxn id="77" idx="3"/>
              <a:endCxn id="74" idx="1"/>
            </p:cNvCxnSpPr>
            <p:nvPr/>
          </p:nvCxnSpPr>
          <p:spPr bwMode="auto">
            <a:xfrm>
              <a:off x="7921871" y="2478884"/>
              <a:ext cx="394458" cy="564355"/>
            </a:xfrm>
            <a:prstGeom prst="bentConnector3">
              <a:avLst>
                <a:gd name="adj1" fmla="val 25853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肘形连接符 92"/>
            <p:cNvCxnSpPr>
              <a:endCxn id="74" idx="1"/>
            </p:cNvCxnSpPr>
            <p:nvPr/>
          </p:nvCxnSpPr>
          <p:spPr bwMode="auto">
            <a:xfrm>
              <a:off x="7926924" y="2843213"/>
              <a:ext cx="389405" cy="200026"/>
            </a:xfrm>
            <a:prstGeom prst="bentConnector3">
              <a:avLst>
                <a:gd name="adj1" fmla="val 25540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肘形连接符 93"/>
            <p:cNvCxnSpPr>
              <a:stCxn id="80" idx="3"/>
              <a:endCxn id="74" idx="1"/>
            </p:cNvCxnSpPr>
            <p:nvPr/>
          </p:nvCxnSpPr>
          <p:spPr bwMode="auto">
            <a:xfrm flipV="1">
              <a:off x="7921871" y="3043239"/>
              <a:ext cx="394458" cy="164901"/>
            </a:xfrm>
            <a:prstGeom prst="bentConnector3">
              <a:avLst>
                <a:gd name="adj1" fmla="val 25853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肘形连接符 94"/>
            <p:cNvCxnSpPr>
              <a:stCxn id="79" idx="3"/>
              <a:endCxn id="74" idx="1"/>
            </p:cNvCxnSpPr>
            <p:nvPr/>
          </p:nvCxnSpPr>
          <p:spPr bwMode="auto">
            <a:xfrm flipV="1">
              <a:off x="7921871" y="3043239"/>
              <a:ext cx="394458" cy="529233"/>
            </a:xfrm>
            <a:prstGeom prst="bentConnector3">
              <a:avLst>
                <a:gd name="adj1" fmla="val 27060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6123846" y="2341345"/>
            <a:ext cx="2484000" cy="712800"/>
            <a:chOff x="6498982" y="2379446"/>
            <a:chExt cx="2484000" cy="712800"/>
          </a:xfrm>
        </p:grpSpPr>
        <p:sp>
          <p:nvSpPr>
            <p:cNvPr id="49" name="Rectangle 48"/>
            <p:cNvSpPr/>
            <p:nvPr/>
          </p:nvSpPr>
          <p:spPr bwMode="auto">
            <a:xfrm>
              <a:off x="6498982" y="2379446"/>
              <a:ext cx="2484000" cy="712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1632" tIns="40815" rIns="81632" bIns="40815" numCol="1" rtlCol="0" anchor="t" anchorCtr="0" compatLnSpc="1">
              <a:noAutofit/>
            </a:bodyPr>
            <a:lstStyle/>
            <a:p>
              <a:pPr defTabSz="610870" fontAlgn="ctr">
                <a:defRPr/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6682886" y="2412681"/>
              <a:ext cx="211619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10870" fontAlgn="ctr"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对合同履行各环节进行检查，关闭已完成约定权利和义务的合同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286727" y="2341345"/>
            <a:ext cx="2484000" cy="712800"/>
            <a:chOff x="2909746" y="2379445"/>
            <a:chExt cx="2484000" cy="712800"/>
          </a:xfrm>
        </p:grpSpPr>
        <p:sp>
          <p:nvSpPr>
            <p:cNvPr id="44" name="Rectangle 43"/>
            <p:cNvSpPr/>
            <p:nvPr/>
          </p:nvSpPr>
          <p:spPr bwMode="auto">
            <a:xfrm>
              <a:off x="2909746" y="2379445"/>
              <a:ext cx="2484000" cy="712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1632" tIns="40815" rIns="81632" bIns="40815" numCol="1" rtlCol="0" anchor="t" anchorCtr="0" compatLnSpc="1">
              <a:noAutofit/>
            </a:bodyPr>
            <a:lstStyle/>
            <a:p>
              <a:pPr marL="0" lvl="1" defTabSz="436245">
                <a:spcBef>
                  <a:spcPts val="1785"/>
                </a:spcBef>
                <a:buClr>
                  <a:srgbClr val="990000"/>
                </a:buClr>
                <a:defRPr/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78670" y="2412680"/>
              <a:ext cx="21461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436245">
                <a:spcBef>
                  <a:spcPts val="1785"/>
                </a:spcBef>
                <a:buClr>
                  <a:srgbClr val="990000"/>
                </a:buClr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统一管理合同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/PO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履行过程中出现的变更。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及时监控合同履行风险，解决合同争议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49608" y="2341345"/>
            <a:ext cx="2484000" cy="712800"/>
            <a:chOff x="449608" y="2379445"/>
            <a:chExt cx="2484000" cy="712800"/>
          </a:xfrm>
        </p:grpSpPr>
        <p:sp>
          <p:nvSpPr>
            <p:cNvPr id="45" name="Rectangle 44"/>
            <p:cNvSpPr/>
            <p:nvPr/>
          </p:nvSpPr>
          <p:spPr bwMode="auto">
            <a:xfrm>
              <a:off x="449608" y="2379445"/>
              <a:ext cx="2484000" cy="712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1632" tIns="40815" rIns="81632" bIns="40815" numCol="1" rtlCol="0" anchor="t" anchorCtr="0" compatLnSpc="1">
              <a:noAutofit/>
            </a:bodyPr>
            <a:lstStyle/>
            <a:p>
              <a:pPr marL="0" lvl="1" defTabSz="610870" fontAlgn="ctr">
                <a:buClr>
                  <a:srgbClr val="990000"/>
                </a:buClr>
                <a:defRPr/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17793" y="2505013"/>
              <a:ext cx="234763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610870" fontAlgn="ctr">
                <a:buClr>
                  <a:srgbClr val="990000"/>
                </a:buClr>
                <a:defRPr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复核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PO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与其框架合同之间的一致性。完成合同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/PO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注册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Oval 19"/>
          <p:cNvSpPr/>
          <p:nvPr/>
        </p:nvSpPr>
        <p:spPr bwMode="auto">
          <a:xfrm>
            <a:off x="589398" y="3998111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Oval 21"/>
          <p:cNvSpPr/>
          <p:nvPr/>
        </p:nvSpPr>
        <p:spPr bwMode="auto">
          <a:xfrm>
            <a:off x="589398" y="3707434"/>
            <a:ext cx="196501" cy="1785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Oval 36"/>
          <p:cNvSpPr/>
          <p:nvPr/>
        </p:nvSpPr>
        <p:spPr bwMode="auto">
          <a:xfrm>
            <a:off x="589398" y="4284198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Oval 37"/>
          <p:cNvSpPr/>
          <p:nvPr/>
        </p:nvSpPr>
        <p:spPr bwMode="auto">
          <a:xfrm>
            <a:off x="589398" y="4567597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5899" y="3658184"/>
            <a:ext cx="3635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spcBef>
                <a:spcPts val="535"/>
              </a:spcBef>
              <a:buClr>
                <a:srgbClr val="990000"/>
              </a:buClr>
              <a:buSzPct val="130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处理（接收、确认、注册）流程和角色职责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85899" y="3945343"/>
            <a:ext cx="17011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spcBef>
                <a:spcPts val="535"/>
              </a:spcBef>
              <a:buClr>
                <a:srgbClr val="990000"/>
              </a:buClr>
              <a:buSzPct val="130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优化合同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/PO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变更流程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5899" y="4231430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spcBef>
                <a:spcPts val="535"/>
              </a:spcBef>
              <a:buClr>
                <a:srgbClr val="990000"/>
              </a:buClr>
              <a:buSzPct val="130000"/>
              <a:defRPr/>
            </a:pP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对准开票，加速回款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5899" y="4520846"/>
            <a:ext cx="35702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spcBef>
                <a:spcPts val="535"/>
              </a:spcBef>
              <a:buClr>
                <a:srgbClr val="990000"/>
              </a:buClr>
              <a:buSzPct val="130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及时准确地关闭合同，清理烂尾楼，加强合同度量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112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3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8" name="矩形 67"/>
          <p:cNvSpPr/>
          <p:nvPr/>
        </p:nvSpPr>
        <p:spPr>
          <a:xfrm>
            <a:off x="605496" y="694114"/>
            <a:ext cx="2900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主流程：管理线索流程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（ML）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 bwMode="auto">
          <a:xfrm>
            <a:off x="6583369" y="1059583"/>
            <a:ext cx="2431494" cy="3748295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itle 1"/>
          <p:cNvSpPr txBox="1"/>
          <p:nvPr/>
        </p:nvSpPr>
        <p:spPr bwMode="gray">
          <a:xfrm>
            <a:off x="381918" y="187817"/>
            <a:ext cx="753940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和集成</a:t>
            </a:r>
            <a:endParaRPr lang="en-US" altLang="zh-CN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601006" y="1342978"/>
            <a:ext cx="2446554" cy="2989883"/>
          </a:xfrm>
          <a:prstGeom prst="rect">
            <a:avLst/>
          </a:prstGeom>
          <a:noFill/>
        </p:spPr>
        <p:txBody>
          <a:bodyPr wrap="square" lIns="77939" tIns="38970" rIns="77939" bIns="38970">
            <a:spAutoFit/>
          </a:bodyPr>
          <a:lstStyle/>
          <a:p>
            <a:pPr>
              <a:lnSpc>
                <a:spcPct val="150000"/>
              </a:lnSpc>
              <a:spcBef>
                <a:spcPts val="510"/>
              </a:spcBef>
              <a:spcAft>
                <a:spcPts val="510"/>
              </a:spcAft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LTCL5/L6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流程适配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目的是为了解决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LTC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流程在一线落地时遇到的问题，使得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L5/L6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流程更贴近一线运作实质，具备指导性，</a:t>
            </a:r>
            <a:r>
              <a:rPr lang="zh-CN" altLang="en-US" sz="16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提升内部运作效率与质量，更好地与客户业务衔接、提升客户满意度。</a:t>
            </a:r>
            <a:endParaRPr lang="en-US" sz="1600" b="1" dirty="0">
              <a:solidFill>
                <a:srgbClr val="F7B02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25200" y="789553"/>
            <a:ext cx="630477" cy="294145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GPO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83644" y="3190815"/>
            <a:ext cx="565167" cy="294145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RPO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ight Arrow Callout 87"/>
          <p:cNvSpPr/>
          <p:nvPr/>
        </p:nvSpPr>
        <p:spPr bwMode="auto">
          <a:xfrm>
            <a:off x="267225" y="1059583"/>
            <a:ext cx="2702477" cy="2106251"/>
          </a:xfrm>
          <a:prstGeom prst="rightArrowCallout">
            <a:avLst>
              <a:gd name="adj1" fmla="val 39338"/>
              <a:gd name="adj2" fmla="val 26195"/>
              <a:gd name="adj3" fmla="val 19823"/>
              <a:gd name="adj4" fmla="val 78325"/>
            </a:avLst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</a:ln>
        </p:spPr>
        <p:txBody>
          <a:bodyPr wrap="square" lIns="7793" tIns="7793" rIns="7793" bIns="7793" rtlCol="0" anchor="t"/>
          <a:lstStyle/>
          <a:p>
            <a:pPr marL="233045" indent="-139065" defTabSz="683260" eaLnBrk="0" hangingPunct="0">
              <a:buClr>
                <a:schemeClr val="bg2"/>
              </a:buClr>
              <a:buSzPct val="60000"/>
              <a:defRPr/>
            </a:pPr>
            <a:r>
              <a:rPr lang="en-US" altLang="zh-CN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L1~L4</a:t>
            </a:r>
            <a:endParaRPr lang="en-US" altLang="zh-CN" sz="11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5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流程架构的边界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5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流程的输入输出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5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全球流程管控要求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7995" lvl="2" indent="-171450" defTabSz="683260" eaLnBrk="0" hangingPunct="0">
              <a:lnSpc>
                <a:spcPts val="15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  <a:tabLst>
                <a:tab pos="149860" algn="l"/>
              </a:tabLst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政策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7995" lvl="2" indent="-171450" defTabSz="683260" eaLnBrk="0" hangingPunct="0">
              <a:lnSpc>
                <a:spcPts val="15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  <a:tabLst>
                <a:tab pos="149860" algn="l"/>
              </a:tabLst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规范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7995" lvl="2" indent="-171450" defTabSz="683260" eaLnBrk="0" hangingPunct="0">
              <a:lnSpc>
                <a:spcPts val="15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  <a:tabLst>
                <a:tab pos="149860" algn="l"/>
              </a:tabLst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KCP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3345" lvl="2" indent="-10795" defTabSz="683260" eaLnBrk="0" hangingPunct="0">
              <a:tabLst>
                <a:tab pos="149860" algn="l"/>
              </a:tabLst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ight Arrow Callout 88"/>
          <p:cNvSpPr/>
          <p:nvPr/>
        </p:nvSpPr>
        <p:spPr bwMode="auto">
          <a:xfrm>
            <a:off x="266756" y="3468513"/>
            <a:ext cx="2702946" cy="1340940"/>
          </a:xfrm>
          <a:prstGeom prst="rightArrowCallout">
            <a:avLst>
              <a:gd name="adj1" fmla="val 57532"/>
              <a:gd name="adj2" fmla="val 43768"/>
              <a:gd name="adj3" fmla="val 26251"/>
              <a:gd name="adj4" fmla="val 78735"/>
            </a:avLst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</a:ln>
        </p:spPr>
        <p:txBody>
          <a:bodyPr wrap="square" lIns="7793" tIns="7793" rIns="7793" bIns="7793" rtlCol="0" anchor="t"/>
          <a:lstStyle/>
          <a:p>
            <a:pPr marL="233045" indent="-139065" eaLnBrk="0" hangingPunct="0">
              <a:buClr>
                <a:srgbClr val="777777"/>
              </a:buClr>
              <a:buSzPct val="60000"/>
              <a:defRPr/>
            </a:pPr>
            <a:r>
              <a:rPr lang="en-US" altLang="zh-CN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L5~L6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4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业务规则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4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操作指南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4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/ Checklist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730" lvl="1" indent="-171450" defTabSz="683260" eaLnBrk="0" hangingPunct="0">
              <a:lnSpc>
                <a:spcPts val="14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tabLst>
                <a:tab pos="15367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流程视图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33680" lvl="1" indent="-150495" eaLnBrk="0" hangingPunct="0">
              <a:buSzPct val="50000"/>
              <a:tabLst>
                <a:tab pos="149860" algn="l"/>
              </a:tabLst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9/21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2637589" y="1082822"/>
          <a:ext cx="3872268" cy="3743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矩形 3"/>
          <p:cNvSpPr/>
          <p:nvPr/>
        </p:nvSpPr>
        <p:spPr>
          <a:xfrm>
            <a:off x="4269996" y="1274448"/>
            <a:ext cx="637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L1</a:t>
            </a:r>
            <a:endParaRPr lang="en-US" alt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流程分类</a:t>
            </a:r>
            <a:endParaRPr lang="en-US" alt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(LTC)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46757" y="1763494"/>
            <a:ext cx="128404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流程组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</a:t>
            </a:r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ML/MO/MCE)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41024" y="2388141"/>
            <a:ext cx="16955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L3 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如“谈判和生成合同”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61701" y="3019074"/>
            <a:ext cx="125415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L4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子流程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（如“签订合同”）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04499" y="3616669"/>
            <a:ext cx="216855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L5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（落实到角色的可执行单元）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92585" y="4232372"/>
            <a:ext cx="199238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L6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（对活动的进一步分解）</a:t>
            </a:r>
            <a:endParaRPr lang="zh-CN" altLang="en-US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381918" y="2452927"/>
            <a:ext cx="1772662" cy="65793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8375" y="2395777"/>
            <a:ext cx="1696205" cy="7406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2" indent="-10795" defTabSz="683260" eaLnBrk="0" hangingPunct="0">
              <a:lnSpc>
                <a:spcPts val="1500"/>
              </a:lnSpc>
              <a:tabLst>
                <a:tab pos="149860" algn="l"/>
              </a:tabLs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落实方针政策和管控要求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《LTC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HQ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管控要求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381917" y="4396740"/>
            <a:ext cx="1772662" cy="3734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3105" y="4358028"/>
            <a:ext cx="14502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150495" eaLnBrk="0" hangingPunct="0">
              <a:buSzPct val="50000"/>
              <a:tabLst>
                <a:tab pos="149860" algn="l"/>
              </a:tabLs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面向使用者，落实到角色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5746459" y="2020798"/>
            <a:ext cx="853688" cy="1350132"/>
          </a:xfrm>
          <a:prstGeom prst="rightArrow">
            <a:avLst>
              <a:gd name="adj1" fmla="val 72368"/>
              <a:gd name="adj2" fmla="val 45009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39" tIns="38970" rIns="77939" bIns="38970" numCol="1" rtlCol="0" anchor="t" anchorCtr="0" compatLnSpc="1">
            <a:noAutofit/>
          </a:bodyPr>
          <a:lstStyle/>
          <a:p>
            <a:pPr defTabSz="779145"/>
            <a:endParaRPr lang="en-US" sz="1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28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154580" y="59081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主流程：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L1-L4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流程全球固化， 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L5/L6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流程本地适配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 txBox="1"/>
          <p:nvPr/>
        </p:nvSpPr>
        <p:spPr bwMode="gray">
          <a:xfrm>
            <a:off x="381918" y="182980"/>
            <a:ext cx="753940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lang="en-US" altLang="zh-CN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9951" y="4498901"/>
            <a:ext cx="4399180" cy="307975"/>
          </a:xfrm>
          <a:prstGeom prst="rect">
            <a:avLst/>
          </a:prstGeom>
          <a:noFill/>
          <a:ln w="12700">
            <a:noFill/>
          </a:ln>
        </p:spPr>
        <p:txBody>
          <a:bodyPr wrap="square" lIns="77939" tIns="38970" rIns="77939" bIns="38970" rtlCol="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510"/>
              </a:spcBef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化为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流程和客户流程的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个关键对接点：规划、合同、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、验收、回款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10/21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164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66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2670" y="1274290"/>
            <a:ext cx="8558660" cy="2964021"/>
            <a:chOff x="362470" y="1460564"/>
            <a:chExt cx="8558660" cy="2964021"/>
          </a:xfrm>
        </p:grpSpPr>
        <p:sp>
          <p:nvSpPr>
            <p:cNvPr id="86" name="圆角矩形 85"/>
            <p:cNvSpPr/>
            <p:nvPr/>
          </p:nvSpPr>
          <p:spPr bwMode="auto">
            <a:xfrm>
              <a:off x="6454020" y="4120968"/>
              <a:ext cx="386903" cy="289162"/>
            </a:xfrm>
            <a:prstGeom prst="roundRect">
              <a:avLst>
                <a:gd name="adj" fmla="val 1592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noAutofit/>
            </a:bodyPr>
            <a:lstStyle/>
            <a:p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SD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 bwMode="auto">
            <a:xfrm>
              <a:off x="3880649" y="4133027"/>
              <a:ext cx="386903" cy="289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spAutoFit/>
            </a:bodyPr>
            <a:lstStyle/>
            <a:p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SUP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931945" y="4135144"/>
              <a:ext cx="2914228" cy="289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spAutoFit/>
            </a:bodyPr>
            <a:lstStyle/>
            <a:p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ML/MO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 bwMode="auto">
            <a:xfrm>
              <a:off x="4302393" y="4120689"/>
              <a:ext cx="1229296" cy="289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spAutoFit/>
            </a:bodyPr>
            <a:lstStyle/>
            <a:p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SD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圆角矩形 53"/>
            <p:cNvSpPr/>
            <p:nvPr/>
          </p:nvSpPr>
          <p:spPr bwMode="auto">
            <a:xfrm>
              <a:off x="5566311" y="4124234"/>
              <a:ext cx="853233" cy="289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spAutoFit/>
            </a:bodyPr>
            <a:lstStyle/>
            <a:p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FN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" name="圆角矩形 86"/>
            <p:cNvSpPr/>
            <p:nvPr/>
          </p:nvSpPr>
          <p:spPr bwMode="auto">
            <a:xfrm>
              <a:off x="6935841" y="4133027"/>
              <a:ext cx="1975282" cy="264140"/>
            </a:xfrm>
            <a:prstGeom prst="roundRect">
              <a:avLst>
                <a:gd name="adj" fmla="val 2526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1" compatLnSpc="1">
              <a:spAutoFit/>
            </a:bodyPr>
            <a:lstStyle/>
            <a:p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</a:rPr>
                <a:t>已实现</a:t>
              </a:r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IT</a:t>
              </a: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</a:rPr>
                <a:t>对接（</a:t>
              </a:r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BT</a:t>
              </a: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DT</a:t>
              </a: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</a:rPr>
                <a:t>TI</a:t>
              </a: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 bwMode="auto">
            <a:xfrm>
              <a:off x="385287" y="1931201"/>
              <a:ext cx="6455636" cy="1061972"/>
            </a:xfrm>
            <a:prstGeom prst="roundRect">
              <a:avLst>
                <a:gd name="adj" fmla="val 1362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圆角矩形 84"/>
            <p:cNvSpPr/>
            <p:nvPr/>
          </p:nvSpPr>
          <p:spPr bwMode="auto">
            <a:xfrm>
              <a:off x="385287" y="3052042"/>
              <a:ext cx="6455636" cy="1061972"/>
            </a:xfrm>
            <a:prstGeom prst="roundRect">
              <a:avLst>
                <a:gd name="adj" fmla="val 1362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2721842" y="1460564"/>
              <a:ext cx="1785899" cy="374571"/>
            </a:xfrm>
            <a:prstGeom prst="roundRect">
              <a:avLst/>
            </a:prstGeom>
            <a:solidFill>
              <a:srgbClr val="F7B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流程对接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 bwMode="auto">
            <a:xfrm>
              <a:off x="7351380" y="1460564"/>
              <a:ext cx="1011146" cy="359425"/>
            </a:xfrm>
            <a:prstGeom prst="roundRect">
              <a:avLst/>
            </a:prstGeom>
            <a:solidFill>
              <a:srgbClr val="F7B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no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IT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对接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 bwMode="auto">
            <a:xfrm>
              <a:off x="362470" y="1927630"/>
              <a:ext cx="478226" cy="1069115"/>
            </a:xfrm>
            <a:prstGeom prst="roundRect">
              <a:avLst>
                <a:gd name="adj" fmla="val 5554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no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客户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 bwMode="auto">
            <a:xfrm>
              <a:off x="931945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审批规划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 bwMode="auto">
            <a:xfrm>
              <a:off x="6935841" y="1939827"/>
              <a:ext cx="1975281" cy="2193200"/>
            </a:xfrm>
            <a:prstGeom prst="roundRect">
              <a:avLst>
                <a:gd name="adj" fmla="val 3799"/>
              </a:avLst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圆角矩形 61"/>
            <p:cNvSpPr/>
            <p:nvPr/>
          </p:nvSpPr>
          <p:spPr bwMode="auto">
            <a:xfrm>
              <a:off x="362470" y="3047860"/>
              <a:ext cx="483223" cy="1074946"/>
            </a:xfrm>
            <a:prstGeom prst="roundRect">
              <a:avLst>
                <a:gd name="adj" fmla="val 416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noAutofit/>
            </a:bodyPr>
            <a:lstStyle/>
            <a:p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化为</a:t>
              </a:r>
              <a:endPara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</a:t>
              </a:r>
              <a:endPara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34" name="直接连接符 133"/>
            <p:cNvCxnSpPr>
              <a:stCxn id="13" idx="2"/>
              <a:endCxn id="263" idx="0"/>
            </p:cNvCxnSpPr>
            <p:nvPr/>
          </p:nvCxnSpPr>
          <p:spPr bwMode="auto">
            <a:xfrm flipH="1">
              <a:off x="1124448" y="2873254"/>
              <a:ext cx="1897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>
              <a:stCxn id="201" idx="2"/>
              <a:endCxn id="264" idx="0"/>
            </p:cNvCxnSpPr>
            <p:nvPr/>
          </p:nvCxnSpPr>
          <p:spPr bwMode="auto">
            <a:xfrm flipH="1">
              <a:off x="1545827" y="2873254"/>
              <a:ext cx="1824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直接连接符 154"/>
            <p:cNvCxnSpPr>
              <a:stCxn id="204" idx="2"/>
              <a:endCxn id="265" idx="0"/>
            </p:cNvCxnSpPr>
            <p:nvPr/>
          </p:nvCxnSpPr>
          <p:spPr bwMode="auto">
            <a:xfrm flipH="1">
              <a:off x="1967206" y="2873254"/>
              <a:ext cx="1751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>
              <a:stCxn id="212" idx="2"/>
              <a:endCxn id="266" idx="0"/>
            </p:cNvCxnSpPr>
            <p:nvPr/>
          </p:nvCxnSpPr>
          <p:spPr bwMode="auto">
            <a:xfrm flipH="1">
              <a:off x="2388585" y="2873254"/>
              <a:ext cx="1678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>
              <a:stCxn id="240" idx="2"/>
              <a:endCxn id="267" idx="0"/>
            </p:cNvCxnSpPr>
            <p:nvPr/>
          </p:nvCxnSpPr>
          <p:spPr bwMode="auto">
            <a:xfrm flipH="1">
              <a:off x="2809964" y="2873254"/>
              <a:ext cx="1605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>
              <a:stCxn id="213" idx="2"/>
              <a:endCxn id="268" idx="0"/>
            </p:cNvCxnSpPr>
            <p:nvPr/>
          </p:nvCxnSpPr>
          <p:spPr bwMode="auto">
            <a:xfrm flipH="1">
              <a:off x="3231343" y="2873254"/>
              <a:ext cx="1532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>
              <a:stCxn id="214" idx="2"/>
              <a:endCxn id="269" idx="0"/>
            </p:cNvCxnSpPr>
            <p:nvPr/>
          </p:nvCxnSpPr>
          <p:spPr bwMode="auto">
            <a:xfrm flipH="1">
              <a:off x="3652722" y="2873254"/>
              <a:ext cx="1459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>
              <a:stCxn id="215" idx="2"/>
              <a:endCxn id="270" idx="0"/>
            </p:cNvCxnSpPr>
            <p:nvPr/>
          </p:nvCxnSpPr>
          <p:spPr bwMode="auto">
            <a:xfrm flipH="1">
              <a:off x="4074101" y="2873254"/>
              <a:ext cx="1386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>
              <a:stCxn id="216" idx="2"/>
              <a:endCxn id="271" idx="0"/>
            </p:cNvCxnSpPr>
            <p:nvPr/>
          </p:nvCxnSpPr>
          <p:spPr bwMode="auto">
            <a:xfrm flipH="1">
              <a:off x="4495480" y="2873254"/>
              <a:ext cx="1313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>
              <a:stCxn id="217" idx="2"/>
              <a:endCxn id="272" idx="0"/>
            </p:cNvCxnSpPr>
            <p:nvPr/>
          </p:nvCxnSpPr>
          <p:spPr bwMode="auto">
            <a:xfrm flipH="1">
              <a:off x="4916859" y="2873254"/>
              <a:ext cx="1240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>
              <a:stCxn id="218" idx="2"/>
              <a:endCxn id="273" idx="0"/>
            </p:cNvCxnSpPr>
            <p:nvPr/>
          </p:nvCxnSpPr>
          <p:spPr bwMode="auto">
            <a:xfrm flipH="1">
              <a:off x="5338238" y="2873254"/>
              <a:ext cx="1167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/>
            <p:cNvCxnSpPr>
              <a:stCxn id="219" idx="2"/>
              <a:endCxn id="274" idx="0"/>
            </p:cNvCxnSpPr>
            <p:nvPr/>
          </p:nvCxnSpPr>
          <p:spPr bwMode="auto">
            <a:xfrm flipH="1">
              <a:off x="5782165" y="2873254"/>
              <a:ext cx="146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>
              <a:stCxn id="220" idx="2"/>
              <a:endCxn id="275" idx="0"/>
            </p:cNvCxnSpPr>
            <p:nvPr/>
          </p:nvCxnSpPr>
          <p:spPr bwMode="auto">
            <a:xfrm>
              <a:off x="6225217" y="2873254"/>
              <a:ext cx="876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>
              <a:stCxn id="221" idx="2"/>
              <a:endCxn id="276" idx="0"/>
            </p:cNvCxnSpPr>
            <p:nvPr/>
          </p:nvCxnSpPr>
          <p:spPr bwMode="auto">
            <a:xfrm>
              <a:off x="6646523" y="2873254"/>
              <a:ext cx="949" cy="33897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>
              <a:stCxn id="251" idx="2"/>
              <a:endCxn id="277" idx="0"/>
            </p:cNvCxnSpPr>
            <p:nvPr/>
          </p:nvCxnSpPr>
          <p:spPr bwMode="auto">
            <a:xfrm>
              <a:off x="7130241" y="2873254"/>
              <a:ext cx="3479" cy="340770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>
              <a:stCxn id="252" idx="2"/>
              <a:endCxn id="278" idx="0"/>
            </p:cNvCxnSpPr>
            <p:nvPr/>
          </p:nvCxnSpPr>
          <p:spPr bwMode="auto">
            <a:xfrm>
              <a:off x="7529363" y="2873254"/>
              <a:ext cx="2290" cy="338973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>
              <a:stCxn id="253" idx="2"/>
              <a:endCxn id="279" idx="0"/>
            </p:cNvCxnSpPr>
            <p:nvPr/>
          </p:nvCxnSpPr>
          <p:spPr bwMode="auto">
            <a:xfrm>
              <a:off x="7928485" y="2873254"/>
              <a:ext cx="1101" cy="338973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>
              <a:stCxn id="254" idx="2"/>
              <a:endCxn id="280" idx="0"/>
            </p:cNvCxnSpPr>
            <p:nvPr/>
          </p:nvCxnSpPr>
          <p:spPr bwMode="auto">
            <a:xfrm flipH="1">
              <a:off x="8327519" y="2873254"/>
              <a:ext cx="88" cy="338973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>
              <a:stCxn id="255" idx="2"/>
              <a:endCxn id="281" idx="0"/>
            </p:cNvCxnSpPr>
            <p:nvPr/>
          </p:nvCxnSpPr>
          <p:spPr bwMode="auto">
            <a:xfrm flipH="1">
              <a:off x="8725451" y="2873254"/>
              <a:ext cx="1279" cy="338973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89" name="图片 116" descr="火.png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39967" y="2991493"/>
              <a:ext cx="172756" cy="15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6" name="矩形 205"/>
            <p:cNvSpPr/>
            <p:nvPr/>
          </p:nvSpPr>
          <p:spPr>
            <a:xfrm>
              <a:off x="6945500" y="2894566"/>
              <a:ext cx="4058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CNC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90" name="图片 116" descr="火.png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2721842" y="2991493"/>
              <a:ext cx="172756" cy="15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1" name="图片 116" descr="火.png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7056344" y="2991493"/>
              <a:ext cx="172756" cy="15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9" name="矩形 208"/>
            <p:cNvSpPr/>
            <p:nvPr/>
          </p:nvSpPr>
          <p:spPr>
            <a:xfrm>
              <a:off x="7321026" y="2894566"/>
              <a:ext cx="4058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CNC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7696552" y="2894566"/>
              <a:ext cx="4058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CNC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1" name="矩形 210"/>
            <p:cNvSpPr/>
            <p:nvPr/>
          </p:nvSpPr>
          <p:spPr>
            <a:xfrm>
              <a:off x="8072078" y="2894566"/>
              <a:ext cx="4058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CNC</a:t>
              </a:r>
              <a:endParaRPr lang="zh-CN" altLang="en-US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92" name="图片 116" descr="火.png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8250390" y="2991493"/>
              <a:ext cx="172756" cy="15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3" name="图片 116" descr="火.png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6164837" y="2991493"/>
              <a:ext cx="172756" cy="15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1" name="圆角矩形 200"/>
            <p:cNvSpPr/>
            <p:nvPr/>
          </p:nvSpPr>
          <p:spPr bwMode="auto">
            <a:xfrm>
              <a:off x="1353251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可研评审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4" name="圆角矩形 203"/>
            <p:cNvSpPr/>
            <p:nvPr/>
          </p:nvSpPr>
          <p:spPr bwMode="auto">
            <a:xfrm>
              <a:off x="1774557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发放标书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2" name="圆角矩形 211"/>
            <p:cNvSpPr/>
            <p:nvPr/>
          </p:nvSpPr>
          <p:spPr bwMode="auto">
            <a:xfrm>
              <a:off x="2195863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180000" rIns="72000" bIns="21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评标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3" name="圆角矩形 212"/>
            <p:cNvSpPr/>
            <p:nvPr/>
          </p:nvSpPr>
          <p:spPr bwMode="auto">
            <a:xfrm>
              <a:off x="3038475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起草合同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4" name="圆角矩形 213"/>
            <p:cNvSpPr/>
            <p:nvPr/>
          </p:nvSpPr>
          <p:spPr bwMode="auto">
            <a:xfrm>
              <a:off x="3459781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签订合同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5" name="圆角矩形 214"/>
            <p:cNvSpPr/>
            <p:nvPr/>
          </p:nvSpPr>
          <p:spPr bwMode="auto">
            <a:xfrm>
              <a:off x="3881087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货物签收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6" name="圆角矩形 215"/>
            <p:cNvSpPr/>
            <p:nvPr/>
          </p:nvSpPr>
          <p:spPr bwMode="auto">
            <a:xfrm>
              <a:off x="4302393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0" rIns="72000" bIns="0" numCol="1" rtlCol="0" anchor="ctr" anchorCtr="1" compatLnSpc="1">
              <a:noAutofit/>
            </a:bodyPr>
            <a:lstStyle/>
            <a:p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设备安装调测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7" name="圆角矩形 216"/>
            <p:cNvSpPr/>
            <p:nvPr/>
          </p:nvSpPr>
          <p:spPr bwMode="auto">
            <a:xfrm>
              <a:off x="4723699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站点验收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8" name="圆角矩形 217"/>
            <p:cNvSpPr/>
            <p:nvPr/>
          </p:nvSpPr>
          <p:spPr bwMode="auto">
            <a:xfrm>
              <a:off x="5145005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180000" rIns="72000" bIns="21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初验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9" name="圆角矩形 218"/>
            <p:cNvSpPr/>
            <p:nvPr/>
          </p:nvSpPr>
          <p:spPr bwMode="auto">
            <a:xfrm>
              <a:off x="5566311" y="2059654"/>
              <a:ext cx="4320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0" tIns="108000" rIns="0" bIns="108000" numCol="1" rtlCol="0" anchor="ctr" anchorCtr="1" compatLnSpc="1">
              <a:noAutofit/>
            </a:bodyPr>
            <a:lstStyle/>
            <a:p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验收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付款材料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接收发票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0" name="圆角矩形 219"/>
            <p:cNvSpPr/>
            <p:nvPr/>
          </p:nvSpPr>
          <p:spPr bwMode="auto">
            <a:xfrm>
              <a:off x="6030817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180000" rIns="72000" bIns="21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付款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1" name="圆角矩形 220"/>
            <p:cNvSpPr/>
            <p:nvPr/>
          </p:nvSpPr>
          <p:spPr bwMode="auto">
            <a:xfrm>
              <a:off x="6452123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终验和决算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0" name="圆角矩形 239"/>
            <p:cNvSpPr/>
            <p:nvPr/>
          </p:nvSpPr>
          <p:spPr bwMode="auto">
            <a:xfrm>
              <a:off x="2617169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45720" rIns="72000" bIns="4572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商务谈判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1" name="圆角矩形 250"/>
            <p:cNvSpPr/>
            <p:nvPr/>
          </p:nvSpPr>
          <p:spPr bwMode="auto">
            <a:xfrm>
              <a:off x="6935841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下发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2" name="圆角矩形 251"/>
            <p:cNvSpPr/>
            <p:nvPr/>
          </p:nvSpPr>
          <p:spPr bwMode="auto">
            <a:xfrm>
              <a:off x="7334963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查询</a:t>
              </a:r>
              <a:r>
                <a:rPr lang="en-US" altLang="zh-CN" sz="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</a:t>
              </a:r>
              <a:r>
                <a:rPr lang="zh-CN" altLang="en-US" sz="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履行状态</a:t>
              </a:r>
              <a:endPara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3" name="圆角矩形 252"/>
            <p:cNvSpPr/>
            <p:nvPr/>
          </p:nvSpPr>
          <p:spPr bwMode="auto">
            <a:xfrm>
              <a:off x="7734085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收货状态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4" name="圆角矩形 253"/>
            <p:cNvSpPr/>
            <p:nvPr/>
          </p:nvSpPr>
          <p:spPr bwMode="auto">
            <a:xfrm>
              <a:off x="8133207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验收确认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5" name="圆角矩形 254"/>
            <p:cNvSpPr/>
            <p:nvPr/>
          </p:nvSpPr>
          <p:spPr bwMode="auto">
            <a:xfrm>
              <a:off x="8532330" y="2059654"/>
              <a:ext cx="388800" cy="813600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1440" tIns="36000" rIns="72000" bIns="3600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发票确定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7" name="圆角矩形 276"/>
            <p:cNvSpPr/>
            <p:nvPr/>
          </p:nvSpPr>
          <p:spPr bwMode="auto">
            <a:xfrm>
              <a:off x="6940268" y="3214024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PO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下发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3" name="圆角矩形 262"/>
            <p:cNvSpPr/>
            <p:nvPr/>
          </p:nvSpPr>
          <p:spPr bwMode="auto">
            <a:xfrm>
              <a:off x="930996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收集和生成线索</a:t>
              </a:r>
              <a:endPara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4" name="圆角矩形 263"/>
            <p:cNvSpPr/>
            <p:nvPr/>
          </p:nvSpPr>
          <p:spPr bwMode="auto">
            <a:xfrm>
              <a:off x="1352375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创建机会点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圆角矩形 264"/>
            <p:cNvSpPr/>
            <p:nvPr/>
          </p:nvSpPr>
          <p:spPr bwMode="auto">
            <a:xfrm>
              <a:off x="1773754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引导客户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6" name="圆角矩形 265"/>
            <p:cNvSpPr/>
            <p:nvPr/>
          </p:nvSpPr>
          <p:spPr bwMode="auto">
            <a:xfrm>
              <a:off x="2195133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交标和澄清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7" name="圆角矩形 266"/>
            <p:cNvSpPr/>
            <p:nvPr/>
          </p:nvSpPr>
          <p:spPr bwMode="auto">
            <a:xfrm>
              <a:off x="2616512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商务谈判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8" name="圆角矩形 267"/>
            <p:cNvSpPr/>
            <p:nvPr/>
          </p:nvSpPr>
          <p:spPr bwMode="auto">
            <a:xfrm>
              <a:off x="3037891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起草合同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9" name="圆角矩形 268"/>
            <p:cNvSpPr/>
            <p:nvPr/>
          </p:nvSpPr>
          <p:spPr bwMode="auto">
            <a:xfrm>
              <a:off x="3459270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签订合同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0" name="圆角矩形 269"/>
            <p:cNvSpPr/>
            <p:nvPr/>
          </p:nvSpPr>
          <p:spPr bwMode="auto">
            <a:xfrm>
              <a:off x="3880649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管理运输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1" name="圆角矩形 270"/>
            <p:cNvSpPr/>
            <p:nvPr/>
          </p:nvSpPr>
          <p:spPr bwMode="auto">
            <a:xfrm>
              <a:off x="4302028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设备安装调测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2" name="圆角矩形 271"/>
            <p:cNvSpPr/>
            <p:nvPr/>
          </p:nvSpPr>
          <p:spPr bwMode="auto">
            <a:xfrm>
              <a:off x="4723407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站点验收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3" name="圆角矩形 272"/>
            <p:cNvSpPr/>
            <p:nvPr/>
          </p:nvSpPr>
          <p:spPr bwMode="auto">
            <a:xfrm>
              <a:off x="5144786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初验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4" name="圆角矩形 273"/>
            <p:cNvSpPr/>
            <p:nvPr/>
          </p:nvSpPr>
          <p:spPr bwMode="auto">
            <a:xfrm>
              <a:off x="5566165" y="3212227"/>
              <a:ext cx="432000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开票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5" name="圆角矩形 274"/>
            <p:cNvSpPr/>
            <p:nvPr/>
          </p:nvSpPr>
          <p:spPr bwMode="auto">
            <a:xfrm>
              <a:off x="6032641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回款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6" name="圆角矩形 275"/>
            <p:cNvSpPr/>
            <p:nvPr/>
          </p:nvSpPr>
          <p:spPr bwMode="auto">
            <a:xfrm>
              <a:off x="6454020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终验和决算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8" name="圆角矩形 277"/>
            <p:cNvSpPr/>
            <p:nvPr/>
          </p:nvSpPr>
          <p:spPr bwMode="auto">
            <a:xfrm>
              <a:off x="7338201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PO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履行状态可视</a:t>
              </a:r>
              <a:endPara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9" name="圆角矩形 278"/>
            <p:cNvSpPr/>
            <p:nvPr/>
          </p:nvSpPr>
          <p:spPr bwMode="auto">
            <a:xfrm>
              <a:off x="7736134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收货状态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0" name="圆角矩形 279"/>
            <p:cNvSpPr/>
            <p:nvPr/>
          </p:nvSpPr>
          <p:spPr bwMode="auto">
            <a:xfrm>
              <a:off x="8134067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验收准备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1" name="圆角矩形 280"/>
            <p:cNvSpPr/>
            <p:nvPr/>
          </p:nvSpPr>
          <p:spPr bwMode="auto">
            <a:xfrm>
              <a:off x="8531999" y="3212227"/>
              <a:ext cx="386903" cy="814649"/>
            </a:xfrm>
            <a:prstGeom prst="roundRect">
              <a:avLst/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1" compatLnSpc="1">
              <a:no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发票准备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7" name="椭圆 196"/>
            <p:cNvSpPr/>
            <p:nvPr/>
          </p:nvSpPr>
          <p:spPr bwMode="auto">
            <a:xfrm>
              <a:off x="6983564" y="1854700"/>
              <a:ext cx="293354" cy="2241366"/>
            </a:xfrm>
            <a:prstGeom prst="ellipse">
              <a:avLst/>
            </a:prstGeom>
            <a:noFill/>
            <a:ln w="19050" cap="flat" cmpd="sng" algn="ctr">
              <a:solidFill>
                <a:srgbClr val="F7B02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椭圆 308"/>
            <p:cNvSpPr/>
            <p:nvPr/>
          </p:nvSpPr>
          <p:spPr bwMode="auto">
            <a:xfrm>
              <a:off x="8180841" y="1870810"/>
              <a:ext cx="293354" cy="2241366"/>
            </a:xfrm>
            <a:prstGeom prst="ellipse">
              <a:avLst/>
            </a:prstGeom>
            <a:noFill/>
            <a:ln w="19050" cap="flat" cmpd="sng" algn="ctr">
              <a:solidFill>
                <a:srgbClr val="F7B02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椭圆 309"/>
            <p:cNvSpPr/>
            <p:nvPr/>
          </p:nvSpPr>
          <p:spPr bwMode="auto">
            <a:xfrm>
              <a:off x="6096999" y="1947310"/>
              <a:ext cx="293354" cy="2241366"/>
            </a:xfrm>
            <a:prstGeom prst="ellipse">
              <a:avLst/>
            </a:prstGeom>
            <a:noFill/>
            <a:ln w="19050" cap="flat" cmpd="sng" algn="ctr">
              <a:solidFill>
                <a:srgbClr val="F7B02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椭圆 310"/>
            <p:cNvSpPr/>
            <p:nvPr/>
          </p:nvSpPr>
          <p:spPr bwMode="auto">
            <a:xfrm>
              <a:off x="2650282" y="1918315"/>
              <a:ext cx="293354" cy="2241366"/>
            </a:xfrm>
            <a:prstGeom prst="ellipse">
              <a:avLst/>
            </a:prstGeom>
            <a:noFill/>
            <a:ln w="19050" cap="flat" cmpd="sng" algn="ctr">
              <a:solidFill>
                <a:srgbClr val="F7B02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椭圆 311"/>
            <p:cNvSpPr/>
            <p:nvPr/>
          </p:nvSpPr>
          <p:spPr bwMode="auto">
            <a:xfrm>
              <a:off x="977770" y="1872648"/>
              <a:ext cx="293354" cy="2241366"/>
            </a:xfrm>
            <a:prstGeom prst="ellipse">
              <a:avLst/>
            </a:prstGeom>
            <a:noFill/>
            <a:ln w="19050" cap="flat" cmpd="sng" algn="ctr">
              <a:solidFill>
                <a:srgbClr val="F7B02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80856" y="811630"/>
            <a:ext cx="33376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L5/L6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流程适配应遵循“三个对准”</a:t>
            </a:r>
            <a:endParaRPr lang="zh-CN" alt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 descr="http://pica.nipic.com/2007-10-29/20071029122024413_2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" b="-2163"/>
          <a:stretch>
            <a:fillRect/>
          </a:stretch>
        </p:blipFill>
        <p:spPr bwMode="auto">
          <a:xfrm>
            <a:off x="5620410" y="2405900"/>
            <a:ext cx="3503102" cy="2433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1715695" y="1199900"/>
            <a:ext cx="3553200" cy="1206000"/>
            <a:chOff x="2396030" y="1482109"/>
            <a:chExt cx="4174541" cy="2306752"/>
          </a:xfrm>
          <a:solidFill>
            <a:srgbClr val="0070C0"/>
          </a:solidFill>
        </p:grpSpPr>
        <p:sp>
          <p:nvSpPr>
            <p:cNvPr id="5" name="圆角矩形 4"/>
            <p:cNvSpPr/>
            <p:nvPr/>
          </p:nvSpPr>
          <p:spPr bwMode="auto">
            <a:xfrm>
              <a:off x="2396030" y="1482109"/>
              <a:ext cx="4174541" cy="2306752"/>
            </a:xfrm>
            <a:prstGeom prst="roundRect">
              <a:avLst>
                <a:gd name="adj" fmla="val 13000"/>
              </a:avLst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15"/>
            <p:cNvSpPr txBox="1">
              <a:spLocks noChangeArrowheads="1"/>
            </p:cNvSpPr>
            <p:nvPr/>
          </p:nvSpPr>
          <p:spPr bwMode="auto">
            <a:xfrm>
              <a:off x="2460615" y="1631697"/>
              <a:ext cx="3994379" cy="197734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lIns="0" tIns="0" rIns="0" bIns="0" anchor="ctr" anchorCtr="1">
              <a:noAutofit/>
            </a:bodyPr>
            <a:lstStyle/>
            <a:p>
              <a:pPr marL="179705" indent="-179705">
                <a:lnSpc>
                  <a:spcPct val="120000"/>
                </a:lnSpc>
                <a:buClr>
                  <a:schemeClr val="bg1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以运营商的视角建设和优化交付流程，用流程</a:t>
              </a:r>
              <a:b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驱动公司端到端的交付管理</a:t>
              </a:r>
              <a:endParaRPr lang="en-US" altLang="zh-CN" sz="12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9705" indent="-179705">
                <a:lnSpc>
                  <a:spcPct val="120000"/>
                </a:lnSpc>
                <a:buClr>
                  <a:schemeClr val="bg1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高质量合同是基于</a:t>
              </a:r>
              <a: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LTC</a:t>
              </a: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流程完成的，高效、</a:t>
              </a:r>
              <a:b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高质量、低成本的交付是基于</a:t>
              </a:r>
              <a: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ISD</a:t>
              </a: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流程完成的</a:t>
              </a:r>
              <a:endParaRPr lang="en-US" altLang="zh-CN" sz="12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703369" y="2671402"/>
            <a:ext cx="3564872" cy="1205030"/>
            <a:chOff x="5712132" y="2209636"/>
            <a:chExt cx="3184889" cy="2635496"/>
          </a:xfrm>
          <a:solidFill>
            <a:srgbClr val="0070C0"/>
          </a:solidFill>
        </p:grpSpPr>
        <p:sp>
          <p:nvSpPr>
            <p:cNvPr id="4" name="圆角矩形 3"/>
            <p:cNvSpPr/>
            <p:nvPr/>
          </p:nvSpPr>
          <p:spPr bwMode="auto">
            <a:xfrm>
              <a:off x="5712132" y="2209636"/>
              <a:ext cx="3184889" cy="2635496"/>
            </a:xfrm>
            <a:prstGeom prst="roundRect">
              <a:avLst>
                <a:gd name="adj" fmla="val 13000"/>
              </a:avLst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5767526" y="2261568"/>
              <a:ext cx="3064895" cy="242473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lIns="0" tIns="0" rIns="0" bIns="0" anchor="ctr" anchorCtr="1">
              <a:noAutofit/>
            </a:bodyPr>
            <a:lstStyle/>
            <a:p>
              <a:pPr marL="285750" indent="-285750" eaLnBrk="0" hangingPunct="0">
                <a:lnSpc>
                  <a:spcPct val="120000"/>
                </a:lnSpc>
                <a:spcBef>
                  <a:spcPts val="225"/>
                </a:spcBef>
                <a:spcAft>
                  <a:spcPts val="225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u"/>
                <a:defRPr/>
              </a:pP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建立“规则、流程、</a:t>
              </a:r>
              <a: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IT</a:t>
              </a: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、组织”的交付管理</a:t>
              </a:r>
              <a:b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体系，确保服务交付在全球不同场景下的简单</a:t>
              </a:r>
              <a:br>
                <a:rPr lang="en-US" altLang="zh-CN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运作，支撑服务产业化发展</a:t>
              </a:r>
              <a:endParaRPr lang="en-US" altLang="zh-CN" sz="12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373134" y="108042"/>
            <a:ext cx="476942" cy="573498"/>
            <a:chOff x="7373134" y="108042"/>
            <a:chExt cx="476942" cy="573498"/>
          </a:xfrm>
        </p:grpSpPr>
        <p:sp>
          <p:nvSpPr>
            <p:cNvPr id="27" name="Rectangle 23"/>
            <p:cNvSpPr/>
            <p:nvPr/>
          </p:nvSpPr>
          <p:spPr bwMode="auto">
            <a:xfrm>
              <a:off x="7373134" y="108042"/>
              <a:ext cx="219526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主业务流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" name="Rectangle 24"/>
            <p:cNvSpPr/>
            <p:nvPr/>
          </p:nvSpPr>
          <p:spPr bwMode="auto">
            <a:xfrm>
              <a:off x="7630550" y="108042"/>
              <a:ext cx="219526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5588" rIns="0" bIns="15588" numCol="1" rtlCol="0" anchor="ctr" anchorCtr="1" compatLnSpc="1">
              <a:noAutofit/>
            </a:bodyPr>
            <a:lstStyle/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L5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L6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defTabSz="779145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适配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329166" y="163958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Arial" panose="020B0604020202020204" pitchFamily="34" charset="0"/>
              </a:rPr>
              <a:t>服务交付业务面临的挑战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Oval 21"/>
          <p:cNvSpPr/>
          <p:nvPr/>
        </p:nvSpPr>
        <p:spPr bwMode="auto">
          <a:xfrm>
            <a:off x="591232" y="1278107"/>
            <a:ext cx="1124463" cy="1074586"/>
          </a:xfrm>
          <a:prstGeom prst="ellipse">
            <a:avLst/>
          </a:prstGeom>
          <a:solidFill>
            <a:srgbClr val="F7B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1"/>
          <p:cNvSpPr/>
          <p:nvPr/>
        </p:nvSpPr>
        <p:spPr bwMode="auto">
          <a:xfrm>
            <a:off x="578905" y="2741194"/>
            <a:ext cx="1124463" cy="1074586"/>
          </a:xfrm>
          <a:prstGeom prst="ellipse">
            <a:avLst/>
          </a:prstGeom>
          <a:solidFill>
            <a:srgbClr val="F7B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11/21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4"/>
          <p:cNvSpPr>
            <a:spLocks noGrp="1"/>
          </p:cNvSpPr>
          <p:nvPr>
            <p:ph type="title" idx="4294967295"/>
          </p:nvPr>
        </p:nvSpPr>
        <p:spPr>
          <a:xfrm>
            <a:off x="318700" y="169130"/>
            <a:ext cx="7539038" cy="6286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总体解决方案</a:t>
            </a:r>
            <a:br>
              <a:rPr lang="en-US" altLang="zh-CN" dirty="0"/>
            </a:br>
            <a:endParaRPr lang="zh-CN" altLang="en-US" kern="12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12/21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9866" y="665882"/>
            <a:ext cx="1362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2095" indent="-252095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endParaRPr lang="zh-CN" altLang="en-US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21465" y="1092364"/>
            <a:ext cx="8315725" cy="3373493"/>
            <a:chOff x="421465" y="1092364"/>
            <a:chExt cx="8315725" cy="3373493"/>
          </a:xfrm>
        </p:grpSpPr>
        <p:grpSp>
          <p:nvGrpSpPr>
            <p:cNvPr id="77" name="组合 76"/>
            <p:cNvGrpSpPr/>
            <p:nvPr/>
          </p:nvGrpSpPr>
          <p:grpSpPr>
            <a:xfrm>
              <a:off x="421465" y="1092364"/>
              <a:ext cx="8315725" cy="3373493"/>
              <a:chOff x="443769" y="1016164"/>
              <a:chExt cx="8315725" cy="3373493"/>
            </a:xfrm>
          </p:grpSpPr>
          <p:sp>
            <p:nvSpPr>
              <p:cNvPr id="79" name="Rectangle 45"/>
              <p:cNvSpPr/>
              <p:nvPr/>
            </p:nvSpPr>
            <p:spPr bwMode="auto">
              <a:xfrm>
                <a:off x="4705543" y="1275608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ctangle 6"/>
              <p:cNvSpPr/>
              <p:nvPr/>
            </p:nvSpPr>
            <p:spPr bwMode="auto">
              <a:xfrm>
                <a:off x="443770" y="1316247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81" name="Rectangle 45"/>
              <p:cNvSpPr/>
              <p:nvPr/>
            </p:nvSpPr>
            <p:spPr bwMode="auto">
              <a:xfrm>
                <a:off x="474277" y="2856403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82" name="Line 5"/>
              <p:cNvSpPr>
                <a:spLocks noChangeShapeType="1"/>
              </p:cNvSpPr>
              <p:nvPr/>
            </p:nvSpPr>
            <p:spPr bwMode="auto">
              <a:xfrm flipV="1">
                <a:off x="495172" y="2679764"/>
                <a:ext cx="2793023" cy="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457690" y="3998060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3. 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组织、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角色职责及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能力</a:t>
                </a:r>
                <a:endParaRPr lang="zh-HK" altLang="zh-CN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4" name="Rectangle 9"/>
              <p:cNvSpPr>
                <a:spLocks noChangeArrowheads="1"/>
              </p:cNvSpPr>
              <p:nvPr/>
            </p:nvSpPr>
            <p:spPr bwMode="auto">
              <a:xfrm>
                <a:off x="443769" y="1016164"/>
                <a:ext cx="3953707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1. </a:t>
                </a:r>
                <a:r>
                  <a:rPr lang="zh-CN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流程和集成</a:t>
                </a:r>
                <a:endParaRPr lang="en-US" altLang="zh-HK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5" name="Rectangle 10"/>
              <p:cNvSpPr>
                <a:spLocks noChangeArrowheads="1"/>
              </p:cNvSpPr>
              <p:nvPr/>
            </p:nvSpPr>
            <p:spPr bwMode="auto">
              <a:xfrm>
                <a:off x="4705543" y="1016164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HK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2. </a:t>
                </a:r>
                <a:r>
                  <a:rPr lang="zh-HK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管理体系</a:t>
                </a:r>
                <a:endParaRPr lang="zh-HK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6" name="Rectangle 45"/>
              <p:cNvSpPr/>
              <p:nvPr/>
            </p:nvSpPr>
            <p:spPr bwMode="auto">
              <a:xfrm>
                <a:off x="4720197" y="2859782"/>
                <a:ext cx="3953707" cy="1279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defTabSz="779145"/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4705543" y="3998060"/>
                <a:ext cx="3968361" cy="391597"/>
              </a:xfrm>
              <a:prstGeom prst="roundRect">
                <a:avLst/>
              </a:prstGeom>
              <a:solidFill>
                <a:srgbClr val="00ACE2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4. 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集成的</a:t>
                </a:r>
                <a:r>
                  <a:rPr lang="en-US" altLang="zh-CN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IT</a:t>
                </a:r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及数据</a:t>
                </a:r>
                <a:endParaRPr lang="zh-HK" altLang="en-US" sz="1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761565" y="1437625"/>
                <a:ext cx="3145531" cy="1418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180975" indent="-180975"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tabLst>
                    <a:tab pos="1746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tabLst>
                    <a:tab pos="174625" algn="l"/>
                  </a:tabLs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tabLst>
                    <a:tab pos="174625" algn="l"/>
                  </a:tabLs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tabLst>
                    <a:tab pos="174625" algn="l"/>
                  </a:tabLst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LTC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主业务流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(ML/MO/MCE)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国家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客户群视角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L5L6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适配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 eaLnBrk="1" hangingPunct="1">
                  <a:lnSpc>
                    <a:spcPct val="100000"/>
                  </a:lnSpc>
                  <a:buClr>
                    <a:srgbClr val="0070C0"/>
                  </a:buClr>
                  <a:buSzTx/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(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对准客户流程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对准业务痛点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对准内部集成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)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92100" indent="-292100" eaLnBrk="1" hangingPunct="1">
                  <a:lnSpc>
                    <a:spcPct val="100000"/>
                  </a:lnSpc>
                  <a:buClrTx/>
                  <a:buSzTx/>
                  <a:buFontTx/>
                  <a:buAutoNum type="arabicPeriod"/>
                </a:pPr>
                <a:endParaRPr lang="zh-HK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9" name="Oval 3"/>
              <p:cNvSpPr>
                <a:spLocks noChangeArrowheads="1"/>
              </p:cNvSpPr>
              <p:nvPr/>
            </p:nvSpPr>
            <p:spPr bwMode="auto">
              <a:xfrm>
                <a:off x="3461145" y="1853335"/>
                <a:ext cx="2220699" cy="1642865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noFill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altLang="zh-CN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421174" y="2139704"/>
                <a:ext cx="2286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LTC</a:t>
                </a:r>
                <a:endParaRPr 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总体解决方案</a:t>
                </a:r>
                <a:endParaRPr 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1" name="Rectangle 2"/>
              <p:cNvSpPr/>
              <p:nvPr/>
            </p:nvSpPr>
            <p:spPr>
              <a:xfrm>
                <a:off x="5569352" y="1491632"/>
                <a:ext cx="3190142" cy="861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授权、评审、决策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交易质量管理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Metrics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运营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2" name="Rectangle 3"/>
              <p:cNvSpPr/>
              <p:nvPr/>
            </p:nvSpPr>
            <p:spPr>
              <a:xfrm>
                <a:off x="761565" y="2931790"/>
                <a:ext cx="2370274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系统部优化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 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CC3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项目制运作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Deal Hub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建立</a:t>
                </a:r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52095" indent="-252095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质量运营组织建设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3" name="Line 7"/>
              <p:cNvSpPr>
                <a:spLocks noChangeShapeType="1"/>
              </p:cNvSpPr>
              <p:nvPr/>
            </p:nvSpPr>
            <p:spPr bwMode="auto">
              <a:xfrm>
                <a:off x="4551509" y="1016164"/>
                <a:ext cx="0" cy="74549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4" name="Line 5"/>
              <p:cNvSpPr>
                <a:spLocks noChangeShapeType="1"/>
              </p:cNvSpPr>
              <p:nvPr/>
            </p:nvSpPr>
            <p:spPr bwMode="auto">
              <a:xfrm flipV="1">
                <a:off x="5814824" y="2679764"/>
                <a:ext cx="2793023" cy="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5" name="Line 7"/>
              <p:cNvSpPr>
                <a:spLocks noChangeShapeType="1"/>
              </p:cNvSpPr>
              <p:nvPr/>
            </p:nvSpPr>
            <p:spPr bwMode="auto">
              <a:xfrm>
                <a:off x="4551509" y="3554446"/>
                <a:ext cx="0" cy="74549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5569352" y="3075806"/>
                <a:ext cx="2818998" cy="861331"/>
                <a:chOff x="5569352" y="2967649"/>
                <a:chExt cx="2818998" cy="861331"/>
              </a:xfrm>
            </p:grpSpPr>
            <p:sp>
              <p:nvSpPr>
                <p:cNvPr id="97" name="Rectangle 4"/>
                <p:cNvSpPr/>
                <p:nvPr/>
              </p:nvSpPr>
              <p:spPr>
                <a:xfrm>
                  <a:off x="5569352" y="2967649"/>
                  <a:ext cx="211468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252095" indent="-252095">
                    <a:buClr>
                      <a:srgbClr val="0070C0"/>
                    </a:buClr>
                    <a:buFont typeface="Wingdings" panose="05000000000000000000" pitchFamily="2" charset="2"/>
                    <a:buChar char="u"/>
                  </a:pP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端到端的作业平台</a:t>
                  </a:r>
                  <a:endPara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5820467" y="3244205"/>
                  <a:ext cx="2567883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44145" indent="-252095">
                    <a:buClr>
                      <a:srgbClr val="0070C0"/>
                    </a:buClr>
                    <a:buSzPct val="80000"/>
                    <a:buFont typeface="Wingdings" panose="05000000000000000000" pitchFamily="2" charset="2"/>
                    <a:buChar char="l"/>
                  </a:pP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 </a:t>
                  </a:r>
                  <a:r>
                    <a:rPr lang="en-US" altLang="zh-CN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iSales</a:t>
                  </a:r>
                  <a:endPara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  <a:p>
                  <a:pPr marL="144145" indent="-252095">
                    <a:buClr>
                      <a:srgbClr val="0070C0"/>
                    </a:buClr>
                    <a:buSzPct val="80000"/>
                    <a:buFont typeface="Wingdings" panose="05000000000000000000" pitchFamily="2" charset="2"/>
                    <a:buChar char="l"/>
                  </a:pP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 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配置打通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/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交付上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ERP</a:t>
                  </a:r>
                  <a:endPara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78" name="矩形 77"/>
            <p:cNvSpPr/>
            <p:nvPr/>
          </p:nvSpPr>
          <p:spPr bwMode="auto">
            <a:xfrm>
              <a:off x="421465" y="1092364"/>
              <a:ext cx="8230135" cy="3373493"/>
            </a:xfrm>
            <a:prstGeom prst="rect">
              <a:avLst/>
            </a:prstGeom>
            <a:solidFill>
              <a:schemeClr val="bg1">
                <a:lumMod val="95000"/>
                <a:alpha val="79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005425" y="1111414"/>
            <a:ext cx="1319592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HK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HK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endParaRPr lang="zh-HK" alt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5547048" y="1567832"/>
            <a:ext cx="220630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2095" indent="-252095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授权、评审、决策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52095" indent="-252095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交易质量管理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52095" indent="-252095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Metrics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运营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4721339" y="1092364"/>
            <a:ext cx="3902304" cy="1579677"/>
          </a:xfrm>
          <a:prstGeom prst="roundRect">
            <a:avLst>
              <a:gd name="adj" fmla="val 5307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圆角矩形 209"/>
          <p:cNvSpPr/>
          <p:nvPr/>
        </p:nvSpPr>
        <p:spPr bwMode="auto">
          <a:xfrm>
            <a:off x="134179" y="2520058"/>
            <a:ext cx="277038" cy="1655796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136070" y="898516"/>
            <a:ext cx="277038" cy="1587646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859" name="Title 1"/>
          <p:cNvSpPr>
            <a:spLocks noGrp="1"/>
          </p:cNvSpPr>
          <p:nvPr>
            <p:ph type="title" idx="4294967295"/>
          </p:nvPr>
        </p:nvSpPr>
        <p:spPr>
          <a:xfrm>
            <a:off x="325188" y="160794"/>
            <a:ext cx="4152900" cy="628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dirty="0">
                <a:latin typeface="+mn-lt"/>
                <a:ea typeface="+mn-ea"/>
                <a:cs typeface="Arial" panose="020B0604020202020204" pitchFamily="34" charset="0"/>
              </a:rPr>
            </a:b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管理授权与行权</a:t>
            </a:r>
            <a:r>
              <a:rPr lang="en-US" altLang="zh-CN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(MAE)</a:t>
            </a: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方案包含授权、评审与决策</a:t>
            </a:r>
            <a:endParaRPr lang="zh-CN" altLang="en-US" sz="1400" b="0" kern="12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5" name="Rectangle 43"/>
          <p:cNvSpPr>
            <a:spLocks noChangeArrowheads="1"/>
          </p:cNvSpPr>
          <p:nvPr/>
        </p:nvSpPr>
        <p:spPr bwMode="auto">
          <a:xfrm>
            <a:off x="3635908" y="-587909"/>
            <a:ext cx="2050989" cy="391076"/>
          </a:xfrm>
          <a:prstGeom prst="rect">
            <a:avLst/>
          </a:prstGeom>
          <a:noFill/>
          <a:ln w="9525" algn="ctr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7939" tIns="38970" rIns="77939" bIns="38970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None/>
            </a:pPr>
            <a:endParaRPr lang="en-US" altLang="zh-CN" sz="10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160" name="Rectangle 159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58973" y="2480739"/>
            <a:ext cx="8565172" cy="1071135"/>
            <a:chOff x="424962" y="2291282"/>
            <a:chExt cx="8565172" cy="1071135"/>
          </a:xfrm>
        </p:grpSpPr>
        <p:grpSp>
          <p:nvGrpSpPr>
            <p:cNvPr id="143" name="组合 142"/>
            <p:cNvGrpSpPr/>
            <p:nvPr/>
          </p:nvGrpSpPr>
          <p:grpSpPr>
            <a:xfrm>
              <a:off x="424962" y="2318278"/>
              <a:ext cx="8565172" cy="1044139"/>
              <a:chOff x="424962" y="2032399"/>
              <a:chExt cx="8565172" cy="1758553"/>
            </a:xfrm>
          </p:grpSpPr>
          <p:sp>
            <p:nvSpPr>
              <p:cNvPr id="152" name="AutoShape 16"/>
              <p:cNvSpPr>
                <a:spLocks noChangeArrowheads="1"/>
              </p:cNvSpPr>
              <p:nvPr/>
            </p:nvSpPr>
            <p:spPr bwMode="auto">
              <a:xfrm>
                <a:off x="2085807" y="2032399"/>
                <a:ext cx="3222877" cy="1758553"/>
              </a:xfrm>
              <a:prstGeom prst="chevron">
                <a:avLst>
                  <a:gd name="adj" fmla="val 11465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7939" tIns="38970" rIns="77939" bIns="38970"/>
              <a:lstStyle/>
              <a:p>
                <a:pPr algn="ctr" defTabSz="582930">
                  <a:defRPr/>
                </a:pPr>
                <a:endParaRPr lang="zh-HK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3" name="AutoShape 12"/>
              <p:cNvSpPr>
                <a:spLocks noChangeArrowheads="1"/>
              </p:cNvSpPr>
              <p:nvPr/>
            </p:nvSpPr>
            <p:spPr bwMode="gray">
              <a:xfrm>
                <a:off x="3010145" y="2693194"/>
                <a:ext cx="720000" cy="1028700"/>
              </a:xfrm>
              <a:prstGeom prst="chevron">
                <a:avLst>
                  <a:gd name="adj" fmla="val 15458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  <a:buFont typeface="Wingdings" panose="05000000000000000000" pitchFamily="2" charset="2"/>
                  <a:buNone/>
                </a:pP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标前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引导</a:t>
                </a:r>
                <a:endPara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4" name="Pentagon 57"/>
              <p:cNvSpPr/>
              <p:nvPr/>
            </p:nvSpPr>
            <p:spPr bwMode="auto">
              <a:xfrm>
                <a:off x="436684" y="2032399"/>
                <a:ext cx="1804047" cy="1758553"/>
              </a:xfrm>
              <a:prstGeom prst="homePlate">
                <a:avLst>
                  <a:gd name="adj" fmla="val 12868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38970" rIns="0" bIns="38970"/>
              <a:lstStyle/>
              <a:p>
                <a:pPr algn="ctr" defTabSz="582930">
                  <a:defRPr/>
                </a:pPr>
                <a:endPara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2" name="AutoShape 12"/>
              <p:cNvSpPr>
                <a:spLocks noChangeArrowheads="1"/>
              </p:cNvSpPr>
              <p:nvPr/>
            </p:nvSpPr>
            <p:spPr bwMode="gray">
              <a:xfrm>
                <a:off x="964589" y="2328865"/>
                <a:ext cx="648000" cy="1393031"/>
              </a:xfrm>
              <a:prstGeom prst="chevron">
                <a:avLst>
                  <a:gd name="adj" fmla="val 22403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/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验证和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分发线索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3" name="AutoShape 13"/>
              <p:cNvSpPr>
                <a:spLocks noChangeArrowheads="1"/>
              </p:cNvSpPr>
              <p:nvPr/>
            </p:nvSpPr>
            <p:spPr bwMode="gray">
              <a:xfrm>
                <a:off x="1504216" y="2328865"/>
                <a:ext cx="648000" cy="1393031"/>
              </a:xfrm>
              <a:prstGeom prst="chevron">
                <a:avLst>
                  <a:gd name="adj" fmla="val 21940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/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跟踪和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培育线索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4" name="AutoShape 10"/>
              <p:cNvSpPr>
                <a:spLocks noChangeArrowheads="1"/>
              </p:cNvSpPr>
              <p:nvPr/>
            </p:nvSpPr>
            <p:spPr bwMode="gray">
              <a:xfrm>
                <a:off x="424962" y="2328865"/>
                <a:ext cx="648000" cy="1393031"/>
              </a:xfrm>
              <a:prstGeom prst="chevron">
                <a:avLst>
                  <a:gd name="adj" fmla="val 22630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/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收集和</a:t>
                </a:r>
                <a:br>
                  <a: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</a:br>
                <a:r>
                  <a: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生成线索</a:t>
                </a:r>
                <a:endParaRPr lang="zh-CN" altLang="en-US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6" name="AutoShape 10"/>
              <p:cNvSpPr>
                <a:spLocks noChangeArrowheads="1"/>
              </p:cNvSpPr>
              <p:nvPr/>
            </p:nvSpPr>
            <p:spPr bwMode="gray">
              <a:xfrm>
                <a:off x="2258970" y="2333627"/>
                <a:ext cx="2876550" cy="177874"/>
              </a:xfrm>
              <a:prstGeom prst="chevron">
                <a:avLst>
                  <a:gd name="adj" fmla="val 15731"/>
                </a:avLst>
              </a:prstGeom>
              <a:solidFill>
                <a:schemeClr val="bg1"/>
              </a:solidFill>
              <a:ln w="12700" algn="ctr">
                <a:noFill/>
                <a:miter lim="800000"/>
              </a:ln>
              <a:effectLst/>
            </p:spPr>
            <p:txBody>
              <a:bodyPr lIns="0" tIns="7793" rIns="0" bIns="7793" anchor="ctr"/>
              <a:lstStyle/>
              <a:p>
                <a:pPr algn="ctr" eaLnBrk="0" hangingPunct="0">
                  <a:buSzPct val="100000"/>
                </a:pPr>
                <a:r>
                  <a: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管理决策链</a:t>
                </a:r>
                <a:endPara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组合 166"/>
              <p:cNvGrpSpPr/>
              <p:nvPr/>
            </p:nvGrpSpPr>
            <p:grpSpPr>
              <a:xfrm>
                <a:off x="3741617" y="2593854"/>
                <a:ext cx="720000" cy="1128040"/>
                <a:chOff x="3720980" y="2431929"/>
                <a:chExt cx="720000" cy="1128040"/>
              </a:xfrm>
            </p:grpSpPr>
            <p:sp>
              <p:nvSpPr>
                <p:cNvPr id="206" name="AutoShape 13"/>
                <p:cNvSpPr>
                  <a:spLocks noChangeArrowheads="1"/>
                </p:cNvSpPr>
                <p:nvPr/>
              </p:nvSpPr>
              <p:spPr bwMode="gray">
                <a:xfrm>
                  <a:off x="3720980" y="2531269"/>
                  <a:ext cx="720000" cy="1028700"/>
                </a:xfrm>
                <a:prstGeom prst="chevron">
                  <a:avLst>
                    <a:gd name="adj" fmla="val 16731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GB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制定并提交</a:t>
                  </a:r>
                  <a:endPara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标书</a:t>
                  </a:r>
                  <a:endPara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7" name="Group 86"/>
                <p:cNvGrpSpPr/>
                <p:nvPr/>
              </p:nvGrpSpPr>
              <p:grpSpPr bwMode="auto">
                <a:xfrm>
                  <a:off x="3804022" y="2431929"/>
                  <a:ext cx="553916" cy="230832"/>
                  <a:chOff x="3238488" y="2213476"/>
                  <a:chExt cx="617538" cy="264094"/>
                </a:xfrm>
                <a:effectLst/>
              </p:grpSpPr>
              <p:sp>
                <p:nvSpPr>
                  <p:cNvPr id="208" name="AutoShape 47"/>
                  <p:cNvSpPr>
                    <a:spLocks noChangeArrowheads="1"/>
                  </p:cNvSpPr>
                  <p:nvPr/>
                </p:nvSpPr>
                <p:spPr bwMode="auto">
                  <a:xfrm>
                    <a:off x="3295638" y="2222488"/>
                    <a:ext cx="503238" cy="246063"/>
                  </a:xfrm>
                  <a:prstGeom prst="diamond">
                    <a:avLst/>
                  </a:prstGeom>
                  <a:solidFill>
                    <a:srgbClr val="F7B021"/>
                  </a:solidFill>
                  <a:ln w="9525" algn="ctr">
                    <a:noFill/>
                    <a:miter lim="800000"/>
                  </a:ln>
                </p:spPr>
                <p:txBody>
                  <a:bodyPr lIns="0" tIns="0" rIns="0" bIns="0"/>
                  <a:lstStyle/>
                  <a:p>
                    <a:pPr>
                      <a:lnSpc>
                        <a:spcPct val="80000"/>
                      </a:lnSpc>
                    </a:pPr>
                    <a:endPara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9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238488" y="2213476"/>
                    <a:ext cx="617538" cy="26409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/>
                    <a:r>
                      <a:rPr lang="en-US" altLang="zh-CN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rPr>
                      <a:t>ATB</a:t>
                    </a:r>
                    <a:endParaRPr lang="en-US" altLang="zh-CN" sz="9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68" name="组合 167"/>
              <p:cNvGrpSpPr/>
              <p:nvPr/>
            </p:nvGrpSpPr>
            <p:grpSpPr>
              <a:xfrm>
                <a:off x="4473088" y="2593851"/>
                <a:ext cx="720000" cy="1128043"/>
                <a:chOff x="4454038" y="2431926"/>
                <a:chExt cx="720000" cy="1128043"/>
              </a:xfrm>
            </p:grpSpPr>
            <p:sp>
              <p:nvSpPr>
                <p:cNvPr id="202" name="AutoShape 14"/>
                <p:cNvSpPr>
                  <a:spLocks noChangeArrowheads="1"/>
                </p:cNvSpPr>
                <p:nvPr/>
              </p:nvSpPr>
              <p:spPr bwMode="gray">
                <a:xfrm>
                  <a:off x="4454038" y="2531269"/>
                  <a:ext cx="720000" cy="1028700"/>
                </a:xfrm>
                <a:prstGeom prst="chevron">
                  <a:avLst>
                    <a:gd name="adj" fmla="val 15657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谈判和</a:t>
                  </a:r>
                  <a:br>
                    <a:rPr lang="en-US" altLang="zh-CN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</a:b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生成</a:t>
                  </a:r>
                  <a:endPara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合同</a:t>
                  </a:r>
                  <a:endPara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3" name="Group 87"/>
                <p:cNvGrpSpPr/>
                <p:nvPr/>
              </p:nvGrpSpPr>
              <p:grpSpPr bwMode="auto">
                <a:xfrm>
                  <a:off x="4536348" y="2431926"/>
                  <a:ext cx="555381" cy="230832"/>
                  <a:chOff x="4332285" y="2219874"/>
                  <a:chExt cx="574675" cy="251287"/>
                </a:xfrm>
                <a:effectLst/>
              </p:grpSpPr>
              <p:sp>
                <p:nvSpPr>
                  <p:cNvPr id="204" name="AutoShape 80"/>
                  <p:cNvSpPr>
                    <a:spLocks noChangeArrowheads="1"/>
                  </p:cNvSpPr>
                  <p:nvPr/>
                </p:nvSpPr>
                <p:spPr bwMode="auto">
                  <a:xfrm>
                    <a:off x="4369590" y="2220901"/>
                    <a:ext cx="500063" cy="249237"/>
                  </a:xfrm>
                  <a:prstGeom prst="diamond">
                    <a:avLst/>
                  </a:prstGeom>
                  <a:solidFill>
                    <a:srgbClr val="F7B021"/>
                  </a:solidFill>
                  <a:ln w="9525" algn="ctr">
                    <a:noFill/>
                    <a:miter lim="800000"/>
                  </a:ln>
                </p:spPr>
                <p:txBody>
                  <a:bodyPr lIns="0" tIns="0" rIns="0" bIns="0"/>
                  <a:lstStyle/>
                  <a:p>
                    <a:pPr>
                      <a:lnSpc>
                        <a:spcPct val="80000"/>
                      </a:lnSpc>
                    </a:pPr>
                    <a:endPara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5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4332285" y="2219874"/>
                    <a:ext cx="574675" cy="25128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/>
                    <a:r>
                      <a:rPr lang="en-US" altLang="zh-CN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rPr>
                      <a:t>ATC</a:t>
                    </a:r>
                    <a:endParaRPr lang="en-US" altLang="zh-CN" sz="9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69" name="组合 168"/>
              <p:cNvGrpSpPr/>
              <p:nvPr/>
            </p:nvGrpSpPr>
            <p:grpSpPr>
              <a:xfrm>
                <a:off x="2278673" y="2593854"/>
                <a:ext cx="720000" cy="1128040"/>
                <a:chOff x="2269148" y="2431929"/>
                <a:chExt cx="720000" cy="1128040"/>
              </a:xfrm>
            </p:grpSpPr>
            <p:sp>
              <p:nvSpPr>
                <p:cNvPr id="198" name="AutoShape 10"/>
                <p:cNvSpPr>
                  <a:spLocks noChangeArrowheads="1"/>
                </p:cNvSpPr>
                <p:nvPr/>
              </p:nvSpPr>
              <p:spPr bwMode="gray">
                <a:xfrm>
                  <a:off x="2269148" y="2531269"/>
                  <a:ext cx="720000" cy="1028700"/>
                </a:xfrm>
                <a:prstGeom prst="chevron">
                  <a:avLst>
                    <a:gd name="adj" fmla="val 15685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</a:pPr>
                  <a:r>
                    <a: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验证</a:t>
                  </a: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  <a:p>
                  <a:pPr algn="ctr" eaLnBrk="0" hangingPunct="0">
                    <a:buSzPct val="100000"/>
                  </a:pPr>
                  <a:r>
                    <a: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机会点 </a:t>
                  </a: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9" name="Group 86"/>
                <p:cNvGrpSpPr/>
                <p:nvPr/>
              </p:nvGrpSpPr>
              <p:grpSpPr bwMode="auto">
                <a:xfrm>
                  <a:off x="2352923" y="2431929"/>
                  <a:ext cx="552450" cy="230832"/>
                  <a:chOff x="3238488" y="2213476"/>
                  <a:chExt cx="617538" cy="264094"/>
                </a:xfrm>
                <a:effectLst/>
              </p:grpSpPr>
              <p:sp>
                <p:nvSpPr>
                  <p:cNvPr id="200" name="AutoShape 47"/>
                  <p:cNvSpPr>
                    <a:spLocks noChangeArrowheads="1"/>
                  </p:cNvSpPr>
                  <p:nvPr/>
                </p:nvSpPr>
                <p:spPr bwMode="auto">
                  <a:xfrm>
                    <a:off x="3295638" y="2222488"/>
                    <a:ext cx="503238" cy="246063"/>
                  </a:xfrm>
                  <a:prstGeom prst="diamond">
                    <a:avLst/>
                  </a:prstGeom>
                  <a:solidFill>
                    <a:srgbClr val="F7B021"/>
                  </a:solidFill>
                  <a:ln w="9525" algn="ctr">
                    <a:noFill/>
                    <a:miter lim="800000"/>
                  </a:ln>
                </p:spPr>
                <p:txBody>
                  <a:bodyPr lIns="0" tIns="0" rIns="0" bIns="0"/>
                  <a:lstStyle/>
                  <a:p>
                    <a:pPr>
                      <a:lnSpc>
                        <a:spcPct val="80000"/>
                      </a:lnSpc>
                    </a:pPr>
                    <a:endPara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1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238488" y="2213476"/>
                    <a:ext cx="617538" cy="26409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/>
                    <a:r>
                      <a:rPr lang="en-US" altLang="zh-CN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rPr>
                      <a:t>ATI</a:t>
                    </a:r>
                    <a:endParaRPr lang="en-US" altLang="zh-CN" sz="9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70" name="组合 169"/>
              <p:cNvGrpSpPr/>
              <p:nvPr/>
            </p:nvGrpSpPr>
            <p:grpSpPr>
              <a:xfrm>
                <a:off x="5153759" y="2032399"/>
                <a:ext cx="3836375" cy="1758553"/>
                <a:chOff x="5153759" y="2032399"/>
                <a:chExt cx="3836375" cy="1758553"/>
              </a:xfrm>
            </p:grpSpPr>
            <p:sp>
              <p:nvSpPr>
                <p:cNvPr id="171" name="AutoShape 16"/>
                <p:cNvSpPr>
                  <a:spLocks noChangeArrowheads="1"/>
                </p:cNvSpPr>
                <p:nvPr/>
              </p:nvSpPr>
              <p:spPr bwMode="auto">
                <a:xfrm>
                  <a:off x="5153759" y="2032399"/>
                  <a:ext cx="3836375" cy="1758553"/>
                </a:xfrm>
                <a:prstGeom prst="chevron">
                  <a:avLst>
                    <a:gd name="adj" fmla="val 12108"/>
                  </a:avLst>
                </a:prstGeom>
                <a:solidFill>
                  <a:srgbClr val="0070C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lIns="77939" tIns="38970" rIns="77939" bIns="38970"/>
                <a:lstStyle/>
                <a:p>
                  <a:pPr algn="ctr" defTabSz="582930">
                    <a:defRPr/>
                  </a:pPr>
                  <a:endParaRPr lang="zh-CN" altLang="en-US" sz="10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" name="AutoShape 20"/>
                <p:cNvSpPr>
                  <a:spLocks noChangeArrowheads="1"/>
                </p:cNvSpPr>
                <p:nvPr/>
              </p:nvSpPr>
              <p:spPr bwMode="gray">
                <a:xfrm>
                  <a:off x="5242415" y="2330055"/>
                  <a:ext cx="955431" cy="1391840"/>
                </a:xfrm>
                <a:prstGeom prst="chevron">
                  <a:avLst>
                    <a:gd name="adj" fmla="val 22037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38970" rIns="0" bIns="15588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管理合同 </a:t>
                  </a:r>
                  <a:r>
                    <a:rPr lang="en-US" altLang="zh-CN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/PO</a:t>
                  </a: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接收和确认</a:t>
                  </a:r>
                  <a:endParaRPr lang="zh-CN" alt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73" name="AutoShape 33"/>
                <p:cNvCxnSpPr>
                  <a:cxnSpLocks noChangeShapeType="1"/>
                  <a:stCxn id="172" idx="3"/>
                  <a:endCxn id="178" idx="1"/>
                </p:cNvCxnSpPr>
                <p:nvPr/>
              </p:nvCxnSpPr>
              <p:spPr bwMode="auto">
                <a:xfrm flipV="1">
                  <a:off x="6197846" y="2843213"/>
                  <a:ext cx="196064" cy="182762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sp>
              <p:nvSpPr>
                <p:cNvPr id="174" name="AutoShape 25"/>
                <p:cNvSpPr>
                  <a:spLocks noChangeArrowheads="1"/>
                </p:cNvSpPr>
                <p:nvPr/>
              </p:nvSpPr>
              <p:spPr bwMode="gray">
                <a:xfrm>
                  <a:off x="8109441" y="2364582"/>
                  <a:ext cx="835269" cy="1357313"/>
                </a:xfrm>
                <a:prstGeom prst="chevron">
                  <a:avLst>
                    <a:gd name="adj" fmla="val 24769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GB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关闭和</a:t>
                  </a:r>
                  <a:br>
                    <a:rPr lang="en-US" altLang="zh-CN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</a:br>
                  <a:r>
                    <a:rPr lang="zh-CN" altLang="en-GB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评价</a:t>
                  </a:r>
                  <a:br>
                    <a:rPr lang="en-US" altLang="zh-CN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</a:br>
                  <a:r>
                    <a:rPr lang="zh-CN" altLang="en-GB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合同</a:t>
                  </a:r>
                  <a:endParaRPr lang="zh-CN" altLang="en-US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75" name="AutoShape 34"/>
                <p:cNvCxnSpPr>
                  <a:cxnSpLocks noChangeShapeType="1"/>
                  <a:stCxn id="177" idx="3"/>
                  <a:endCxn id="174" idx="1"/>
                </p:cNvCxnSpPr>
                <p:nvPr/>
              </p:nvCxnSpPr>
              <p:spPr bwMode="auto">
                <a:xfrm>
                  <a:off x="7921871" y="2478884"/>
                  <a:ext cx="394458" cy="564355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grpSp>
              <p:nvGrpSpPr>
                <p:cNvPr id="176" name="Group 138"/>
                <p:cNvGrpSpPr/>
                <p:nvPr/>
              </p:nvGrpSpPr>
              <p:grpSpPr bwMode="auto">
                <a:xfrm>
                  <a:off x="8251583" y="2297975"/>
                  <a:ext cx="580293" cy="230832"/>
                  <a:chOff x="8991340" y="1514983"/>
                  <a:chExt cx="623434" cy="264713"/>
                </a:xfrm>
                <a:effectLst/>
              </p:grpSpPr>
              <p:sp>
                <p:nvSpPr>
                  <p:cNvPr id="196" name="AutoShape 80"/>
                  <p:cNvSpPr>
                    <a:spLocks noChangeArrowheads="1"/>
                  </p:cNvSpPr>
                  <p:nvPr/>
                </p:nvSpPr>
                <p:spPr bwMode="auto">
                  <a:xfrm>
                    <a:off x="9018623" y="1522721"/>
                    <a:ext cx="500062" cy="249237"/>
                  </a:xfrm>
                  <a:prstGeom prst="diamond">
                    <a:avLst/>
                  </a:prstGeom>
                  <a:solidFill>
                    <a:srgbClr val="F7B021"/>
                  </a:solidFill>
                  <a:ln w="9525" algn="ctr">
                    <a:noFill/>
                    <a:miter lim="800000"/>
                  </a:ln>
                </p:spPr>
                <p:txBody>
                  <a:bodyPr lIns="0" tIns="0" rIns="0" bIns="0"/>
                  <a:lstStyle/>
                  <a:p>
                    <a:pPr>
                      <a:lnSpc>
                        <a:spcPct val="80000"/>
                      </a:lnSpc>
                    </a:pPr>
                    <a:endPara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991340" y="1514983"/>
                    <a:ext cx="623434" cy="264713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/>
                    <a:r>
                      <a:rPr lang="en-US" altLang="zh-CN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rPr>
                      <a:t>ATCC</a:t>
                    </a:r>
                    <a:endParaRPr lang="en-US" altLang="zh-CN" sz="9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77" name="AutoShape 21"/>
                <p:cNvSpPr>
                  <a:spLocks noChangeArrowheads="1"/>
                </p:cNvSpPr>
                <p:nvPr/>
              </p:nvSpPr>
              <p:spPr bwMode="gray">
                <a:xfrm>
                  <a:off x="6337791" y="2330056"/>
                  <a:ext cx="1584080" cy="297656"/>
                </a:xfrm>
                <a:prstGeom prst="chevron">
                  <a:avLst>
                    <a:gd name="adj" fmla="val 18146"/>
                  </a:avLst>
                </a:prstGeom>
                <a:solidFill>
                  <a:schemeClr val="bg1">
                    <a:lumMod val="75000"/>
                  </a:schemeClr>
                </a:solidFill>
                <a:ln w="19050" algn="ctr">
                  <a:noFill/>
                  <a:prstDash val="dash"/>
                  <a:miter lim="800000"/>
                </a:ln>
                <a:effectLst/>
              </p:spPr>
              <p:txBody>
                <a:bodyPr lIns="7793" tIns="38970" rIns="7793" bIns="38970" anchor="ctr"/>
                <a:lstStyle/>
                <a:p>
                  <a:pPr algn="ctr" eaLnBrk="0" hangingPunct="0">
                    <a:buSzPct val="100000"/>
                    <a:defRPr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管理交付</a:t>
                  </a:r>
                  <a:r>
                    <a:rPr lang="en-US" altLang="zh-CN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(</a:t>
                  </a: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验收</a:t>
                  </a:r>
                  <a:r>
                    <a:rPr lang="en-US" altLang="zh-CN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)</a:t>
                  </a:r>
                  <a:endPara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" name="AutoShape 22"/>
                <p:cNvSpPr>
                  <a:spLocks noChangeArrowheads="1"/>
                </p:cNvSpPr>
                <p:nvPr/>
              </p:nvSpPr>
              <p:spPr bwMode="gray">
                <a:xfrm>
                  <a:off x="6337791" y="2693194"/>
                  <a:ext cx="1584080" cy="300038"/>
                </a:xfrm>
                <a:prstGeom prst="chevron">
                  <a:avLst>
                    <a:gd name="adj" fmla="val 18704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7793" tIns="38970" rIns="7793" bIns="15588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管理开票和回款</a:t>
                  </a:r>
                  <a:endPara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" name="AutoShape 23"/>
                <p:cNvSpPr>
                  <a:spLocks noChangeArrowheads="1"/>
                </p:cNvSpPr>
                <p:nvPr/>
              </p:nvSpPr>
              <p:spPr bwMode="gray">
                <a:xfrm>
                  <a:off x="6337791" y="3423048"/>
                  <a:ext cx="1584080" cy="298847"/>
                </a:xfrm>
                <a:prstGeom prst="chevron">
                  <a:avLst>
                    <a:gd name="adj" fmla="val 19002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7793" tIns="38970" rIns="7793" bIns="15588" anchor="ctr"/>
                <a:lstStyle/>
                <a:p>
                  <a:pPr algn="ctr" eaLnBrk="0" hangingPunct="0">
                    <a:buSzPct val="100000"/>
                  </a:pPr>
                  <a:r>
                    <a:rPr lang="zh-CN" altLang="en-US" sz="10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管理风险和争议</a:t>
                  </a:r>
                  <a:endParaRPr lang="en-US" altLang="zh-CN" sz="1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" name="AutoShape 21"/>
                <p:cNvSpPr>
                  <a:spLocks noChangeArrowheads="1"/>
                </p:cNvSpPr>
                <p:nvPr/>
              </p:nvSpPr>
              <p:spPr bwMode="gray">
                <a:xfrm>
                  <a:off x="6337791" y="3058716"/>
                  <a:ext cx="1584080" cy="298847"/>
                </a:xfrm>
                <a:prstGeom prst="chevron">
                  <a:avLst>
                    <a:gd name="adj" fmla="val 18084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7793" tIns="38970" rIns="7793" bIns="15588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en-GB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管理合同 </a:t>
                  </a:r>
                  <a:r>
                    <a:rPr lang="en-GB" altLang="zh-CN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/ PO</a:t>
                  </a:r>
                  <a:r>
                    <a:rPr lang="zh-CN" altLang="en-US" sz="1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变更</a:t>
                  </a:r>
                  <a:endPara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81" name="AutoShape 33"/>
                <p:cNvCxnSpPr>
                  <a:cxnSpLocks noChangeShapeType="1"/>
                  <a:stCxn id="172" idx="3"/>
                  <a:endCxn id="180" idx="1"/>
                </p:cNvCxnSpPr>
                <p:nvPr/>
              </p:nvCxnSpPr>
              <p:spPr bwMode="auto">
                <a:xfrm>
                  <a:off x="6197846" y="3025975"/>
                  <a:ext cx="193988" cy="182165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182" name="AutoShape 33"/>
                <p:cNvCxnSpPr>
                  <a:cxnSpLocks noChangeShapeType="1"/>
                  <a:stCxn id="172" idx="3"/>
                  <a:endCxn id="179" idx="1"/>
                </p:cNvCxnSpPr>
                <p:nvPr/>
              </p:nvCxnSpPr>
              <p:spPr bwMode="auto">
                <a:xfrm>
                  <a:off x="6197846" y="3025975"/>
                  <a:ext cx="196732" cy="546497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183" name="AutoShape 34"/>
                <p:cNvCxnSpPr>
                  <a:cxnSpLocks noChangeShapeType="1"/>
                  <a:stCxn id="178" idx="3"/>
                  <a:endCxn id="174" idx="1"/>
                </p:cNvCxnSpPr>
                <p:nvPr/>
              </p:nvCxnSpPr>
              <p:spPr bwMode="auto">
                <a:xfrm>
                  <a:off x="7921871" y="2843213"/>
                  <a:ext cx="394458" cy="200026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184" name="AutoShape 34"/>
                <p:cNvCxnSpPr>
                  <a:cxnSpLocks noChangeShapeType="1"/>
                  <a:stCxn id="180" idx="3"/>
                  <a:endCxn id="174" idx="1"/>
                </p:cNvCxnSpPr>
                <p:nvPr/>
              </p:nvCxnSpPr>
              <p:spPr bwMode="auto">
                <a:xfrm flipV="1">
                  <a:off x="7921871" y="3043239"/>
                  <a:ext cx="394458" cy="164901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185" name="AutoShape 34"/>
                <p:cNvCxnSpPr>
                  <a:cxnSpLocks noChangeShapeType="1"/>
                  <a:stCxn id="179" idx="3"/>
                  <a:endCxn id="174" idx="1"/>
                </p:cNvCxnSpPr>
                <p:nvPr/>
              </p:nvCxnSpPr>
              <p:spPr bwMode="auto">
                <a:xfrm flipV="1">
                  <a:off x="7921871" y="3043239"/>
                  <a:ext cx="394458" cy="529233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186" name="AutoShape 33"/>
                <p:cNvCxnSpPr>
                  <a:cxnSpLocks noChangeShapeType="1"/>
                  <a:stCxn id="172" idx="3"/>
                  <a:endCxn id="177" idx="1"/>
                </p:cNvCxnSpPr>
                <p:nvPr/>
              </p:nvCxnSpPr>
              <p:spPr bwMode="auto">
                <a:xfrm flipV="1">
                  <a:off x="6197846" y="2478884"/>
                  <a:ext cx="193958" cy="547091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>
                  <a:noFill/>
                  <a:miter lim="800000"/>
                  <a:tailEnd type="triangle" w="med" len="med"/>
                </a:ln>
                <a:effectLst/>
              </p:spPr>
            </p:cxnSp>
            <p:sp>
              <p:nvSpPr>
                <p:cNvPr id="187" name="AutoShape 85"/>
                <p:cNvSpPr>
                  <a:spLocks noChangeArrowheads="1"/>
                </p:cNvSpPr>
                <p:nvPr/>
              </p:nvSpPr>
              <p:spPr bwMode="auto">
                <a:xfrm>
                  <a:off x="7356232" y="3257552"/>
                  <a:ext cx="445477" cy="227410"/>
                </a:xfrm>
                <a:prstGeom prst="diamond">
                  <a:avLst/>
                </a:prstGeom>
                <a:solidFill>
                  <a:srgbClr val="FBD893"/>
                </a:solidFill>
                <a:ln w="9525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"/>
                  <a:miter lim="800000"/>
                </a:ln>
                <a:effectLst/>
              </p:spPr>
              <p:txBody>
                <a:bodyPr wrap="none" lIns="0" tIns="0" rIns="0" bIns="0" anchor="ctr" anchorCtr="1"/>
                <a:lstStyle/>
                <a:p>
                  <a:pPr algn="ctr" defTabSz="582930"/>
                  <a:r>
                    <a:rPr lang="en-US" altLang="zh-CN" sz="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Arial" panose="020B0604020202020204" pitchFamily="34" charset="0"/>
                    </a:rPr>
                    <a:t>ATAC</a:t>
                  </a:r>
                  <a:endParaRPr lang="en-US" altLang="zh-HK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88" name="肘形连接符 187"/>
                <p:cNvCxnSpPr>
                  <a:stCxn id="172" idx="3"/>
                  <a:endCxn id="177" idx="1"/>
                </p:cNvCxnSpPr>
                <p:nvPr/>
              </p:nvCxnSpPr>
              <p:spPr bwMode="auto">
                <a:xfrm flipV="1">
                  <a:off x="6197846" y="2478884"/>
                  <a:ext cx="193958" cy="547091"/>
                </a:xfrm>
                <a:prstGeom prst="bentConnector3">
                  <a:avLst>
                    <a:gd name="adj1" fmla="val 30357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89" name="肘形连接符 188"/>
                <p:cNvCxnSpPr>
                  <a:stCxn id="172" idx="3"/>
                  <a:endCxn id="178" idx="1"/>
                </p:cNvCxnSpPr>
                <p:nvPr/>
              </p:nvCxnSpPr>
              <p:spPr bwMode="auto">
                <a:xfrm flipV="1">
                  <a:off x="6197846" y="2843213"/>
                  <a:ext cx="196064" cy="182762"/>
                </a:xfrm>
                <a:prstGeom prst="bentConnector3">
                  <a:avLst>
                    <a:gd name="adj1" fmla="val 30568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0" name="肘形连接符 189"/>
                <p:cNvCxnSpPr>
                  <a:stCxn id="172" idx="3"/>
                  <a:endCxn id="180" idx="1"/>
                </p:cNvCxnSpPr>
                <p:nvPr/>
              </p:nvCxnSpPr>
              <p:spPr bwMode="auto">
                <a:xfrm>
                  <a:off x="6197846" y="3025975"/>
                  <a:ext cx="193988" cy="182165"/>
                </a:xfrm>
                <a:prstGeom prst="bentConnector3">
                  <a:avLst>
                    <a:gd name="adj1" fmla="val 30360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1" name="肘形连接符 190"/>
                <p:cNvCxnSpPr>
                  <a:stCxn id="172" idx="3"/>
                  <a:endCxn id="179" idx="1"/>
                </p:cNvCxnSpPr>
                <p:nvPr/>
              </p:nvCxnSpPr>
              <p:spPr bwMode="auto">
                <a:xfrm>
                  <a:off x="6197846" y="3025975"/>
                  <a:ext cx="196732" cy="546497"/>
                </a:xfrm>
                <a:prstGeom prst="bentConnector3">
                  <a:avLst>
                    <a:gd name="adj1" fmla="val 30634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2" name="肘形连接符 191"/>
                <p:cNvCxnSpPr>
                  <a:stCxn id="177" idx="3"/>
                  <a:endCxn id="174" idx="1"/>
                </p:cNvCxnSpPr>
                <p:nvPr/>
              </p:nvCxnSpPr>
              <p:spPr bwMode="auto">
                <a:xfrm>
                  <a:off x="7921871" y="2478884"/>
                  <a:ext cx="394458" cy="564355"/>
                </a:xfrm>
                <a:prstGeom prst="bentConnector3">
                  <a:avLst>
                    <a:gd name="adj1" fmla="val 25853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3" name="肘形连接符 192"/>
                <p:cNvCxnSpPr>
                  <a:endCxn id="174" idx="1"/>
                </p:cNvCxnSpPr>
                <p:nvPr/>
              </p:nvCxnSpPr>
              <p:spPr bwMode="auto">
                <a:xfrm>
                  <a:off x="7926924" y="2843213"/>
                  <a:ext cx="389405" cy="200026"/>
                </a:xfrm>
                <a:prstGeom prst="bentConnector3">
                  <a:avLst>
                    <a:gd name="adj1" fmla="val 25540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4" name="肘形连接符 193"/>
                <p:cNvCxnSpPr>
                  <a:stCxn id="180" idx="3"/>
                  <a:endCxn id="174" idx="1"/>
                </p:cNvCxnSpPr>
                <p:nvPr/>
              </p:nvCxnSpPr>
              <p:spPr bwMode="auto">
                <a:xfrm flipV="1">
                  <a:off x="7921871" y="3043239"/>
                  <a:ext cx="394458" cy="164901"/>
                </a:xfrm>
                <a:prstGeom prst="bentConnector3">
                  <a:avLst>
                    <a:gd name="adj1" fmla="val 25853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95" name="肘形连接符 194"/>
                <p:cNvCxnSpPr>
                  <a:stCxn id="179" idx="3"/>
                  <a:endCxn id="174" idx="1"/>
                </p:cNvCxnSpPr>
                <p:nvPr/>
              </p:nvCxnSpPr>
              <p:spPr bwMode="auto">
                <a:xfrm flipV="1">
                  <a:off x="7921871" y="3043239"/>
                  <a:ext cx="394458" cy="529233"/>
                </a:xfrm>
                <a:prstGeom prst="bentConnector3">
                  <a:avLst>
                    <a:gd name="adj1" fmla="val 27060"/>
                  </a:avLst>
                </a:prstGeom>
                <a:noFill/>
                <a:ln w="9525" cap="flat" cmpd="sng" algn="ctr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</p:grpSp>
        <p:sp>
          <p:nvSpPr>
            <p:cNvPr id="3" name="矩形 2"/>
            <p:cNvSpPr/>
            <p:nvPr/>
          </p:nvSpPr>
          <p:spPr>
            <a:xfrm>
              <a:off x="6532910" y="2298976"/>
              <a:ext cx="111440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582930"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管理合同执行</a:t>
              </a:r>
              <a:r>
                <a:rPr lang="en-US" altLang="zh-CN" sz="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(MCE)</a:t>
              </a:r>
              <a:endParaRPr lang="zh-CN" altLang="en-US" sz="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15270" y="2291282"/>
              <a:ext cx="1064714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582930">
                <a:defRPr/>
              </a:pPr>
              <a:r>
                <a:rPr lang="zh-CN" altLang="en-US" sz="9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管理机会点</a:t>
              </a:r>
              <a:r>
                <a:rPr lang="en-US" altLang="zh-CN" sz="9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(MO)</a:t>
              </a:r>
              <a:endParaRPr lang="zh-HK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29969" y="2291282"/>
              <a:ext cx="917239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582930">
                <a:defRPr/>
              </a:pPr>
              <a:r>
                <a:rPr lang="zh-CN" altLang="en-US" sz="9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管理线索</a:t>
              </a:r>
              <a:r>
                <a:rPr lang="en-US" altLang="zh-CN" sz="9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(ML)</a:t>
              </a:r>
              <a:endPara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104796" y="148055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授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权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443350" y="898779"/>
            <a:ext cx="8583611" cy="1581960"/>
          </a:xfrm>
          <a:prstGeom prst="roundRect">
            <a:avLst>
              <a:gd name="adj" fmla="val 8238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/>
        </p:nvSpPr>
        <p:spPr bwMode="auto">
          <a:xfrm>
            <a:off x="443350" y="898779"/>
            <a:ext cx="8584769" cy="268815"/>
          </a:xfrm>
          <a:prstGeom prst="roundRect">
            <a:avLst>
              <a:gd name="adj" fmla="val 19788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43"/>
          <p:cNvSpPr>
            <a:spLocks noChangeArrowheads="1"/>
          </p:cNvSpPr>
          <p:nvPr/>
        </p:nvSpPr>
        <p:spPr bwMode="auto">
          <a:xfrm>
            <a:off x="7516918" y="917811"/>
            <a:ext cx="1238799" cy="223394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77939" tIns="38970" rIns="77939" bIns="38970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个授权要素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341" y="1245756"/>
            <a:ext cx="1945661" cy="11866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7939" tIns="38970" rIns="77939" bIns="38970" rtlCol="0">
            <a:spAutoFit/>
          </a:bodyPr>
          <a:lstStyle/>
          <a:p>
            <a:pPr marL="171450" indent="-1714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5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个决策团队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个决策层级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个授权要素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1" name="矩形 25"/>
          <p:cNvSpPr/>
          <p:nvPr/>
        </p:nvSpPr>
        <p:spPr>
          <a:xfrm>
            <a:off x="4449187" y="2244963"/>
            <a:ext cx="3372567" cy="294145"/>
          </a:xfrm>
          <a:prstGeom prst="rect">
            <a:avLst/>
          </a:prstGeom>
          <a:ln>
            <a:noFill/>
          </a:ln>
          <a:effectLst/>
        </p:spPr>
        <p:txBody>
          <a:bodyPr wrap="square" lIns="77939" tIns="38970" rIns="77939" bIns="38970">
            <a:spAutoFit/>
          </a:bodyPr>
          <a:lstStyle/>
          <a:p>
            <a:pPr>
              <a:defRPr/>
            </a:pPr>
            <a:r>
              <a:rPr lang="en-US" altLang="zh-CN" sz="700" u="sng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[1]</a:t>
            </a:r>
            <a:r>
              <a:rPr lang="zh-CN" altLang="en-US" sz="7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销售授权路径为：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公司董事会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/EMT –〉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财委会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/SDC-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定价委员会 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–〉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公司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 –〉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各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BG SDT –〉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地区部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大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系统部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 –〉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代表处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</a:t>
            </a:r>
            <a:endParaRPr lang="zh-CN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3" name="Text Box 33"/>
          <p:cNvSpPr txBox="1">
            <a:spLocks noChangeArrowheads="1"/>
          </p:cNvSpPr>
          <p:nvPr/>
        </p:nvSpPr>
        <p:spPr bwMode="auto">
          <a:xfrm>
            <a:off x="7232866" y="2113018"/>
            <a:ext cx="1806902" cy="16715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77939" tIns="38970" rIns="77939" bIns="3897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“</a:t>
            </a:r>
            <a:r>
              <a:rPr lang="zh-CN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盈”“赢”并重</a:t>
            </a:r>
            <a:endParaRPr lang="zh-CN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ight Arrow 1"/>
          <p:cNvSpPr/>
          <p:nvPr/>
        </p:nvSpPr>
        <p:spPr bwMode="auto">
          <a:xfrm>
            <a:off x="1809922" y="1366983"/>
            <a:ext cx="291438" cy="942906"/>
          </a:xfrm>
          <a:prstGeom prst="rightArrow">
            <a:avLst>
              <a:gd name="adj1" fmla="val 62456"/>
              <a:gd name="adj2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spAutoFit/>
          </a:bodyPr>
          <a:lstStyle/>
          <a:p>
            <a:pPr defTabSz="779145"/>
            <a:endParaRPr lang="en-US" sz="100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31776" y="875620"/>
            <a:ext cx="13724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  <a:buClrTx/>
              <a:buSz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5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个决策团队：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295798" y="1215857"/>
            <a:ext cx="2244449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1" hangingPunct="1">
              <a:lnSpc>
                <a:spcPct val="15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CSDT-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公司销售决策团队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CNSDT-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运营商网络销售决策团队 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RSDT-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地区部销售决策团队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KASDT-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大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销售决策团队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71450" indent="-171450" eaLnBrk="1" hangingPunct="1">
              <a:lnSpc>
                <a:spcPct val="15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COSDT-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代表处销售决策团队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5203660" y="875620"/>
            <a:ext cx="1829260" cy="307777"/>
            <a:chOff x="5168924" y="875620"/>
            <a:chExt cx="1829260" cy="307777"/>
          </a:xfrm>
        </p:grpSpPr>
        <p:sp>
          <p:nvSpPr>
            <p:cNvPr id="226" name="圆角矩形 225"/>
            <p:cNvSpPr/>
            <p:nvPr/>
          </p:nvSpPr>
          <p:spPr bwMode="auto">
            <a:xfrm>
              <a:off x="5168924" y="900513"/>
              <a:ext cx="1829260" cy="268815"/>
            </a:xfrm>
            <a:prstGeom prst="roundRect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69256" y="875620"/>
              <a:ext cx="14285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授权权力机构</a:t>
              </a:r>
              <a:r>
                <a:rPr lang="en-US" altLang="zh-CN" sz="1400" b="1" baseline="30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[</a:t>
              </a:r>
              <a:r>
                <a:rPr lang="en-US" altLang="zh-CN" sz="1400" b="1" cap="small" baseline="30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1]</a:t>
              </a:r>
              <a:endParaRPr lang="en-US" altLang="en-US" sz="1400" b="1" cap="small" baseline="30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348308" y="1124255"/>
            <a:ext cx="1539965" cy="1102356"/>
            <a:chOff x="5177945" y="1124255"/>
            <a:chExt cx="1539965" cy="1102356"/>
          </a:xfrm>
        </p:grpSpPr>
        <p:sp>
          <p:nvSpPr>
            <p:cNvPr id="159" name="7e66e85e-c520-44a7-99c3-6346db7241ab"/>
            <p:cNvSpPr txBox="1">
              <a:spLocks noChangeArrowheads="1"/>
            </p:cNvSpPr>
            <p:nvPr/>
          </p:nvSpPr>
          <p:spPr bwMode="auto">
            <a:xfrm>
              <a:off x="5177945" y="1618761"/>
              <a:ext cx="311289" cy="1710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zh-CN" altLang="en-US" sz="6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升级</a:t>
              </a:r>
              <a:endParaRPr lang="zh-CN" altLang="en-US" sz="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889478" y="1124255"/>
              <a:ext cx="77617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CCFM 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支持</a:t>
              </a:r>
              <a:endParaRPr lang="en-US" altLang="en-US" sz="1000" b="1" cap="small" baseline="30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graphicFrame>
          <p:nvGraphicFramePr>
            <p:cNvPr id="24" name="图示 23"/>
            <p:cNvGraphicFramePr/>
            <p:nvPr/>
          </p:nvGraphicFramePr>
          <p:xfrm>
            <a:off x="5305578" y="1329612"/>
            <a:ext cx="1331852" cy="88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sp>
          <p:nvSpPr>
            <p:cNvPr id="25" name="矩形 24"/>
            <p:cNvSpPr/>
            <p:nvPr/>
          </p:nvSpPr>
          <p:spPr>
            <a:xfrm>
              <a:off x="5798958" y="1379155"/>
              <a:ext cx="348172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CSDT</a:t>
              </a:r>
              <a:endParaRPr lang="en-US" altLang="zh-CN" sz="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746175" y="1570209"/>
              <a:ext cx="434734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CNSDT</a:t>
              </a:r>
              <a:endParaRPr lang="en-US" altLang="zh-CN" sz="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64642" y="1801228"/>
              <a:ext cx="37863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RSDT</a:t>
              </a:r>
              <a:endParaRPr lang="en-US" altLang="zh-CN" sz="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987445" y="1801228"/>
              <a:ext cx="43152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KASDT</a:t>
              </a:r>
              <a:endParaRPr lang="en-US" altLang="zh-CN" sz="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750136" y="2026556"/>
              <a:ext cx="43633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COSDT</a:t>
              </a:r>
              <a:endParaRPr lang="en-US" altLang="zh-CN" sz="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 bwMode="auto">
            <a:xfrm>
              <a:off x="5968305" y="1783556"/>
              <a:ext cx="0" cy="209530"/>
            </a:xfrm>
            <a:prstGeom prst="line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1" name="Text Box 26"/>
            <p:cNvSpPr txBox="1">
              <a:spLocks noChangeArrowheads="1"/>
            </p:cNvSpPr>
            <p:nvPr/>
          </p:nvSpPr>
          <p:spPr bwMode="auto">
            <a:xfrm>
              <a:off x="6406621" y="1599230"/>
              <a:ext cx="311289" cy="1710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6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</a:t>
              </a:r>
              <a:endParaRPr lang="zh-CN" altLang="en-US" sz="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4" name="手杖形箭头 83"/>
            <p:cNvSpPr/>
            <p:nvPr/>
          </p:nvSpPr>
          <p:spPr bwMode="auto">
            <a:xfrm rot="18155572">
              <a:off x="5295904" y="1924082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手杖形箭头 215"/>
            <p:cNvSpPr/>
            <p:nvPr/>
          </p:nvSpPr>
          <p:spPr bwMode="auto">
            <a:xfrm rot="18300208">
              <a:off x="5490165" y="1667019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手杖形箭头 216"/>
            <p:cNvSpPr/>
            <p:nvPr/>
          </p:nvSpPr>
          <p:spPr bwMode="auto">
            <a:xfrm rot="18423297">
              <a:off x="5663364" y="1438709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手杖形箭头 218"/>
            <p:cNvSpPr/>
            <p:nvPr/>
          </p:nvSpPr>
          <p:spPr bwMode="auto">
            <a:xfrm rot="3183059">
              <a:off x="6175790" y="1554176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手杖形箭头 219"/>
            <p:cNvSpPr/>
            <p:nvPr/>
          </p:nvSpPr>
          <p:spPr bwMode="auto">
            <a:xfrm rot="3183059">
              <a:off x="6346336" y="1777681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手杖形箭头 220"/>
            <p:cNvSpPr/>
            <p:nvPr/>
          </p:nvSpPr>
          <p:spPr bwMode="auto">
            <a:xfrm rot="3154821">
              <a:off x="6517851" y="2011003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手杖形箭头 221"/>
            <p:cNvSpPr/>
            <p:nvPr/>
          </p:nvSpPr>
          <p:spPr bwMode="auto">
            <a:xfrm rot="3241032">
              <a:off x="6019395" y="1339284"/>
              <a:ext cx="187829" cy="134481"/>
            </a:xfrm>
            <a:prstGeom prst="uturnArrow">
              <a:avLst>
                <a:gd name="adj1" fmla="val 29889"/>
                <a:gd name="adj2" fmla="val 25000"/>
                <a:gd name="adj3" fmla="val 27739"/>
                <a:gd name="adj4" fmla="val 58424"/>
                <a:gd name="adj5" fmla="val 100000"/>
              </a:avLst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7642238" y="1250575"/>
            <a:ext cx="988158" cy="891002"/>
            <a:chOff x="7452722" y="1187075"/>
            <a:chExt cx="988158" cy="891002"/>
          </a:xfrm>
        </p:grpSpPr>
        <p:grpSp>
          <p:nvGrpSpPr>
            <p:cNvPr id="88" name="组合 87"/>
            <p:cNvGrpSpPr/>
            <p:nvPr/>
          </p:nvGrpSpPr>
          <p:grpSpPr>
            <a:xfrm>
              <a:off x="7909965" y="1602609"/>
              <a:ext cx="530915" cy="475468"/>
              <a:chOff x="7909965" y="1602609"/>
              <a:chExt cx="530915" cy="475468"/>
            </a:xfrm>
          </p:grpSpPr>
          <p:sp>
            <p:nvSpPr>
              <p:cNvPr id="224" name="Oval 4"/>
              <p:cNvSpPr>
                <a:spLocks noChangeArrowheads="1"/>
              </p:cNvSpPr>
              <p:nvPr/>
            </p:nvSpPr>
            <p:spPr bwMode="gray">
              <a:xfrm>
                <a:off x="7928939" y="1602609"/>
                <a:ext cx="492966" cy="475468"/>
              </a:xfrm>
              <a:prstGeom prst="ellipse">
                <a:avLst/>
              </a:prstGeom>
              <a:solidFill>
                <a:srgbClr val="0070C0"/>
              </a:solidFill>
              <a:ln w="38100">
                <a:noFill/>
                <a:round/>
              </a:ln>
            </p:spPr>
            <p:txBody>
              <a:bodyPr lIns="9144" tIns="18288" rIns="9144" bIns="18288" anchor="ctr" anchorCtr="1"/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endParaRPr lang="zh-CN" altLang="en-US" sz="900" b="1" dirty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7909965" y="1724927"/>
                <a:ext cx="530915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00000"/>
                  </a:lnSpc>
                  <a:buClrTx/>
                  <a:buSzTx/>
                  <a:buFontTx/>
                  <a:buNone/>
                  <a:defRPr/>
                </a:pPr>
                <a:r>
                  <a:rPr lang="zh-CN" altLang="en-US" sz="9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现金流</a:t>
                </a:r>
                <a:endParaRPr lang="en-US" altLang="zh-CN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7678115" y="1187075"/>
              <a:ext cx="530915" cy="475468"/>
              <a:chOff x="7678115" y="1187075"/>
              <a:chExt cx="530915" cy="475468"/>
            </a:xfrm>
          </p:grpSpPr>
          <p:sp>
            <p:nvSpPr>
              <p:cNvPr id="123" name="Oval 4"/>
              <p:cNvSpPr>
                <a:spLocks noChangeArrowheads="1"/>
              </p:cNvSpPr>
              <p:nvPr/>
            </p:nvSpPr>
            <p:spPr bwMode="gray">
              <a:xfrm>
                <a:off x="7697089" y="1187075"/>
                <a:ext cx="492966" cy="475468"/>
              </a:xfrm>
              <a:prstGeom prst="ellipse">
                <a:avLst/>
              </a:prstGeom>
              <a:solidFill>
                <a:srgbClr val="0070C0"/>
              </a:solidFill>
              <a:ln w="38100">
                <a:noFill/>
                <a:round/>
              </a:ln>
            </p:spPr>
            <p:txBody>
              <a:bodyPr lIns="9144" tIns="18288" rIns="9144" bIns="18288" anchor="ctr" anchorCtr="1"/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endParaRPr lang="zh-CN" altLang="en-US" sz="900" b="1" dirty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7678115" y="1309393"/>
                <a:ext cx="530915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9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盈利性</a:t>
                </a:r>
                <a:endPara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7452722" y="1596259"/>
              <a:ext cx="492966" cy="475468"/>
              <a:chOff x="7440022" y="1602609"/>
              <a:chExt cx="492966" cy="475468"/>
            </a:xfrm>
          </p:grpSpPr>
          <p:sp>
            <p:nvSpPr>
              <p:cNvPr id="225" name="Oval 4"/>
              <p:cNvSpPr>
                <a:spLocks noChangeArrowheads="1"/>
              </p:cNvSpPr>
              <p:nvPr/>
            </p:nvSpPr>
            <p:spPr bwMode="gray">
              <a:xfrm>
                <a:off x="7440022" y="1602609"/>
                <a:ext cx="492966" cy="475468"/>
              </a:xfrm>
              <a:prstGeom prst="ellipse">
                <a:avLst/>
              </a:prstGeom>
              <a:solidFill>
                <a:srgbClr val="0070C0"/>
              </a:solidFill>
              <a:ln w="38100">
                <a:noFill/>
                <a:round/>
              </a:ln>
            </p:spPr>
            <p:txBody>
              <a:bodyPr lIns="9144" tIns="18288" rIns="9144" bIns="18288" anchor="ctr" anchorCtr="1"/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endParaRPr lang="zh-CN" altLang="en-US" sz="900" b="1" dirty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7478756" y="1724927"/>
                <a:ext cx="41549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9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风险</a:t>
                </a:r>
                <a:endPara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58" name="AutoShape 85"/>
          <p:cNvSpPr>
            <a:spLocks noChangeArrowheads="1"/>
          </p:cNvSpPr>
          <p:nvPr/>
        </p:nvSpPr>
        <p:spPr bwMode="auto">
          <a:xfrm>
            <a:off x="4981025" y="4960027"/>
            <a:ext cx="299982" cy="126577"/>
          </a:xfrm>
          <a:prstGeom prst="diamond">
            <a:avLst/>
          </a:prstGeom>
          <a:solidFill>
            <a:srgbClr val="FBD893"/>
          </a:solid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</a:ln>
        </p:spPr>
        <p:txBody>
          <a:bodyPr wrap="none" lIns="0" tIns="0" rIns="0" bIns="0" anchor="ctr" anchorCtr="1"/>
          <a:lstStyle/>
          <a:p>
            <a:pPr algn="ctr" defTabSz="582930"/>
            <a:endParaRPr lang="en-US" altLang="zh-HK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1465" y="4962525"/>
            <a:ext cx="1001817" cy="186423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* 事件触发决策点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4" name="AutoShape 85"/>
          <p:cNvSpPr>
            <a:spLocks noChangeArrowheads="1"/>
          </p:cNvSpPr>
          <p:nvPr/>
        </p:nvSpPr>
        <p:spPr bwMode="auto">
          <a:xfrm>
            <a:off x="3783481" y="4953849"/>
            <a:ext cx="332016" cy="132755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wrap="none" lIns="58314" tIns="29157" rIns="58314" bIns="29157" anchor="ctr"/>
          <a:lstStyle/>
          <a:p>
            <a:pPr algn="ctr" defTabSz="582930"/>
            <a:endParaRPr lang="en-US" altLang="zh-HK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062161" y="4953849"/>
            <a:ext cx="974953" cy="186423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常规销售决策点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2" name="AutoShape 4"/>
          <p:cNvSpPr>
            <a:spLocks noChangeAspect="1" noChangeArrowheads="1"/>
          </p:cNvSpPr>
          <p:nvPr/>
        </p:nvSpPr>
        <p:spPr bwMode="auto">
          <a:xfrm flipV="1">
            <a:off x="2998318" y="4980136"/>
            <a:ext cx="193493" cy="135731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noFill/>
            <a:miter lim="800000"/>
          </a:ln>
        </p:spPr>
        <p:txBody>
          <a:bodyPr wrap="none" lIns="58314" tIns="29157" rIns="58314" bIns="29157" anchor="ctr"/>
          <a:lstStyle/>
          <a:p>
            <a:endParaRPr lang="zh-CN" alt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169104" y="4951674"/>
            <a:ext cx="543903" cy="186423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评审点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251" name="组合 250"/>
          <p:cNvGrpSpPr/>
          <p:nvPr/>
        </p:nvGrpSpPr>
        <p:grpSpPr>
          <a:xfrm>
            <a:off x="935876" y="3650187"/>
            <a:ext cx="7484150" cy="441291"/>
            <a:chOff x="897776" y="3650187"/>
            <a:chExt cx="7484150" cy="441291"/>
          </a:xfrm>
        </p:grpSpPr>
        <p:sp>
          <p:nvSpPr>
            <p:cNvPr id="65" name="AutoShape 85"/>
            <p:cNvSpPr>
              <a:spLocks noChangeArrowheads="1"/>
            </p:cNvSpPr>
            <p:nvPr/>
          </p:nvSpPr>
          <p:spPr bwMode="auto">
            <a:xfrm>
              <a:off x="897776" y="3825968"/>
              <a:ext cx="664033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ATI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6" name="AutoShape 85"/>
            <p:cNvSpPr>
              <a:spLocks noChangeArrowheads="1"/>
            </p:cNvSpPr>
            <p:nvPr/>
          </p:nvSpPr>
          <p:spPr bwMode="auto">
            <a:xfrm>
              <a:off x="4266170" y="3825968"/>
              <a:ext cx="664032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7" name="AutoShape 85"/>
            <p:cNvSpPr>
              <a:spLocks noChangeArrowheads="1"/>
            </p:cNvSpPr>
            <p:nvPr/>
          </p:nvSpPr>
          <p:spPr bwMode="auto">
            <a:xfrm>
              <a:off x="253833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ATB</a:t>
              </a:r>
              <a:endParaRPr lang="en-US" altLang="zh-HK" sz="1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8" name="AutoShape 85"/>
            <p:cNvSpPr>
              <a:spLocks noChangeArrowheads="1"/>
            </p:cNvSpPr>
            <p:nvPr/>
          </p:nvSpPr>
          <p:spPr bwMode="auto">
            <a:xfrm>
              <a:off x="771642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71" name="AutoShape 538"/>
            <p:cNvCxnSpPr>
              <a:cxnSpLocks noChangeShapeType="1"/>
              <a:stCxn id="65" idx="3"/>
              <a:endCxn id="67" idx="1"/>
            </p:cNvCxnSpPr>
            <p:nvPr/>
          </p:nvCxnSpPr>
          <p:spPr bwMode="auto">
            <a:xfrm>
              <a:off x="1561807" y="3958722"/>
              <a:ext cx="976531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72" name="AutoShape 539"/>
            <p:cNvCxnSpPr>
              <a:cxnSpLocks noChangeShapeType="1"/>
              <a:stCxn id="67" idx="3"/>
              <a:endCxn id="66" idx="1"/>
            </p:cNvCxnSpPr>
            <p:nvPr/>
          </p:nvCxnSpPr>
          <p:spPr bwMode="auto">
            <a:xfrm>
              <a:off x="3203836" y="3958722"/>
              <a:ext cx="1062334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73" name="AutoShape 540"/>
            <p:cNvCxnSpPr>
              <a:cxnSpLocks noChangeShapeType="1"/>
              <a:stCxn id="66" idx="3"/>
              <a:endCxn id="76" idx="1"/>
            </p:cNvCxnSpPr>
            <p:nvPr/>
          </p:nvCxnSpPr>
          <p:spPr bwMode="auto">
            <a:xfrm>
              <a:off x="4930201" y="3958722"/>
              <a:ext cx="983636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74" name="AutoShape 4"/>
            <p:cNvSpPr>
              <a:spLocks noChangeAspect="1" noChangeArrowheads="1"/>
            </p:cNvSpPr>
            <p:nvPr/>
          </p:nvSpPr>
          <p:spPr bwMode="auto">
            <a:xfrm flipV="1">
              <a:off x="203604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sz="8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5" name="AutoShape 5"/>
            <p:cNvSpPr>
              <a:spLocks noChangeAspect="1" noChangeArrowheads="1"/>
            </p:cNvSpPr>
            <p:nvPr/>
          </p:nvSpPr>
          <p:spPr bwMode="auto">
            <a:xfrm flipV="1">
              <a:off x="3790321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6" name="AutoShape 85"/>
            <p:cNvSpPr>
              <a:spLocks noChangeArrowheads="1"/>
            </p:cNvSpPr>
            <p:nvPr/>
          </p:nvSpPr>
          <p:spPr bwMode="auto">
            <a:xfrm>
              <a:off x="5913838" y="3825968"/>
              <a:ext cx="664033" cy="265510"/>
            </a:xfrm>
            <a:prstGeom prst="diamond">
              <a:avLst/>
            </a:prstGeom>
            <a:solidFill>
              <a:srgbClr val="FBD893"/>
            </a:solidFill>
            <a:ln w="9525" algn="ctr">
              <a:solidFill>
                <a:schemeClr val="tx1"/>
              </a:solidFill>
              <a:prstDash val="dash"/>
              <a:miter lim="800000"/>
            </a:ln>
          </p:spPr>
          <p:txBody>
            <a:bodyPr wrap="none" lIns="0" tIns="0" rIns="0" bIns="0" anchor="ctr" anchorCtr="1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ATAC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*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77" name="AutoShape 540"/>
            <p:cNvCxnSpPr>
              <a:cxnSpLocks noChangeShapeType="1"/>
              <a:stCxn id="76" idx="3"/>
              <a:endCxn id="68" idx="1"/>
            </p:cNvCxnSpPr>
            <p:nvPr/>
          </p:nvCxnSpPr>
          <p:spPr bwMode="auto">
            <a:xfrm>
              <a:off x="6577871" y="3958722"/>
              <a:ext cx="1138557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78" name="AutoShape 5"/>
            <p:cNvSpPr>
              <a:spLocks noChangeAspect="1" noChangeArrowheads="1"/>
            </p:cNvSpPr>
            <p:nvPr/>
          </p:nvSpPr>
          <p:spPr bwMode="auto">
            <a:xfrm flipV="1">
              <a:off x="533342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9" name="Text Box 34"/>
            <p:cNvSpPr txBox="1">
              <a:spLocks noChangeArrowheads="1"/>
            </p:cNvSpPr>
            <p:nvPr/>
          </p:nvSpPr>
          <p:spPr bwMode="auto">
            <a:xfrm>
              <a:off x="1744878" y="3650187"/>
              <a:ext cx="804755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投标评审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0" name="Text Box 34"/>
            <p:cNvSpPr txBox="1">
              <a:spLocks noChangeArrowheads="1"/>
            </p:cNvSpPr>
            <p:nvPr/>
          </p:nvSpPr>
          <p:spPr bwMode="auto">
            <a:xfrm>
              <a:off x="3528485" y="3650187"/>
              <a:ext cx="804754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4824647" y="3650187"/>
              <a:ext cx="1308588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</a:t>
              </a: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PO</a:t>
              </a: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2015820" y="3793037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3775081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5321960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3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组合 238"/>
          <p:cNvGrpSpPr/>
          <p:nvPr/>
        </p:nvGrpSpPr>
        <p:grpSpPr>
          <a:xfrm>
            <a:off x="579426" y="4131330"/>
            <a:ext cx="1428421" cy="792130"/>
            <a:chOff x="401886" y="4131330"/>
            <a:chExt cx="1428421" cy="792130"/>
          </a:xfrm>
        </p:grpSpPr>
        <p:sp>
          <p:nvSpPr>
            <p:cNvPr id="15" name="圆角矩形 14"/>
            <p:cNvSpPr/>
            <p:nvPr/>
          </p:nvSpPr>
          <p:spPr bwMode="auto">
            <a:xfrm>
              <a:off x="408614" y="4131330"/>
              <a:ext cx="1421693" cy="792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 Box 34"/>
            <p:cNvSpPr txBox="1">
              <a:spLocks noChangeArrowheads="1"/>
            </p:cNvSpPr>
            <p:nvPr/>
          </p:nvSpPr>
          <p:spPr bwMode="auto">
            <a:xfrm>
              <a:off x="401886" y="4358746"/>
              <a:ext cx="1403254" cy="446641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no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是否投入资源立项，项目组任命是否合适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机会点定级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00330" indent="-100330"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3" name="矩形 232"/>
            <p:cNvSpPr/>
            <p:nvPr/>
          </p:nvSpPr>
          <p:spPr>
            <a:xfrm>
              <a:off x="684506" y="4143245"/>
              <a:ext cx="79060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立项决策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2204901" y="4046082"/>
            <a:ext cx="1543035" cy="879553"/>
            <a:chOff x="2027361" y="4046082"/>
            <a:chExt cx="1543035" cy="879553"/>
          </a:xfrm>
        </p:grpSpPr>
        <p:sp>
          <p:nvSpPr>
            <p:cNvPr id="212" name="圆角矩形 211"/>
            <p:cNvSpPr/>
            <p:nvPr/>
          </p:nvSpPr>
          <p:spPr bwMode="auto">
            <a:xfrm>
              <a:off x="2046878" y="4150461"/>
              <a:ext cx="1421693" cy="7751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2" name="Text Box 34"/>
            <p:cNvSpPr txBox="1">
              <a:spLocks noChangeArrowheads="1"/>
            </p:cNvSpPr>
            <p:nvPr/>
          </p:nvSpPr>
          <p:spPr bwMode="auto">
            <a:xfrm>
              <a:off x="2027361" y="4358746"/>
              <a:ext cx="1543035" cy="3575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是否递交标书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聚焦战略、风险和财务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4" name="矩形 233"/>
            <p:cNvSpPr/>
            <p:nvPr/>
          </p:nvSpPr>
          <p:spPr>
            <a:xfrm>
              <a:off x="2348798" y="4046082"/>
              <a:ext cx="817853" cy="340482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r>
                <a: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投标决策</a:t>
              </a:r>
              <a:endPara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3940046" y="4053376"/>
            <a:ext cx="1781014" cy="870084"/>
            <a:chOff x="3762506" y="4053376"/>
            <a:chExt cx="1781014" cy="870084"/>
          </a:xfrm>
        </p:grpSpPr>
        <p:sp>
          <p:nvSpPr>
            <p:cNvPr id="213" name="圆角矩形 212"/>
            <p:cNvSpPr/>
            <p:nvPr/>
          </p:nvSpPr>
          <p:spPr bwMode="auto">
            <a:xfrm>
              <a:off x="3791422" y="4131330"/>
              <a:ext cx="1421693" cy="792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0" name="Text Box 34"/>
            <p:cNvSpPr txBox="1">
              <a:spLocks noChangeArrowheads="1"/>
            </p:cNvSpPr>
            <p:nvPr/>
          </p:nvSpPr>
          <p:spPr bwMode="auto">
            <a:xfrm>
              <a:off x="3762506" y="4358746"/>
              <a:ext cx="1781014" cy="3575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是否签约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聚焦战略、风险和财务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5" name="矩形 234"/>
            <p:cNvSpPr/>
            <p:nvPr/>
          </p:nvSpPr>
          <p:spPr>
            <a:xfrm>
              <a:off x="4093342" y="4053376"/>
              <a:ext cx="8178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r>
                <a: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签约决策</a:t>
              </a:r>
              <a:endPara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5645869" y="4043912"/>
            <a:ext cx="1466025" cy="879548"/>
            <a:chOff x="5468329" y="4043912"/>
            <a:chExt cx="1466025" cy="879548"/>
          </a:xfrm>
        </p:grpSpPr>
        <p:sp>
          <p:nvSpPr>
            <p:cNvPr id="214" name="圆角矩形 213"/>
            <p:cNvSpPr/>
            <p:nvPr/>
          </p:nvSpPr>
          <p:spPr bwMode="auto">
            <a:xfrm>
              <a:off x="5504250" y="4131330"/>
              <a:ext cx="1421693" cy="792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7" name="Text Box 34"/>
            <p:cNvSpPr txBox="1">
              <a:spLocks noChangeArrowheads="1"/>
            </p:cNvSpPr>
            <p:nvPr/>
          </p:nvSpPr>
          <p:spPr bwMode="auto">
            <a:xfrm>
              <a:off x="5468329" y="4358746"/>
              <a:ext cx="1466025" cy="496057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是否进行合同</a:t>
              </a:r>
              <a:r>
                <a:rPr lang="en-US" altLang="zh-CN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/PO</a:t>
              </a: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变更条款的风险及对利润的影响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5665105" y="4043912"/>
              <a:ext cx="10999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r>
                <a: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合同变更决策</a:t>
              </a:r>
              <a:endPara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43" name="组合 242"/>
          <p:cNvGrpSpPr/>
          <p:nvPr/>
        </p:nvGrpSpPr>
        <p:grpSpPr>
          <a:xfrm>
            <a:off x="7481999" y="4047439"/>
            <a:ext cx="1421693" cy="945864"/>
            <a:chOff x="7304459" y="4047439"/>
            <a:chExt cx="1421693" cy="945864"/>
          </a:xfrm>
        </p:grpSpPr>
        <p:sp>
          <p:nvSpPr>
            <p:cNvPr id="215" name="圆角矩形 214"/>
            <p:cNvSpPr/>
            <p:nvPr/>
          </p:nvSpPr>
          <p:spPr bwMode="auto">
            <a:xfrm>
              <a:off x="7304459" y="4131328"/>
              <a:ext cx="1421693" cy="8205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0" name="Text Box 34"/>
            <p:cNvSpPr txBox="1">
              <a:spLocks noChangeArrowheads="1"/>
            </p:cNvSpPr>
            <p:nvPr/>
          </p:nvSpPr>
          <p:spPr bwMode="auto">
            <a:xfrm>
              <a:off x="7358323" y="4358746"/>
              <a:ext cx="1362658" cy="634557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是否关闭合同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条款的履约情况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责任转移及风险规避情况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7" name="矩形 236"/>
            <p:cNvSpPr/>
            <p:nvPr/>
          </p:nvSpPr>
          <p:spPr>
            <a:xfrm>
              <a:off x="7473329" y="4047439"/>
              <a:ext cx="10839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Arial" panose="020B0604020202020204" pitchFamily="34" charset="0"/>
                </a:rPr>
                <a:t> </a:t>
              </a:r>
              <a:r>
                <a: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合同关闭决策</a:t>
              </a:r>
              <a:endPara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44" name="矩形 243"/>
          <p:cNvSpPr/>
          <p:nvPr/>
        </p:nvSpPr>
        <p:spPr>
          <a:xfrm>
            <a:off x="33374" y="2605101"/>
            <a:ext cx="5061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0330" indent="-100330" algn="ctr">
              <a:buClr>
                <a:schemeClr val="tx2"/>
              </a:buClr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00330" indent="-100330" algn="ctr">
              <a:buClr>
                <a:schemeClr val="tx2"/>
              </a:buClr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权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151712" y="3113755"/>
            <a:ext cx="220836" cy="1238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0330" indent="-100330" algn="ctr">
              <a:buClr>
                <a:schemeClr val="tx2"/>
              </a:buClr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评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00330" indent="-100330" algn="ctr">
              <a:buClr>
                <a:schemeClr val="tx2"/>
              </a:buClr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审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00330" indent="-100330" algn="ctr">
              <a:buClr>
                <a:schemeClr val="tx2"/>
              </a:buClr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与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00330" indent="-100330" algn="ctr">
              <a:buClr>
                <a:schemeClr val="tx2"/>
              </a:buClr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决</a:t>
            </a:r>
            <a:endParaRPr lang="en-US" altLang="zh-CN" sz="10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00330" indent="-100330" algn="ctr">
              <a:buClr>
                <a:schemeClr val="tx2"/>
              </a:buClr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策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6" name="矩形 245"/>
          <p:cNvSpPr/>
          <p:nvPr/>
        </p:nvSpPr>
        <p:spPr>
          <a:xfrm rot="5400000">
            <a:off x="-26816" y="2923991"/>
            <a:ext cx="502611" cy="369332"/>
          </a:xfrm>
          <a:prstGeom prst="rect">
            <a:avLst/>
          </a:prstGeom>
        </p:spPr>
        <p:txBody>
          <a:bodyPr>
            <a:noAutofit/>
          </a:bodyPr>
          <a:lstStyle/>
          <a:p>
            <a:pPr marL="100330" indent="-100330" algn="ctr">
              <a:buClr>
                <a:schemeClr val="tx2"/>
              </a:buClr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（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7" name="矩形 246"/>
          <p:cNvSpPr/>
          <p:nvPr/>
        </p:nvSpPr>
        <p:spPr>
          <a:xfrm rot="16200000">
            <a:off x="71820" y="3843350"/>
            <a:ext cx="502611" cy="369332"/>
          </a:xfrm>
          <a:prstGeom prst="rect">
            <a:avLst/>
          </a:prstGeom>
        </p:spPr>
        <p:txBody>
          <a:bodyPr>
            <a:noAutofit/>
          </a:bodyPr>
          <a:lstStyle/>
          <a:p>
            <a:pPr marL="100330" indent="-100330" algn="ctr">
              <a:buClr>
                <a:schemeClr val="tx2"/>
              </a:buClr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（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10824" y="4010238"/>
            <a:ext cx="502611" cy="369332"/>
          </a:xfrm>
          <a:prstGeom prst="rect">
            <a:avLst/>
          </a:prstGeom>
        </p:spPr>
        <p:txBody>
          <a:bodyPr>
            <a:noAutofit/>
          </a:bodyPr>
          <a:lstStyle/>
          <a:p>
            <a:pPr marL="100330" indent="-100330" algn="ctr">
              <a:buClr>
                <a:schemeClr val="tx2"/>
              </a:buClr>
            </a:pP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9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13/21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386761" y="3428820"/>
            <a:ext cx="4148265" cy="1516388"/>
            <a:chOff x="400951" y="2875161"/>
            <a:chExt cx="4176614" cy="2072853"/>
          </a:xfrm>
        </p:grpSpPr>
        <p:sp>
          <p:nvSpPr>
            <p:cNvPr id="77" name="圆角矩形 76"/>
            <p:cNvSpPr/>
            <p:nvPr/>
          </p:nvSpPr>
          <p:spPr bwMode="auto">
            <a:xfrm>
              <a:off x="400951" y="2875161"/>
              <a:ext cx="4176614" cy="2072853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矩形 77"/>
            <p:cNvSpPr/>
            <p:nvPr/>
          </p:nvSpPr>
          <p:spPr bwMode="auto">
            <a:xfrm>
              <a:off x="400952" y="2875162"/>
              <a:ext cx="4176609" cy="45281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621375" y="3428821"/>
            <a:ext cx="4140000" cy="1516388"/>
            <a:chOff x="400951" y="2875161"/>
            <a:chExt cx="4176614" cy="2072853"/>
          </a:xfrm>
        </p:grpSpPr>
        <p:sp>
          <p:nvSpPr>
            <p:cNvPr id="80" name="圆角矩形 79"/>
            <p:cNvSpPr/>
            <p:nvPr/>
          </p:nvSpPr>
          <p:spPr bwMode="auto">
            <a:xfrm>
              <a:off x="400951" y="2875161"/>
              <a:ext cx="4176614" cy="2072853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400952" y="2875162"/>
              <a:ext cx="4176609" cy="45281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8910" y="168168"/>
            <a:ext cx="7539038" cy="628650"/>
          </a:xfrm>
          <a:prstGeom prst="rect">
            <a:avLst/>
          </a:prstGeom>
        </p:spPr>
        <p:txBody>
          <a:bodyPr/>
          <a:lstStyle/>
          <a:p>
            <a:r>
              <a:rPr lang="en-US" altLang="zh-CN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管理授权与行权</a:t>
            </a:r>
            <a:r>
              <a:rPr lang="en-US" altLang="zh-CN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(MAE)</a:t>
            </a: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：授权</a:t>
            </a:r>
            <a:endParaRPr lang="en-US" sz="1400" b="0" kern="12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383116" y="823425"/>
            <a:ext cx="8377769" cy="2552034"/>
          </a:xfrm>
          <a:prstGeom prst="roundRect">
            <a:avLst>
              <a:gd name="adj" fmla="val 8449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779145"/>
            <a:endParaRPr lang="en-US" sz="1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9" name="TextBox 15"/>
          <p:cNvSpPr txBox="1"/>
          <p:nvPr/>
        </p:nvSpPr>
        <p:spPr bwMode="auto">
          <a:xfrm>
            <a:off x="1879953" y="3447376"/>
            <a:ext cx="1026955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3" name="TextBox 103"/>
          <p:cNvSpPr txBox="1"/>
          <p:nvPr/>
        </p:nvSpPr>
        <p:spPr bwMode="auto">
          <a:xfrm>
            <a:off x="6376894" y="3447375"/>
            <a:ext cx="628962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5" name="Rectangle 144"/>
          <p:cNvSpPr>
            <a:spLocks noChangeArrowheads="1"/>
          </p:cNvSpPr>
          <p:nvPr/>
        </p:nvSpPr>
        <p:spPr bwMode="auto">
          <a:xfrm>
            <a:off x="4837962" y="4284986"/>
            <a:ext cx="4246685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49" name="Straight Connector 148"/>
          <p:cNvCxnSpPr/>
          <p:nvPr/>
        </p:nvCxnSpPr>
        <p:spPr bwMode="auto">
          <a:xfrm>
            <a:off x="4505508" y="735546"/>
            <a:ext cx="0" cy="2693274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50" name="Table 149"/>
          <p:cNvGraphicFramePr>
            <a:graphicFrameLocks noGrp="1"/>
          </p:cNvGraphicFramePr>
          <p:nvPr/>
        </p:nvGraphicFramePr>
        <p:xfrm>
          <a:off x="547315" y="1116733"/>
          <a:ext cx="3692233" cy="2166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407"/>
                <a:gridCol w="1333022"/>
                <a:gridCol w="1329804"/>
              </a:tblGrid>
              <a:tr h="3003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授权要素</a:t>
                      </a:r>
                      <a:endParaRPr 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2012</a:t>
                      </a:r>
                      <a:r>
                        <a:rPr lang="zh-CN" alt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2013</a:t>
                      </a:r>
                      <a:r>
                        <a:rPr lang="zh-CN" alt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  <a:tr h="270030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盈利性</a:t>
                      </a:r>
                      <a:endParaRPr lang="en-US" sz="1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盈利性授权书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盈利性授权书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813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盈利性补充授权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盈利性补充授权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13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价位授权书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价位授权书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3380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合同变更授权</a:t>
                      </a:r>
                      <a:endParaRPr lang="en-US" altLang="zh-CN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指导原则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86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小额合同盈利性</a:t>
                      </a:r>
                      <a:endParaRPr lang="en-US" altLang="zh-CN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</a:t>
                      </a:r>
                      <a:endParaRPr lang="en-US" sz="1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风险授权书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4433" marR="84433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6260626" y="1059944"/>
            <a:ext cx="1068198" cy="1761797"/>
            <a:chOff x="6265299" y="1059944"/>
            <a:chExt cx="1068198" cy="1761797"/>
          </a:xfrm>
        </p:grpSpPr>
        <p:cxnSp>
          <p:nvCxnSpPr>
            <p:cNvPr id="153" name="直接连接符 181"/>
            <p:cNvCxnSpPr>
              <a:cxnSpLocks noChangeShapeType="1"/>
            </p:cNvCxnSpPr>
            <p:nvPr/>
          </p:nvCxnSpPr>
          <p:spPr bwMode="auto">
            <a:xfrm flipV="1">
              <a:off x="6694972" y="1714484"/>
              <a:ext cx="260251" cy="1"/>
            </a:xfrm>
            <a:prstGeom prst="line">
              <a:avLst/>
            </a:prstGeom>
            <a:solidFill>
              <a:schemeClr val="accent5"/>
            </a:solidFill>
            <a:ln w="9525" algn="ctr">
              <a:noFill/>
              <a:round/>
            </a:ln>
          </p:spPr>
        </p:cxnSp>
        <p:grpSp>
          <p:nvGrpSpPr>
            <p:cNvPr id="8" name="组合 7"/>
            <p:cNvGrpSpPr/>
            <p:nvPr/>
          </p:nvGrpSpPr>
          <p:grpSpPr>
            <a:xfrm>
              <a:off x="6265299" y="1439863"/>
              <a:ext cx="1068198" cy="1381878"/>
              <a:chOff x="4171852" y="4684477"/>
              <a:chExt cx="1068198" cy="1381878"/>
            </a:xfrm>
          </p:grpSpPr>
          <p:graphicFrame>
            <p:nvGraphicFramePr>
              <p:cNvPr id="6" name="图示 5"/>
              <p:cNvGraphicFramePr/>
              <p:nvPr/>
            </p:nvGraphicFramePr>
            <p:xfrm>
              <a:off x="4171852" y="4684477"/>
              <a:ext cx="1068198" cy="138187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" r:lo="rId2" r:qs="rId3" r:cs="rId4"/>
              </a:graphicData>
            </a:graphic>
          </p:graphicFrame>
          <p:sp>
            <p:nvSpPr>
              <p:cNvPr id="155" name="TextBox 183"/>
              <p:cNvSpPr txBox="1">
                <a:spLocks noChangeArrowheads="1"/>
              </p:cNvSpPr>
              <p:nvPr/>
            </p:nvSpPr>
            <p:spPr bwMode="auto">
              <a:xfrm>
                <a:off x="4512269" y="4905134"/>
                <a:ext cx="347730" cy="2696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9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15%</a:t>
                </a:r>
                <a:endPara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6" name="TextBox 184"/>
              <p:cNvSpPr txBox="1">
                <a:spLocks noChangeArrowheads="1"/>
              </p:cNvSpPr>
              <p:nvPr/>
            </p:nvSpPr>
            <p:spPr bwMode="auto">
              <a:xfrm>
                <a:off x="4499530" y="5257353"/>
                <a:ext cx="430358" cy="2696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27%</a:t>
                </a:r>
                <a:endPara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7" name="TextBox 185"/>
              <p:cNvSpPr txBox="1">
                <a:spLocks noChangeArrowheads="1"/>
              </p:cNvSpPr>
              <p:nvPr/>
            </p:nvSpPr>
            <p:spPr bwMode="auto">
              <a:xfrm>
                <a:off x="4512336" y="5703975"/>
                <a:ext cx="404746" cy="24112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58%</a:t>
                </a:r>
                <a:endPara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8" name="TextBox 248"/>
            <p:cNvSpPr txBox="1">
              <a:spLocks noChangeArrowheads="1"/>
            </p:cNvSpPr>
            <p:nvPr/>
          </p:nvSpPr>
          <p:spPr bwMode="auto">
            <a:xfrm>
              <a:off x="6533022" y="1059944"/>
              <a:ext cx="532752" cy="2696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7939" tIns="38970" rIns="77939" bIns="38970"/>
            <a:lstStyle/>
            <a:p>
              <a:pPr algn="ctr"/>
              <a:r>
                <a:rPr lang="en-US" altLang="zh-CN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2013</a:t>
              </a:r>
              <a:r>
                <a:rPr lang="zh-CN" altLang="en-US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年</a:t>
              </a:r>
              <a:endParaRPr lang="zh-CN" altLang="en-US" sz="10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72" name="TextBox 218"/>
          <p:cNvSpPr txBox="1">
            <a:spLocks noChangeArrowheads="1"/>
          </p:cNvSpPr>
          <p:nvPr/>
        </p:nvSpPr>
        <p:spPr bwMode="auto">
          <a:xfrm>
            <a:off x="4554618" y="1515589"/>
            <a:ext cx="685432" cy="3449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7939" tIns="38970" rIns="77939" bIns="38970"/>
          <a:lstStyle/>
          <a:p>
            <a:pPr algn="ctr"/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公司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/CNBG SDT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3" name="TextBox 232"/>
          <p:cNvSpPr txBox="1">
            <a:spLocks noChangeArrowheads="1"/>
          </p:cNvSpPr>
          <p:nvPr/>
        </p:nvSpPr>
        <p:spPr bwMode="auto">
          <a:xfrm>
            <a:off x="4535027" y="2011231"/>
            <a:ext cx="633175" cy="2527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7939" tIns="38970" rIns="77939" bIns="38970"/>
          <a:lstStyle/>
          <a:p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地区部 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4" name="TextBox 233"/>
          <p:cNvSpPr txBox="1">
            <a:spLocks noChangeArrowheads="1"/>
          </p:cNvSpPr>
          <p:nvPr/>
        </p:nvSpPr>
        <p:spPr bwMode="auto">
          <a:xfrm>
            <a:off x="4535027" y="2414611"/>
            <a:ext cx="633174" cy="2527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7939" tIns="38970" rIns="77939" bIns="38970"/>
          <a:lstStyle/>
          <a:p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代表处 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795083" y="831895"/>
            <a:ext cx="1196697" cy="263367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销售授权变化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5968295" y="838245"/>
            <a:ext cx="1445385" cy="263367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授权后的决策变化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4672081" y="3004670"/>
            <a:ext cx="3951628" cy="217201"/>
          </a:xfrm>
          <a:prstGeom prst="rect">
            <a:avLst/>
          </a:prstGeom>
        </p:spPr>
        <p:txBody>
          <a:bodyPr wrap="square" lIns="77939" tIns="38970" rIns="77939" bIns="38970">
            <a:spAutoFit/>
          </a:bodyPr>
          <a:lstStyle/>
          <a:p>
            <a:pPr marL="0" lvl="1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代表处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合同决策数量由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12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</a:t>
            </a:r>
            <a:r>
              <a:rPr lang="en-US" altLang="zh-CN" sz="9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10%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提高至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13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</a:t>
            </a:r>
            <a:r>
              <a:rPr lang="en-US" altLang="zh-CN" sz="9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58%</a:t>
            </a:r>
            <a:r>
              <a:rPr lang="zh-CN" altLang="en-US" sz="9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15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年的目标是</a:t>
            </a:r>
            <a:r>
              <a:rPr lang="en-US" altLang="zh-CN" sz="9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70%</a:t>
            </a:r>
            <a:endParaRPr lang="en-US" altLang="zh-CN" sz="900" b="1" dirty="0">
              <a:solidFill>
                <a:srgbClr val="F7B02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5" name="右箭头 235"/>
          <p:cNvSpPr>
            <a:spLocks noChangeArrowheads="1"/>
          </p:cNvSpPr>
          <p:nvPr/>
        </p:nvSpPr>
        <p:spPr bwMode="auto">
          <a:xfrm>
            <a:off x="7413680" y="1655288"/>
            <a:ext cx="243863" cy="811223"/>
          </a:xfrm>
          <a:prstGeom prst="rightArrow">
            <a:avLst>
              <a:gd name="adj1" fmla="val 60341"/>
              <a:gd name="adj2" fmla="val 50001"/>
            </a:avLst>
          </a:prstGeom>
          <a:solidFill>
            <a:srgbClr val="00ACE2"/>
          </a:solidFill>
          <a:ln w="9525" algn="ctr">
            <a:noFill/>
            <a:round/>
          </a:ln>
        </p:spPr>
        <p:txBody>
          <a:bodyPr lIns="77939" tIns="38970" rIns="77939" bIns="38970"/>
          <a:lstStyle/>
          <a:p>
            <a:pPr algn="ctr" eaLnBrk="0" hangingPunct="0"/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5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14/21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21420" y="1059945"/>
            <a:ext cx="1068198" cy="1761796"/>
            <a:chOff x="7621420" y="1059945"/>
            <a:chExt cx="1068198" cy="1761796"/>
          </a:xfrm>
        </p:grpSpPr>
        <p:sp>
          <p:nvSpPr>
            <p:cNvPr id="181" name="TextBox 248"/>
            <p:cNvSpPr txBox="1">
              <a:spLocks noChangeArrowheads="1"/>
            </p:cNvSpPr>
            <p:nvPr/>
          </p:nvSpPr>
          <p:spPr bwMode="auto">
            <a:xfrm>
              <a:off x="7687329" y="1059945"/>
              <a:ext cx="936380" cy="269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939" tIns="38970" rIns="77939" bIns="38970"/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CN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2015</a:t>
              </a:r>
              <a:r>
                <a:rPr lang="zh-CN" altLang="en-US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年目标</a:t>
              </a:r>
              <a:endParaRPr lang="en-US" altLang="zh-CN" sz="10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7621420" y="1439863"/>
              <a:ext cx="1068198" cy="1381878"/>
              <a:chOff x="7277326" y="4420417"/>
              <a:chExt cx="1068198" cy="1381878"/>
            </a:xfrm>
          </p:grpSpPr>
          <p:graphicFrame>
            <p:nvGraphicFramePr>
              <p:cNvPr id="64" name="图示 63"/>
              <p:cNvGraphicFramePr/>
              <p:nvPr/>
            </p:nvGraphicFramePr>
            <p:xfrm>
              <a:off x="7277326" y="4420417"/>
              <a:ext cx="1068198" cy="138187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179" name="TextBox 184"/>
              <p:cNvSpPr txBox="1">
                <a:spLocks noChangeArrowheads="1"/>
              </p:cNvSpPr>
              <p:nvPr/>
            </p:nvSpPr>
            <p:spPr bwMode="auto">
              <a:xfrm>
                <a:off x="7647383" y="5024480"/>
                <a:ext cx="341131" cy="238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939" tIns="38970" rIns="77939" bIns="38970"/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25%</a:t>
                </a:r>
                <a:endParaRPr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80" name="TextBox 185"/>
              <p:cNvSpPr txBox="1">
                <a:spLocks noChangeArrowheads="1"/>
              </p:cNvSpPr>
              <p:nvPr/>
            </p:nvSpPr>
            <p:spPr bwMode="auto">
              <a:xfrm>
                <a:off x="7712626" y="5497488"/>
                <a:ext cx="210645" cy="24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939" tIns="38970" rIns="77939" bIns="38970"/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70%</a:t>
                </a:r>
                <a:endParaRPr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7621420" y="4632437"/>
                <a:ext cx="39305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zh-CN" sz="105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5%</a:t>
                </a:r>
                <a:endParaRPr lang="en-US" altLang="zh-CN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6" name="右箭头 235"/>
          <p:cNvSpPr>
            <a:spLocks noChangeArrowheads="1"/>
          </p:cNvSpPr>
          <p:nvPr/>
        </p:nvSpPr>
        <p:spPr bwMode="auto">
          <a:xfrm>
            <a:off x="6114784" y="1655448"/>
            <a:ext cx="243863" cy="811223"/>
          </a:xfrm>
          <a:prstGeom prst="rightArrow">
            <a:avLst>
              <a:gd name="adj1" fmla="val 60341"/>
              <a:gd name="adj2" fmla="val 50001"/>
            </a:avLst>
          </a:prstGeom>
          <a:solidFill>
            <a:srgbClr val="00ACE2"/>
          </a:solidFill>
          <a:ln w="9525" algn="ctr">
            <a:noFill/>
            <a:round/>
          </a:ln>
        </p:spPr>
        <p:txBody>
          <a:bodyPr lIns="77939" tIns="38970" rIns="77939" bIns="38970"/>
          <a:lstStyle/>
          <a:p>
            <a:pPr algn="ctr" eaLnBrk="0" hangingPunct="0"/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297045" y="1048291"/>
            <a:ext cx="670986" cy="1775143"/>
            <a:chOff x="5297045" y="1048291"/>
            <a:chExt cx="670986" cy="1825221"/>
          </a:xfrm>
        </p:grpSpPr>
        <p:sp>
          <p:nvSpPr>
            <p:cNvPr id="168" name="椭圆 192"/>
            <p:cNvSpPr>
              <a:spLocks noChangeArrowheads="1"/>
            </p:cNvSpPr>
            <p:nvPr/>
          </p:nvSpPr>
          <p:spPr bwMode="auto">
            <a:xfrm>
              <a:off x="5298895" y="1356311"/>
              <a:ext cx="669136" cy="1513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 algn="ctr">
              <a:noFill/>
              <a:round/>
            </a:ln>
          </p:spPr>
          <p:txBody>
            <a:bodyPr wrap="none"/>
            <a:lstStyle/>
            <a:p>
              <a:endPara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63" name="TextBox 222"/>
            <p:cNvSpPr txBox="1">
              <a:spLocks noChangeArrowheads="1"/>
            </p:cNvSpPr>
            <p:nvPr/>
          </p:nvSpPr>
          <p:spPr bwMode="auto">
            <a:xfrm>
              <a:off x="5425945" y="1983229"/>
              <a:ext cx="432063" cy="230565"/>
            </a:xfrm>
            <a:prstGeom prst="round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67%</a:t>
              </a: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64" name="TextBox 223"/>
            <p:cNvSpPr txBox="1">
              <a:spLocks noChangeArrowheads="1"/>
            </p:cNvSpPr>
            <p:nvPr/>
          </p:nvSpPr>
          <p:spPr bwMode="auto">
            <a:xfrm>
              <a:off x="5436960" y="2318699"/>
              <a:ext cx="399426" cy="281322"/>
            </a:xfrm>
            <a:prstGeom prst="round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10%</a:t>
              </a:r>
              <a:endParaRPr lang="zh-CN" altLang="en-US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71" name="TextBox 246"/>
            <p:cNvSpPr txBox="1">
              <a:spLocks noChangeArrowheads="1"/>
            </p:cNvSpPr>
            <p:nvPr/>
          </p:nvSpPr>
          <p:spPr bwMode="auto">
            <a:xfrm>
              <a:off x="5369884" y="1048291"/>
              <a:ext cx="499605" cy="2813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7939" tIns="38970" rIns="77939" bIns="38970"/>
            <a:lstStyle/>
            <a:p>
              <a:r>
                <a:rPr lang="en-US" altLang="zh-CN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2012</a:t>
              </a:r>
              <a:r>
                <a:rPr lang="zh-CN" altLang="en-US" sz="1000" b="1" dirty="0">
                  <a:solidFill>
                    <a:srgbClr val="F7B02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年</a:t>
              </a:r>
              <a:endParaRPr lang="zh-CN" altLang="en-US" sz="10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" name="流程图: 延期 10"/>
            <p:cNvSpPr/>
            <p:nvPr/>
          </p:nvSpPr>
          <p:spPr bwMode="auto">
            <a:xfrm rot="5400000">
              <a:off x="5361581" y="2275618"/>
              <a:ext cx="533358" cy="662430"/>
            </a:xfrm>
            <a:prstGeom prst="flowChartDelay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流程图: 延期 69"/>
            <p:cNvSpPr/>
            <p:nvPr/>
          </p:nvSpPr>
          <p:spPr bwMode="auto">
            <a:xfrm rot="16200000">
              <a:off x="5361581" y="1291478"/>
              <a:ext cx="533358" cy="662430"/>
            </a:xfrm>
            <a:prstGeom prst="flowChartDelay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417395" y="1528772"/>
              <a:ext cx="44916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23%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417395" y="2459360"/>
              <a:ext cx="44916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10%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786623" y="3765164"/>
            <a:ext cx="34424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规范销售授权流程，明确管理关键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KCP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及不同决策点的授权规范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86621" y="4220483"/>
            <a:ext cx="3547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明确授权支撑团队、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SDT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在管理销售授权流程中的职责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6621" y="4506525"/>
            <a:ext cx="34424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刷新</a:t>
            </a:r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盈利性授权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，并在代表处按系统部维度建立</a:t>
            </a:r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风险授权</a:t>
            </a:r>
            <a:endParaRPr lang="en-US" altLang="zh-CN" sz="11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09211" y="3861157"/>
            <a:ext cx="24397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52095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明确、规范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授权的制定及发布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809211" y="4199261"/>
            <a:ext cx="37061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52095" eaLnBrk="1" hangingPunct="1"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优化授权的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组织支撑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以及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层级间的授权规范授权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7" name="Oval 19"/>
          <p:cNvSpPr/>
          <p:nvPr/>
        </p:nvSpPr>
        <p:spPr bwMode="auto">
          <a:xfrm>
            <a:off x="590120" y="4255294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Oval 21"/>
          <p:cNvSpPr/>
          <p:nvPr/>
        </p:nvSpPr>
        <p:spPr bwMode="auto">
          <a:xfrm>
            <a:off x="590120" y="3831267"/>
            <a:ext cx="196501" cy="1785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Oval 36"/>
          <p:cNvSpPr/>
          <p:nvPr/>
        </p:nvSpPr>
        <p:spPr bwMode="auto">
          <a:xfrm>
            <a:off x="590120" y="4541381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61" name="Rectangle 159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2" name="Rectangle 160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3" name="Rectangle 164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91999" y="4423801"/>
            <a:ext cx="382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一线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目标为至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2015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年，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COSDT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决策率达到约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70%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4656884" y="3588609"/>
            <a:ext cx="4104000" cy="1231269"/>
            <a:chOff x="386762" y="3428820"/>
            <a:chExt cx="4104000" cy="1516388"/>
          </a:xfrm>
        </p:grpSpPr>
        <p:sp>
          <p:nvSpPr>
            <p:cNvPr id="209" name="圆角矩形 208"/>
            <p:cNvSpPr/>
            <p:nvPr/>
          </p:nvSpPr>
          <p:spPr bwMode="auto">
            <a:xfrm>
              <a:off x="386762" y="3428820"/>
              <a:ext cx="4104000" cy="1516388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矩形 209"/>
            <p:cNvSpPr/>
            <p:nvPr/>
          </p:nvSpPr>
          <p:spPr bwMode="auto">
            <a:xfrm>
              <a:off x="386763" y="3428821"/>
              <a:ext cx="4103995" cy="33125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52262" y="3594731"/>
            <a:ext cx="4104000" cy="1231269"/>
            <a:chOff x="386762" y="3428820"/>
            <a:chExt cx="4104000" cy="1516388"/>
          </a:xfrm>
        </p:grpSpPr>
        <p:sp>
          <p:nvSpPr>
            <p:cNvPr id="203" name="圆角矩形 202"/>
            <p:cNvSpPr/>
            <p:nvPr/>
          </p:nvSpPr>
          <p:spPr bwMode="auto">
            <a:xfrm>
              <a:off x="386762" y="3428820"/>
              <a:ext cx="4104000" cy="1516388"/>
            </a:xfrm>
            <a:prstGeom prst="roundRect">
              <a:avLst>
                <a:gd name="adj" fmla="val 7017"/>
              </a:avLst>
            </a:prstGeom>
            <a:solidFill>
              <a:srgbClr val="FBD89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矩形 203"/>
            <p:cNvSpPr/>
            <p:nvPr/>
          </p:nvSpPr>
          <p:spPr bwMode="auto">
            <a:xfrm>
              <a:off x="386763" y="3428821"/>
              <a:ext cx="4103995" cy="331257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5304" y="169130"/>
            <a:ext cx="7539038" cy="628650"/>
          </a:xfrm>
          <a:prstGeom prst="rect">
            <a:avLst/>
          </a:prstGeom>
        </p:spPr>
        <p:txBody>
          <a:bodyPr/>
          <a:lstStyle/>
          <a:p>
            <a:r>
              <a:rPr lang="en-US" altLang="zh-CN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dirty="0">
                <a:latin typeface="+mn-lt"/>
                <a:ea typeface="+mn-ea"/>
                <a:cs typeface="Arial" panose="020B0604020202020204" pitchFamily="34" charset="0"/>
              </a:rPr>
            </a:b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管理授权与行权</a:t>
            </a:r>
            <a:r>
              <a:rPr lang="en-US" altLang="zh-CN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(MAE)</a:t>
            </a:r>
            <a:r>
              <a:rPr lang="zh-CN" altLang="en-US" sz="1400" b="0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：评审 </a:t>
            </a:r>
            <a:endParaRPr lang="en-US" sz="1400" b="0" kern="12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Rectangle 21"/>
          <p:cNvSpPr>
            <a:spLocks noChangeArrowheads="1"/>
          </p:cNvSpPr>
          <p:nvPr/>
        </p:nvSpPr>
        <p:spPr bwMode="auto">
          <a:xfrm>
            <a:off x="442646" y="850413"/>
            <a:ext cx="8318238" cy="2693446"/>
          </a:xfrm>
          <a:prstGeom prst="roundRect">
            <a:avLst>
              <a:gd name="adj" fmla="val 6412"/>
            </a:avLst>
          </a:prstGeom>
          <a:solidFill>
            <a:schemeClr val="bg1">
              <a:lumMod val="95000"/>
            </a:schemeClr>
          </a:solidFill>
          <a:ln w="38100" algn="ctr">
            <a:noFill/>
            <a:miter lim="800000"/>
          </a:ln>
        </p:spPr>
        <p:txBody>
          <a:bodyPr lIns="68319" tIns="70146" rIns="68319" bIns="70146"/>
          <a:lstStyle/>
          <a:p>
            <a:pPr marL="213995" indent="-213995" defTabSz="683260" fontAlgn="auto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rgbClr val="990000"/>
              </a:buClr>
              <a:buSzPct val="120000"/>
              <a:defRPr/>
            </a:pPr>
            <a:endParaRPr lang="en-US" sz="1200" b="1" kern="0" dirty="0">
              <a:solidFill>
                <a:srgbClr val="333333"/>
              </a:solidFill>
              <a:latin typeface="Arial" panose="020B0604020202020204"/>
              <a:ea typeface="华文细黑" panose="0201060004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423863" y="1401763"/>
            <a:ext cx="8337021" cy="19788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04677" y="1599643"/>
            <a:ext cx="2101362" cy="1669687"/>
            <a:chOff x="2204677" y="1599643"/>
            <a:chExt cx="2101362" cy="1669687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2204677" y="1599643"/>
              <a:ext cx="2101362" cy="23258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7939" tIns="38970" rIns="77939" bIns="3897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专业评审 *</a:t>
              </a:r>
              <a:endPara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599598" y="1980624"/>
              <a:ext cx="1311521" cy="1288706"/>
              <a:chOff x="2577708" y="1980624"/>
              <a:chExt cx="1311521" cy="1288706"/>
            </a:xfrm>
          </p:grpSpPr>
          <p:sp>
            <p:nvSpPr>
              <p:cNvPr id="74" name="Rectangle 4"/>
              <p:cNvSpPr>
                <a:spLocks noChangeArrowheads="1"/>
              </p:cNvSpPr>
              <p:nvPr/>
            </p:nvSpPr>
            <p:spPr bwMode="auto">
              <a:xfrm>
                <a:off x="2577710" y="1980624"/>
                <a:ext cx="1311519" cy="213910"/>
              </a:xfrm>
              <a:prstGeom prst="roundRect">
                <a:avLst/>
              </a:prstGeom>
              <a:solidFill>
                <a:srgbClr val="0070C0"/>
              </a:solidFill>
              <a:ln w="19050" algn="ctr">
                <a:noFill/>
                <a:miter lim="800000"/>
              </a:ln>
              <a:effectLst/>
            </p:spPr>
            <p:txBody>
              <a:bodyPr wrap="none" lIns="77939" tIns="38970" rIns="77939" bIns="3897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解决方案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angle 5"/>
              <p:cNvSpPr>
                <a:spLocks noChangeArrowheads="1"/>
              </p:cNvSpPr>
              <p:nvPr/>
            </p:nvSpPr>
            <p:spPr bwMode="auto">
              <a:xfrm>
                <a:off x="2577708" y="2338170"/>
                <a:ext cx="1299796" cy="213910"/>
              </a:xfrm>
              <a:prstGeom prst="roundRect">
                <a:avLst/>
              </a:prstGeom>
              <a:solidFill>
                <a:srgbClr val="0070C0"/>
              </a:solidFill>
              <a:ln w="19050" algn="ctr">
                <a:noFill/>
                <a:miter lim="800000"/>
              </a:ln>
              <a:effectLst/>
            </p:spPr>
            <p:txBody>
              <a:bodyPr wrap="none" lIns="77939" tIns="38970" rIns="77939" bIns="3897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服务交付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6"/>
              <p:cNvSpPr>
                <a:spLocks noChangeArrowheads="1"/>
              </p:cNvSpPr>
              <p:nvPr/>
            </p:nvSpPr>
            <p:spPr bwMode="auto">
              <a:xfrm>
                <a:off x="2577710" y="2698800"/>
                <a:ext cx="1271954" cy="213911"/>
              </a:xfrm>
              <a:prstGeom prst="roundRect">
                <a:avLst/>
              </a:prstGeom>
              <a:solidFill>
                <a:srgbClr val="0070C0"/>
              </a:solidFill>
              <a:ln w="19050" algn="ctr">
                <a:noFill/>
                <a:miter lim="800000"/>
              </a:ln>
              <a:effectLst/>
            </p:spPr>
            <p:txBody>
              <a:bodyPr wrap="none" lIns="77939" tIns="38970" rIns="77939" bIns="3897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商法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7" name="Rectangle 7"/>
              <p:cNvSpPr>
                <a:spLocks noChangeArrowheads="1"/>
              </p:cNvSpPr>
              <p:nvPr/>
            </p:nvSpPr>
            <p:spPr bwMode="auto">
              <a:xfrm>
                <a:off x="2577710" y="3056346"/>
                <a:ext cx="1271954" cy="212984"/>
              </a:xfrm>
              <a:prstGeom prst="roundRect">
                <a:avLst/>
              </a:prstGeom>
              <a:solidFill>
                <a:srgbClr val="0070C0"/>
              </a:solidFill>
              <a:ln w="19050" algn="ctr">
                <a:noFill/>
                <a:miter lim="800000"/>
              </a:ln>
              <a:effectLst/>
            </p:spPr>
            <p:txBody>
              <a:bodyPr wrap="none" lIns="77939" tIns="38970" rIns="77939" bIns="3897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财经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410209" y="1599643"/>
            <a:ext cx="1937238" cy="1450755"/>
            <a:chOff x="3907097" y="1599643"/>
            <a:chExt cx="1937238" cy="1450755"/>
          </a:xfrm>
        </p:grpSpPr>
        <p:sp>
          <p:nvSpPr>
            <p:cNvPr id="78" name="Rectangle 8"/>
            <p:cNvSpPr>
              <a:spLocks noChangeArrowheads="1"/>
            </p:cNvSpPr>
            <p:nvPr/>
          </p:nvSpPr>
          <p:spPr bwMode="auto">
            <a:xfrm>
              <a:off x="4470537" y="2108639"/>
              <a:ext cx="810358" cy="941759"/>
            </a:xfrm>
            <a:prstGeom prst="roundRect">
              <a:avLst/>
            </a:prstGeom>
            <a:solidFill>
              <a:srgbClr val="0070C0"/>
            </a:solidFill>
            <a:ln w="19050" algn="ctr">
              <a:noFill/>
              <a:miter lim="800000"/>
            </a:ln>
            <a:effectLst/>
          </p:spPr>
          <p:txBody>
            <a:bodyPr wrap="none" lIns="77939" tIns="38970" rIns="77939" bIns="3897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综合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评审</a:t>
              </a:r>
              <a:endParaRPr lang="en-US" altLang="zh-HK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9" name="Text Box 12"/>
            <p:cNvSpPr txBox="1">
              <a:spLocks noChangeArrowheads="1"/>
            </p:cNvSpPr>
            <p:nvPr/>
          </p:nvSpPr>
          <p:spPr bwMode="auto">
            <a:xfrm>
              <a:off x="3907097" y="1599643"/>
              <a:ext cx="1937238" cy="23258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7939" tIns="38970" rIns="77939" bIns="3897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综合评审</a:t>
              </a:r>
              <a:endPara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2060886" y="1960081"/>
            <a:ext cx="460996" cy="1343651"/>
            <a:chOff x="2231911" y="2185625"/>
            <a:chExt cx="499252" cy="2169379"/>
          </a:xfrm>
        </p:grpSpPr>
        <p:sp>
          <p:nvSpPr>
            <p:cNvPr id="96" name="Line 134"/>
            <p:cNvSpPr>
              <a:spLocks noChangeShapeType="1"/>
            </p:cNvSpPr>
            <p:nvPr/>
          </p:nvSpPr>
          <p:spPr bwMode="auto">
            <a:xfrm>
              <a:off x="2253635" y="2876343"/>
              <a:ext cx="477526" cy="74022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7" name="Line 143"/>
            <p:cNvSpPr>
              <a:spLocks noChangeShapeType="1"/>
            </p:cNvSpPr>
            <p:nvPr/>
          </p:nvSpPr>
          <p:spPr bwMode="auto">
            <a:xfrm>
              <a:off x="2263007" y="2185625"/>
              <a:ext cx="468156" cy="231923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8" name="Line 134"/>
            <p:cNvSpPr>
              <a:spLocks noChangeShapeType="1"/>
            </p:cNvSpPr>
            <p:nvPr/>
          </p:nvSpPr>
          <p:spPr bwMode="auto">
            <a:xfrm>
              <a:off x="2242642" y="3470010"/>
              <a:ext cx="488519" cy="5597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2" name="Line 134"/>
            <p:cNvSpPr>
              <a:spLocks noChangeShapeType="1"/>
            </p:cNvSpPr>
            <p:nvPr/>
          </p:nvSpPr>
          <p:spPr bwMode="auto">
            <a:xfrm flipV="1">
              <a:off x="2231911" y="4117289"/>
              <a:ext cx="499251" cy="237715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3" name="Text Box 10"/>
          <p:cNvSpPr txBox="1">
            <a:spLocks noChangeArrowheads="1"/>
          </p:cNvSpPr>
          <p:nvPr/>
        </p:nvSpPr>
        <p:spPr bwMode="auto">
          <a:xfrm>
            <a:off x="394320" y="1599643"/>
            <a:ext cx="1764323" cy="232589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77939" tIns="38970" rIns="77939" bIns="3897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评审要素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4" name="Right Arrow 10"/>
          <p:cNvSpPr>
            <a:spLocks noChangeArrowheads="1"/>
          </p:cNvSpPr>
          <p:nvPr/>
        </p:nvSpPr>
        <p:spPr bwMode="auto">
          <a:xfrm>
            <a:off x="6003858" y="2191403"/>
            <a:ext cx="407962" cy="721353"/>
          </a:xfrm>
          <a:prstGeom prst="rightArrow">
            <a:avLst>
              <a:gd name="adj1" fmla="val 68744"/>
              <a:gd name="adj2" fmla="val 66352"/>
            </a:avLst>
          </a:prstGeom>
          <a:solidFill>
            <a:srgbClr val="00ACE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39" tIns="38970" rIns="77939" bIns="3897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867781" y="1379304"/>
            <a:ext cx="7564016" cy="247978"/>
          </a:xfrm>
          <a:prstGeom prst="rect">
            <a:avLst/>
          </a:prstGeom>
          <a:ln>
            <a:noFill/>
          </a:ln>
        </p:spPr>
        <p:txBody>
          <a:bodyPr wrap="square" lIns="77939" tIns="38970" rIns="77939" bIns="3897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评审遵循</a:t>
            </a:r>
            <a:r>
              <a:rPr lang="zh-CN" altLang="en-US" sz="11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四小专业、一大综合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的原则。评审与决策分离，</a:t>
            </a:r>
            <a:r>
              <a:rPr lang="zh-CN" altLang="en-US" sz="11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先评审、后决策</a:t>
            </a:r>
            <a:endParaRPr lang="en-US" sz="1100" b="1" dirty="0">
              <a:solidFill>
                <a:srgbClr val="F7B02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aphicFrame>
        <p:nvGraphicFramePr>
          <p:cNvPr id="151" name="Group 28"/>
          <p:cNvGraphicFramePr>
            <a:graphicFrameLocks noGrp="1"/>
          </p:cNvGraphicFramePr>
          <p:nvPr/>
        </p:nvGraphicFramePr>
        <p:xfrm>
          <a:off x="582586" y="1837571"/>
          <a:ext cx="1436078" cy="1643616"/>
        </p:xfrm>
        <a:graphic>
          <a:graphicData uri="http://schemas.openxmlformats.org/drawingml/2006/table">
            <a:tbl>
              <a:tblPr/>
              <a:tblGrid>
                <a:gridCol w="1436078"/>
              </a:tblGrid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产品价位价格</a:t>
                      </a: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*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技术方案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配置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服务解决方案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第三方采购和分包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供货物流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法务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综合条款</a:t>
                      </a: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*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回款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外汇</a:t>
                      </a:r>
                      <a:endParaRPr kumimoji="0" lang="en-US" altLang="zh-CN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保函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36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等</a:t>
                      </a: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kumimoji="0" lang="zh-CN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要素</a:t>
                      </a: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7913" marR="77913" marT="6858" marB="6858" anchor="ctr" horzOverflow="overflow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152" name="TextBox 15"/>
          <p:cNvSpPr txBox="1"/>
          <p:nvPr/>
        </p:nvSpPr>
        <p:spPr bwMode="auto">
          <a:xfrm>
            <a:off x="2014687" y="3569559"/>
            <a:ext cx="979145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6" name="Rectangle 155"/>
          <p:cNvSpPr>
            <a:spLocks noChangeArrowheads="1"/>
          </p:cNvSpPr>
          <p:nvPr/>
        </p:nvSpPr>
        <p:spPr bwMode="auto">
          <a:xfrm>
            <a:off x="789462" y="3903968"/>
            <a:ext cx="3645574" cy="90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统一各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阶段的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销售评审流程及分场景裁剪规则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明确各评审点的承接角色和业务管理部门，尤其是执行主体（专业评审人，综合评审人）的职责和运作规范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建立评审人的资格认证和评审人资源池，规范质量考核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8" name="TextBox 103"/>
          <p:cNvSpPr txBox="1"/>
          <p:nvPr/>
        </p:nvSpPr>
        <p:spPr bwMode="auto">
          <a:xfrm>
            <a:off x="6432188" y="3569559"/>
            <a:ext cx="592029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0" name="Rectangle 159"/>
          <p:cNvSpPr>
            <a:spLocks noChangeArrowheads="1"/>
          </p:cNvSpPr>
          <p:nvPr/>
        </p:nvSpPr>
        <p:spPr bwMode="auto">
          <a:xfrm>
            <a:off x="4770733" y="3985339"/>
            <a:ext cx="4100609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>
              <a:spcBef>
                <a:spcPts val="0"/>
              </a:spcBef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规范销售评审流程，同时适配场景、提升业务灵活性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1" name="Rectangle 160"/>
          <p:cNvSpPr>
            <a:spLocks noChangeArrowheads="1"/>
          </p:cNvSpPr>
          <p:nvPr/>
        </p:nvSpPr>
        <p:spPr bwMode="auto">
          <a:xfrm>
            <a:off x="4770733" y="4331569"/>
            <a:ext cx="4100609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>
              <a:spcBef>
                <a:spcPts val="0"/>
              </a:spcBef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保障评审组织支撑，提高评审质量和效率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0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15/21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51616" y="1599643"/>
            <a:ext cx="2217127" cy="1731251"/>
            <a:chOff x="6194441" y="1599643"/>
            <a:chExt cx="2217127" cy="1731251"/>
          </a:xfrm>
        </p:grpSpPr>
        <p:sp>
          <p:nvSpPr>
            <p:cNvPr id="81" name="Text Box 70"/>
            <p:cNvSpPr txBox="1">
              <a:spLocks noChangeArrowheads="1"/>
            </p:cNvSpPr>
            <p:nvPr/>
          </p:nvSpPr>
          <p:spPr bwMode="auto">
            <a:xfrm>
              <a:off x="6194441" y="1599643"/>
              <a:ext cx="2217127" cy="23258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7939" tIns="38970" rIns="77939" bIns="3897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销售决策团队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6223842" y="1936716"/>
              <a:ext cx="2158330" cy="1394178"/>
              <a:chOff x="5262869" y="1329612"/>
              <a:chExt cx="1374562" cy="887901"/>
            </a:xfrm>
          </p:grpSpPr>
          <p:graphicFrame>
            <p:nvGraphicFramePr>
              <p:cNvPr id="167" name="图示 166"/>
              <p:cNvGraphicFramePr/>
              <p:nvPr/>
            </p:nvGraphicFramePr>
            <p:xfrm>
              <a:off x="5300298" y="1329612"/>
              <a:ext cx="1337133" cy="88790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" r:lo="rId2" r:qs="rId3" r:cs="rId4"/>
              </a:graphicData>
            </a:graphic>
          </p:graphicFrame>
          <p:sp>
            <p:nvSpPr>
              <p:cNvPr id="165" name="7e66e85e-c520-44a7-99c3-6346db7241ab"/>
              <p:cNvSpPr txBox="1">
                <a:spLocks noChangeArrowheads="1"/>
              </p:cNvSpPr>
              <p:nvPr/>
            </p:nvSpPr>
            <p:spPr bwMode="auto">
              <a:xfrm>
                <a:off x="5262869" y="1618761"/>
                <a:ext cx="230917" cy="1285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77939" tIns="38970" rIns="77939" bIns="38970">
                <a:spAutoFit/>
              </a:bodyPr>
              <a:lstStyle>
                <a:lvl1pPr eaLnBrk="0" hangingPunct="0">
                  <a:lnSpc>
                    <a:spcPct val="140000"/>
                  </a:lnSpc>
                  <a:buClr>
                    <a:schemeClr val="bg2"/>
                  </a:buClr>
                  <a:buSzPct val="60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>
                  <a:lnSpc>
                    <a:spcPct val="140000"/>
                  </a:lnSpc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p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2pPr>
                <a:lvl3pPr marL="1143000" indent="-228600" eaLnBrk="0" hangingPunct="0">
                  <a:lnSpc>
                    <a:spcPct val="140000"/>
                  </a:lnSpc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3pPr>
                <a:lvl4pPr marL="1600200" indent="-228600" eaLnBrk="0" hangingPunct="0">
                  <a:lnSpc>
                    <a:spcPct val="140000"/>
                  </a:lnSpc>
                  <a:buChar char="–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4pPr>
                <a:lvl5pPr marL="2057400" indent="-228600" eaLnBrk="0" hangingPunct="0">
                  <a:lnSpc>
                    <a:spcPct val="140000"/>
                  </a:lnSpc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Font typeface="FrutigerNext LT Medium" pitchFamily="34" charset="0"/>
                  <a:buChar char="~"/>
                  <a:defRPr sz="1200">
                    <a:solidFill>
                      <a:schemeClr val="tx1"/>
                    </a:solidFill>
                    <a:latin typeface="FrutigerNext LT Medium" pitchFamily="34" charset="0"/>
                    <a:ea typeface="华文细黑" panose="02010600040101010101" pitchFamily="2" charset="-122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SzTx/>
                  <a:buFontTx/>
                  <a:buNone/>
                  <a:defRPr/>
                </a:pPr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</a:rPr>
                  <a:t>升级</a:t>
                </a:r>
                <a:endParaRPr lang="zh-CN" altLang="en-US" sz="8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5827465" y="1403420"/>
                <a:ext cx="291159" cy="1568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CSDT</a:t>
                </a:r>
                <a:endPara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5785293" y="1570209"/>
                <a:ext cx="356497" cy="161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05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CNSDT</a:t>
                </a:r>
                <a:endParaRPr lang="en-US" altLang="zh-CN" sz="105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5632584" y="1801228"/>
                <a:ext cx="303410" cy="161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RSDT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5992298" y="1801228"/>
                <a:ext cx="354455" cy="161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KASDT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789036" y="2026556"/>
                <a:ext cx="358538" cy="161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COSDT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173" name="直接连接符 172"/>
              <p:cNvCxnSpPr/>
              <p:nvPr/>
            </p:nvCxnSpPr>
            <p:spPr bwMode="auto">
              <a:xfrm>
                <a:off x="5968305" y="1783556"/>
                <a:ext cx="0" cy="209530"/>
              </a:xfrm>
              <a:prstGeom prst="line">
                <a:avLst/>
              </a:prstGeom>
              <a:noFill/>
              <a:ln w="158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5" name="手杖形箭头 174"/>
              <p:cNvSpPr/>
              <p:nvPr/>
            </p:nvSpPr>
            <p:spPr bwMode="auto">
              <a:xfrm rot="18155572">
                <a:off x="5295904" y="1924082"/>
                <a:ext cx="187829" cy="134481"/>
              </a:xfrm>
              <a:prstGeom prst="uturnArrow">
                <a:avLst>
                  <a:gd name="adj1" fmla="val 29889"/>
                  <a:gd name="adj2" fmla="val 25000"/>
                  <a:gd name="adj3" fmla="val 27739"/>
                  <a:gd name="adj4" fmla="val 58424"/>
                  <a:gd name="adj5" fmla="val 100000"/>
                </a:avLst>
              </a:prstGeom>
              <a:solidFill>
                <a:srgbClr val="00ACE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手杖形箭头 175"/>
              <p:cNvSpPr/>
              <p:nvPr/>
            </p:nvSpPr>
            <p:spPr bwMode="auto">
              <a:xfrm rot="18300208">
                <a:off x="5490165" y="1667019"/>
                <a:ext cx="187829" cy="134481"/>
              </a:xfrm>
              <a:prstGeom prst="uturnArrow">
                <a:avLst>
                  <a:gd name="adj1" fmla="val 29889"/>
                  <a:gd name="adj2" fmla="val 25000"/>
                  <a:gd name="adj3" fmla="val 27739"/>
                  <a:gd name="adj4" fmla="val 58424"/>
                  <a:gd name="adj5" fmla="val 100000"/>
                </a:avLst>
              </a:prstGeom>
              <a:solidFill>
                <a:srgbClr val="00ACE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" name="手杖形箭头 176"/>
              <p:cNvSpPr/>
              <p:nvPr/>
            </p:nvSpPr>
            <p:spPr bwMode="auto">
              <a:xfrm rot="18423297">
                <a:off x="5663364" y="1438709"/>
                <a:ext cx="187829" cy="134481"/>
              </a:xfrm>
              <a:prstGeom prst="uturnArrow">
                <a:avLst>
                  <a:gd name="adj1" fmla="val 29889"/>
                  <a:gd name="adj2" fmla="val 25000"/>
                  <a:gd name="adj3" fmla="val 27739"/>
                  <a:gd name="adj4" fmla="val 58424"/>
                  <a:gd name="adj5" fmla="val 100000"/>
                </a:avLst>
              </a:prstGeom>
              <a:solidFill>
                <a:srgbClr val="00ACE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82" name="组合 181"/>
          <p:cNvGrpSpPr/>
          <p:nvPr/>
        </p:nvGrpSpPr>
        <p:grpSpPr>
          <a:xfrm>
            <a:off x="859690" y="850413"/>
            <a:ext cx="7484150" cy="441291"/>
            <a:chOff x="897776" y="3650187"/>
            <a:chExt cx="7484150" cy="441291"/>
          </a:xfrm>
        </p:grpSpPr>
        <p:sp>
          <p:nvSpPr>
            <p:cNvPr id="183" name="AutoShape 85"/>
            <p:cNvSpPr>
              <a:spLocks noChangeArrowheads="1"/>
            </p:cNvSpPr>
            <p:nvPr/>
          </p:nvSpPr>
          <p:spPr bwMode="auto">
            <a:xfrm>
              <a:off x="897776" y="3825968"/>
              <a:ext cx="664033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ATI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84" name="AutoShape 85"/>
            <p:cNvSpPr>
              <a:spLocks noChangeArrowheads="1"/>
            </p:cNvSpPr>
            <p:nvPr/>
          </p:nvSpPr>
          <p:spPr bwMode="auto">
            <a:xfrm>
              <a:off x="4266170" y="3825968"/>
              <a:ext cx="664032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85" name="AutoShape 85"/>
            <p:cNvSpPr>
              <a:spLocks noChangeArrowheads="1"/>
            </p:cNvSpPr>
            <p:nvPr/>
          </p:nvSpPr>
          <p:spPr bwMode="auto">
            <a:xfrm>
              <a:off x="253833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ATB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86" name="AutoShape 85"/>
            <p:cNvSpPr>
              <a:spLocks noChangeArrowheads="1"/>
            </p:cNvSpPr>
            <p:nvPr/>
          </p:nvSpPr>
          <p:spPr bwMode="auto">
            <a:xfrm>
              <a:off x="771642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187" name="AutoShape 538"/>
            <p:cNvCxnSpPr>
              <a:cxnSpLocks noChangeShapeType="1"/>
              <a:stCxn id="183" idx="3"/>
              <a:endCxn id="185" idx="1"/>
            </p:cNvCxnSpPr>
            <p:nvPr/>
          </p:nvCxnSpPr>
          <p:spPr bwMode="auto">
            <a:xfrm>
              <a:off x="1561807" y="3958722"/>
              <a:ext cx="976531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188" name="AutoShape 539"/>
            <p:cNvCxnSpPr>
              <a:cxnSpLocks noChangeShapeType="1"/>
              <a:stCxn id="185" idx="3"/>
              <a:endCxn id="184" idx="1"/>
            </p:cNvCxnSpPr>
            <p:nvPr/>
          </p:nvCxnSpPr>
          <p:spPr bwMode="auto">
            <a:xfrm>
              <a:off x="3203836" y="3958722"/>
              <a:ext cx="1062334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189" name="AutoShape 540"/>
            <p:cNvCxnSpPr>
              <a:cxnSpLocks noChangeShapeType="1"/>
              <a:stCxn id="184" idx="3"/>
              <a:endCxn id="192" idx="1"/>
            </p:cNvCxnSpPr>
            <p:nvPr/>
          </p:nvCxnSpPr>
          <p:spPr bwMode="auto">
            <a:xfrm>
              <a:off x="4930201" y="3958722"/>
              <a:ext cx="983636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190" name="AutoShape 4"/>
            <p:cNvSpPr>
              <a:spLocks noChangeAspect="1" noChangeArrowheads="1"/>
            </p:cNvSpPr>
            <p:nvPr/>
          </p:nvSpPr>
          <p:spPr bwMode="auto">
            <a:xfrm flipV="1">
              <a:off x="203604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sz="8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1" name="AutoShape 5"/>
            <p:cNvSpPr>
              <a:spLocks noChangeAspect="1" noChangeArrowheads="1"/>
            </p:cNvSpPr>
            <p:nvPr/>
          </p:nvSpPr>
          <p:spPr bwMode="auto">
            <a:xfrm flipV="1">
              <a:off x="3790321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2" name="AutoShape 85"/>
            <p:cNvSpPr>
              <a:spLocks noChangeArrowheads="1"/>
            </p:cNvSpPr>
            <p:nvPr/>
          </p:nvSpPr>
          <p:spPr bwMode="auto">
            <a:xfrm>
              <a:off x="5913838" y="3825968"/>
              <a:ext cx="664033" cy="265510"/>
            </a:xfrm>
            <a:prstGeom prst="diamond">
              <a:avLst/>
            </a:prstGeom>
            <a:solidFill>
              <a:srgbClr val="FBD893"/>
            </a:solidFill>
            <a:ln w="9525" algn="ctr">
              <a:solidFill>
                <a:schemeClr val="tx1"/>
              </a:solidFill>
              <a:prstDash val="dash"/>
              <a:miter lim="800000"/>
            </a:ln>
          </p:spPr>
          <p:txBody>
            <a:bodyPr wrap="none" lIns="0" tIns="0" rIns="0" bIns="0" anchor="ctr" anchorCtr="1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ATAC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*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193" name="AutoShape 540"/>
            <p:cNvCxnSpPr>
              <a:cxnSpLocks noChangeShapeType="1"/>
              <a:stCxn id="192" idx="3"/>
              <a:endCxn id="186" idx="1"/>
            </p:cNvCxnSpPr>
            <p:nvPr/>
          </p:nvCxnSpPr>
          <p:spPr bwMode="auto">
            <a:xfrm>
              <a:off x="6577871" y="3958722"/>
              <a:ext cx="1138557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194" name="AutoShape 5"/>
            <p:cNvSpPr>
              <a:spLocks noChangeAspect="1" noChangeArrowheads="1"/>
            </p:cNvSpPr>
            <p:nvPr/>
          </p:nvSpPr>
          <p:spPr bwMode="auto">
            <a:xfrm flipV="1">
              <a:off x="533342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5" name="Text Box 34"/>
            <p:cNvSpPr txBox="1">
              <a:spLocks noChangeArrowheads="1"/>
            </p:cNvSpPr>
            <p:nvPr/>
          </p:nvSpPr>
          <p:spPr bwMode="auto">
            <a:xfrm>
              <a:off x="1744878" y="3650187"/>
              <a:ext cx="804755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投标评审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6" name="Text Box 34"/>
            <p:cNvSpPr txBox="1">
              <a:spLocks noChangeArrowheads="1"/>
            </p:cNvSpPr>
            <p:nvPr/>
          </p:nvSpPr>
          <p:spPr bwMode="auto">
            <a:xfrm>
              <a:off x="3528485" y="3650187"/>
              <a:ext cx="804754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7" name="Text Box 34"/>
            <p:cNvSpPr txBox="1">
              <a:spLocks noChangeArrowheads="1"/>
            </p:cNvSpPr>
            <p:nvPr/>
          </p:nvSpPr>
          <p:spPr bwMode="auto">
            <a:xfrm>
              <a:off x="4824647" y="3650187"/>
              <a:ext cx="1308588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</a:t>
              </a: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PO</a:t>
              </a: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2015820" y="3793037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3775081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321960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3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1" name="Right Arrow 10"/>
          <p:cNvSpPr>
            <a:spLocks noChangeArrowheads="1"/>
          </p:cNvSpPr>
          <p:nvPr/>
        </p:nvSpPr>
        <p:spPr bwMode="auto">
          <a:xfrm>
            <a:off x="4188260" y="2209316"/>
            <a:ext cx="407962" cy="721353"/>
          </a:xfrm>
          <a:prstGeom prst="rightArrow">
            <a:avLst>
              <a:gd name="adj1" fmla="val 68744"/>
              <a:gd name="adj2" fmla="val 66352"/>
            </a:avLst>
          </a:prstGeom>
          <a:solidFill>
            <a:srgbClr val="00ACE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39" tIns="38970" rIns="77939" bIns="3897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5" name="Oval 19"/>
          <p:cNvSpPr/>
          <p:nvPr/>
        </p:nvSpPr>
        <p:spPr bwMode="auto">
          <a:xfrm>
            <a:off x="590120" y="4198144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Oval 21"/>
          <p:cNvSpPr/>
          <p:nvPr/>
        </p:nvSpPr>
        <p:spPr bwMode="auto">
          <a:xfrm>
            <a:off x="590120" y="3916992"/>
            <a:ext cx="196501" cy="1785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Oval 36"/>
          <p:cNvSpPr/>
          <p:nvPr/>
        </p:nvSpPr>
        <p:spPr bwMode="auto">
          <a:xfrm>
            <a:off x="590120" y="4589006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4897579" y="788507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椭圆 81"/>
          <p:cNvSpPr/>
          <p:nvPr/>
        </p:nvSpPr>
        <p:spPr bwMode="auto">
          <a:xfrm>
            <a:off x="1599232" y="788507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椭圆 82"/>
          <p:cNvSpPr/>
          <p:nvPr/>
        </p:nvSpPr>
        <p:spPr bwMode="auto">
          <a:xfrm>
            <a:off x="3355822" y="788507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85" name="Rectangle 159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6" name="Rectangle 160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7" name="Rectangle 164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/>
          <p:cNvSpPr/>
          <p:nvPr/>
        </p:nvSpPr>
        <p:spPr bwMode="auto">
          <a:xfrm>
            <a:off x="4622753" y="3425245"/>
            <a:ext cx="4104000" cy="1453143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矩形 140"/>
          <p:cNvSpPr/>
          <p:nvPr/>
        </p:nvSpPr>
        <p:spPr bwMode="auto">
          <a:xfrm>
            <a:off x="4626661" y="3403181"/>
            <a:ext cx="4103995" cy="317441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圆角矩形 119"/>
          <p:cNvSpPr/>
          <p:nvPr/>
        </p:nvSpPr>
        <p:spPr bwMode="auto">
          <a:xfrm>
            <a:off x="407658" y="3425245"/>
            <a:ext cx="4104000" cy="1453143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矩形 120"/>
          <p:cNvSpPr/>
          <p:nvPr/>
        </p:nvSpPr>
        <p:spPr bwMode="auto">
          <a:xfrm>
            <a:off x="398866" y="3410536"/>
            <a:ext cx="4103995" cy="317441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itle 1"/>
          <p:cNvSpPr txBox="1"/>
          <p:nvPr/>
        </p:nvSpPr>
        <p:spPr>
          <a:xfrm>
            <a:off x="331910" y="188577"/>
            <a:ext cx="7539404" cy="628650"/>
          </a:xfrm>
          <a:prstGeom prst="rect">
            <a:avLst/>
          </a:prstGeom>
        </p:spPr>
        <p:txBody>
          <a:bodyPr lIns="77939" tIns="38970" rIns="77939" bIns="38970" anchor="ctr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kern="0" dirty="0"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管理授权与行权</a:t>
            </a:r>
            <a:r>
              <a:rPr lang="en-US" altLang="zh-CN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(MAE)</a:t>
            </a:r>
            <a:r>
              <a:rPr lang="zh-CN" altLang="en-US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：决策</a:t>
            </a:r>
            <a:endParaRPr 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6" name="Rectangle 21"/>
          <p:cNvSpPr>
            <a:spLocks noChangeArrowheads="1"/>
          </p:cNvSpPr>
          <p:nvPr/>
        </p:nvSpPr>
        <p:spPr bwMode="auto">
          <a:xfrm>
            <a:off x="383115" y="897564"/>
            <a:ext cx="8318238" cy="2477422"/>
          </a:xfrm>
          <a:prstGeom prst="roundRect">
            <a:avLst>
              <a:gd name="adj" fmla="val 6847"/>
            </a:avLst>
          </a:prstGeom>
          <a:solidFill>
            <a:schemeClr val="bg1">
              <a:lumMod val="95000"/>
            </a:schemeClr>
          </a:solidFill>
          <a:ln w="38100" algn="ctr">
            <a:noFill/>
            <a:miter lim="800000"/>
          </a:ln>
        </p:spPr>
        <p:txBody>
          <a:bodyPr lIns="68319" tIns="70146" rIns="68319" bIns="70146"/>
          <a:lstStyle/>
          <a:p>
            <a:pPr marL="213995" indent="-213995" defTabSz="683260" fontAlgn="auto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rgbClr val="990000"/>
              </a:buClr>
              <a:buSzPct val="120000"/>
              <a:defRPr/>
            </a:pPr>
            <a:endParaRPr lang="en-US" sz="1200" b="1" kern="0" dirty="0">
              <a:solidFill>
                <a:srgbClr val="333333"/>
              </a:solidFill>
              <a:latin typeface="Arial" panose="020B0604020202020204"/>
              <a:ea typeface="华文细黑" panose="020106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67645" y="1581395"/>
            <a:ext cx="2196000" cy="1705805"/>
            <a:chOff x="5805596" y="1571870"/>
            <a:chExt cx="1817260" cy="1705805"/>
          </a:xfrm>
        </p:grpSpPr>
        <p:sp>
          <p:nvSpPr>
            <p:cNvPr id="118" name="圆角矩形 117"/>
            <p:cNvSpPr/>
            <p:nvPr/>
          </p:nvSpPr>
          <p:spPr bwMode="auto">
            <a:xfrm>
              <a:off x="5817519" y="1571870"/>
              <a:ext cx="1805337" cy="1705805"/>
            </a:xfrm>
            <a:prstGeom prst="roundRect">
              <a:avLst>
                <a:gd name="adj" fmla="val 9966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圆角矩形 118"/>
            <p:cNvSpPr/>
            <p:nvPr/>
          </p:nvSpPr>
          <p:spPr bwMode="auto">
            <a:xfrm>
              <a:off x="5805596" y="1571870"/>
              <a:ext cx="1813816" cy="274687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9" name="AutoShape 3"/>
          <p:cNvSpPr>
            <a:spLocks noChangeArrowheads="1"/>
          </p:cNvSpPr>
          <p:nvPr/>
        </p:nvSpPr>
        <p:spPr bwMode="gray">
          <a:xfrm>
            <a:off x="7772434" y="1969466"/>
            <a:ext cx="751415" cy="940229"/>
          </a:xfrm>
          <a:prstGeom prst="upArrow">
            <a:avLst>
              <a:gd name="adj1" fmla="val 65007"/>
              <a:gd name="adj2" fmla="val 34454"/>
            </a:avLst>
          </a:prstGeom>
          <a:solidFill>
            <a:srgbClr val="00ACE2"/>
          </a:solidFill>
          <a:ln w="9525" algn="ctr">
            <a:noFill/>
            <a:miter lim="800000"/>
          </a:ln>
        </p:spPr>
        <p:txBody>
          <a:bodyPr vert="eaVert" wrap="none" lIns="72000" tIns="72000" rIns="72000" bIns="72000" anchor="ctr"/>
          <a:lstStyle/>
          <a:p>
            <a:pPr algn="ctr" eaLnBrk="0" hangingPunct="0">
              <a:spcBef>
                <a:spcPct val="20000"/>
              </a:spcBef>
              <a:buSzPct val="100000"/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3237840" y="1576525"/>
            <a:ext cx="2186680" cy="1705805"/>
          </a:xfrm>
          <a:prstGeom prst="roundRect">
            <a:avLst>
              <a:gd name="adj" fmla="val 9966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3227573" y="1576525"/>
            <a:ext cx="2196000" cy="274687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8" name="Straight Connector 97"/>
          <p:cNvCxnSpPr/>
          <p:nvPr/>
        </p:nvCxnSpPr>
        <p:spPr bwMode="auto">
          <a:xfrm>
            <a:off x="2359153" y="2947765"/>
            <a:ext cx="5257351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00" name="Rectangle 20"/>
          <p:cNvSpPr>
            <a:spLocks noChangeArrowheads="1"/>
          </p:cNvSpPr>
          <p:nvPr/>
        </p:nvSpPr>
        <p:spPr bwMode="auto">
          <a:xfrm>
            <a:off x="3903474" y="1576525"/>
            <a:ext cx="952505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决策机制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21"/>
          <p:cNvSpPr>
            <a:spLocks noChangeArrowheads="1"/>
          </p:cNvSpPr>
          <p:nvPr/>
        </p:nvSpPr>
        <p:spPr bwMode="auto">
          <a:xfrm>
            <a:off x="5611435" y="1586050"/>
            <a:ext cx="1908420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组长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2" name="Straight Connector 101"/>
          <p:cNvCxnSpPr/>
          <p:nvPr/>
        </p:nvCxnSpPr>
        <p:spPr bwMode="auto">
          <a:xfrm>
            <a:off x="2357504" y="2128615"/>
            <a:ext cx="5259000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Straight Connector 102"/>
          <p:cNvCxnSpPr/>
          <p:nvPr/>
        </p:nvCxnSpPr>
        <p:spPr bwMode="auto">
          <a:xfrm>
            <a:off x="2357504" y="2528665"/>
            <a:ext cx="5259000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Straight Connector 103"/>
          <p:cNvCxnSpPr/>
          <p:nvPr/>
        </p:nvCxnSpPr>
        <p:spPr bwMode="auto">
          <a:xfrm>
            <a:off x="3279339" y="3282330"/>
            <a:ext cx="4308590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05" name="Rectangle 26"/>
          <p:cNvSpPr>
            <a:spLocks noChangeArrowheads="1"/>
          </p:cNvSpPr>
          <p:nvPr/>
        </p:nvSpPr>
        <p:spPr bwMode="auto">
          <a:xfrm>
            <a:off x="3424073" y="2202460"/>
            <a:ext cx="180394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组长决策原则</a:t>
            </a:r>
            <a:endParaRPr lang="en-US" altLang="zh-CN" sz="11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ectangle 27"/>
          <p:cNvSpPr>
            <a:spLocks noChangeArrowheads="1"/>
          </p:cNvSpPr>
          <p:nvPr/>
        </p:nvSpPr>
        <p:spPr bwMode="auto">
          <a:xfrm>
            <a:off x="3424073" y="2987487"/>
            <a:ext cx="180394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组长决策原则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ectangle 28"/>
          <p:cNvSpPr>
            <a:spLocks noChangeArrowheads="1"/>
          </p:cNvSpPr>
          <p:nvPr/>
        </p:nvSpPr>
        <p:spPr bwMode="auto">
          <a:xfrm>
            <a:off x="3140597" y="2528169"/>
            <a:ext cx="2370899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RSDT</a:t>
            </a: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：组长决策原则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5662977" y="1860737"/>
            <a:ext cx="1805337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公司轮值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CEO</a:t>
            </a:r>
            <a:endParaRPr lang="en-US" altLang="zh-CN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31"/>
          <p:cNvSpPr>
            <a:spLocks noChangeArrowheads="1"/>
          </p:cNvSpPr>
          <p:nvPr/>
        </p:nvSpPr>
        <p:spPr bwMode="auto">
          <a:xfrm>
            <a:off x="5662977" y="2987487"/>
            <a:ext cx="1805337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代表处代表 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ectangle 32"/>
          <p:cNvSpPr>
            <a:spLocks noChangeArrowheads="1"/>
          </p:cNvSpPr>
          <p:nvPr/>
        </p:nvSpPr>
        <p:spPr bwMode="auto">
          <a:xfrm>
            <a:off x="5477707" y="2528169"/>
            <a:ext cx="217587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RSDT</a:t>
            </a: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：地区部总裁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33"/>
          <p:cNvSpPr>
            <a:spLocks noChangeArrowheads="1"/>
          </p:cNvSpPr>
          <p:nvPr/>
        </p:nvSpPr>
        <p:spPr bwMode="auto">
          <a:xfrm>
            <a:off x="2997813" y="2705235"/>
            <a:ext cx="265646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KASDT</a:t>
            </a: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：组长决策原则</a:t>
            </a:r>
            <a:endParaRPr lang="en-US" altLang="zh-CN" sz="11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Rectangle 34"/>
          <p:cNvSpPr>
            <a:spLocks noChangeArrowheads="1"/>
          </p:cNvSpPr>
          <p:nvPr/>
        </p:nvSpPr>
        <p:spPr bwMode="auto">
          <a:xfrm>
            <a:off x="5388554" y="2705235"/>
            <a:ext cx="2354183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KASDT</a:t>
            </a: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：大客户系统部部长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26"/>
          <p:cNvSpPr>
            <a:spLocks noChangeArrowheads="1"/>
          </p:cNvSpPr>
          <p:nvPr/>
        </p:nvSpPr>
        <p:spPr bwMode="auto">
          <a:xfrm>
            <a:off x="3225737" y="1860737"/>
            <a:ext cx="2307979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集体决策制（少数服从多数原则）</a:t>
            </a:r>
            <a:endParaRPr lang="en-US" altLang="zh-CN" sz="11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Rectangle 29"/>
          <p:cNvSpPr>
            <a:spLocks noChangeArrowheads="1"/>
          </p:cNvSpPr>
          <p:nvPr/>
        </p:nvSpPr>
        <p:spPr bwMode="auto">
          <a:xfrm>
            <a:off x="5492332" y="2202460"/>
            <a:ext cx="214662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683260" eaLnBrk="0" hangingPunct="0">
              <a:buClr>
                <a:schemeClr val="bg2"/>
              </a:buClr>
              <a:buSzPct val="60000"/>
            </a:pP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运营商网络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BG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总裁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5"/>
          <p:cNvSpPr txBox="1"/>
          <p:nvPr/>
        </p:nvSpPr>
        <p:spPr bwMode="auto">
          <a:xfrm>
            <a:off x="2011903" y="3422184"/>
            <a:ext cx="877920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794571" y="3796346"/>
            <a:ext cx="3768395" cy="100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明确流程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执行主体为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SDT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团队，决策组织人为该流程的辅助角色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决策运作规范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明确决策结论规范输出要求和落实管理要求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TextBox 103"/>
          <p:cNvSpPr txBox="1"/>
          <p:nvPr/>
        </p:nvSpPr>
        <p:spPr bwMode="auto">
          <a:xfrm>
            <a:off x="6356065" y="3414829"/>
            <a:ext cx="568987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019175" y="3831267"/>
            <a:ext cx="3265134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>
              <a:spcBef>
                <a:spcPct val="50000"/>
              </a:spcBef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确立决策责任主体和组织支撑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019175" y="4164013"/>
            <a:ext cx="3265134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>
              <a:spcBef>
                <a:spcPct val="50000"/>
              </a:spcBef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提升决策执行效率、规范性和质量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019175" y="4496760"/>
            <a:ext cx="3265134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>
              <a:spcBef>
                <a:spcPct val="50000"/>
              </a:spcBef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提升决策结论有效性，形成决策闭环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16/21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600709" y="1509109"/>
            <a:ext cx="2685186" cy="1783052"/>
            <a:chOff x="5300299" y="1329612"/>
            <a:chExt cx="1337133" cy="887901"/>
          </a:xfrm>
        </p:grpSpPr>
        <p:graphicFrame>
          <p:nvGraphicFramePr>
            <p:cNvPr id="84" name="图示 83"/>
            <p:cNvGraphicFramePr/>
            <p:nvPr/>
          </p:nvGraphicFramePr>
          <p:xfrm>
            <a:off x="5300299" y="1329612"/>
            <a:ext cx="1337133" cy="88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sp>
          <p:nvSpPr>
            <p:cNvPr id="86" name="矩形 85"/>
            <p:cNvSpPr/>
            <p:nvPr/>
          </p:nvSpPr>
          <p:spPr>
            <a:xfrm>
              <a:off x="5845789" y="1403420"/>
              <a:ext cx="254512" cy="1379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CSDT</a:t>
              </a:r>
              <a:endPara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5793675" y="1570209"/>
              <a:ext cx="339732" cy="1532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CNSDT</a:t>
              </a:r>
              <a:endParaRPr lang="en-US" altLang="zh-CN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632584" y="1801228"/>
              <a:ext cx="282993" cy="1532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RSDT</a:t>
              </a:r>
              <a:endPara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5992298" y="1801228"/>
              <a:ext cx="336539" cy="1532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KASDT</a:t>
              </a:r>
              <a:endPara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797976" y="2026556"/>
              <a:ext cx="340658" cy="1532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COSDT</a:t>
              </a:r>
              <a:endPara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91" name="直接连接符 90"/>
            <p:cNvCxnSpPr/>
            <p:nvPr/>
          </p:nvCxnSpPr>
          <p:spPr bwMode="auto">
            <a:xfrm>
              <a:off x="5965924" y="1777048"/>
              <a:ext cx="2383" cy="216038"/>
            </a:xfrm>
            <a:prstGeom prst="line">
              <a:avLst/>
            </a:prstGeom>
            <a:noFill/>
            <a:ln w="158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组合 67"/>
          <p:cNvGrpSpPr/>
          <p:nvPr/>
        </p:nvGrpSpPr>
        <p:grpSpPr>
          <a:xfrm>
            <a:off x="800159" y="960472"/>
            <a:ext cx="7484150" cy="441291"/>
            <a:chOff x="897776" y="3650187"/>
            <a:chExt cx="7484150" cy="441291"/>
          </a:xfrm>
        </p:grpSpPr>
        <p:sp>
          <p:nvSpPr>
            <p:cNvPr id="69" name="AutoShape 85"/>
            <p:cNvSpPr>
              <a:spLocks noChangeArrowheads="1"/>
            </p:cNvSpPr>
            <p:nvPr/>
          </p:nvSpPr>
          <p:spPr bwMode="auto">
            <a:xfrm>
              <a:off x="897776" y="3825968"/>
              <a:ext cx="664033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ATI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0" name="AutoShape 85"/>
            <p:cNvSpPr>
              <a:spLocks noChangeArrowheads="1"/>
            </p:cNvSpPr>
            <p:nvPr/>
          </p:nvSpPr>
          <p:spPr bwMode="auto">
            <a:xfrm>
              <a:off x="4266170" y="3825968"/>
              <a:ext cx="664032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1" name="AutoShape 85"/>
            <p:cNvSpPr>
              <a:spLocks noChangeArrowheads="1"/>
            </p:cNvSpPr>
            <p:nvPr/>
          </p:nvSpPr>
          <p:spPr bwMode="auto">
            <a:xfrm>
              <a:off x="253833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ATB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3" name="AutoShape 85"/>
            <p:cNvSpPr>
              <a:spLocks noChangeArrowheads="1"/>
            </p:cNvSpPr>
            <p:nvPr/>
          </p:nvSpPr>
          <p:spPr bwMode="auto">
            <a:xfrm>
              <a:off x="7716428" y="3825968"/>
              <a:ext cx="665498" cy="265510"/>
            </a:xfrm>
            <a:prstGeom prst="diamond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ATCC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74" name="AutoShape 538"/>
            <p:cNvCxnSpPr>
              <a:cxnSpLocks noChangeShapeType="1"/>
              <a:stCxn id="69" idx="3"/>
              <a:endCxn id="71" idx="1"/>
            </p:cNvCxnSpPr>
            <p:nvPr/>
          </p:nvCxnSpPr>
          <p:spPr bwMode="auto">
            <a:xfrm>
              <a:off x="1561807" y="3958722"/>
              <a:ext cx="976531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75" name="AutoShape 539"/>
            <p:cNvCxnSpPr>
              <a:cxnSpLocks noChangeShapeType="1"/>
              <a:stCxn id="71" idx="3"/>
              <a:endCxn id="70" idx="1"/>
            </p:cNvCxnSpPr>
            <p:nvPr/>
          </p:nvCxnSpPr>
          <p:spPr bwMode="auto">
            <a:xfrm>
              <a:off x="3203836" y="3958722"/>
              <a:ext cx="1062334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cxnSp>
          <p:nvCxnSpPr>
            <p:cNvPr id="76" name="AutoShape 540"/>
            <p:cNvCxnSpPr>
              <a:cxnSpLocks noChangeShapeType="1"/>
              <a:stCxn id="70" idx="3"/>
              <a:endCxn id="85" idx="1"/>
            </p:cNvCxnSpPr>
            <p:nvPr/>
          </p:nvCxnSpPr>
          <p:spPr bwMode="auto">
            <a:xfrm>
              <a:off x="4930201" y="3958722"/>
              <a:ext cx="983636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81" name="AutoShape 4"/>
            <p:cNvSpPr>
              <a:spLocks noChangeAspect="1" noChangeArrowheads="1"/>
            </p:cNvSpPr>
            <p:nvPr/>
          </p:nvSpPr>
          <p:spPr bwMode="auto">
            <a:xfrm flipV="1">
              <a:off x="203604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sz="8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2" name="AutoShape 5"/>
            <p:cNvSpPr>
              <a:spLocks noChangeAspect="1" noChangeArrowheads="1"/>
            </p:cNvSpPr>
            <p:nvPr/>
          </p:nvSpPr>
          <p:spPr bwMode="auto">
            <a:xfrm flipV="1">
              <a:off x="3790321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5" name="AutoShape 85"/>
            <p:cNvSpPr>
              <a:spLocks noChangeArrowheads="1"/>
            </p:cNvSpPr>
            <p:nvPr/>
          </p:nvSpPr>
          <p:spPr bwMode="auto">
            <a:xfrm>
              <a:off x="5913838" y="3825968"/>
              <a:ext cx="664033" cy="265510"/>
            </a:xfrm>
            <a:prstGeom prst="diamond">
              <a:avLst/>
            </a:prstGeom>
            <a:solidFill>
              <a:srgbClr val="FBD893"/>
            </a:solidFill>
            <a:ln w="9525" algn="ctr">
              <a:solidFill>
                <a:schemeClr val="tx1"/>
              </a:solidFill>
              <a:prstDash val="dash"/>
              <a:miter lim="800000"/>
            </a:ln>
          </p:spPr>
          <p:txBody>
            <a:bodyPr wrap="none" lIns="0" tIns="0" rIns="0" bIns="0" anchor="ctr" anchorCtr="1"/>
            <a:lstStyle/>
            <a:p>
              <a:pPr algn="ctr" defTabSz="582930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ATAC</a:t>
              </a: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*</a:t>
              </a:r>
              <a:endParaRPr lang="en-US" altLang="zh-HK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cxnSp>
          <p:nvCxnSpPr>
            <p:cNvPr id="92" name="AutoShape 540"/>
            <p:cNvCxnSpPr>
              <a:cxnSpLocks noChangeShapeType="1"/>
              <a:stCxn id="85" idx="3"/>
              <a:endCxn id="73" idx="1"/>
            </p:cNvCxnSpPr>
            <p:nvPr/>
          </p:nvCxnSpPr>
          <p:spPr bwMode="auto">
            <a:xfrm>
              <a:off x="6577871" y="3958722"/>
              <a:ext cx="1138557" cy="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</p:spPr>
        </p:cxnSp>
        <p:sp>
          <p:nvSpPr>
            <p:cNvPr id="93" name="AutoShape 5"/>
            <p:cNvSpPr>
              <a:spLocks noChangeAspect="1" noChangeArrowheads="1"/>
            </p:cNvSpPr>
            <p:nvPr/>
          </p:nvSpPr>
          <p:spPr bwMode="auto">
            <a:xfrm flipV="1">
              <a:off x="5333422" y="3848591"/>
              <a:ext cx="193493" cy="135731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miter lim="800000"/>
            </a:ln>
          </p:spPr>
          <p:txBody>
            <a:bodyPr wrap="none" lIns="58314" tIns="29157" rIns="58314" bIns="29157" anchor="ctr"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4" name="Text Box 34"/>
            <p:cNvSpPr txBox="1">
              <a:spLocks noChangeArrowheads="1"/>
            </p:cNvSpPr>
            <p:nvPr/>
          </p:nvSpPr>
          <p:spPr bwMode="auto">
            <a:xfrm>
              <a:off x="1744878" y="3650187"/>
              <a:ext cx="804755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投标评审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5" name="Text Box 34"/>
            <p:cNvSpPr txBox="1">
              <a:spLocks noChangeArrowheads="1"/>
            </p:cNvSpPr>
            <p:nvPr/>
          </p:nvSpPr>
          <p:spPr bwMode="auto">
            <a:xfrm>
              <a:off x="3528485" y="3650187"/>
              <a:ext cx="804754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7" name="Text Box 34"/>
            <p:cNvSpPr txBox="1">
              <a:spLocks noChangeArrowheads="1"/>
            </p:cNvSpPr>
            <p:nvPr/>
          </p:nvSpPr>
          <p:spPr bwMode="auto">
            <a:xfrm>
              <a:off x="4824647" y="3650187"/>
              <a:ext cx="1308588" cy="2190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 lIns="76713" tIns="39890" rIns="76713" bIns="39890">
              <a:spAutoFit/>
            </a:bodyPr>
            <a:lstStyle/>
            <a:p>
              <a:pPr marL="100330" indent="-100330" algn="ctr">
                <a:buClr>
                  <a:schemeClr val="tx2"/>
                </a:buClr>
              </a:pP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</a:t>
              </a: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PO</a:t>
              </a:r>
              <a:r>
                <a: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变更评审 </a:t>
              </a:r>
              <a:endPara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015820" y="3793037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775081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321960" y="3792615"/>
              <a:ext cx="218696" cy="217201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3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2" name="椭圆 121"/>
          <p:cNvSpPr/>
          <p:nvPr/>
        </p:nvSpPr>
        <p:spPr bwMode="auto">
          <a:xfrm>
            <a:off x="3978773" y="1048361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椭圆 122"/>
          <p:cNvSpPr/>
          <p:nvPr/>
        </p:nvSpPr>
        <p:spPr bwMode="auto">
          <a:xfrm>
            <a:off x="638481" y="1048361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椭圆 123"/>
          <p:cNvSpPr/>
          <p:nvPr/>
        </p:nvSpPr>
        <p:spPr bwMode="auto">
          <a:xfrm>
            <a:off x="2269236" y="1048361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椭圆 124"/>
          <p:cNvSpPr/>
          <p:nvPr/>
        </p:nvSpPr>
        <p:spPr bwMode="auto">
          <a:xfrm>
            <a:off x="7413670" y="1048763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椭圆 159"/>
          <p:cNvSpPr/>
          <p:nvPr/>
        </p:nvSpPr>
        <p:spPr bwMode="auto">
          <a:xfrm>
            <a:off x="5630719" y="1036384"/>
            <a:ext cx="1035036" cy="441291"/>
          </a:xfrm>
          <a:prstGeom prst="ellipse">
            <a:avLst/>
          </a:prstGeom>
          <a:noFill/>
          <a:ln w="9525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Oval 19"/>
          <p:cNvSpPr/>
          <p:nvPr/>
        </p:nvSpPr>
        <p:spPr bwMode="auto">
          <a:xfrm>
            <a:off x="590120" y="4293394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Oval 21"/>
          <p:cNvSpPr/>
          <p:nvPr/>
        </p:nvSpPr>
        <p:spPr bwMode="auto">
          <a:xfrm>
            <a:off x="590120" y="3831267"/>
            <a:ext cx="196501" cy="1785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Oval 36"/>
          <p:cNvSpPr/>
          <p:nvPr/>
        </p:nvSpPr>
        <p:spPr bwMode="auto">
          <a:xfrm>
            <a:off x="590120" y="4569956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66746" y="234399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升级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128" name="Rectangle 159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9" name="Rectangle 160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1" name="Rectangle 164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圆角矩形 83"/>
          <p:cNvSpPr/>
          <p:nvPr/>
        </p:nvSpPr>
        <p:spPr bwMode="auto">
          <a:xfrm>
            <a:off x="7668902" y="1257608"/>
            <a:ext cx="1332156" cy="58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圆角矩形 84"/>
          <p:cNvSpPr/>
          <p:nvPr/>
        </p:nvSpPr>
        <p:spPr bwMode="auto">
          <a:xfrm>
            <a:off x="7701925" y="2660111"/>
            <a:ext cx="1324534" cy="5651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4328697" y="1269598"/>
            <a:ext cx="1324534" cy="75890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圆角矩形 82"/>
          <p:cNvSpPr/>
          <p:nvPr/>
        </p:nvSpPr>
        <p:spPr bwMode="auto">
          <a:xfrm>
            <a:off x="4345631" y="2678845"/>
            <a:ext cx="1324534" cy="6477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" name="Rectangle 5"/>
          <p:cNvSpPr>
            <a:spLocks noChangeArrowheads="1"/>
          </p:cNvSpPr>
          <p:nvPr/>
        </p:nvSpPr>
        <p:spPr bwMode="auto">
          <a:xfrm>
            <a:off x="1638024" y="1442037"/>
            <a:ext cx="850027" cy="316894"/>
          </a:xfrm>
          <a:prstGeom prst="roundRect">
            <a:avLst>
              <a:gd name="adj" fmla="val 10435"/>
            </a:avLst>
          </a:prstGeom>
          <a:solidFill>
            <a:srgbClr val="0070C0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交易质量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5" name="AutoShape 9"/>
          <p:cNvCxnSpPr>
            <a:cxnSpLocks noChangeShapeType="1"/>
            <a:stCxn id="614" idx="2"/>
            <a:endCxn id="619" idx="0"/>
          </p:cNvCxnSpPr>
          <p:nvPr/>
        </p:nvCxnSpPr>
        <p:spPr bwMode="auto">
          <a:xfrm rot="5400000">
            <a:off x="1333243" y="1398376"/>
            <a:ext cx="369241" cy="10903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cxnSp>
        <p:nvCxnSpPr>
          <p:cNvPr id="617" name="AutoShape 11"/>
          <p:cNvCxnSpPr>
            <a:cxnSpLocks noChangeShapeType="1"/>
            <a:stCxn id="614" idx="2"/>
            <a:endCxn id="522" idx="0"/>
          </p:cNvCxnSpPr>
          <p:nvPr/>
        </p:nvCxnSpPr>
        <p:spPr bwMode="auto">
          <a:xfrm rot="16200000" flipH="1">
            <a:off x="2542851" y="1279117"/>
            <a:ext cx="369240" cy="132886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sp>
        <p:nvSpPr>
          <p:cNvPr id="619" name="Rectangle 6"/>
          <p:cNvSpPr>
            <a:spLocks noChangeArrowheads="1"/>
          </p:cNvSpPr>
          <p:nvPr/>
        </p:nvSpPr>
        <p:spPr bwMode="auto">
          <a:xfrm>
            <a:off x="493861" y="2128172"/>
            <a:ext cx="957653" cy="312077"/>
          </a:xfrm>
          <a:prstGeom prst="roundRect">
            <a:avLst>
              <a:gd name="adj" fmla="val 10435"/>
            </a:avLst>
          </a:prstGeom>
          <a:solidFill>
            <a:srgbClr val="00ACE2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合同生成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Rectangle 13"/>
          <p:cNvSpPr>
            <a:spLocks noChangeArrowheads="1"/>
          </p:cNvSpPr>
          <p:nvPr/>
        </p:nvSpPr>
        <p:spPr bwMode="auto">
          <a:xfrm>
            <a:off x="117156" y="2734252"/>
            <a:ext cx="649594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Rectangle 14"/>
          <p:cNvSpPr>
            <a:spLocks noChangeArrowheads="1"/>
          </p:cNvSpPr>
          <p:nvPr/>
        </p:nvSpPr>
        <p:spPr bwMode="auto">
          <a:xfrm>
            <a:off x="828663" y="2734252"/>
            <a:ext cx="463763" cy="511935"/>
          </a:xfrm>
          <a:prstGeom prst="roundRect">
            <a:avLst>
              <a:gd name="adj" fmla="val 8356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Rectangle 15"/>
          <p:cNvSpPr>
            <a:spLocks noChangeArrowheads="1"/>
          </p:cNvSpPr>
          <p:nvPr/>
        </p:nvSpPr>
        <p:spPr bwMode="auto">
          <a:xfrm>
            <a:off x="1323445" y="2734252"/>
            <a:ext cx="407154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3" name="AutoShape 21"/>
          <p:cNvCxnSpPr>
            <a:cxnSpLocks noChangeShapeType="1"/>
            <a:stCxn id="619" idx="2"/>
            <a:endCxn id="452" idx="0"/>
          </p:cNvCxnSpPr>
          <p:nvPr/>
        </p:nvCxnSpPr>
        <p:spPr bwMode="auto">
          <a:xfrm rot="5400000">
            <a:off x="560320" y="2321883"/>
            <a:ext cx="294003" cy="53073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cxnSp>
        <p:nvCxnSpPr>
          <p:cNvPr id="464" name="AutoShape 22"/>
          <p:cNvCxnSpPr>
            <a:cxnSpLocks noChangeShapeType="1"/>
            <a:stCxn id="619" idx="2"/>
            <a:endCxn id="461" idx="0"/>
          </p:cNvCxnSpPr>
          <p:nvPr/>
        </p:nvCxnSpPr>
        <p:spPr bwMode="auto">
          <a:xfrm rot="16200000" flipH="1">
            <a:off x="869615" y="2543321"/>
            <a:ext cx="294003" cy="8785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cxnSp>
        <p:nvCxnSpPr>
          <p:cNvPr id="465" name="AutoShape 23"/>
          <p:cNvCxnSpPr>
            <a:cxnSpLocks noChangeShapeType="1"/>
            <a:stCxn id="619" idx="2"/>
            <a:endCxn id="462" idx="0"/>
          </p:cNvCxnSpPr>
          <p:nvPr/>
        </p:nvCxnSpPr>
        <p:spPr bwMode="auto">
          <a:xfrm rot="16200000" flipH="1">
            <a:off x="1102854" y="2310083"/>
            <a:ext cx="294003" cy="55433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sp>
        <p:nvSpPr>
          <p:cNvPr id="511" name="Rectangle 13"/>
          <p:cNvSpPr>
            <a:spLocks noChangeArrowheads="1"/>
          </p:cNvSpPr>
          <p:nvPr/>
        </p:nvSpPr>
        <p:spPr bwMode="auto">
          <a:xfrm>
            <a:off x="1828518" y="2734252"/>
            <a:ext cx="419700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Rectangle 6"/>
          <p:cNvSpPr>
            <a:spLocks noChangeArrowheads="1"/>
          </p:cNvSpPr>
          <p:nvPr/>
        </p:nvSpPr>
        <p:spPr bwMode="auto">
          <a:xfrm>
            <a:off x="2913078" y="2128171"/>
            <a:ext cx="957653" cy="312077"/>
          </a:xfrm>
          <a:prstGeom prst="roundRect">
            <a:avLst>
              <a:gd name="adj" fmla="val 10435"/>
            </a:avLst>
          </a:prstGeom>
          <a:solidFill>
            <a:srgbClr val="00ACE2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合同履约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6" name="AutoShape 23"/>
          <p:cNvCxnSpPr>
            <a:cxnSpLocks noChangeShapeType="1"/>
            <a:stCxn id="522" idx="2"/>
            <a:endCxn id="511" idx="0"/>
          </p:cNvCxnSpPr>
          <p:nvPr/>
        </p:nvCxnSpPr>
        <p:spPr bwMode="auto">
          <a:xfrm rot="5400000">
            <a:off x="2568135" y="1910482"/>
            <a:ext cx="294004" cy="13535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cxnSp>
        <p:nvCxnSpPr>
          <p:cNvPr id="666" name="AutoShape 11"/>
          <p:cNvCxnSpPr>
            <a:cxnSpLocks noChangeShapeType="1"/>
            <a:stCxn id="522" idx="2"/>
            <a:endCxn id="693" idx="0"/>
          </p:cNvCxnSpPr>
          <p:nvPr/>
        </p:nvCxnSpPr>
        <p:spPr bwMode="auto">
          <a:xfrm rot="16200000" flipH="1">
            <a:off x="3467500" y="2364652"/>
            <a:ext cx="294004" cy="4451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</p:cxnSp>
      <p:sp>
        <p:nvSpPr>
          <p:cNvPr id="688" name="Rectangle 13"/>
          <p:cNvSpPr>
            <a:spLocks noChangeArrowheads="1"/>
          </p:cNvSpPr>
          <p:nvPr/>
        </p:nvSpPr>
        <p:spPr bwMode="auto">
          <a:xfrm>
            <a:off x="2278202" y="2734252"/>
            <a:ext cx="419700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2" name="Rectangle 13"/>
          <p:cNvSpPr>
            <a:spLocks noChangeArrowheads="1"/>
          </p:cNvSpPr>
          <p:nvPr/>
        </p:nvSpPr>
        <p:spPr bwMode="auto">
          <a:xfrm>
            <a:off x="2727884" y="2734252"/>
            <a:ext cx="419700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3" name="Rectangle 13"/>
          <p:cNvSpPr>
            <a:spLocks noChangeArrowheads="1"/>
          </p:cNvSpPr>
          <p:nvPr/>
        </p:nvSpPr>
        <p:spPr bwMode="auto">
          <a:xfrm>
            <a:off x="3627250" y="2734252"/>
            <a:ext cx="419700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Rectangle 13"/>
          <p:cNvSpPr>
            <a:spLocks noChangeArrowheads="1"/>
          </p:cNvSpPr>
          <p:nvPr/>
        </p:nvSpPr>
        <p:spPr bwMode="auto">
          <a:xfrm>
            <a:off x="3182055" y="2734252"/>
            <a:ext cx="419700" cy="5119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1905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肘形连接符 40"/>
          <p:cNvCxnSpPr>
            <a:stCxn id="522" idx="2"/>
            <a:endCxn id="694" idx="0"/>
          </p:cNvCxnSpPr>
          <p:nvPr/>
        </p:nvCxnSpPr>
        <p:spPr bwMode="auto">
          <a:xfrm rot="5400000">
            <a:off x="3244903" y="2587250"/>
            <a:ext cx="294004" cy="1270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肘形连接符 44"/>
          <p:cNvCxnSpPr>
            <a:stCxn id="522" idx="2"/>
            <a:endCxn id="692" idx="0"/>
          </p:cNvCxnSpPr>
          <p:nvPr/>
        </p:nvCxnSpPr>
        <p:spPr bwMode="auto">
          <a:xfrm rot="5400000">
            <a:off x="3017818" y="2360165"/>
            <a:ext cx="294004" cy="4541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肘形连接符 46"/>
          <p:cNvCxnSpPr>
            <a:stCxn id="522" idx="2"/>
            <a:endCxn id="688" idx="0"/>
          </p:cNvCxnSpPr>
          <p:nvPr/>
        </p:nvCxnSpPr>
        <p:spPr bwMode="auto">
          <a:xfrm rot="5400000">
            <a:off x="2792977" y="2135324"/>
            <a:ext cx="294004" cy="90385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484687" y="2055097"/>
            <a:ext cx="153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个阶段 ，  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大质量模块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个大类 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104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个要素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59756" y="2734254"/>
            <a:ext cx="551236" cy="511937"/>
          </a:xfrm>
          <a:prstGeom prst="rect">
            <a:avLst/>
          </a:prstGeom>
          <a:noFill/>
          <a:ln w="12700" cap="flat" cmpd="sng" algn="ctr">
            <a:solidFill>
              <a:srgbClr val="F7B0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 defTabSz="779145"/>
            <a:endParaRPr lang="en-US" sz="1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945838" y="2621168"/>
            <a:ext cx="720000" cy="360000"/>
            <a:chOff x="6819103" y="2484056"/>
            <a:chExt cx="783454" cy="633392"/>
          </a:xfrm>
        </p:grpSpPr>
        <p:sp>
          <p:nvSpPr>
            <p:cNvPr id="91" name="Oval 18"/>
            <p:cNvSpPr>
              <a:spLocks noChangeArrowheads="1"/>
            </p:cNvSpPr>
            <p:nvPr/>
          </p:nvSpPr>
          <p:spPr bwMode="gray">
            <a:xfrm>
              <a:off x="6819103" y="2484056"/>
              <a:ext cx="783454" cy="633392"/>
            </a:xfrm>
            <a:prstGeom prst="ellipse">
              <a:avLst/>
            </a:prstGeom>
            <a:solidFill>
              <a:srgbClr val="0070C0"/>
            </a:solidFill>
            <a:ln w="38100" algn="ctr">
              <a:noFill/>
              <a:round/>
            </a:ln>
            <a:effectLst/>
          </p:spPr>
          <p:txBody>
            <a:bodyPr wrap="none" lIns="87418" tIns="43708" rIns="87418" bIns="43708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white">
            <a:xfrm>
              <a:off x="6945083" y="2587723"/>
              <a:ext cx="531494" cy="426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2"/>
                      </a:gs>
                      <a:gs pos="100000">
                        <a:srgbClr val="8EB443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7418" tIns="43708" rIns="87418" bIns="43708" anchor="ctr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改进</a:t>
              </a:r>
              <a:endParaRPr lang="en-US" alt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729372" y="1472984"/>
            <a:ext cx="720000" cy="360000"/>
            <a:chOff x="5452759" y="1417273"/>
            <a:chExt cx="783454" cy="633392"/>
          </a:xfrm>
        </p:grpSpPr>
        <p:sp>
          <p:nvSpPr>
            <p:cNvPr id="111" name="Oval 18"/>
            <p:cNvSpPr>
              <a:spLocks noChangeArrowheads="1"/>
            </p:cNvSpPr>
            <p:nvPr/>
          </p:nvSpPr>
          <p:spPr bwMode="gray">
            <a:xfrm>
              <a:off x="5452759" y="1417273"/>
              <a:ext cx="783454" cy="633392"/>
            </a:xfrm>
            <a:prstGeom prst="ellipse">
              <a:avLst/>
            </a:prstGeom>
            <a:solidFill>
              <a:srgbClr val="0070C0"/>
            </a:solidFill>
            <a:ln w="38100" algn="ctr">
              <a:noFill/>
              <a:round/>
            </a:ln>
            <a:effectLst/>
          </p:spPr>
          <p:txBody>
            <a:bodyPr wrap="none" lIns="87418" tIns="43708" rIns="87418" bIns="43708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Rectangle 20"/>
            <p:cNvSpPr>
              <a:spLocks noChangeArrowheads="1"/>
            </p:cNvSpPr>
            <p:nvPr/>
          </p:nvSpPr>
          <p:spPr bwMode="white">
            <a:xfrm>
              <a:off x="5552913" y="1520940"/>
              <a:ext cx="583147" cy="426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tint val="73725"/>
                          <a:invGamma/>
                        </a:scheme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7418" tIns="43708" rIns="87418" bIns="43708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诊断</a:t>
              </a:r>
              <a:endPara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8" name="Rectangle 133"/>
          <p:cNvSpPr>
            <a:spLocks noChangeArrowheads="1"/>
          </p:cNvSpPr>
          <p:nvPr/>
        </p:nvSpPr>
        <p:spPr bwMode="auto">
          <a:xfrm>
            <a:off x="4258733" y="1320621"/>
            <a:ext cx="1479646" cy="70788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根据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要素诊断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分析历史合同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梳理系统部的合同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TOP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问题和基线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ectangle 133"/>
          <p:cNvSpPr>
            <a:spLocks noChangeArrowheads="1"/>
          </p:cNvSpPr>
          <p:nvPr/>
        </p:nvSpPr>
        <p:spPr bwMode="auto">
          <a:xfrm>
            <a:off x="4292241" y="2646923"/>
            <a:ext cx="14360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明确合同评审的客户化标准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按客户群基线评审，提升评审效率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angle 133"/>
          <p:cNvSpPr>
            <a:spLocks noChangeArrowheads="1"/>
          </p:cNvSpPr>
          <p:nvPr/>
        </p:nvSpPr>
        <p:spPr bwMode="auto">
          <a:xfrm>
            <a:off x="7610696" y="1291399"/>
            <a:ext cx="13903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规范合同生成流程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明确职责分工和输出要求</a:t>
            </a:r>
            <a:endParaRPr lang="en-US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ectangle 133"/>
          <p:cNvSpPr>
            <a:spLocks noChangeArrowheads="1"/>
          </p:cNvSpPr>
          <p:nvPr/>
        </p:nvSpPr>
        <p:spPr bwMode="auto">
          <a:xfrm>
            <a:off x="7656303" y="2682214"/>
            <a:ext cx="140302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171450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明确差距，确立目标，持续牵引合同质量提升</a:t>
            </a:r>
            <a:endParaRPr lang="en-US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57864" y="829186"/>
            <a:ext cx="8028272" cy="401867"/>
            <a:chOff x="117156" y="829186"/>
            <a:chExt cx="8011776" cy="401867"/>
          </a:xfrm>
        </p:grpSpPr>
        <p:sp>
          <p:nvSpPr>
            <p:cNvPr id="30" name="圆角矩形 29"/>
            <p:cNvSpPr/>
            <p:nvPr/>
          </p:nvSpPr>
          <p:spPr bwMode="auto">
            <a:xfrm>
              <a:off x="117156" y="829186"/>
              <a:ext cx="8011776" cy="401867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59756" y="829186"/>
              <a:ext cx="7969176" cy="401867"/>
            </a:xfrm>
            <a:prstGeom prst="rect">
              <a:avLst/>
            </a:prstGeom>
            <a:noFill/>
          </p:spPr>
          <p:txBody>
            <a:bodyPr wrap="square" lIns="77939" tIns="38970" rIns="77939" bIns="38970" rtlCol="0">
              <a:spAutoFit/>
            </a:bodyPr>
            <a:lstStyle/>
            <a:p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LTC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交易质量夯实聚焦于提升合同设计质量，基于既定的合同质量度量标准，对合同质量进行诊断，规范合同生成，明确合同质量改进计划，提升合同评审效率</a:t>
              </a:r>
              <a:endPara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9" name="Right Arrow 10"/>
          <p:cNvSpPr>
            <a:spLocks noChangeArrowheads="1"/>
          </p:cNvSpPr>
          <p:nvPr/>
        </p:nvSpPr>
        <p:spPr bwMode="auto">
          <a:xfrm>
            <a:off x="4405489" y="2038080"/>
            <a:ext cx="502626" cy="492260"/>
          </a:xfrm>
          <a:prstGeom prst="rightArrow">
            <a:avLst>
              <a:gd name="adj1" fmla="val 73859"/>
              <a:gd name="adj2" fmla="val 42493"/>
            </a:avLst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39" tIns="38970" rIns="77939" bIns="3897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8" name="Title 1"/>
          <p:cNvSpPr txBox="1"/>
          <p:nvPr/>
        </p:nvSpPr>
        <p:spPr bwMode="gray">
          <a:xfrm>
            <a:off x="370009" y="188577"/>
            <a:ext cx="2387896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</a:t>
            </a:r>
            <a:r>
              <a:rPr lang="zh-CN" altLang="en-US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交易质量：概念和范畴</a:t>
            </a:r>
            <a:endParaRPr 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50132" y="4816073"/>
            <a:ext cx="8298250" cy="294145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/>
          <a:p>
            <a:r>
              <a:rPr lang="en-US" sz="7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[1]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6-4-2-1: 6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个合同要素（客户解决方案，交易定价，交付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回款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 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法务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), 4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个单元拉通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销售单元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交付单元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验收单元，回款单元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), 2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棵“树”匹配配置和项目计划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网络配置树，交付计划树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), 1</a:t>
            </a:r>
            <a:r>
              <a: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个风险管控（全流程合同风险信息管控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69" name="Rectangle 68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2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17/21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7072" y="280542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合同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设计质量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530" y="2805425"/>
            <a:ext cx="458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谈判质量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1108" y="2737081"/>
            <a:ext cx="511830" cy="5078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评审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决策质量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28837" y="2739088"/>
            <a:ext cx="419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交付验收质量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78202" y="2806330"/>
            <a:ext cx="411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回款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09001" y="2734057"/>
            <a:ext cx="4385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变更管理质量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64993" y="2734056"/>
            <a:ext cx="43858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风险管控质量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16736" y="2734397"/>
            <a:ext cx="43858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项目经营质量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940216" y="1477226"/>
            <a:ext cx="720000" cy="360000"/>
            <a:chOff x="6819103" y="1416752"/>
            <a:chExt cx="783454" cy="633392"/>
          </a:xfrm>
        </p:grpSpPr>
        <p:sp>
          <p:nvSpPr>
            <p:cNvPr id="90" name="Oval 18"/>
            <p:cNvSpPr>
              <a:spLocks noChangeArrowheads="1"/>
            </p:cNvSpPr>
            <p:nvPr/>
          </p:nvSpPr>
          <p:spPr bwMode="gray">
            <a:xfrm>
              <a:off x="6819103" y="1416752"/>
              <a:ext cx="783454" cy="633392"/>
            </a:xfrm>
            <a:prstGeom prst="ellipse">
              <a:avLst/>
            </a:prstGeom>
            <a:solidFill>
              <a:srgbClr val="0070C0"/>
            </a:solidFill>
            <a:ln w="38100" algn="ctr">
              <a:noFill/>
              <a:round/>
            </a:ln>
            <a:effectLst/>
          </p:spPr>
          <p:txBody>
            <a:bodyPr wrap="none" lIns="87418" tIns="43708" rIns="87418" bIns="43708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Rectangle 26"/>
            <p:cNvSpPr>
              <a:spLocks noChangeArrowheads="1"/>
            </p:cNvSpPr>
            <p:nvPr/>
          </p:nvSpPr>
          <p:spPr bwMode="white">
            <a:xfrm>
              <a:off x="6892553" y="1520419"/>
              <a:ext cx="636554" cy="426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tint val="73725"/>
                          <a:invGamma/>
                        </a:scheme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7418" tIns="43708" rIns="87418" bIns="43708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生成</a:t>
              </a:r>
              <a:endParaRPr lang="en-US" altLang="zh-CN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758397" y="2647254"/>
            <a:ext cx="720000" cy="360000"/>
            <a:chOff x="5452761" y="2475513"/>
            <a:chExt cx="783454" cy="633392"/>
          </a:xfrm>
        </p:grpSpPr>
        <p:sp>
          <p:nvSpPr>
            <p:cNvPr id="89" name="Oval 18"/>
            <p:cNvSpPr>
              <a:spLocks noChangeArrowheads="1"/>
            </p:cNvSpPr>
            <p:nvPr/>
          </p:nvSpPr>
          <p:spPr bwMode="gray">
            <a:xfrm>
              <a:off x="5452761" y="2475513"/>
              <a:ext cx="783454" cy="633392"/>
            </a:xfrm>
            <a:prstGeom prst="ellipse">
              <a:avLst/>
            </a:prstGeom>
            <a:solidFill>
              <a:srgbClr val="0070C0"/>
            </a:solidFill>
            <a:ln w="38100" algn="ctr">
              <a:noFill/>
              <a:round/>
            </a:ln>
            <a:effectLst/>
          </p:spPr>
          <p:txBody>
            <a:bodyPr wrap="none" lIns="87418" tIns="43708" rIns="87418" bIns="43708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6"/>
            <p:cNvSpPr>
              <a:spLocks noChangeArrowheads="1"/>
            </p:cNvSpPr>
            <p:nvPr/>
          </p:nvSpPr>
          <p:spPr bwMode="white">
            <a:xfrm>
              <a:off x="5555488" y="2579180"/>
              <a:ext cx="577999" cy="426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tint val="73725"/>
                          <a:invGamma/>
                        </a:scheme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7418" tIns="43708" rIns="87418" bIns="43708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 评审</a:t>
              </a:r>
              <a:endPara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26" name="直接连接符 25"/>
          <p:cNvCxnSpPr>
            <a:stCxn id="111" idx="5"/>
            <a:endCxn id="91" idx="1"/>
          </p:cNvCxnSpPr>
          <p:nvPr/>
        </p:nvCxnSpPr>
        <p:spPr bwMode="auto">
          <a:xfrm>
            <a:off x="6343930" y="1780263"/>
            <a:ext cx="707350" cy="893626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>
            <a:stCxn id="90" idx="3"/>
            <a:endCxn id="89" idx="7"/>
          </p:cNvCxnSpPr>
          <p:nvPr/>
        </p:nvCxnSpPr>
        <p:spPr bwMode="auto">
          <a:xfrm flipH="1">
            <a:off x="6372955" y="1784505"/>
            <a:ext cx="672703" cy="915470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9" name="组合 28"/>
          <p:cNvGrpSpPr/>
          <p:nvPr/>
        </p:nvGrpSpPr>
        <p:grpSpPr>
          <a:xfrm>
            <a:off x="6265542" y="1861444"/>
            <a:ext cx="904869" cy="783904"/>
            <a:chOff x="6152174" y="1861444"/>
            <a:chExt cx="904869" cy="783904"/>
          </a:xfrm>
        </p:grpSpPr>
        <p:sp>
          <p:nvSpPr>
            <p:cNvPr id="122" name="Oval 2"/>
            <p:cNvSpPr>
              <a:spLocks noChangeArrowheads="1"/>
            </p:cNvSpPr>
            <p:nvPr/>
          </p:nvSpPr>
          <p:spPr bwMode="gray">
            <a:xfrm>
              <a:off x="6152174" y="1861444"/>
              <a:ext cx="904869" cy="783904"/>
            </a:xfrm>
            <a:prstGeom prst="ellipse">
              <a:avLst/>
            </a:prstGeom>
            <a:solidFill>
              <a:srgbClr val="F7B021"/>
            </a:solidFill>
            <a:ln w="9525">
              <a:noFill/>
              <a:round/>
            </a:ln>
          </p:spPr>
          <p:txBody>
            <a:bodyPr wrap="none" lIns="87418" tIns="43708" rIns="87418" bIns="43708" anchor="ctr"/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Text Box 4"/>
            <p:cNvSpPr txBox="1">
              <a:spLocks noChangeArrowheads="1"/>
            </p:cNvSpPr>
            <p:nvPr/>
          </p:nvSpPr>
          <p:spPr bwMode="gray">
            <a:xfrm>
              <a:off x="6177674" y="2055373"/>
              <a:ext cx="879369" cy="396046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2"/>
                      </a:gs>
                      <a:gs pos="100000">
                        <a:srgbClr val="8EB443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418" tIns="43708" rIns="87418" bIns="43708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合同质量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度量标准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49" name="组合 448"/>
          <p:cNvGrpSpPr/>
          <p:nvPr/>
        </p:nvGrpSpPr>
        <p:grpSpPr>
          <a:xfrm>
            <a:off x="283324" y="3343423"/>
            <a:ext cx="8577353" cy="1427296"/>
            <a:chOff x="138808" y="3343423"/>
            <a:chExt cx="8577353" cy="1427296"/>
          </a:xfrm>
        </p:grpSpPr>
        <p:grpSp>
          <p:nvGrpSpPr>
            <p:cNvPr id="127" name="组合 126"/>
            <p:cNvGrpSpPr/>
            <p:nvPr/>
          </p:nvGrpSpPr>
          <p:grpSpPr>
            <a:xfrm>
              <a:off x="4477247" y="3357584"/>
              <a:ext cx="4238914" cy="1413135"/>
              <a:chOff x="398866" y="3410536"/>
              <a:chExt cx="4112792" cy="1467852"/>
            </a:xfrm>
          </p:grpSpPr>
          <p:sp>
            <p:nvSpPr>
              <p:cNvPr id="128" name="圆角矩形 127"/>
              <p:cNvSpPr/>
              <p:nvPr/>
            </p:nvSpPr>
            <p:spPr bwMode="auto">
              <a:xfrm>
                <a:off x="407658" y="3425245"/>
                <a:ext cx="4104000" cy="1453143"/>
              </a:xfrm>
              <a:prstGeom prst="roundRect">
                <a:avLst>
                  <a:gd name="adj" fmla="val 7017"/>
                </a:avLst>
              </a:prstGeom>
              <a:solidFill>
                <a:srgbClr val="FBD893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矩形 128"/>
              <p:cNvSpPr/>
              <p:nvPr/>
            </p:nvSpPr>
            <p:spPr bwMode="auto">
              <a:xfrm>
                <a:off x="398866" y="3410536"/>
                <a:ext cx="4103995" cy="317441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8" name="组合 447"/>
            <p:cNvGrpSpPr/>
            <p:nvPr/>
          </p:nvGrpSpPr>
          <p:grpSpPr>
            <a:xfrm>
              <a:off x="138808" y="3343423"/>
              <a:ext cx="4248000" cy="1413135"/>
              <a:chOff x="398866" y="3410536"/>
              <a:chExt cx="4112792" cy="1467852"/>
            </a:xfrm>
          </p:grpSpPr>
          <p:sp>
            <p:nvSpPr>
              <p:cNvPr id="106" name="圆角矩形 105"/>
              <p:cNvSpPr/>
              <p:nvPr/>
            </p:nvSpPr>
            <p:spPr bwMode="auto">
              <a:xfrm>
                <a:off x="407658" y="3425245"/>
                <a:ext cx="4104000" cy="1453143"/>
              </a:xfrm>
              <a:prstGeom prst="roundRect">
                <a:avLst>
                  <a:gd name="adj" fmla="val 7017"/>
                </a:avLst>
              </a:prstGeom>
              <a:solidFill>
                <a:srgbClr val="FBD893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矩形 125"/>
              <p:cNvSpPr/>
              <p:nvPr/>
            </p:nvSpPr>
            <p:spPr bwMode="auto">
              <a:xfrm>
                <a:off x="398866" y="3410536"/>
                <a:ext cx="4103995" cy="317441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9" name="Rectangle 133"/>
            <p:cNvSpPr>
              <a:spLocks noChangeArrowheads="1"/>
            </p:cNvSpPr>
            <p:nvPr/>
          </p:nvSpPr>
          <p:spPr bwMode="auto">
            <a:xfrm>
              <a:off x="601364" y="4072536"/>
              <a:ext cx="3924300" cy="240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建立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合同基线、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标准化的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合同生成流程</a:t>
              </a:r>
              <a:r>
                <a:rPr lang="en-US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以及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客户化的合同模板</a:t>
              </a:r>
              <a:endParaRPr lang="en-US" altLang="en-US" sz="10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Rectangle 134"/>
            <p:cNvSpPr>
              <a:spLocks noChangeArrowheads="1"/>
            </p:cNvSpPr>
            <p:nvPr/>
          </p:nvSpPr>
          <p:spPr bwMode="auto">
            <a:xfrm>
              <a:off x="601364" y="4392998"/>
              <a:ext cx="3924300" cy="247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建立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合同质量持续改进机制</a:t>
              </a:r>
              <a:endParaRPr lang="en-US" altLang="en-US" sz="10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Rectangle 133"/>
            <p:cNvSpPr>
              <a:spLocks noChangeArrowheads="1"/>
            </p:cNvSpPr>
            <p:nvPr/>
          </p:nvSpPr>
          <p:spPr bwMode="auto">
            <a:xfrm>
              <a:off x="601365" y="3744380"/>
              <a:ext cx="4018483" cy="247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定义“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高质量合同</a:t>
              </a:r>
              <a:r>
                <a:rPr lang="zh-CN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及</a:t>
              </a:r>
              <a:r>
                <a:rPr lang="en-US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6-4-2-1 </a:t>
              </a:r>
              <a:r>
                <a:rPr lang="en-US" altLang="en-US" sz="1050" baseline="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[1]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合同质量诊断方法</a:t>
              </a:r>
              <a:endParaRPr lang="en-US" altLang="en-US" sz="105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Rectangle 133"/>
            <p:cNvSpPr>
              <a:spLocks noChangeArrowheads="1"/>
            </p:cNvSpPr>
            <p:nvPr/>
          </p:nvSpPr>
          <p:spPr bwMode="auto">
            <a:xfrm>
              <a:off x="5101083" y="3744926"/>
              <a:ext cx="3297198" cy="247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合同质量可视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统一管理</a:t>
              </a:r>
              <a:endParaRPr lang="en-US" altLang="en-US" sz="10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Rectangle 133"/>
            <p:cNvSpPr>
              <a:spLocks noChangeArrowheads="1"/>
            </p:cNvSpPr>
            <p:nvPr/>
          </p:nvSpPr>
          <p:spPr bwMode="auto">
            <a:xfrm>
              <a:off x="5101083" y="4068962"/>
              <a:ext cx="3297198" cy="247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优化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合同生成</a:t>
              </a: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及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合同评审的效率和有效性</a:t>
              </a:r>
              <a:endParaRPr lang="en-US" altLang="en-US" sz="10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Rectangle 133"/>
            <p:cNvSpPr>
              <a:spLocks noChangeArrowheads="1"/>
            </p:cNvSpPr>
            <p:nvPr/>
          </p:nvSpPr>
          <p:spPr bwMode="auto">
            <a:xfrm>
              <a:off x="5101083" y="4392998"/>
              <a:ext cx="3297198" cy="240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7939" tIns="38970" rIns="77939" bIns="38970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marL="252095" indent="-252095" eaLnBrk="1" hangingPunct="1">
                <a:lnSpc>
                  <a:spcPct val="100000"/>
                </a:lnSpc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明确合同质量持续改进的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责任主体</a:t>
              </a:r>
              <a:r>
                <a:rPr lang="zh-CN" altLang="en-US" sz="105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zh-CN" altLang="en-US" sz="105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目标和计划</a:t>
              </a:r>
              <a:endParaRPr lang="en-US" altLang="en-US" sz="10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" name="TextBox 15"/>
            <p:cNvSpPr txBox="1"/>
            <p:nvPr/>
          </p:nvSpPr>
          <p:spPr bwMode="auto">
            <a:xfrm>
              <a:off x="1786819" y="3358390"/>
              <a:ext cx="951978" cy="29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77939" tIns="38970" rIns="77939" bIns="38970" anchor="b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变革要点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8" name="TextBox 103"/>
            <p:cNvSpPr txBox="1"/>
            <p:nvPr/>
          </p:nvSpPr>
          <p:spPr bwMode="auto">
            <a:xfrm>
              <a:off x="6301580" y="3358390"/>
              <a:ext cx="590249" cy="29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77939" tIns="38970" rIns="77939" bIns="38970" anchor="b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价值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0" name="Oval 19"/>
            <p:cNvSpPr/>
            <p:nvPr/>
          </p:nvSpPr>
          <p:spPr bwMode="auto">
            <a:xfrm>
              <a:off x="372227" y="4090789"/>
              <a:ext cx="196501" cy="17146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Oval 21"/>
            <p:cNvSpPr/>
            <p:nvPr/>
          </p:nvSpPr>
          <p:spPr bwMode="auto">
            <a:xfrm>
              <a:off x="372227" y="3771275"/>
              <a:ext cx="196501" cy="17850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2" name="Oval 36"/>
            <p:cNvSpPr/>
            <p:nvPr/>
          </p:nvSpPr>
          <p:spPr bwMode="auto">
            <a:xfrm>
              <a:off x="372227" y="4409296"/>
              <a:ext cx="196501" cy="17146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 txBox="1"/>
          <p:nvPr/>
        </p:nvSpPr>
        <p:spPr bwMode="gray">
          <a:xfrm>
            <a:off x="370010" y="184150"/>
            <a:ext cx="600475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</a:t>
            </a:r>
            <a:r>
              <a:rPr lang="zh-CN" altLang="en-US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交易质量：交易质量方案的应用</a:t>
            </a: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8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18/21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887" y="812800"/>
            <a:ext cx="7664227" cy="3901813"/>
            <a:chOff x="773978" y="812800"/>
            <a:chExt cx="7664227" cy="3901813"/>
          </a:xfrm>
        </p:grpSpPr>
        <p:sp>
          <p:nvSpPr>
            <p:cNvPr id="32" name="Rectangle 31"/>
            <p:cNvSpPr/>
            <p:nvPr/>
          </p:nvSpPr>
          <p:spPr bwMode="auto">
            <a:xfrm>
              <a:off x="782056" y="2257941"/>
              <a:ext cx="5634877" cy="1364090"/>
            </a:xfrm>
            <a:prstGeom prst="roundRect">
              <a:avLst>
                <a:gd name="adj" fmla="val 8672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7939" tIns="38970" rIns="77939" bIns="38970" numCol="1" rtlCol="0" anchor="t" anchorCtr="0" compatLnSpc="1">
              <a:noAutofit/>
            </a:bodyPr>
            <a:lstStyle/>
            <a:p>
              <a:pPr defTabSz="779145"/>
              <a:endParaRPr lang="en-US" sz="10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2056" y="1437626"/>
              <a:ext cx="5634877" cy="73499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7939" tIns="38970" rIns="77939" bIns="38970" numCol="1" rtlCol="0" anchor="t" anchorCtr="0" compatLnSpc="1">
              <a:noAutofit/>
            </a:bodyPr>
            <a:lstStyle/>
            <a:p>
              <a:pPr defTabSz="779145"/>
              <a:endParaRPr lang="en-US" sz="10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" name="等腰三角形 1"/>
            <p:cNvSpPr/>
            <p:nvPr/>
          </p:nvSpPr>
          <p:spPr bwMode="auto">
            <a:xfrm>
              <a:off x="2860646" y="2025554"/>
              <a:ext cx="1627464" cy="172404"/>
            </a:xfrm>
            <a:prstGeom prst="triangle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等腰三角形 43"/>
            <p:cNvSpPr/>
            <p:nvPr/>
          </p:nvSpPr>
          <p:spPr bwMode="auto">
            <a:xfrm>
              <a:off x="2860646" y="2764998"/>
              <a:ext cx="1627464" cy="172404"/>
            </a:xfrm>
            <a:prstGeom prst="triangle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等腰三角形 44"/>
            <p:cNvSpPr/>
            <p:nvPr/>
          </p:nvSpPr>
          <p:spPr bwMode="auto">
            <a:xfrm>
              <a:off x="2860646" y="3504441"/>
              <a:ext cx="1627464" cy="172404"/>
            </a:xfrm>
            <a:prstGeom prst="triangle">
              <a:avLst/>
            </a:prstGeom>
            <a:solidFill>
              <a:srgbClr val="00ACE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690916" y="1596851"/>
              <a:ext cx="1995586" cy="338439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ctr" anchorCtr="0" compatLnSpc="1">
              <a:noAutofit/>
            </a:bodyPr>
            <a:lstStyle/>
            <a:p>
              <a:pPr algn="ctr" defTabSz="779145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合同生成</a:t>
              </a:r>
              <a:endPara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2690916" y="2315356"/>
              <a:ext cx="1995586" cy="338439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77939" tIns="38970" rIns="77939" bIns="3897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客户化合同模板</a:t>
              </a:r>
              <a:endPara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" name="圆角矩形 2"/>
            <p:cNvSpPr/>
            <p:nvPr/>
          </p:nvSpPr>
          <p:spPr bwMode="auto">
            <a:xfrm>
              <a:off x="773978" y="3825380"/>
              <a:ext cx="5634878" cy="88923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2690916" y="3038717"/>
              <a:ext cx="1995586" cy="338439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77939" tIns="38970" rIns="77939" bIns="3897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合同要素基线</a:t>
              </a:r>
              <a:endPara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82057" y="3751929"/>
              <a:ext cx="5634877" cy="381904"/>
            </a:xfrm>
            <a:prstGeom prst="roundRect">
              <a:avLst>
                <a:gd name="adj" fmla="val 659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77939" tIns="38970" rIns="77939" bIns="3897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合同质量标准体系：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6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要素齐全、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4U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匹配、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2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棵树拉通、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个风险拉通管理</a:t>
              </a:r>
              <a:endParaRPr 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502" y="2738855"/>
              <a:ext cx="4284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固化</a:t>
              </a:r>
              <a:endParaRPr 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57724" y="1996340"/>
              <a:ext cx="4619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改进</a:t>
              </a:r>
              <a:endParaRPr 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60234" y="3497591"/>
              <a:ext cx="4282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诊断</a:t>
              </a:r>
              <a:endParaRPr 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 rot="5400000">
              <a:off x="7518031" y="1798616"/>
              <a:ext cx="1118321" cy="714795"/>
            </a:xfrm>
            <a:prstGeom prst="roundRect">
              <a:avLst/>
            </a:prstGeom>
            <a:solidFill>
              <a:srgbClr val="00ACE2"/>
            </a:solidFill>
          </p:spPr>
          <p:txBody>
            <a:bodyPr wrap="square" lIns="77939" tIns="38970" rIns="77939" bIns="38970" rtlCol="0" anchor="ctr">
              <a:noAutofit/>
            </a:bodyPr>
            <a:lstStyle/>
            <a:p>
              <a:pPr algn="ctr"/>
              <a:endParaRPr 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 rot="5400000">
              <a:off x="7778709" y="2774185"/>
              <a:ext cx="604196" cy="714795"/>
            </a:xfrm>
            <a:prstGeom prst="roundRect">
              <a:avLst/>
            </a:prstGeom>
            <a:solidFill>
              <a:srgbClr val="00ACE2"/>
            </a:solidFill>
          </p:spPr>
          <p:txBody>
            <a:bodyPr wrap="square" lIns="77939" tIns="38970" rIns="77939" bIns="38970" rtlCol="0" anchor="ctr">
              <a:noAutofit/>
            </a:bodyPr>
            <a:lstStyle>
              <a:defPPr>
                <a:defRPr lang="zh-CN"/>
              </a:defPPr>
              <a:lvl1pPr>
                <a:defRPr sz="1400" b="1">
                  <a:latin typeface="+mn-ea"/>
                  <a:ea typeface="+mn-ea"/>
                </a:defRPr>
              </a:lvl1pPr>
            </a:lstStyle>
            <a:p>
              <a:pPr algn="ctr"/>
              <a:endParaRPr 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Left-Right Arrow 47"/>
            <p:cNvSpPr/>
            <p:nvPr/>
          </p:nvSpPr>
          <p:spPr bwMode="auto">
            <a:xfrm>
              <a:off x="6552593" y="1931349"/>
              <a:ext cx="1037705" cy="452226"/>
            </a:xfrm>
            <a:prstGeom prst="leftRightArrow">
              <a:avLst>
                <a:gd name="adj1" fmla="val 68550"/>
                <a:gd name="adj2" fmla="val 25884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779145"/>
              <a:endParaRPr 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698478" y="2053403"/>
              <a:ext cx="734481" cy="217201"/>
            </a:xfrm>
            <a:prstGeom prst="rect">
              <a:avLst/>
            </a:prstGeom>
          </p:spPr>
          <p:txBody>
            <a:bodyPr wrap="none" lIns="77939" tIns="38970" rIns="77939" bIns="38970">
              <a:spAutoFit/>
            </a:bodyPr>
            <a:lstStyle/>
            <a:p>
              <a:r>
                <a:rPr lang="zh-CN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高效、简化</a:t>
              </a:r>
              <a:endPara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0" name="Right Arrow 49"/>
            <p:cNvSpPr/>
            <p:nvPr/>
          </p:nvSpPr>
          <p:spPr bwMode="auto">
            <a:xfrm>
              <a:off x="6587137" y="3107085"/>
              <a:ext cx="968617" cy="168299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77939" tIns="38970" rIns="77939" bIns="38970" numCol="1" spcCol="0" rtlCol="0" fromWordArt="0" anchor="t" anchorCtr="0" forceAA="0" compatLnSpc="1">
              <a:noAutofit/>
            </a:bodyPr>
            <a:lstStyle/>
            <a:p>
              <a:endParaRPr lang="en-US" sz="8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1" name="Right Arrow 50"/>
            <p:cNvSpPr/>
            <p:nvPr/>
          </p:nvSpPr>
          <p:spPr bwMode="auto">
            <a:xfrm rot="10800000">
              <a:off x="6587136" y="2924957"/>
              <a:ext cx="968617" cy="168299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77939" tIns="38970" rIns="77939" bIns="38970" numCol="1" spcCol="0" rtlCol="0" fromWordArt="0" anchor="t" anchorCtr="0" forceAA="0" compatLnSpc="1">
              <a:noAutofit/>
            </a:bodyPr>
            <a:lstStyle/>
            <a:p>
              <a:endParaRPr lang="en-US" sz="8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50086" y="2762897"/>
              <a:ext cx="619065" cy="217201"/>
            </a:xfrm>
            <a:prstGeom prst="rect">
              <a:avLst/>
            </a:prstGeom>
          </p:spPr>
          <p:txBody>
            <a:bodyPr wrap="none" lIns="77939" tIns="38970" rIns="77939" bIns="38970">
              <a:spAutoFit/>
            </a:bodyPr>
            <a:lstStyle/>
            <a:p>
              <a:r>
                <a:rPr lang="zh-CN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授权落实</a:t>
              </a:r>
              <a:endPara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761914" y="3228517"/>
              <a:ext cx="619065" cy="217201"/>
            </a:xfrm>
            <a:prstGeom prst="rect">
              <a:avLst/>
            </a:prstGeom>
          </p:spPr>
          <p:txBody>
            <a:bodyPr wrap="none" lIns="77939" tIns="38970" rIns="77939" bIns="38970">
              <a:spAutoFit/>
            </a:bodyPr>
            <a:lstStyle/>
            <a:p>
              <a:r>
                <a:rPr lang="zh-CN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授权需求</a:t>
              </a:r>
              <a:endPara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48546" y="1426185"/>
              <a:ext cx="465177" cy="263367"/>
            </a:xfrm>
            <a:prstGeom prst="rect">
              <a:avLst/>
            </a:prstGeom>
            <a:ln>
              <a:noFill/>
            </a:ln>
          </p:spPr>
          <p:txBody>
            <a:bodyPr wrap="none" lIns="77939" tIns="38970" rIns="77939" bIns="38970">
              <a:spAutoFit/>
            </a:bodyPr>
            <a:lstStyle/>
            <a:p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项目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48545" y="2313722"/>
              <a:ext cx="1234618" cy="448033"/>
            </a:xfrm>
            <a:prstGeom prst="rect">
              <a:avLst/>
            </a:prstGeom>
            <a:ln>
              <a:noFill/>
            </a:ln>
          </p:spPr>
          <p:txBody>
            <a:bodyPr wrap="none" lIns="77939" tIns="38970" rIns="77939" bIns="38970">
              <a:spAutoFit/>
            </a:bodyPr>
            <a:lstStyle/>
            <a:p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客户化合同标准</a:t>
              </a:r>
              <a:endPara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例行工作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525475" y="4171709"/>
              <a:ext cx="4081551" cy="448033"/>
            </a:xfrm>
            <a:prstGeom prst="rect">
              <a:avLst/>
            </a:prstGeom>
          </p:spPr>
          <p:txBody>
            <a:bodyPr wrap="none" lIns="77939" tIns="38970" rIns="77939" bIns="38970">
              <a:spAutoFit/>
            </a:bodyPr>
            <a:lstStyle/>
            <a:p>
              <a:pPr marL="228600" indent="-252095">
                <a:buFont typeface="+mj-lt"/>
                <a:buAutoNum type="arabicPeriod"/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基于基线的合同度量，合同评审、授权申请、质量改进</a:t>
              </a:r>
              <a:endPara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228600" indent="-252095">
                <a:buFont typeface="+mj-lt"/>
                <a:buAutoNum type="arabicPeriod"/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基于客户化模板的合同生成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9" name="Rectangular Callout 58"/>
            <p:cNvSpPr/>
            <p:nvPr/>
          </p:nvSpPr>
          <p:spPr bwMode="auto">
            <a:xfrm>
              <a:off x="4686505" y="812800"/>
              <a:ext cx="1756116" cy="692768"/>
            </a:xfrm>
            <a:prstGeom prst="wedgeRoundRectCallout">
              <a:avLst>
                <a:gd name="adj1" fmla="val -49017"/>
                <a:gd name="adj2" fmla="val 92785"/>
                <a:gd name="adj3" fmla="val 16667"/>
              </a:avLst>
            </a:prstGeom>
            <a:solidFill>
              <a:srgbClr val="F7B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defTabSz="779145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基于合同基线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客户化合同模板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改进目标、计划进行投标、谈判</a:t>
              </a:r>
              <a:endPara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0" name="Rectangular Callout 59"/>
            <p:cNvSpPr/>
            <p:nvPr/>
          </p:nvSpPr>
          <p:spPr bwMode="auto">
            <a:xfrm>
              <a:off x="6669504" y="1048624"/>
              <a:ext cx="1768701" cy="456944"/>
            </a:xfrm>
            <a:prstGeom prst="wedgeRoundRectCallout">
              <a:avLst>
                <a:gd name="adj1" fmla="val -35382"/>
                <a:gd name="adj2" fmla="val 156894"/>
                <a:gd name="adj3" fmla="val 16667"/>
              </a:avLst>
            </a:prstGeom>
            <a:solidFill>
              <a:srgbClr val="F7B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t" anchorCtr="0" compatLnSpc="1">
              <a:noAutofit/>
            </a:bodyPr>
            <a:lstStyle/>
            <a:p>
              <a:pPr marL="171450" indent="-171450" defTabSz="779145">
                <a:buClr>
                  <a:schemeClr val="bg1"/>
                </a:buClr>
                <a:buFont typeface="Wingdings" panose="05000000000000000000" pitchFamily="2" charset="2"/>
                <a:buChar char="u"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超出授权，申请决策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71450" indent="-171450" defTabSz="779145">
                <a:buClr>
                  <a:schemeClr val="bg1"/>
                </a:buClr>
                <a:buFont typeface="Wingdings" panose="05000000000000000000" pitchFamily="2" charset="2"/>
                <a:buChar char="u"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基于授权做评审和决策</a:t>
              </a:r>
              <a:endPara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1" name="Rectangular Callout 60"/>
            <p:cNvSpPr/>
            <p:nvPr/>
          </p:nvSpPr>
          <p:spPr bwMode="auto">
            <a:xfrm>
              <a:off x="6721176" y="3770458"/>
              <a:ext cx="1669153" cy="391912"/>
            </a:xfrm>
            <a:prstGeom prst="wedgeRoundRectCallout">
              <a:avLst>
                <a:gd name="adj1" fmla="val -167604"/>
                <a:gd name="adj2" fmla="val -207205"/>
                <a:gd name="adj3" fmla="val 16667"/>
              </a:avLst>
            </a:prstGeom>
            <a:solidFill>
              <a:srgbClr val="F7B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7939" tIns="38970" rIns="77939" bIns="38970" numCol="1" rtlCol="0" anchor="ctr" anchorCtr="0" compatLnSpc="1">
              <a:noAutofit/>
            </a:bodyPr>
            <a:lstStyle/>
            <a:p>
              <a:pPr defTabSz="779145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通过申请授权，形成基线</a:t>
              </a:r>
              <a:endPara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830969" y="2993082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授权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71285" y="1832848"/>
              <a:ext cx="58139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评审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决策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907915" y="1994115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41" name="Rectangle 68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6" name="Rectangle 69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6" name="Rectangle 70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 bwMode="gray">
          <a:xfrm>
            <a:off x="370250" y="188577"/>
            <a:ext cx="299373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</a:t>
            </a:r>
            <a:r>
              <a:rPr lang="zh-CN" altLang="en-US" sz="1400" b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交易质量：优化合同文档管理</a:t>
            </a:r>
            <a:endParaRPr lang="zh-CN" altLang="en-US" sz="1400" b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6" name="表格 17"/>
          <p:cNvGraphicFramePr>
            <a:graphicFrameLocks noGrp="1"/>
          </p:cNvGraphicFramePr>
          <p:nvPr/>
        </p:nvGraphicFramePr>
        <p:xfrm>
          <a:off x="467543" y="2355727"/>
          <a:ext cx="822685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213"/>
                <a:gridCol w="545057"/>
                <a:gridCol w="635899"/>
                <a:gridCol w="3329310"/>
                <a:gridCol w="3262371"/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lt"/>
                        </a:rPr>
                        <a:t>As-is</a:t>
                      </a:r>
                      <a:endParaRPr lang="zh-CN" alt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lt"/>
                        </a:rPr>
                        <a:t>To-be</a:t>
                      </a:r>
                      <a:endParaRPr lang="zh-CN" alt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  <a:tr h="205740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合同文档管理规则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归档</a:t>
                      </a:r>
                      <a:endParaRPr lang="en-US" altLang="zh-CN" sz="9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规则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电子件</a:t>
                      </a:r>
                      <a:endParaRPr lang="en-US" altLang="zh-CN" sz="900" dirty="0"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归档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部分归档至业务系统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归档至业务系统，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</a:rPr>
                        <a:t>SSDM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自动集成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5740">
                <a:tc vMerge="1">
                  <a:tcPr/>
                </a:tc>
                <a:tc vMerge="1">
                  <a:tcPr/>
                </a:tc>
                <a:tc v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部分存放在</a:t>
                      </a:r>
                      <a:r>
                        <a:rPr lang="en-US" altLang="zh-CN" sz="900" dirty="0" err="1">
                          <a:latin typeface="+mn-lt"/>
                        </a:rPr>
                        <a:t>Teamspace</a:t>
                      </a:r>
                      <a:r>
                        <a:rPr lang="zh-CN" altLang="en-US" sz="900" dirty="0">
                          <a:latin typeface="+mn-lt"/>
                        </a:rPr>
                        <a:t>、服务器、个人电脑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归档至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</a:rPr>
                        <a:t>SSDM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 vMerge="1">
                  <a:tcPr/>
                </a:tc>
                <a:tc v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纸面件</a:t>
                      </a:r>
                      <a:endParaRPr lang="en-US" altLang="zh-CN" sz="900" dirty="0"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归档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大部分个人手中保存、无台账记录，难以查找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归档到文档室、文件柜保存，在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</a:rPr>
                        <a:t>SSDM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中登记位置信息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 v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应用</a:t>
                      </a:r>
                      <a:endParaRPr lang="en-US" altLang="zh-CN" sz="9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规则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查询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各业务系统中查看，或者</a:t>
                      </a:r>
                      <a:r>
                        <a:rPr lang="en-US" altLang="zh-CN" sz="900" dirty="0" err="1">
                          <a:latin typeface="+mn-lt"/>
                        </a:rPr>
                        <a:t>Teamspace</a:t>
                      </a:r>
                      <a:r>
                        <a:rPr lang="zh-CN" altLang="en-US" sz="900" dirty="0">
                          <a:latin typeface="+mn-lt"/>
                        </a:rPr>
                        <a:t>、服务器、个人电脑中</a:t>
                      </a:r>
                      <a:endParaRPr lang="en-US" altLang="zh-CN" sz="900" dirty="0"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查看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在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</a:rPr>
                        <a:t>SSDM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申请权限，查看本业务需要查看的所有文档，包括从各业务系统集成的文档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5740">
                <a:tc vMerge="1">
                  <a:tcPr/>
                </a:tc>
                <a:tc v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借阅</a:t>
                      </a:r>
                      <a:r>
                        <a:rPr lang="en-US" altLang="zh-CN" sz="900" b="0" baseline="30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CN" altLang="en-US" sz="9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无借阅途径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在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lt"/>
                        </a:rPr>
                        <a:t>SSDM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中提交借阅申请，审批通过后可查看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891540">
                <a:tc vMerge="1"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销毁</a:t>
                      </a:r>
                      <a:endParaRPr lang="en-US" altLang="zh-CN" sz="9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ea"/>
                          <a:ea typeface="+mn-ea"/>
                        </a:rPr>
                        <a:t>规则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销毁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无销毁规则：</a:t>
                      </a:r>
                      <a:endParaRPr lang="en-US" altLang="zh-CN" sz="900" dirty="0"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很多文档已无使用价值，不知道是否应该销毁，继续保存占用空间资源；</a:t>
                      </a:r>
                      <a:endParaRPr lang="en-US" altLang="zh-CN" sz="900" dirty="0"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900" dirty="0">
                          <a:latin typeface="+mn-lt"/>
                        </a:rPr>
                        <a:t>很多文档仍需要保存，但提前销毁，造成需要使用时已找不到文档</a:t>
                      </a:r>
                      <a:endParaRPr lang="zh-CN" altLang="en-US" sz="900" dirty="0">
                        <a:latin typeface="+mn-lt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明确销毁条件：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+mn-ea"/>
                          <a:ea typeface="+mn-ea"/>
                        </a:rPr>
                        <a:t>两个条件</a:t>
                      </a:r>
                      <a:r>
                        <a:rPr lang="en-US" altLang="zh-CN" sz="90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:1 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合同已关闭；</a:t>
                      </a:r>
                      <a:r>
                        <a:rPr lang="en-US" altLang="zh-CN" sz="90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文档到达保存期限：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合同</a:t>
                      </a:r>
                      <a:r>
                        <a:rPr lang="en-US" altLang="zh-CN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项目</a:t>
                      </a:r>
                      <a:endParaRPr lang="en-US" altLang="zh-CN" sz="900" dirty="0">
                        <a:latin typeface="+mn-ea"/>
                        <a:ea typeface="+mn-ea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关闭后，一般文档保存</a:t>
                      </a:r>
                      <a:r>
                        <a:rPr lang="en-US" altLang="zh-CN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10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年，重要文档</a:t>
                      </a:r>
                      <a:r>
                        <a:rPr lang="en-US" altLang="zh-CN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20</a:t>
                      </a: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年。</a:t>
                      </a:r>
                      <a:endParaRPr lang="en-US" altLang="zh-CN" sz="900" dirty="0">
                        <a:latin typeface="+mn-ea"/>
                        <a:ea typeface="+mn-ea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销毁方法：</a:t>
                      </a:r>
                      <a:r>
                        <a:rPr lang="zh-CN" altLang="en-US" sz="900" dirty="0">
                          <a:latin typeface="+mn-ea"/>
                          <a:ea typeface="+mn-ea"/>
                        </a:rPr>
                        <a:t>每年进行一次，在</a:t>
                      </a:r>
                      <a:r>
                        <a:rPr lang="en-US" altLang="zh-CN" sz="900" dirty="0">
                          <a:latin typeface="+mn-ea"/>
                          <a:ea typeface="+mn-ea"/>
                        </a:rPr>
                        <a:t>SSDM</a:t>
                      </a:r>
                      <a:r>
                        <a:rPr lang="zh-CN" altLang="en-US" sz="900" dirty="0">
                          <a:latin typeface="+mn-ea"/>
                          <a:ea typeface="+mn-ea"/>
                        </a:rPr>
                        <a:t>中提取可销毁文档清单，经审批通过后实施销毁。</a:t>
                      </a:r>
                      <a:endParaRPr lang="en-US" altLang="zh-CN" sz="900" dirty="0">
                        <a:latin typeface="+mn-ea"/>
                        <a:ea typeface="+mn-ea"/>
                      </a:endParaRPr>
                    </a:p>
                  </a:txBody>
                  <a:tcPr marL="99060" marR="99060" marT="34290" marB="3429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五边形 23"/>
          <p:cNvSpPr/>
          <p:nvPr/>
        </p:nvSpPr>
        <p:spPr>
          <a:xfrm>
            <a:off x="467543" y="996996"/>
            <a:ext cx="8206673" cy="480060"/>
          </a:xfrm>
          <a:prstGeom prst="homePlate">
            <a:avLst>
              <a:gd name="adj" fmla="val 82230"/>
            </a:avLst>
          </a:prstGeom>
          <a:solidFill>
            <a:srgbClr val="FBD893">
              <a:alpha val="61961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燕尾形 25"/>
          <p:cNvSpPr/>
          <p:nvPr/>
        </p:nvSpPr>
        <p:spPr>
          <a:xfrm>
            <a:off x="636726" y="1059582"/>
            <a:ext cx="2078473" cy="342900"/>
          </a:xfrm>
          <a:prstGeom prst="chevron">
            <a:avLst>
              <a:gd name="adj" fmla="val 73827"/>
            </a:avLst>
          </a:prstGeom>
          <a:solidFill>
            <a:srgbClr val="F7B021">
              <a:alpha val="61961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生成阶段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燕尾形 26"/>
          <p:cNvSpPr/>
          <p:nvPr/>
        </p:nvSpPr>
        <p:spPr>
          <a:xfrm>
            <a:off x="2529204" y="1059582"/>
            <a:ext cx="2078473" cy="342900"/>
          </a:xfrm>
          <a:prstGeom prst="chevron">
            <a:avLst>
              <a:gd name="adj" fmla="val 73827"/>
            </a:avLst>
          </a:prstGeom>
          <a:solidFill>
            <a:srgbClr val="F7B021">
              <a:alpha val="61961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归档阶段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燕尾形 27"/>
          <p:cNvSpPr/>
          <p:nvPr/>
        </p:nvSpPr>
        <p:spPr>
          <a:xfrm>
            <a:off x="4413295" y="1059582"/>
            <a:ext cx="2078473" cy="342900"/>
          </a:xfrm>
          <a:prstGeom prst="chevron">
            <a:avLst>
              <a:gd name="adj" fmla="val 73827"/>
            </a:avLst>
          </a:prstGeom>
          <a:solidFill>
            <a:srgbClr val="F7B021">
              <a:alpha val="61961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应用阶段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燕尾形 28"/>
          <p:cNvSpPr/>
          <p:nvPr/>
        </p:nvSpPr>
        <p:spPr>
          <a:xfrm>
            <a:off x="6297385" y="1059582"/>
            <a:ext cx="2078473" cy="342900"/>
          </a:xfrm>
          <a:prstGeom prst="chevron">
            <a:avLst>
              <a:gd name="adj" fmla="val 73827"/>
            </a:avLst>
          </a:prstGeom>
          <a:solidFill>
            <a:srgbClr val="F7B021">
              <a:alpha val="61961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销毁阶段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29"/>
          <p:cNvSpPr/>
          <p:nvPr/>
        </p:nvSpPr>
        <p:spPr>
          <a:xfrm>
            <a:off x="2601214" y="1588744"/>
            <a:ext cx="1656184" cy="5040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39" tIns="38970" rIns="77939" bIns="38970"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30"/>
          <p:cNvSpPr/>
          <p:nvPr/>
        </p:nvSpPr>
        <p:spPr>
          <a:xfrm>
            <a:off x="4485304" y="1588744"/>
            <a:ext cx="1656184" cy="5040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39" tIns="38970" rIns="77939" bIns="38970"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31"/>
          <p:cNvSpPr/>
          <p:nvPr/>
        </p:nvSpPr>
        <p:spPr>
          <a:xfrm>
            <a:off x="6369394" y="1588744"/>
            <a:ext cx="1728192" cy="5040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39" tIns="38970" rIns="77939" bIns="38970"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32"/>
          <p:cNvSpPr/>
          <p:nvPr/>
        </p:nvSpPr>
        <p:spPr>
          <a:xfrm>
            <a:off x="492713" y="1588744"/>
            <a:ext cx="1872208" cy="504000"/>
          </a:xfrm>
          <a:prstGeom prst="roundRect">
            <a:avLst/>
          </a:prstGeom>
          <a:solidFill>
            <a:srgbClr val="0070C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39" tIns="38970" rIns="77939" bIns="38970"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接箭头连接符 33"/>
          <p:cNvCxnSpPr/>
          <p:nvPr/>
        </p:nvCxnSpPr>
        <p:spPr>
          <a:xfrm>
            <a:off x="1538616" y="1477057"/>
            <a:ext cx="0" cy="1116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34"/>
          <p:cNvCxnSpPr/>
          <p:nvPr/>
        </p:nvCxnSpPr>
        <p:spPr>
          <a:xfrm>
            <a:off x="3429306" y="1477057"/>
            <a:ext cx="0" cy="1116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41"/>
          <p:cNvSpPr/>
          <p:nvPr/>
        </p:nvSpPr>
        <p:spPr>
          <a:xfrm>
            <a:off x="391993" y="785881"/>
            <a:ext cx="1388506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文档生命周期管理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42"/>
          <p:cNvSpPr/>
          <p:nvPr/>
        </p:nvSpPr>
        <p:spPr>
          <a:xfrm>
            <a:off x="350047" y="2111098"/>
            <a:ext cx="1696283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合同文档管理业务规则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1992" y="4746265"/>
            <a:ext cx="3804562" cy="201812"/>
          </a:xfrm>
          <a:prstGeom prst="rect">
            <a:avLst/>
          </a:prstGeom>
          <a:noFill/>
        </p:spPr>
        <p:txBody>
          <a:bodyPr wrap="square" lIns="77939" tIns="38970" rIns="77939" bIns="38970" rtlCol="0">
            <a:spAutoFit/>
          </a:bodyPr>
          <a:lstStyle/>
          <a:p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</a:t>
            </a:r>
            <a:r>
              <a:rPr lang="en-US" altLang="zh-CN" sz="8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借阅适用场景：无权限查询的电子件和纸面件的查看</a:t>
            </a:r>
            <a:endParaRPr lang="zh-CN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箭头连接符 34"/>
          <p:cNvCxnSpPr/>
          <p:nvPr/>
        </p:nvCxnSpPr>
        <p:spPr>
          <a:xfrm>
            <a:off x="5305257" y="1477057"/>
            <a:ext cx="0" cy="1116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4"/>
          <p:cNvCxnSpPr/>
          <p:nvPr/>
        </p:nvCxnSpPr>
        <p:spPr>
          <a:xfrm>
            <a:off x="7250874" y="1477057"/>
            <a:ext cx="0" cy="1116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19/21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43048" y="1635297"/>
            <a:ext cx="177806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命名、编码、版本、制作、审批、模板、签署、提交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601215" y="1658261"/>
            <a:ext cx="1656184" cy="36957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接收、存储、发布、发放、问题管理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401413" y="1569046"/>
            <a:ext cx="181208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检索与查询（权限、维度及下载）、借阅管理、盘点、共享与信息安全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369394" y="1657875"/>
            <a:ext cx="1728192" cy="370343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销毁原则、销毁对象的识别、审批和执行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30" name="Rectangle 68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1" name="Rectangle 69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2" name="Rectangle 70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 bwMode="auto">
          <a:xfrm>
            <a:off x="4695830" y="3673175"/>
            <a:ext cx="4238919" cy="1214738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4686749" y="3659014"/>
            <a:ext cx="4238914" cy="265361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圆角矩形 40"/>
          <p:cNvSpPr/>
          <p:nvPr/>
        </p:nvSpPr>
        <p:spPr bwMode="auto">
          <a:xfrm>
            <a:off x="261131" y="3673175"/>
            <a:ext cx="4238919" cy="1214738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252050" y="3659014"/>
            <a:ext cx="4238914" cy="265361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52050" y="897565"/>
            <a:ext cx="8707315" cy="2699147"/>
          </a:xfrm>
          <a:prstGeom prst="roundRect">
            <a:avLst>
              <a:gd name="adj" fmla="val 6721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39" tIns="38970" rIns="77939" bIns="38970"/>
          <a:lstStyle/>
          <a:p>
            <a:pPr>
              <a:defRPr/>
            </a:pPr>
            <a:endParaRPr lang="en-US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866" name="Object 1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474" y="120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2" imgW="12700" imgH="12700" progId="">
                  <p:embed/>
                </p:oleObj>
              </mc:Choice>
              <mc:Fallback>
                <p:oleObj name="think-cell Slide" r:id="rId2" imgW="12700" imgH="12700" progId="">
                  <p:embed/>
                  <p:pic>
                    <p:nvPicPr>
                      <p:cNvPr id="0" name="Picture 9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20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33"/>
          <p:cNvSpPr>
            <a:spLocks noChangeArrowheads="1"/>
          </p:cNvSpPr>
          <p:nvPr/>
        </p:nvSpPr>
        <p:spPr bwMode="auto">
          <a:xfrm>
            <a:off x="647798" y="4066445"/>
            <a:ext cx="2533560" cy="63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070C0"/>
              </a:buClr>
              <a:buSzTx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</a:t>
            </a:r>
            <a:r>
              <a:rPr lang="en-US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指标模型和本地基线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buClr>
                <a:srgbClr val="0070C0"/>
              </a:buClr>
              <a:buSzTx/>
              <a:buNone/>
            </a:pP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buClr>
                <a:srgbClr val="0070C0"/>
              </a:buClr>
              <a:buSzTx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指标运营机制</a:t>
            </a:r>
            <a:endParaRPr lang="en-US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77" name="Rectangle 133"/>
          <p:cNvSpPr>
            <a:spLocks noChangeArrowheads="1"/>
          </p:cNvSpPr>
          <p:nvPr/>
        </p:nvSpPr>
        <p:spPr bwMode="auto">
          <a:xfrm>
            <a:off x="5037433" y="4066445"/>
            <a:ext cx="4246685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252095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建立度量和优化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LTC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本地运营的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量化基础</a:t>
            </a:r>
            <a:endParaRPr lang="en-US" altLang="en-US" sz="12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78" name="Rectangle 133"/>
          <p:cNvSpPr>
            <a:spLocks noChangeArrowheads="1"/>
          </p:cNvSpPr>
          <p:nvPr/>
        </p:nvSpPr>
        <p:spPr bwMode="auto">
          <a:xfrm>
            <a:off x="5037433" y="4435777"/>
            <a:ext cx="4246685" cy="26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71450" indent="-252095" eaLnBrk="1" hangingPunct="1">
              <a:lnSpc>
                <a:spcPct val="10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紧密关联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代表处的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经营和运营</a:t>
            </a:r>
            <a:endParaRPr lang="en-US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7989" y="990799"/>
            <a:ext cx="1569646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defTabSz="683260" fontAlgn="ctr">
              <a:defRPr/>
            </a:pPr>
            <a:r>
              <a:rPr lang="en-US" altLang="zh-CN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指标模型 </a:t>
            </a:r>
            <a:r>
              <a:rPr lang="en-US" altLang="zh-CN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参考</a:t>
            </a:r>
            <a:r>
              <a:rPr lang="en-US" altLang="zh-CN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200" b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17995" y="2337397"/>
            <a:ext cx="2558562" cy="263367"/>
          </a:xfrm>
          <a:prstGeom prst="rect">
            <a:avLst/>
          </a:prstGeom>
        </p:spPr>
        <p:txBody>
          <a:bodyPr lIns="77939" tIns="38970" rIns="77939" bIns="38970">
            <a:spAutoFit/>
          </a:bodyPr>
          <a:lstStyle/>
          <a:p>
            <a:pPr defTabSz="683260" fontAlgn="ctr">
              <a:defRPr/>
            </a:pPr>
            <a:r>
              <a:rPr lang="zh-CN" altLang="en-US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指标运营机制 </a:t>
            </a:r>
            <a:r>
              <a:rPr lang="en-US" altLang="zh-CN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参考</a:t>
            </a:r>
            <a:r>
              <a:rPr lang="en-US" altLang="zh-CN" sz="1200" b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200" b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ight Arrow 1"/>
          <p:cNvSpPr/>
          <p:nvPr/>
        </p:nvSpPr>
        <p:spPr bwMode="auto">
          <a:xfrm>
            <a:off x="2845507" y="1788964"/>
            <a:ext cx="337038" cy="1172954"/>
          </a:xfrm>
          <a:prstGeom prst="rightArrow">
            <a:avLst>
              <a:gd name="adj1" fmla="val 68595"/>
              <a:gd name="adj2" fmla="val 51725"/>
            </a:avLst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39" tIns="38970" rIns="77939" bIns="38970"/>
          <a:lstStyle/>
          <a:p>
            <a:pPr>
              <a:defRPr/>
            </a:pPr>
            <a:endParaRPr lang="en-US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五边形 4"/>
          <p:cNvSpPr/>
          <p:nvPr/>
        </p:nvSpPr>
        <p:spPr bwMode="auto">
          <a:xfrm>
            <a:off x="3382117" y="2666034"/>
            <a:ext cx="817685" cy="754856"/>
          </a:xfrm>
          <a:prstGeom prst="homePlate">
            <a:avLst>
              <a:gd name="adj" fmla="val 32179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" tIns="38970" rIns="7793" bIns="38970" anchor="ctr"/>
          <a:lstStyle/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建立指标团队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燕尾形 12"/>
          <p:cNvSpPr/>
          <p:nvPr/>
        </p:nvSpPr>
        <p:spPr bwMode="auto">
          <a:xfrm>
            <a:off x="3931632" y="2666034"/>
            <a:ext cx="1528396" cy="754856"/>
          </a:xfrm>
          <a:prstGeom prst="chevron">
            <a:avLst>
              <a:gd name="adj" fmla="val 29832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" tIns="38970" rIns="7793" bIns="38970" anchor="ctr"/>
          <a:lstStyle/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理解现有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燕尾形 12"/>
          <p:cNvSpPr/>
          <p:nvPr/>
        </p:nvSpPr>
        <p:spPr bwMode="auto">
          <a:xfrm>
            <a:off x="5186006" y="2666034"/>
            <a:ext cx="1525465" cy="754856"/>
          </a:xfrm>
          <a:prstGeom prst="chevron">
            <a:avLst>
              <a:gd name="adj" fmla="val 30038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" tIns="38970" rIns="7793" bIns="38970" anchor="ctr"/>
          <a:lstStyle/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指标适配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燕尾形 12"/>
          <p:cNvSpPr/>
          <p:nvPr/>
        </p:nvSpPr>
        <p:spPr bwMode="auto">
          <a:xfrm>
            <a:off x="6430108" y="2666034"/>
            <a:ext cx="1510812" cy="754856"/>
          </a:xfrm>
          <a:prstGeom prst="chevron">
            <a:avLst>
              <a:gd name="adj" fmla="val 28316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" tIns="38970" rIns="7793" bIns="38970" anchor="ctr"/>
          <a:lstStyle/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明确运营机制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燕尾形 12"/>
          <p:cNvSpPr/>
          <p:nvPr/>
        </p:nvSpPr>
        <p:spPr bwMode="auto">
          <a:xfrm>
            <a:off x="7666893" y="2666034"/>
            <a:ext cx="1238250" cy="754856"/>
          </a:xfrm>
          <a:prstGeom prst="chevron">
            <a:avLst>
              <a:gd name="adj" fmla="val 25969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" tIns="38970" rIns="7793" bIns="38970" anchor="ctr"/>
          <a:lstStyle/>
          <a:p>
            <a:pPr algn="ctr">
              <a:defRPr/>
            </a:pP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运营管理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89" name="Rectangle 2"/>
          <p:cNvSpPr>
            <a:spLocks noChangeArrowheads="1"/>
          </p:cNvSpPr>
          <p:nvPr/>
        </p:nvSpPr>
        <p:spPr bwMode="auto">
          <a:xfrm>
            <a:off x="3527112" y="2395772"/>
            <a:ext cx="527694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90" name="Rectangle 83"/>
          <p:cNvSpPr>
            <a:spLocks noChangeArrowheads="1"/>
          </p:cNvSpPr>
          <p:nvPr/>
        </p:nvSpPr>
        <p:spPr bwMode="auto">
          <a:xfrm>
            <a:off x="4451219" y="2395772"/>
            <a:ext cx="489222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91" name="Rectangle 98"/>
          <p:cNvSpPr>
            <a:spLocks noChangeArrowheads="1"/>
          </p:cNvSpPr>
          <p:nvPr/>
        </p:nvSpPr>
        <p:spPr bwMode="auto">
          <a:xfrm>
            <a:off x="5704127" y="2395772"/>
            <a:ext cx="489222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92" name="Rectangle 101"/>
          <p:cNvSpPr>
            <a:spLocks noChangeArrowheads="1"/>
          </p:cNvSpPr>
          <p:nvPr/>
        </p:nvSpPr>
        <p:spPr bwMode="auto">
          <a:xfrm>
            <a:off x="6940903" y="2395772"/>
            <a:ext cx="489222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93" name="Rectangle 102"/>
          <p:cNvSpPr>
            <a:spLocks noChangeArrowheads="1"/>
          </p:cNvSpPr>
          <p:nvPr/>
        </p:nvSpPr>
        <p:spPr bwMode="auto">
          <a:xfrm>
            <a:off x="8041407" y="2395772"/>
            <a:ext cx="489222" cy="23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altLang="en-US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896" name="Picture 3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95" y="1282940"/>
            <a:ext cx="2344149" cy="101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Rectangle 133"/>
          <p:cNvSpPr>
            <a:spLocks noChangeArrowheads="1"/>
          </p:cNvSpPr>
          <p:nvPr/>
        </p:nvSpPr>
        <p:spPr bwMode="auto">
          <a:xfrm>
            <a:off x="3181358" y="936614"/>
            <a:ext cx="5723791" cy="1435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39" tIns="38970" rIns="77939" bIns="38970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252095" indent="-252095">
              <a:buClr>
                <a:srgbClr val="F7B021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什么是</a:t>
            </a:r>
            <a:r>
              <a:rPr 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Metrics</a:t>
            </a:r>
            <a:r>
              <a:rPr lang="zh-CN" alt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体系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–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从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全流程业务结果指标自上而下分解到流程运作指标的“地图”，以及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metrics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的运营机制，以支撑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运营管理及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业务变革的推行落地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lvl="0" indent="-252095">
              <a:buClr>
                <a:srgbClr val="F7B021"/>
              </a:buClr>
              <a:buSzPct val="100000"/>
              <a:buFont typeface="Wingdings" panose="05000000000000000000" pitchFamily="2" charset="2"/>
              <a:buChar char="u"/>
            </a:pPr>
            <a:endParaRPr lang="en-US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52095" indent="-252095">
              <a:buClr>
                <a:srgbClr val="F7B021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如何建立本地的</a:t>
            </a:r>
            <a:r>
              <a:rPr 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Metrics </a:t>
            </a:r>
            <a:r>
              <a:rPr lang="zh-CN" altLang="en-US" sz="1200" b="1" dirty="0">
                <a:solidFill>
                  <a:srgbClr val="F7B02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体系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–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以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 metrics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模型基础版及试点国家（德国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土耳其）的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metrics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输出作参考，代表处可按以下步骤实施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metrics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的部署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2" name="Title 1"/>
          <p:cNvSpPr txBox="1"/>
          <p:nvPr/>
        </p:nvSpPr>
        <p:spPr bwMode="gray">
          <a:xfrm>
            <a:off x="367719" y="188577"/>
            <a:ext cx="2056699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0" tIns="38970" rIns="38970" bIns="38970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管理体系</a:t>
            </a:r>
            <a:b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LTC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指标体系</a:t>
            </a:r>
            <a:endParaRPr lang="en-US" sz="1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TextBox 15"/>
          <p:cNvSpPr txBox="1"/>
          <p:nvPr/>
        </p:nvSpPr>
        <p:spPr bwMode="auto">
          <a:xfrm>
            <a:off x="1931521" y="3638630"/>
            <a:ext cx="879973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8" name="TextBox 103"/>
          <p:cNvSpPr txBox="1"/>
          <p:nvPr/>
        </p:nvSpPr>
        <p:spPr bwMode="auto">
          <a:xfrm>
            <a:off x="6544254" y="3638630"/>
            <a:ext cx="523905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95211" y="97796"/>
            <a:ext cx="766578" cy="583744"/>
            <a:chOff x="7095211" y="97796"/>
            <a:chExt cx="766578" cy="583744"/>
          </a:xfrm>
        </p:grpSpPr>
        <p:sp>
          <p:nvSpPr>
            <p:cNvPr id="35" name="Rectangle 34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交易质量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指标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7095211" y="97796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5588" tIns="15588" rIns="36000" bIns="15588" numCol="1" rtlCol="0" anchor="ctr" anchorCtr="1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授权行权</a:t>
              </a:r>
              <a:endParaRPr 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8" name="灯片编号占位符 2"/>
          <p:cNvSpPr>
            <a:spLocks noGrp="1" noChangeArrowheads="1"/>
          </p:cNvSpPr>
          <p:nvPr/>
        </p:nvSpPr>
        <p:spPr bwMode="auto">
          <a:xfrm flipH="1">
            <a:off x="8607846" y="4826000"/>
            <a:ext cx="542501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20/21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88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89" y="2666034"/>
            <a:ext cx="2331985" cy="52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Oval 19"/>
          <p:cNvSpPr/>
          <p:nvPr/>
        </p:nvSpPr>
        <p:spPr bwMode="auto">
          <a:xfrm>
            <a:off x="425020" y="4458494"/>
            <a:ext cx="196501" cy="1714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21"/>
          <p:cNvSpPr/>
          <p:nvPr/>
        </p:nvSpPr>
        <p:spPr bwMode="auto">
          <a:xfrm>
            <a:off x="425020" y="4097967"/>
            <a:ext cx="196501" cy="1785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0" tIns="38970" rIns="38970" bIns="3897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 userDrawn="1"/>
        </p:nvSpPr>
        <p:spPr>
          <a:xfrm>
            <a:off x="3186430" y="0"/>
            <a:ext cx="3076575" cy="1936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587552" y="1577531"/>
            <a:ext cx="3697961" cy="707886"/>
          </a:xfrm>
          <a:prstGeom prst="rect">
            <a:avLst/>
          </a:prstGeom>
        </p:spPr>
        <p:txBody>
          <a:bodyPr lIns="91405" tIns="45703" rIns="91405" bIns="45703"/>
          <a:lstStyle>
            <a:defPPr>
              <a:defRPr lang="zh-CN"/>
            </a:defPPr>
            <a:lvl1pPr defTabSz="852170" fontAlgn="base">
              <a:defRPr sz="4000" b="1" i="0">
                <a:gradFill>
                  <a:gsLst>
                    <a:gs pos="0">
                      <a:srgbClr val="DE0000">
                        <a:alpha val="82745"/>
                      </a:srgbClr>
                    </a:gs>
                    <a:gs pos="67000">
                      <a:srgbClr val="990000"/>
                    </a:gs>
                  </a:gsLst>
                  <a:lin ang="5400000" scaled="1"/>
                </a:gradFill>
                <a:effectLst>
                  <a:outerShdw dist="38100" dir="5400000" algn="t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4500" dirty="0">
                <a:solidFill>
                  <a:srgbClr val="C0504D"/>
                </a:solidFill>
                <a:effectLst/>
              </a:rPr>
              <a:t>Thank you</a:t>
            </a:r>
            <a:endParaRPr lang="en-US" altLang="zh-CN" sz="4500" dirty="0">
              <a:solidFill>
                <a:srgbClr val="C0504D"/>
              </a:solidFill>
              <a:effectLst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Box 13"/>
          <p:cNvSpPr>
            <a:spLocks noChangeArrowheads="1"/>
          </p:cNvSpPr>
          <p:nvPr/>
        </p:nvSpPr>
        <p:spPr bwMode="auto">
          <a:xfrm>
            <a:off x="1511300" y="327025"/>
            <a:ext cx="5735638" cy="92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>
            <a:sp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LTC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总体介绍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化为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LTC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实操提炼（下）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339" name="图片 17" descr="001-01.png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550" y="1525588"/>
            <a:ext cx="2965450" cy="25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图片 18" descr="002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7175"/>
            <a:ext cx="657542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图片 8" descr="华为大学教育学院Logo.jpg"/>
          <p:cNvPicPr>
            <a:picLocks noChangeAspect="1" noChangeArrowheads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303213"/>
            <a:ext cx="666750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2\20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45"/>
          <p:cNvSpPr/>
          <p:nvPr/>
        </p:nvSpPr>
        <p:spPr bwMode="auto">
          <a:xfrm>
            <a:off x="4683239" y="1351808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Rectangle 45"/>
          <p:cNvSpPr/>
          <p:nvPr/>
        </p:nvSpPr>
        <p:spPr bwMode="auto">
          <a:xfrm>
            <a:off x="451973" y="2932603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Line 5"/>
          <p:cNvSpPr>
            <a:spLocks noChangeShapeType="1"/>
          </p:cNvSpPr>
          <p:nvPr/>
        </p:nvSpPr>
        <p:spPr bwMode="auto">
          <a:xfrm flipV="1">
            <a:off x="472868" y="2755964"/>
            <a:ext cx="2793023" cy="0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406811" y="4074260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HK" altLang="zh-CN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4683239" y="1092364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HK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2. </a:t>
            </a:r>
            <a:r>
              <a:rPr kumimoji="0" lang="zh-HK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管理体系</a:t>
            </a:r>
            <a:endParaRPr kumimoji="0" lang="zh-HK" altLang="en-US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Rectangle 45"/>
          <p:cNvSpPr/>
          <p:nvPr/>
        </p:nvSpPr>
        <p:spPr bwMode="auto">
          <a:xfrm>
            <a:off x="4697893" y="2935982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21465" y="1092364"/>
            <a:ext cx="3953708" cy="1579677"/>
            <a:chOff x="421465" y="1016164"/>
            <a:chExt cx="3953708" cy="1579677"/>
          </a:xfrm>
        </p:grpSpPr>
        <p:sp>
          <p:nvSpPr>
            <p:cNvPr id="36" name="Rectangle 6"/>
            <p:cNvSpPr/>
            <p:nvPr/>
          </p:nvSpPr>
          <p:spPr bwMode="auto">
            <a:xfrm>
              <a:off x="421466" y="1316247"/>
              <a:ext cx="3953707" cy="127959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lvl="0" indent="0" defTabSz="7791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421465" y="1016164"/>
              <a:ext cx="3953707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HK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4683239" y="4074260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4.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集成的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IT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及数据</a:t>
            </a:r>
            <a:endParaRPr kumimoji="0" lang="zh-HK" altLang="en-US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Oval 3"/>
          <p:cNvSpPr>
            <a:spLocks noChangeArrowheads="1"/>
          </p:cNvSpPr>
          <p:nvPr/>
        </p:nvSpPr>
        <p:spPr bwMode="auto">
          <a:xfrm>
            <a:off x="3438841" y="1929535"/>
            <a:ext cx="2220699" cy="1642865"/>
          </a:xfrm>
          <a:prstGeom prst="ellipse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98870" y="2215904"/>
            <a:ext cx="2286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LTC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总体解决方案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2"/>
          <p:cNvSpPr/>
          <p:nvPr/>
        </p:nvSpPr>
        <p:spPr>
          <a:xfrm>
            <a:off x="5547048" y="1567832"/>
            <a:ext cx="31901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授权、评审、决策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交易质量管理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Metrics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运营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Line 7"/>
          <p:cNvSpPr>
            <a:spLocks noChangeShapeType="1"/>
          </p:cNvSpPr>
          <p:nvPr/>
        </p:nvSpPr>
        <p:spPr bwMode="auto">
          <a:xfrm>
            <a:off x="4529205" y="1092364"/>
            <a:ext cx="0" cy="745498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Line 5"/>
          <p:cNvSpPr>
            <a:spLocks noChangeShapeType="1"/>
          </p:cNvSpPr>
          <p:nvPr/>
        </p:nvSpPr>
        <p:spPr bwMode="auto">
          <a:xfrm flipV="1">
            <a:off x="5792520" y="2755964"/>
            <a:ext cx="2793023" cy="0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4529205" y="3630646"/>
            <a:ext cx="0" cy="745498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5547048" y="3152006"/>
            <a:ext cx="2818998" cy="908956"/>
            <a:chOff x="5569352" y="2967649"/>
            <a:chExt cx="2818998" cy="908956"/>
          </a:xfrm>
        </p:grpSpPr>
        <p:sp>
          <p:nvSpPr>
            <p:cNvPr id="48" name="Rectangle 4"/>
            <p:cNvSpPr/>
            <p:nvPr/>
          </p:nvSpPr>
          <p:spPr>
            <a:xfrm>
              <a:off x="5569352" y="2967649"/>
              <a:ext cx="21146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端到端的作业平台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820467" y="3291830"/>
              <a:ext cx="256788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4140" marR="0" lvl="0" indent="-10414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iSales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marL="104140" marR="0" lvl="0" indent="-10414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配置打通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交付上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ERP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739261" y="1513825"/>
            <a:ext cx="3145531" cy="1418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" indent="-180975"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174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tabLst>
                <a:tab pos="1746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tabLst>
                <a:tab pos="1746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tabLst>
                <a:tab pos="174625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LTC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主业务流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(ML/MO/MCE)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国家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客户群视角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L5L6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适配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对准客户流程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对准业务痛点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对准内部集成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92100" marR="0" lvl="0" indent="-2921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74625" algn="l"/>
              </a:tabLst>
              <a:defRPr/>
            </a:pPr>
            <a:endParaRPr kumimoji="0" lang="zh-HK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543225" y="1103496"/>
            <a:ext cx="15376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流程和集成</a:t>
            </a:r>
            <a:endParaRPr kumimoji="0" lang="en-US" altLang="zh-HK" sz="1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49"/>
          <p:cNvSpPr/>
          <p:nvPr/>
        </p:nvSpPr>
        <p:spPr bwMode="auto">
          <a:xfrm>
            <a:off x="426839" y="1089850"/>
            <a:ext cx="8223436" cy="3364132"/>
          </a:xfrm>
          <a:prstGeom prst="roundRect">
            <a:avLst>
              <a:gd name="adj" fmla="val 1138"/>
            </a:avLst>
          </a:prstGeom>
          <a:solidFill>
            <a:srgbClr val="FFFFFF">
              <a:lumMod val="95000"/>
              <a:alpha val="8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" name="Rectangle 3"/>
          <p:cNvSpPr/>
          <p:nvPr/>
        </p:nvSpPr>
        <p:spPr>
          <a:xfrm>
            <a:off x="739261" y="3007990"/>
            <a:ext cx="23702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系统部优化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CC3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项目制运作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Deal Hub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建立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质量运营组织建设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" name="Rectangle 7"/>
          <p:cNvSpPr/>
          <p:nvPr/>
        </p:nvSpPr>
        <p:spPr bwMode="auto">
          <a:xfrm>
            <a:off x="434245" y="2907230"/>
            <a:ext cx="3931402" cy="1552672"/>
          </a:xfrm>
          <a:prstGeom prst="rect">
            <a:avLst/>
          </a:prstGeom>
          <a:noFill/>
          <a:ln w="952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4" name="Rectangle 8"/>
          <p:cNvSpPr>
            <a:spLocks noChangeArrowheads="1"/>
          </p:cNvSpPr>
          <p:nvPr/>
        </p:nvSpPr>
        <p:spPr bwMode="auto">
          <a:xfrm>
            <a:off x="518402" y="4072994"/>
            <a:ext cx="3218325" cy="391597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3. 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组织、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角色职责及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能力</a:t>
            </a:r>
            <a:endParaRPr kumimoji="0" lang="zh-HK" altLang="zh-CN" sz="17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5" name="标题 1"/>
          <p:cNvSpPr txBox="1"/>
          <p:nvPr/>
        </p:nvSpPr>
        <p:spPr bwMode="auto">
          <a:xfrm>
            <a:off x="157342" y="46612"/>
            <a:ext cx="4208305" cy="65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071" rIns="60144" bIns="30071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FrutigerNext LT Medium" pitchFamily="34" charset="0"/>
                <a:ea typeface="华文细黑" panose="02010600040101010101" pitchFamily="2" charset="-122"/>
                <a:cs typeface="宋体" panose="02010600030101010101" pitchFamily="2" charset="-122"/>
              </a:defRPr>
            </a:lvl6pPr>
            <a:lvl7pPr marL="686435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FrutigerNext LT Medium" pitchFamily="34" charset="0"/>
                <a:ea typeface="华文细黑" panose="02010600040101010101" pitchFamily="2" charset="-122"/>
                <a:cs typeface="宋体" panose="02010600030101010101" pitchFamily="2" charset="-122"/>
              </a:defRPr>
            </a:lvl7pPr>
            <a:lvl8pPr marL="1029335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FrutigerNext LT Medium" pitchFamily="34" charset="0"/>
                <a:ea typeface="华文细黑" panose="02010600040101010101" pitchFamily="2" charset="-122"/>
                <a:cs typeface="宋体" panose="02010600030101010101" pitchFamily="2" charset="-122"/>
              </a:defRPr>
            </a:lvl8pPr>
            <a:lvl9pPr marL="137287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990000"/>
                </a:solidFill>
                <a:latin typeface="FrutigerNext LT Medium" pitchFamily="34" charset="0"/>
                <a:ea typeface="华文细黑" panose="0201060004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70C0"/>
                </a:solidFill>
                <a:ea typeface="微软雅黑" panose="020B0503020204020204" charset="-122"/>
              </a:rPr>
              <a:t>LTC</a:t>
            </a:r>
            <a:r>
              <a:rPr lang="zh-CN" altLang="en-US" sz="2400" dirty="0">
                <a:solidFill>
                  <a:srgbClr val="0070C0"/>
                </a:solidFill>
                <a:ea typeface="微软雅黑" panose="020B0503020204020204" charset="-122"/>
              </a:rPr>
              <a:t>总体解决方案</a:t>
            </a:r>
            <a:endParaRPr lang="zh-CN" altLang="en-US" sz="2400" dirty="0">
              <a:solidFill>
                <a:srgbClr val="0070C0"/>
              </a:solidFill>
              <a:ea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38136" y="665014"/>
            <a:ext cx="2839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ea typeface="微软雅黑" panose="020B0503020204020204" charset="-122"/>
              </a:rPr>
              <a:t>组织、角色职责及能力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473" y="120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2" imgW="12700" imgH="12700" progId="">
                  <p:embed/>
                </p:oleObj>
              </mc:Choice>
              <mc:Fallback>
                <p:oleObj name="think-cell Slide" r:id="rId2" imgW="12700" imgH="12700" progId="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" y="120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itle 1"/>
          <p:cNvSpPr>
            <a:spLocks noGrp="1"/>
          </p:cNvSpPr>
          <p:nvPr>
            <p:ph type="title" idx="4294967295"/>
          </p:nvPr>
        </p:nvSpPr>
        <p:spPr>
          <a:xfrm>
            <a:off x="172582" y="102965"/>
            <a:ext cx="7632700" cy="742940"/>
          </a:xfrm>
        </p:spPr>
        <p:txBody>
          <a:bodyPr/>
          <a:lstStyle/>
          <a:p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组织、</a:t>
            </a:r>
            <a:r>
              <a:rPr lang="zh-CN" altLang="zh-HK" sz="2400" kern="1200" dirty="0">
                <a:solidFill>
                  <a:srgbClr val="0070C0"/>
                </a:solidFill>
                <a:latin typeface="+mn-ea"/>
                <a:ea typeface="+mn-ea"/>
              </a:rPr>
              <a:t>R&amp;R</a:t>
            </a:r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及能力</a:t>
            </a:r>
            <a:br>
              <a:rPr lang="en-US" altLang="zh-CN" kern="1200" dirty="0">
                <a:latin typeface="+mn-ea"/>
                <a:ea typeface="+mn-ea"/>
              </a:rPr>
            </a:br>
            <a:r>
              <a:rPr lang="en-US" altLang="zh-CN" sz="1400" b="0" kern="1200" dirty="0">
                <a:solidFill>
                  <a:srgbClr val="0070C0"/>
                </a:solidFill>
                <a:latin typeface="+mn-ea"/>
                <a:ea typeface="+mn-ea"/>
              </a:rPr>
              <a:t>LTC</a:t>
            </a: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一线组织优化范围</a:t>
            </a:r>
            <a:endParaRPr lang="en-US" altLang="en-US" sz="1400" b="0" kern="12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80" name="矩形 319"/>
          <p:cNvSpPr/>
          <p:nvPr/>
        </p:nvSpPr>
        <p:spPr bwMode="auto">
          <a:xfrm>
            <a:off x="480350" y="1642557"/>
            <a:ext cx="7881593" cy="2765397"/>
          </a:xfrm>
          <a:prstGeom prst="roundRect">
            <a:avLst>
              <a:gd name="adj" fmla="val 4319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/>
          <a:lstStyle/>
          <a:p>
            <a:pPr defTabSz="77914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500" kern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7" name="矩形 158"/>
          <p:cNvSpPr>
            <a:spLocks noChangeArrowheads="1"/>
          </p:cNvSpPr>
          <p:nvPr/>
        </p:nvSpPr>
        <p:spPr bwMode="auto">
          <a:xfrm>
            <a:off x="782057" y="3722303"/>
            <a:ext cx="1391058" cy="2941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pPr marL="243840" indent="-243840">
              <a:buFont typeface="Wingdings" panose="05000000000000000000" pitchFamily="2" charset="2"/>
              <a:buChar char="u"/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+mn-ea"/>
                <a:cs typeface="Arial" panose="020B0604020202020204" pitchFamily="34" charset="0"/>
              </a:rPr>
              <a:t>支撑组织</a:t>
            </a:r>
            <a:endParaRPr lang="en-US" altLang="zh-CN" sz="1400" b="1" dirty="0">
              <a:solidFill>
                <a:srgbClr val="0070C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9" name="矩形 158"/>
          <p:cNvSpPr>
            <a:spLocks noChangeArrowheads="1"/>
          </p:cNvSpPr>
          <p:nvPr/>
        </p:nvSpPr>
        <p:spPr bwMode="auto">
          <a:xfrm>
            <a:off x="782056" y="2123214"/>
            <a:ext cx="1391057" cy="2941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pPr marL="243840" indent="-243840">
              <a:buFont typeface="Wingdings" panose="05000000000000000000" pitchFamily="2" charset="2"/>
              <a:buChar char="u"/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+mn-ea"/>
                <a:cs typeface="Arial" panose="020B0604020202020204" pitchFamily="34" charset="0"/>
              </a:rPr>
              <a:t>作战团队</a:t>
            </a:r>
            <a:endParaRPr lang="en-US" altLang="zh-CN" sz="1400" b="1" dirty="0">
              <a:solidFill>
                <a:srgbClr val="0070C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90" name="表格 185"/>
          <p:cNvGraphicFramePr>
            <a:graphicFrameLocks noGrp="1"/>
          </p:cNvGraphicFramePr>
          <p:nvPr/>
        </p:nvGraphicFramePr>
        <p:xfrm>
          <a:off x="7369273" y="2754228"/>
          <a:ext cx="914891" cy="1588713"/>
        </p:xfrm>
        <a:graphic>
          <a:graphicData uri="http://schemas.openxmlformats.org/drawingml/2006/table">
            <a:tbl>
              <a:tblPr firstRow="1" bandRow="1"/>
              <a:tblGrid>
                <a:gridCol w="914891"/>
              </a:tblGrid>
              <a:tr h="29335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组织结构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  <a:tr h="29335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岗位职责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KPI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  <a:tr h="29335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汇报关系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授权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华文细黑" panose="02010600040101010101" pitchFamily="2" charset="-122"/>
                          <a:cs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赋能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77938" marR="77938" marT="34290" marB="3429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021"/>
                    </a:solidFill>
                  </a:tcPr>
                </a:tc>
              </a:tr>
            </a:tbl>
          </a:graphicData>
        </a:graphic>
      </p:graphicFrame>
      <p:sp>
        <p:nvSpPr>
          <p:cNvPr id="91" name="矩形 158"/>
          <p:cNvSpPr>
            <a:spLocks noChangeArrowheads="1"/>
          </p:cNvSpPr>
          <p:nvPr/>
        </p:nvSpPr>
        <p:spPr bwMode="auto">
          <a:xfrm>
            <a:off x="480350" y="1638021"/>
            <a:ext cx="1220356" cy="3557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cs typeface="Arial" panose="020B0604020202020204" pitchFamily="34" charset="0"/>
              </a:rPr>
              <a:t>代表处</a:t>
            </a:r>
            <a:endParaRPr lang="en-US" altLang="zh-CN" b="1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92" name="等腰三角形 34"/>
          <p:cNvSpPr>
            <a:spLocks noChangeArrowheads="1"/>
          </p:cNvSpPr>
          <p:nvPr/>
        </p:nvSpPr>
        <p:spPr bwMode="auto">
          <a:xfrm>
            <a:off x="480350" y="789552"/>
            <a:ext cx="7881593" cy="794463"/>
          </a:xfrm>
          <a:prstGeom prst="triangle">
            <a:avLst>
              <a:gd name="adj" fmla="val 50132"/>
            </a:avLst>
          </a:prstGeom>
          <a:solidFill>
            <a:srgbClr val="0070C0"/>
          </a:solidFill>
          <a:ln w="9525" algn="ctr">
            <a:noFill/>
            <a:round/>
          </a:ln>
        </p:spPr>
        <p:txBody>
          <a:bodyPr wrap="square" lIns="77943" tIns="38972" rIns="77943" bIns="38972">
            <a:noAutofit/>
          </a:bodyPr>
          <a:lstStyle/>
          <a:p>
            <a:pPr defTabSz="77914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500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94" name="等腰三角形 106"/>
          <p:cNvSpPr>
            <a:spLocks noChangeArrowheads="1"/>
          </p:cNvSpPr>
          <p:nvPr/>
        </p:nvSpPr>
        <p:spPr bwMode="auto">
          <a:xfrm>
            <a:off x="7697040" y="1843824"/>
            <a:ext cx="1065123" cy="745126"/>
          </a:xfrm>
          <a:prstGeom prst="ellipse">
            <a:avLst/>
          </a:prstGeom>
          <a:solidFill>
            <a:srgbClr val="00ACE2"/>
          </a:solidFill>
          <a:ln w="9525" algn="ctr">
            <a:noFill/>
            <a:prstDash val="dashDot"/>
            <a:round/>
          </a:ln>
        </p:spPr>
        <p:txBody>
          <a:bodyPr lIns="0" tIns="0" rIns="0" bIns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重装旅</a:t>
            </a:r>
            <a:endParaRPr lang="zh-CN" altLang="en-US" sz="16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96" name="组合 132"/>
          <p:cNvGrpSpPr/>
          <p:nvPr/>
        </p:nvGrpSpPr>
        <p:grpSpPr bwMode="auto">
          <a:xfrm>
            <a:off x="5436372" y="1977481"/>
            <a:ext cx="1957656" cy="702469"/>
            <a:chOff x="5997009" y="1772816"/>
            <a:chExt cx="1604028" cy="1192198"/>
          </a:xfrm>
          <a:solidFill>
            <a:srgbClr val="F7B021"/>
          </a:solidFill>
        </p:grpSpPr>
        <p:sp>
          <p:nvSpPr>
            <p:cNvPr id="97" name="左右箭头 104"/>
            <p:cNvSpPr/>
            <p:nvPr/>
          </p:nvSpPr>
          <p:spPr bwMode="auto">
            <a:xfrm>
              <a:off x="5997009" y="1772816"/>
              <a:ext cx="1604028" cy="1192198"/>
            </a:xfrm>
            <a:prstGeom prst="leftRightArrow">
              <a:avLst>
                <a:gd name="adj1" fmla="val 75706"/>
                <a:gd name="adj2" fmla="val 34577"/>
              </a:avLst>
            </a:prstGeom>
            <a:grpFill/>
            <a:ln w="6350">
              <a:noFill/>
              <a:miter lim="800000"/>
            </a:ln>
          </p:spPr>
          <p:txBody>
            <a:bodyPr lIns="72000" tIns="72000" rIns="72000" bIns="72000" anchor="ctr"/>
            <a:lstStyle/>
            <a:p>
              <a:pPr algn="ctr">
                <a:spcAft>
                  <a:spcPts val="255"/>
                </a:spcAft>
                <a:defRPr/>
              </a:pPr>
              <a:endParaRPr lang="zh-CN" altLang="en-US" sz="900" b="1" kern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283690" y="2063793"/>
              <a:ext cx="1020828" cy="577913"/>
            </a:xfrm>
            <a:prstGeom prst="rect">
              <a:avLst/>
            </a:prstGeom>
            <a:grpFill/>
            <a:ln w="6350">
              <a:noFill/>
              <a:miter lim="800000"/>
            </a:ln>
          </p:spPr>
          <p:txBody>
            <a:bodyPr lIns="72000" tIns="72000" rIns="72000" bIns="72000" anchor="ctr"/>
            <a:lstStyle/>
            <a:p>
              <a:pPr algn="ctr">
                <a:spcAft>
                  <a:spcPts val="255"/>
                </a:spcAft>
                <a:defRPr/>
              </a:pPr>
              <a:r>
                <a:rPr lang="zh-CN" altLang="en-US" sz="1200" b="1" kern="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资源调度机制</a:t>
              </a:r>
              <a:endParaRPr lang="zh-CN" altLang="en-US" sz="12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9" name="组合 33"/>
          <p:cNvGrpSpPr/>
          <p:nvPr/>
        </p:nvGrpSpPr>
        <p:grpSpPr bwMode="auto">
          <a:xfrm>
            <a:off x="2045370" y="1707207"/>
            <a:ext cx="1801933" cy="1079897"/>
            <a:chOff x="2576883" y="1995810"/>
            <a:chExt cx="1439863" cy="1073150"/>
          </a:xfrm>
        </p:grpSpPr>
        <p:sp>
          <p:nvSpPr>
            <p:cNvPr id="100" name="Isosceles Triangle 125"/>
            <p:cNvSpPr>
              <a:spLocks noChangeArrowheads="1"/>
            </p:cNvSpPr>
            <p:nvPr/>
          </p:nvSpPr>
          <p:spPr bwMode="auto">
            <a:xfrm>
              <a:off x="2576883" y="1995810"/>
              <a:ext cx="1439863" cy="1073150"/>
            </a:xfrm>
            <a:prstGeom prst="triangle">
              <a:avLst>
                <a:gd name="adj" fmla="val 48521"/>
              </a:avLst>
            </a:prstGeom>
            <a:solidFill>
              <a:srgbClr val="FFFFFF"/>
            </a:solidFill>
            <a:ln w="19050" algn="ctr">
              <a:noFill/>
              <a:prstDash val="lgDashDot"/>
              <a:miter lim="800000"/>
            </a:ln>
          </p:spPr>
          <p:txBody>
            <a:bodyPr wrap="none" anchor="ctr"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1" name="Oval 30"/>
            <p:cNvSpPr>
              <a:spLocks noChangeArrowheads="1"/>
            </p:cNvSpPr>
            <p:nvPr/>
          </p:nvSpPr>
          <p:spPr bwMode="auto">
            <a:xfrm>
              <a:off x="2908280" y="2691524"/>
              <a:ext cx="364410" cy="293430"/>
            </a:xfrm>
            <a:prstGeom prst="ellipse">
              <a:avLst/>
            </a:prstGeom>
            <a:solidFill>
              <a:srgbClr val="F7B021"/>
            </a:solidFill>
            <a:ln w="9525" algn="ctr">
              <a:noFill/>
              <a:round/>
            </a:ln>
          </p:spPr>
          <p:txBody>
            <a:bodyPr lIns="0" rIns="0" anchor="ctr"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HK" sz="900" b="1" kern="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SR</a:t>
              </a:r>
              <a:endParaRPr lang="en-US" altLang="zh-HK" sz="9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2" name="Oval 31"/>
            <p:cNvSpPr>
              <a:spLocks noChangeArrowheads="1"/>
            </p:cNvSpPr>
            <p:nvPr/>
          </p:nvSpPr>
          <p:spPr bwMode="auto">
            <a:xfrm>
              <a:off x="3105087" y="2433589"/>
              <a:ext cx="366949" cy="295797"/>
            </a:xfrm>
            <a:prstGeom prst="ellipse">
              <a:avLst/>
            </a:prstGeom>
            <a:solidFill>
              <a:srgbClr val="0070C0"/>
            </a:solidFill>
            <a:ln w="9525" algn="ctr">
              <a:noFill/>
              <a:round/>
            </a:ln>
          </p:spPr>
          <p:txBody>
            <a:bodyPr lIns="0" rIns="0" anchor="ctr"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HK" sz="900" b="1" kern="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AR</a:t>
              </a:r>
              <a:endParaRPr lang="en-US" altLang="zh-HK" sz="9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3" name="Oval 32"/>
            <p:cNvSpPr>
              <a:spLocks noChangeArrowheads="1"/>
            </p:cNvSpPr>
            <p:nvPr/>
          </p:nvSpPr>
          <p:spPr bwMode="auto">
            <a:xfrm>
              <a:off x="3308242" y="2682058"/>
              <a:ext cx="361870" cy="293430"/>
            </a:xfrm>
            <a:prstGeom prst="ellipse">
              <a:avLst/>
            </a:prstGeom>
            <a:solidFill>
              <a:srgbClr val="00B0F0"/>
            </a:solidFill>
            <a:ln w="9525" algn="ctr">
              <a:noFill/>
              <a:round/>
            </a:ln>
          </p:spPr>
          <p:txBody>
            <a:bodyPr lIns="0" rIns="0" anchor="ctr"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HK" sz="900" b="1" kern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FR</a:t>
              </a:r>
              <a:endParaRPr lang="en-US" altLang="zh-HK" sz="900" b="1" kern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4" name="AutoShape 33"/>
            <p:cNvSpPr>
              <a:spLocks noChangeArrowheads="1"/>
            </p:cNvSpPr>
            <p:nvPr/>
          </p:nvSpPr>
          <p:spPr bwMode="auto">
            <a:xfrm>
              <a:off x="3054865" y="2247068"/>
              <a:ext cx="490538" cy="236810"/>
            </a:xfrm>
            <a:prstGeom prst="roundRect">
              <a:avLst>
                <a:gd name="adj" fmla="val 35241"/>
              </a:avLst>
            </a:prstGeom>
            <a:noFill/>
            <a:ln w="9525" algn="ctr">
              <a:noFill/>
              <a:round/>
            </a:ln>
          </p:spPr>
          <p:txBody>
            <a:bodyPr lIns="0" rIns="0" anchor="ctr"/>
            <a:lstStyle/>
            <a:p>
              <a:pPr algn="ctr" defTabSz="779145" fontAlgn="auto">
                <a:lnSpc>
                  <a:spcPts val="76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kern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zh-CN" altLang="en-US" sz="1200" b="1" kern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5" name="矩形 158"/>
          <p:cNvSpPr>
            <a:spLocks noChangeArrowheads="1"/>
          </p:cNvSpPr>
          <p:nvPr/>
        </p:nvSpPr>
        <p:spPr bwMode="auto">
          <a:xfrm>
            <a:off x="2306705" y="2790126"/>
            <a:ext cx="1163160" cy="2941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+mn-ea"/>
                <a:cs typeface="Arial" panose="020B0604020202020204" pitchFamily="34" charset="0"/>
              </a:rPr>
              <a:t>项目组</a:t>
            </a:r>
            <a:endParaRPr lang="en-US" altLang="zh-CN" sz="1400" b="1" dirty="0">
              <a:solidFill>
                <a:srgbClr val="0070C0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06" name="组合 37"/>
          <p:cNvGrpSpPr/>
          <p:nvPr/>
        </p:nvGrpSpPr>
        <p:grpSpPr bwMode="auto">
          <a:xfrm>
            <a:off x="3900401" y="1707207"/>
            <a:ext cx="1801933" cy="1079897"/>
            <a:chOff x="6281738" y="1911352"/>
            <a:chExt cx="2316162" cy="1939925"/>
          </a:xfrm>
        </p:grpSpPr>
        <p:sp>
          <p:nvSpPr>
            <p:cNvPr id="107" name="Rectangle 20"/>
            <p:cNvSpPr>
              <a:spLocks noChangeArrowheads="1"/>
            </p:cNvSpPr>
            <p:nvPr/>
          </p:nvSpPr>
          <p:spPr bwMode="auto">
            <a:xfrm>
              <a:off x="6281738" y="1911352"/>
              <a:ext cx="2316162" cy="1939925"/>
            </a:xfrm>
            <a:prstGeom prst="triangle">
              <a:avLst>
                <a:gd name="adj" fmla="val 47847"/>
              </a:avLst>
            </a:prstGeom>
            <a:solidFill>
              <a:srgbClr val="FFFFFF"/>
            </a:solidFill>
            <a:ln w="3175" algn="ctr">
              <a:noFill/>
              <a:prstDash val="solid"/>
              <a:miter lim="800000"/>
            </a:ln>
          </p:spPr>
          <p:txBody>
            <a:bodyPr wrap="none" anchor="ctr"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500" b="1" kern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cxnSp>
          <p:nvCxnSpPr>
            <p:cNvPr id="108" name="AutoShape 21"/>
            <p:cNvCxnSpPr>
              <a:cxnSpLocks noChangeShapeType="1"/>
            </p:cNvCxnSpPr>
            <p:nvPr/>
          </p:nvCxnSpPr>
          <p:spPr bwMode="auto">
            <a:xfrm rot="5400000">
              <a:off x="7458075" y="2660650"/>
              <a:ext cx="1588" cy="719138"/>
            </a:xfrm>
            <a:prstGeom prst="bentConnector3">
              <a:avLst>
                <a:gd name="adj1" fmla="val 6972954"/>
              </a:avLst>
            </a:prstGeom>
            <a:noFill/>
            <a:ln w="9525">
              <a:solidFill>
                <a:srgbClr val="000000"/>
              </a:solidFill>
              <a:prstDash val="solid"/>
              <a:miter lim="800000"/>
            </a:ln>
          </p:spPr>
        </p:cxnSp>
        <p:pic>
          <p:nvPicPr>
            <p:cNvPr id="109" name="Picture 2" descr="D:\D\设计小组\ppt设计\V4.0胶片库构想\0629\108483733.png"/>
            <p:cNvPicPr>
              <a:picLocks noChangeAspect="1" noChangeArrowheads="1"/>
            </p:cNvPicPr>
            <p:nvPr/>
          </p:nvPicPr>
          <p:blipFill>
            <a:blip r:embed="rId4" cstate="print"/>
            <a:srcRect r="82584" b="64449"/>
            <a:stretch>
              <a:fillRect/>
            </a:stretch>
          </p:blipFill>
          <p:spPr bwMode="auto">
            <a:xfrm>
              <a:off x="7334996" y="2524299"/>
              <a:ext cx="279497" cy="271698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  <a:headEnd/>
              <a:tailEnd/>
            </a:ln>
          </p:spPr>
        </p:pic>
        <p:sp>
          <p:nvSpPr>
            <p:cNvPr id="110" name="TextBox 41"/>
            <p:cNvSpPr txBox="1">
              <a:spLocks noChangeArrowheads="1"/>
            </p:cNvSpPr>
            <p:nvPr/>
          </p:nvSpPr>
          <p:spPr bwMode="auto">
            <a:xfrm>
              <a:off x="7242337" y="2860483"/>
              <a:ext cx="391788" cy="165867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" b="1" kern="0" dirty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SM</a:t>
              </a:r>
              <a:endParaRPr lang="zh-CN" altLang="en-US" sz="600" b="1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111" name="Picture 2" descr="D:\D\设计小组\ppt设计\V4.0胶片库构想\0629\108483733.png"/>
            <p:cNvPicPr>
              <a:picLocks noChangeAspect="1" noChangeArrowheads="1"/>
            </p:cNvPicPr>
            <p:nvPr/>
          </p:nvPicPr>
          <p:blipFill>
            <a:blip r:embed="rId4" cstate="print"/>
            <a:srcRect r="82584" b="64449"/>
            <a:stretch>
              <a:fillRect/>
            </a:stretch>
          </p:blipFill>
          <p:spPr bwMode="auto">
            <a:xfrm>
              <a:off x="6970868" y="2527472"/>
              <a:ext cx="279497" cy="271698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  <a:headEnd/>
              <a:tailEnd/>
            </a:ln>
          </p:spPr>
        </p:pic>
        <p:sp>
          <p:nvSpPr>
            <p:cNvPr id="112" name="TextBox 43"/>
            <p:cNvSpPr txBox="1">
              <a:spLocks noChangeArrowheads="1"/>
            </p:cNvSpPr>
            <p:nvPr/>
          </p:nvSpPr>
          <p:spPr bwMode="auto">
            <a:xfrm>
              <a:off x="6860998" y="2860483"/>
              <a:ext cx="410349" cy="165867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" b="1" kern="0" dirty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AM</a:t>
              </a:r>
              <a:endParaRPr lang="zh-CN" altLang="en-US" sz="600" b="1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113" name="Picture 2" descr="D:\D\设计小组\ppt设计\V4.0胶片库构想\0629\108483733.png"/>
            <p:cNvPicPr>
              <a:picLocks noChangeAspect="1" noChangeArrowheads="1"/>
            </p:cNvPicPr>
            <p:nvPr/>
          </p:nvPicPr>
          <p:blipFill>
            <a:blip r:embed="rId5" cstate="print"/>
            <a:srcRect r="82584" b="64449"/>
            <a:stretch>
              <a:fillRect/>
            </a:stretch>
          </p:blipFill>
          <p:spPr bwMode="auto">
            <a:xfrm>
              <a:off x="7613545" y="2524299"/>
              <a:ext cx="280796" cy="271698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  <a:headEnd/>
              <a:tailEnd/>
            </a:ln>
          </p:spPr>
        </p:pic>
        <p:sp>
          <p:nvSpPr>
            <p:cNvPr id="114" name="TextBox 45"/>
            <p:cNvSpPr txBox="1">
              <a:spLocks noChangeArrowheads="1"/>
            </p:cNvSpPr>
            <p:nvPr/>
          </p:nvSpPr>
          <p:spPr bwMode="auto">
            <a:xfrm>
              <a:off x="7601066" y="2860483"/>
              <a:ext cx="386726" cy="165867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" b="1" kern="0" dirty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FM</a:t>
              </a:r>
              <a:endParaRPr lang="zh-CN" altLang="en-US" sz="600" b="1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115" name="Picture 2" descr="D:\D\设计小组\ppt设计\V4.0胶片库构想\0629\108483733.png"/>
            <p:cNvPicPr>
              <a:picLocks noChangeAspect="1" noChangeArrowheads="1"/>
            </p:cNvPicPr>
            <p:nvPr/>
          </p:nvPicPr>
          <p:blipFill>
            <a:blip r:embed="rId6" cstate="print"/>
            <a:srcRect l="38702" r="40977" b="65871"/>
            <a:stretch>
              <a:fillRect/>
            </a:stretch>
          </p:blipFill>
          <p:spPr bwMode="auto">
            <a:xfrm>
              <a:off x="7279843" y="3168071"/>
              <a:ext cx="340594" cy="339297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  <a:headEnd/>
              <a:tailEnd/>
            </a:ln>
          </p:spPr>
        </p:pic>
        <p:sp>
          <p:nvSpPr>
            <p:cNvPr id="116" name="Line 23"/>
            <p:cNvSpPr>
              <a:spLocks noChangeShapeType="1"/>
            </p:cNvSpPr>
            <p:nvPr/>
          </p:nvSpPr>
          <p:spPr bwMode="auto">
            <a:xfrm>
              <a:off x="7462286" y="2998713"/>
              <a:ext cx="0" cy="239550"/>
            </a:xfrm>
            <a:prstGeom prst="line">
              <a:avLst/>
            </a:prstGeom>
            <a:noFill/>
            <a:ln w="19050">
              <a:solidFill>
                <a:srgbClr val="000000">
                  <a:lumMod val="65000"/>
                  <a:lumOff val="35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algn="ctr" defTabSz="77914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b="1" kern="0">
                <a:solidFill>
                  <a:srgbClr val="0000CC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7" name="Rectangle 22"/>
            <p:cNvSpPr>
              <a:spLocks noChangeArrowheads="1"/>
            </p:cNvSpPr>
            <p:nvPr/>
          </p:nvSpPr>
          <p:spPr bwMode="auto">
            <a:xfrm rot="10800000" flipV="1">
              <a:off x="7044424" y="3570135"/>
              <a:ext cx="904990" cy="254230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prstDash val="solid"/>
              <a:miter lim="800000"/>
            </a:ln>
          </p:spPr>
          <p:txBody>
            <a:bodyPr lIns="43200" tIns="18000" rIns="43200" bIns="18000" anchor="ctr"/>
            <a:lstStyle/>
            <a:p>
              <a:pPr algn="ctr" defTabSz="68326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b="1" kern="0" dirty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XX</a:t>
              </a:r>
              <a:r>
                <a:rPr lang="zh-CN" altLang="en-US" sz="900" b="1" kern="0" dirty="0">
                  <a:solidFill>
                    <a:srgbClr val="000000"/>
                  </a:solidFill>
                  <a:latin typeface="+mn-ea"/>
                  <a:cs typeface="Arial" panose="020B0604020202020204" pitchFamily="34" charset="0"/>
                </a:rPr>
                <a:t>系统部</a:t>
              </a:r>
              <a:endParaRPr lang="zh-CN" altLang="en-US" sz="900" b="1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18" name="矩形 158"/>
          <p:cNvSpPr>
            <a:spLocks noChangeArrowheads="1"/>
          </p:cNvSpPr>
          <p:nvPr/>
        </p:nvSpPr>
        <p:spPr bwMode="auto">
          <a:xfrm>
            <a:off x="4221662" y="2790126"/>
            <a:ext cx="1166055" cy="2941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+mn-ea"/>
                <a:cs typeface="Arial" panose="020B0604020202020204" pitchFamily="34" charset="0"/>
              </a:rPr>
              <a:t>客户群</a:t>
            </a:r>
            <a:endParaRPr lang="en-US" altLang="zh-CN" sz="1400" b="1" dirty="0">
              <a:solidFill>
                <a:srgbClr val="0070C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9" name="矩形 52"/>
          <p:cNvSpPr>
            <a:spLocks noChangeArrowheads="1"/>
          </p:cNvSpPr>
          <p:nvPr/>
        </p:nvSpPr>
        <p:spPr bwMode="auto">
          <a:xfrm>
            <a:off x="5621054" y="3543857"/>
            <a:ext cx="200316" cy="355704"/>
          </a:xfrm>
          <a:prstGeom prst="rect">
            <a:avLst/>
          </a:prstGeom>
          <a:noFill/>
          <a:ln w="9525" algn="ctr">
            <a:noFill/>
            <a:round/>
          </a:ln>
        </p:spPr>
        <p:txBody>
          <a:bodyPr wrap="square" lIns="77943" tIns="38972" rIns="77943" bIns="38972">
            <a:spAutoFit/>
          </a:bodyPr>
          <a:lstStyle/>
          <a:p>
            <a:endParaRPr lang="zh-CN" altLang="en-US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1" name="Rectangle 12"/>
          <p:cNvSpPr>
            <a:spLocks noChangeArrowheads="1"/>
          </p:cNvSpPr>
          <p:nvPr/>
        </p:nvSpPr>
        <p:spPr bwMode="auto">
          <a:xfrm>
            <a:off x="2045169" y="3465112"/>
            <a:ext cx="3049299" cy="834830"/>
          </a:xfrm>
          <a:prstGeom prst="roundRect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wrap="none" lIns="77934" tIns="38967" rIns="77934" bIns="38967" anchor="b"/>
          <a:lstStyle/>
          <a:p>
            <a:pPr algn="ctr" defTabSz="77914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2" name="Rectangle 180"/>
          <p:cNvSpPr/>
          <p:nvPr/>
        </p:nvSpPr>
        <p:spPr bwMode="auto">
          <a:xfrm>
            <a:off x="3114896" y="3575999"/>
            <a:ext cx="866278" cy="445028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运营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管理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23" name="Rectangle 180"/>
          <p:cNvSpPr/>
          <p:nvPr/>
        </p:nvSpPr>
        <p:spPr bwMode="auto">
          <a:xfrm>
            <a:off x="2173113" y="3575999"/>
            <a:ext cx="867611" cy="445028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流程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质量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24" name="矩形 137"/>
          <p:cNvSpPr>
            <a:spLocks noChangeArrowheads="1"/>
          </p:cNvSpPr>
          <p:nvPr/>
        </p:nvSpPr>
        <p:spPr bwMode="auto">
          <a:xfrm>
            <a:off x="3267611" y="4038087"/>
            <a:ext cx="627089" cy="2941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7943" tIns="38972" rIns="77943" bIns="38972">
            <a:spAutoFit/>
          </a:bodyPr>
          <a:lstStyle/>
          <a:p>
            <a:pPr algn="ctr" defTabSz="77914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GMO</a:t>
            </a:r>
            <a:endParaRPr lang="zh-CN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5" name="Rectangle 180"/>
          <p:cNvSpPr/>
          <p:nvPr/>
        </p:nvSpPr>
        <p:spPr bwMode="auto">
          <a:xfrm>
            <a:off x="4082464" y="3577917"/>
            <a:ext cx="807637" cy="444069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779145" fontAlgn="auto">
              <a:lnSpc>
                <a:spcPts val="1110"/>
              </a:lnSpc>
              <a:spcBef>
                <a:spcPts val="0"/>
              </a:spcBef>
              <a:spcAft>
                <a:spcPts val="255"/>
              </a:spcAft>
              <a:defRPr/>
            </a:pPr>
            <a:r>
              <a:rPr lang="en-US" altLang="zh-CN" sz="1500" kern="0" dirty="0">
                <a:latin typeface="+mn-ea"/>
                <a:cs typeface="Arial" panose="020B0604020202020204" pitchFamily="34" charset="0"/>
              </a:rPr>
              <a:t>……</a:t>
            </a:r>
            <a:endParaRPr lang="en-US" altLang="zh-CN" sz="15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26" name="Rectangle 180"/>
          <p:cNvSpPr/>
          <p:nvPr/>
        </p:nvSpPr>
        <p:spPr bwMode="auto">
          <a:xfrm>
            <a:off x="5291713" y="3465114"/>
            <a:ext cx="1075523" cy="834828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en-US" altLang="zh-CN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Deal Hub</a:t>
            </a:r>
            <a:endParaRPr lang="en-US" altLang="zh-CN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 defTabSz="779145" fontAlgn="auto">
              <a:spcBef>
                <a:spcPts val="0"/>
              </a:spcBef>
              <a:spcAft>
                <a:spcPts val="255"/>
              </a:spcAft>
              <a:defRPr/>
            </a:pPr>
            <a:r>
              <a:rPr lang="en-US" altLang="zh-CN" sz="12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zh-CN" altLang="en-US" sz="12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设计中</a:t>
            </a:r>
            <a:r>
              <a:rPr lang="en-US" altLang="zh-CN" sz="12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zh-CN" sz="12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7" name="矩形 45"/>
          <p:cNvSpPr/>
          <p:nvPr/>
        </p:nvSpPr>
        <p:spPr>
          <a:xfrm>
            <a:off x="587585" y="3057803"/>
            <a:ext cx="7077625" cy="355704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200" b="1" dirty="0">
                <a:latin typeface="+mn-ea"/>
                <a:cs typeface="Arial" panose="020B0604020202020204" pitchFamily="34" charset="0"/>
              </a:rPr>
              <a:t>为核心的项目组和客户群的两大作战团队以及支撑组织是</a:t>
            </a:r>
            <a:r>
              <a:rPr lang="en-US" altLang="zh-CN" sz="1200" b="1" dirty="0">
                <a:latin typeface="+mn-ea"/>
                <a:cs typeface="Arial" panose="020B0604020202020204" pitchFamily="34" charset="0"/>
              </a:rPr>
              <a:t>LTC</a:t>
            </a:r>
            <a:r>
              <a:rPr lang="zh-CN" altLang="en-US" sz="1200" b="1" dirty="0">
                <a:latin typeface="+mn-ea"/>
                <a:cs typeface="Arial" panose="020B0604020202020204" pitchFamily="34" charset="0"/>
              </a:rPr>
              <a:t>变革在代表处落地成败的关键</a:t>
            </a:r>
            <a:endParaRPr lang="zh-CN" altLang="en-US" sz="1200" b="1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707626" y="1167594"/>
            <a:ext cx="1718425" cy="355704"/>
          </a:xfrm>
          <a:prstGeom prst="rect">
            <a:avLst/>
          </a:prstGeom>
          <a:noFill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以客户为中心</a:t>
            </a:r>
            <a:endParaRPr lang="en-US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3\20</a:t>
            </a:r>
            <a:endParaRPr lang="zh-CN" altLang="en-US" sz="1000" dirty="0">
              <a:latin typeface="+mn-ea"/>
            </a:endParaRP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/>
          <p:cNvSpPr>
            <a:spLocks noChangeArrowheads="1"/>
          </p:cNvSpPr>
          <p:nvPr/>
        </p:nvSpPr>
        <p:spPr bwMode="auto">
          <a:xfrm>
            <a:off x="4837961" y="4254322"/>
            <a:ext cx="4246685" cy="23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55575" lvl="1" indent="-155575">
              <a:spcBef>
                <a:spcPts val="765"/>
              </a:spcBef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altLang="zh-CN" sz="100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  <a:sym typeface="华文细黑" panose="0201060004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6150" y="1183463"/>
            <a:ext cx="1465435" cy="232593"/>
          </a:xfrm>
          <a:prstGeom prst="rect">
            <a:avLst/>
          </a:prstGeom>
          <a:effectLst/>
        </p:spPr>
        <p:txBody>
          <a:bodyPr wrap="square" lIns="77943" tIns="38972" rIns="77943" bIns="38972">
            <a:spAutoFit/>
          </a:bodyPr>
          <a:lstStyle/>
          <a:p>
            <a:pPr lvl="0"/>
            <a:r>
              <a:rPr lang="zh-CN" altLang="en-US" sz="1000" b="1" dirty="0">
                <a:solidFill>
                  <a:srgbClr val="0070C0"/>
                </a:solidFill>
                <a:latin typeface="+mn-ea"/>
              </a:rPr>
              <a:t>基本形态 </a:t>
            </a:r>
            <a:r>
              <a:rPr lang="en-US" altLang="zh-CN" sz="1000" b="1" dirty="0">
                <a:solidFill>
                  <a:srgbClr val="0070C0"/>
                </a:solidFill>
                <a:latin typeface="+mn-ea"/>
              </a:rPr>
              <a:t>-</a:t>
            </a:r>
            <a:endParaRPr lang="en-US" sz="1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6150" y="2115284"/>
            <a:ext cx="1465435" cy="232593"/>
          </a:xfrm>
          <a:prstGeom prst="rect">
            <a:avLst/>
          </a:prstGeom>
          <a:effectLst/>
        </p:spPr>
        <p:txBody>
          <a:bodyPr wrap="square" lIns="77943" tIns="38972" rIns="77943" bIns="38972">
            <a:spAutoFit/>
          </a:bodyPr>
          <a:lstStyle/>
          <a:p>
            <a:pPr lvl="0"/>
            <a:r>
              <a:rPr lang="zh-CN" altLang="en-US" sz="1000" b="1" dirty="0">
                <a:solidFill>
                  <a:srgbClr val="0070C0"/>
                </a:solidFill>
                <a:latin typeface="+mn-ea"/>
              </a:rPr>
              <a:t>扩展形态 </a:t>
            </a:r>
            <a:r>
              <a:rPr lang="en-US" altLang="zh-CN" sz="1000" b="1" dirty="0">
                <a:solidFill>
                  <a:srgbClr val="0070C0"/>
                </a:solidFill>
                <a:latin typeface="+mn-ea"/>
              </a:rPr>
              <a:t>- </a:t>
            </a:r>
            <a:endParaRPr lang="en-US" sz="1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1" name="Text Box 6"/>
          <p:cNvSpPr txBox="1">
            <a:spLocks noChangeArrowheads="1"/>
          </p:cNvSpPr>
          <p:nvPr/>
        </p:nvSpPr>
        <p:spPr bwMode="auto">
          <a:xfrm>
            <a:off x="4828688" y="1848784"/>
            <a:ext cx="963014" cy="276999"/>
          </a:xfrm>
          <a:prstGeom prst="rect">
            <a:avLst/>
          </a:prstGeom>
          <a:solidFill>
            <a:srgbClr val="336699"/>
          </a:solidFill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AM</a:t>
            </a:r>
            <a:endParaRPr lang="en-US" altLang="zh-CN" sz="12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1" name="Text Box 6"/>
          <p:cNvSpPr txBox="1">
            <a:spLocks noChangeArrowheads="1"/>
          </p:cNvSpPr>
          <p:nvPr/>
        </p:nvSpPr>
        <p:spPr bwMode="auto">
          <a:xfrm>
            <a:off x="4828688" y="1204467"/>
            <a:ext cx="963014" cy="276999"/>
          </a:xfrm>
          <a:prstGeom prst="rect">
            <a:avLst/>
          </a:prstGeom>
          <a:solidFill>
            <a:srgbClr val="336699"/>
          </a:solidFill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AM</a:t>
            </a:r>
            <a:endParaRPr lang="en-US" altLang="zh-CN" sz="12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949538" y="1204467"/>
            <a:ext cx="2911903" cy="5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txBody>
          <a:bodyPr wrap="square" lIns="288000" tIns="38972" rIns="77943" bIns="38972" anchor="ctr">
            <a:noAutofit/>
          </a:bodyPr>
          <a:lstStyle/>
          <a:p>
            <a:pPr marL="0" lvl="4">
              <a:lnSpc>
                <a:spcPct val="90000"/>
              </a:lnSpc>
              <a:spcBef>
                <a:spcPts val="0"/>
              </a:spcBef>
              <a:buClr>
                <a:srgbClr val="990000"/>
              </a:buClr>
              <a:defRPr/>
            </a:pPr>
            <a:r>
              <a:rPr lang="zh-CN" altLang="en-US" sz="1200" dirty="0">
                <a:latin typeface="+mn-ea"/>
              </a:rPr>
              <a:t>对系统部整体经营结果负责，负责</a:t>
            </a:r>
            <a:br>
              <a:rPr lang="en-US" altLang="zh-CN" sz="1200" dirty="0">
                <a:latin typeface="+mn-ea"/>
              </a:rPr>
            </a:br>
            <a:r>
              <a:rPr lang="zh-CN" altLang="en-US" sz="1200" dirty="0">
                <a:latin typeface="+mn-ea"/>
              </a:rPr>
              <a:t>团队建设和管理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5949538" y="1835233"/>
            <a:ext cx="2911903" cy="5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txBody>
          <a:bodyPr wrap="square" lIns="288000" tIns="38972" rIns="77943" bIns="38972" anchor="ctr">
            <a:noAutofit/>
          </a:bodyPr>
          <a:lstStyle/>
          <a:p>
            <a:pPr marL="0" lvl="4">
              <a:lnSpc>
                <a:spcPct val="90000"/>
              </a:lnSpc>
              <a:spcBef>
                <a:spcPts val="0"/>
              </a:spcBef>
              <a:buClr>
                <a:srgbClr val="990000"/>
              </a:buClr>
            </a:pPr>
            <a:r>
              <a:rPr lang="zh-CN" altLang="en-US" sz="1200" dirty="0">
                <a:latin typeface="+mn-ea"/>
              </a:rPr>
              <a:t>侧重总体户关系、客户满意度和盈利</a:t>
            </a:r>
            <a:r>
              <a:rPr lang="zh-CN" altLang="en-US" sz="1200">
                <a:latin typeface="+mn-ea"/>
              </a:rPr>
              <a:t>性销售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5949106" y="2465999"/>
            <a:ext cx="2911903" cy="5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txBody>
          <a:bodyPr wrap="square" lIns="288000" tIns="38972" rIns="77943" bIns="38972" anchor="ctr">
            <a:noAutofit/>
          </a:bodyPr>
          <a:lstStyle/>
          <a:p>
            <a:pPr marL="0" lvl="4">
              <a:lnSpc>
                <a:spcPct val="90000"/>
              </a:lnSpc>
              <a:spcBef>
                <a:spcPts val="0"/>
              </a:spcBef>
              <a:buClr>
                <a:srgbClr val="990000"/>
              </a:buClr>
            </a:pPr>
            <a:r>
              <a:rPr lang="zh-CN" altLang="en-US" sz="1200" dirty="0">
                <a:latin typeface="+mn-ea"/>
              </a:rPr>
              <a:t>侧重客户需求管理，主导客户解决</a:t>
            </a:r>
            <a:br>
              <a:rPr lang="en-US" altLang="zh-CN" sz="1200" dirty="0">
                <a:latin typeface="+mn-ea"/>
              </a:rPr>
            </a:br>
            <a:r>
              <a:rPr lang="zh-CN" altLang="en-US" sz="1200" dirty="0">
                <a:latin typeface="+mn-ea"/>
              </a:rPr>
              <a:t>方案销售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5949106" y="3096766"/>
            <a:ext cx="2911903" cy="5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  <a:effectLst/>
        </p:spPr>
        <p:txBody>
          <a:bodyPr wrap="square" lIns="288000" tIns="38972" rIns="77943" bIns="38972" anchor="ctr">
            <a:noAutofit/>
          </a:bodyPr>
          <a:lstStyle/>
          <a:p>
            <a:pPr marL="0" lvl="4">
              <a:lnSpc>
                <a:spcPct val="90000"/>
              </a:lnSpc>
              <a:spcBef>
                <a:spcPts val="0"/>
              </a:spcBef>
              <a:buClr>
                <a:srgbClr val="990000"/>
              </a:buClr>
            </a:pPr>
            <a:r>
              <a:rPr lang="zh-CN" altLang="en-US" sz="1200" dirty="0">
                <a:latin typeface="+mn-ea"/>
              </a:rPr>
              <a:t>负责客户满意度管理，主导合同履行及交付管理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960193" y="896663"/>
            <a:ext cx="2737533" cy="263371"/>
          </a:xfrm>
          <a:prstGeom prst="rect">
            <a:avLst/>
          </a:prstGeom>
          <a:effectLst/>
        </p:spPr>
        <p:txBody>
          <a:bodyPr wrap="square" lIns="77943" tIns="38972" rIns="77943" bIns="38972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系统部组织形态 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4771470" y="896663"/>
            <a:ext cx="4255375" cy="263371"/>
          </a:xfrm>
          <a:prstGeom prst="rect">
            <a:avLst/>
          </a:prstGeom>
          <a:effectLst/>
        </p:spPr>
        <p:txBody>
          <a:bodyPr wrap="square" lIns="77943" tIns="38972" rIns="77943" bIns="38972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系统部岗位职责（概要）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2" name="Title 1"/>
          <p:cNvSpPr txBox="1"/>
          <p:nvPr/>
        </p:nvSpPr>
        <p:spPr bwMode="gray">
          <a:xfrm>
            <a:off x="144260" y="158251"/>
            <a:ext cx="3411056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组织、</a:t>
            </a:r>
            <a:r>
              <a:rPr lang="zh-CN" altLang="zh-HK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R&amp;R</a:t>
            </a: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及能力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LTC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系统部组织优化</a:t>
            </a:r>
            <a:endParaRPr lang="en-US" alt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968924" y="1191532"/>
            <a:ext cx="952667" cy="288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系统部主任</a:t>
            </a:r>
            <a:endParaRPr lang="en-US" altLang="zh-CN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AD</a:t>
            </a:r>
            <a:endParaRPr lang="en-US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627742" y="1671414"/>
            <a:ext cx="97472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客户经理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AM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1957894" y="1671414"/>
            <a:ext cx="97472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解决方案经理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3154371" y="1671414"/>
            <a:ext cx="97472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履行经理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FM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2" name="Elbow Connector 11"/>
          <p:cNvCxnSpPr/>
          <p:nvPr/>
        </p:nvCxnSpPr>
        <p:spPr bwMode="auto">
          <a:xfrm rot="5400000" flipH="1" flipV="1">
            <a:off x="2379520" y="408100"/>
            <a:ext cx="9525" cy="2526629"/>
          </a:xfrm>
          <a:prstGeom prst="bentConnector3">
            <a:avLst>
              <a:gd name="adj1" fmla="val 1051945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2451739" y="1475890"/>
            <a:ext cx="0" cy="176474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Rectangle 79"/>
          <p:cNvSpPr/>
          <p:nvPr/>
        </p:nvSpPr>
        <p:spPr bwMode="auto">
          <a:xfrm>
            <a:off x="1968924" y="2112379"/>
            <a:ext cx="952667" cy="288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 defTabSz="779145"/>
            <a:r>
              <a:rPr lang="zh-CN" altLang="en-US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系统部主任</a:t>
            </a:r>
            <a:endParaRPr lang="en-US" altLang="zh-CN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en-US" altLang="zh-CN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AD</a:t>
            </a:r>
            <a:endParaRPr lang="en-US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85" name="Straight Connector 84"/>
          <p:cNvCxnSpPr/>
          <p:nvPr/>
        </p:nvCxnSpPr>
        <p:spPr bwMode="auto">
          <a:xfrm flipH="1">
            <a:off x="2445972" y="2382734"/>
            <a:ext cx="1" cy="136262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Elbow Connector 39"/>
          <p:cNvCxnSpPr/>
          <p:nvPr/>
        </p:nvCxnSpPr>
        <p:spPr bwMode="auto">
          <a:xfrm rot="5400000" flipH="1" flipV="1">
            <a:off x="2446011" y="1274731"/>
            <a:ext cx="9525" cy="2526629"/>
          </a:xfrm>
          <a:prstGeom prst="bentConnector3">
            <a:avLst>
              <a:gd name="adj1" fmla="val 958441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Elbow Connector 135"/>
          <p:cNvCxnSpPr/>
          <p:nvPr/>
        </p:nvCxnSpPr>
        <p:spPr bwMode="auto">
          <a:xfrm rot="5400000" flipH="1" flipV="1">
            <a:off x="1156577" y="2842333"/>
            <a:ext cx="12700" cy="522811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Straight Connector 88"/>
          <p:cNvCxnSpPr/>
          <p:nvPr/>
        </p:nvCxnSpPr>
        <p:spPr bwMode="auto">
          <a:xfrm flipH="1">
            <a:off x="1181595" y="2826378"/>
            <a:ext cx="1" cy="78029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Rectangle 80"/>
          <p:cNvSpPr/>
          <p:nvPr/>
        </p:nvSpPr>
        <p:spPr bwMode="auto">
          <a:xfrm>
            <a:off x="694232" y="2500071"/>
            <a:ext cx="97472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 defTabSz="779145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首席客户经理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Chief AM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1869124" y="2500071"/>
            <a:ext cx="115226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 defTabSz="779145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首席解决方案经理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Chief SM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3220861" y="2500071"/>
            <a:ext cx="974726" cy="360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0" compatLnSpc="1">
            <a:noAutofit/>
          </a:bodyPr>
          <a:lstStyle/>
          <a:p>
            <a:pPr algn="ctr" defTabSz="779145"/>
            <a:r>
              <a:rPr lang="zh-CN" altLang="en-US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首席履行经理</a:t>
            </a:r>
            <a:endParaRPr lang="en-US" altLang="zh-CN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Chief FM</a:t>
            </a:r>
            <a:endParaRPr lang="en-US" sz="9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54" name="Elbow Connector 153"/>
          <p:cNvCxnSpPr/>
          <p:nvPr/>
        </p:nvCxnSpPr>
        <p:spPr bwMode="auto">
          <a:xfrm rot="5400000" flipH="1" flipV="1">
            <a:off x="2436876" y="2810572"/>
            <a:ext cx="12700" cy="624599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5" name="Straight Connector 154"/>
          <p:cNvCxnSpPr/>
          <p:nvPr/>
        </p:nvCxnSpPr>
        <p:spPr bwMode="auto">
          <a:xfrm flipH="1">
            <a:off x="2445972" y="2816791"/>
            <a:ext cx="1" cy="78029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Elbow Connector 93"/>
          <p:cNvCxnSpPr/>
          <p:nvPr/>
        </p:nvCxnSpPr>
        <p:spPr bwMode="auto">
          <a:xfrm rot="16200000" flipH="1">
            <a:off x="2635131" y="3168381"/>
            <a:ext cx="566799" cy="338703"/>
          </a:xfrm>
          <a:prstGeom prst="bentConnector3">
            <a:avLst>
              <a:gd name="adj1" fmla="val -284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9" name="Elbow Connector 158"/>
          <p:cNvCxnSpPr/>
          <p:nvPr/>
        </p:nvCxnSpPr>
        <p:spPr bwMode="auto">
          <a:xfrm rot="5400000" flipH="1" flipV="1">
            <a:off x="3698488" y="2849590"/>
            <a:ext cx="12700" cy="522812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/>
          <p:cNvCxnSpPr/>
          <p:nvPr/>
        </p:nvCxnSpPr>
        <p:spPr bwMode="auto">
          <a:xfrm flipH="1">
            <a:off x="3723506" y="2821761"/>
            <a:ext cx="1" cy="78029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6" name="Elbow Connector 165"/>
          <p:cNvCxnSpPr/>
          <p:nvPr/>
        </p:nvCxnSpPr>
        <p:spPr bwMode="auto">
          <a:xfrm rot="16200000" flipH="1">
            <a:off x="3771716" y="3172831"/>
            <a:ext cx="566799" cy="338703"/>
          </a:xfrm>
          <a:prstGeom prst="bentConnector3">
            <a:avLst>
              <a:gd name="adj1" fmla="val -284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3" name="Rectangle 132"/>
          <p:cNvSpPr/>
          <p:nvPr/>
        </p:nvSpPr>
        <p:spPr bwMode="auto">
          <a:xfrm>
            <a:off x="2873070" y="3383197"/>
            <a:ext cx="414281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产品经理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4028778" y="3383196"/>
            <a:ext cx="394153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项目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329" y="1789177"/>
            <a:ext cx="724676" cy="20181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800" dirty="0">
                <a:latin typeface="+mn-ea"/>
                <a:cs typeface="Raavi" panose="020B0502040204020203" pitchFamily="34" charset="0"/>
              </a:rPr>
              <a:t>“铁三角”</a:t>
            </a:r>
            <a:endParaRPr lang="en-US" sz="800" dirty="0">
              <a:latin typeface="+mn-ea"/>
              <a:cs typeface="Raavi" panose="020B0502040204020203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9329" y="2586598"/>
            <a:ext cx="724676" cy="20181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800" dirty="0">
                <a:latin typeface="+mn-ea"/>
                <a:cs typeface="Raavi" panose="020B0502040204020203" pitchFamily="34" charset="0"/>
              </a:rPr>
              <a:t>“铁三角”</a:t>
            </a:r>
            <a:endParaRPr lang="en-US" sz="800" dirty="0">
              <a:latin typeface="+mn-ea"/>
              <a:cs typeface="Raavi" panose="020B0502040204020203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19771" y="4306032"/>
            <a:ext cx="2833580" cy="548050"/>
            <a:chOff x="4760987" y="4218893"/>
            <a:chExt cx="3126366" cy="548050"/>
          </a:xfrm>
        </p:grpSpPr>
        <p:sp>
          <p:nvSpPr>
            <p:cNvPr id="87" name="TextBox 86"/>
            <p:cNvSpPr txBox="1"/>
            <p:nvPr/>
          </p:nvSpPr>
          <p:spPr>
            <a:xfrm>
              <a:off x="4760987" y="4218893"/>
              <a:ext cx="3126366" cy="263371"/>
            </a:xfrm>
            <a:prstGeom prst="rect">
              <a:avLst/>
            </a:prstGeom>
            <a:noFill/>
            <a:effectLst/>
          </p:spPr>
          <p:txBody>
            <a:bodyPr wrap="square" lIns="77943" tIns="38972" rIns="77943" bIns="38972" rtlCol="0">
              <a:spAutoFit/>
            </a:bodyPr>
            <a:lstStyle/>
            <a:p>
              <a:pPr marL="215900" indent="-21590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latin typeface="+mn-ea"/>
                </a:rPr>
                <a:t>做厚客户界面，提升系统部战斗力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760987" y="4503572"/>
              <a:ext cx="3126366" cy="263371"/>
            </a:xfrm>
            <a:prstGeom prst="rect">
              <a:avLst/>
            </a:prstGeom>
            <a:noFill/>
            <a:effectLst/>
          </p:spPr>
          <p:txBody>
            <a:bodyPr wrap="square" lIns="77943" tIns="38972" rIns="77943" bIns="38972" rtlCol="0">
              <a:spAutoFit/>
            </a:bodyPr>
            <a:lstStyle/>
            <a:p>
              <a:pPr marL="215900" indent="-215900"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latin typeface="+mn-ea"/>
                </a:rPr>
                <a:t>优化组织运作的配套机制</a:t>
              </a:r>
              <a:endParaRPr lang="en-US" altLang="zh-CN" sz="1200" dirty="0">
                <a:latin typeface="+mn-ea"/>
              </a:endParaRPr>
            </a:p>
          </p:txBody>
        </p:sp>
      </p:grpSp>
      <p:sp>
        <p:nvSpPr>
          <p:cNvPr id="86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4\20</a:t>
            </a:r>
            <a:endParaRPr lang="zh-CN" altLang="en-US" sz="1000" dirty="0">
              <a:latin typeface="+mn-ea"/>
            </a:endParaRPr>
          </a:p>
        </p:txBody>
      </p:sp>
      <p:sp>
        <p:nvSpPr>
          <p:cNvPr id="112" name="Rectangle 10"/>
          <p:cNvSpPr>
            <a:spLocks noChangeArrowheads="1"/>
          </p:cNvSpPr>
          <p:nvPr/>
        </p:nvSpPr>
        <p:spPr bwMode="auto">
          <a:xfrm>
            <a:off x="4697675" y="2465999"/>
            <a:ext cx="1444192" cy="540000"/>
          </a:xfrm>
          <a:prstGeom prst="roundRect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SM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解决方案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4697675" y="3096766"/>
            <a:ext cx="1444192" cy="540000"/>
          </a:xfrm>
          <a:prstGeom prst="roundRect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FM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履行经理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4697675" y="1835233"/>
            <a:ext cx="1444192" cy="540000"/>
          </a:xfrm>
          <a:prstGeom prst="roundRect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AM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客户经理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4697675" y="1204467"/>
            <a:ext cx="1444192" cy="540000"/>
          </a:xfrm>
          <a:prstGeom prst="roundRect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AD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系统部主任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698095" y="2979913"/>
            <a:ext cx="394153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客户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1220906" y="2979913"/>
            <a:ext cx="394153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客户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1824215" y="2979913"/>
            <a:ext cx="600724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解决方案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2448814" y="2979913"/>
            <a:ext cx="600724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解决方案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3240005" y="2979913"/>
            <a:ext cx="394153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履行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762817" y="2979913"/>
            <a:ext cx="394153" cy="359493"/>
          </a:xfrm>
          <a:prstGeom prst="roundRect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spAutoFit/>
          </a:bodyPr>
          <a:lstStyle/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履行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  <a:p>
            <a:pPr algn="ctr" defTabSz="779145"/>
            <a:r>
              <a:rPr lang="zh-CN" altLang="en-US" sz="800" dirty="0"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96430" y="3897065"/>
            <a:ext cx="2565258" cy="356094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变革要点</a:t>
            </a:r>
            <a:endParaRPr lang="en-US" altLang="zh-CN" sz="14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0" name="圆角矩形 99"/>
          <p:cNvSpPr/>
          <p:nvPr/>
        </p:nvSpPr>
        <p:spPr bwMode="auto">
          <a:xfrm>
            <a:off x="5419771" y="3897065"/>
            <a:ext cx="2565258" cy="356094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价值</a:t>
            </a:r>
            <a:endParaRPr lang="en-US" altLang="zh-CN" sz="14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96430" y="4306032"/>
            <a:ext cx="3324573" cy="548049"/>
            <a:chOff x="277868" y="4218894"/>
            <a:chExt cx="3324573" cy="548049"/>
          </a:xfrm>
        </p:grpSpPr>
        <p:sp>
          <p:nvSpPr>
            <p:cNvPr id="3" name="TextBox 2"/>
            <p:cNvSpPr txBox="1"/>
            <p:nvPr/>
          </p:nvSpPr>
          <p:spPr>
            <a:xfrm>
              <a:off x="474370" y="4218894"/>
              <a:ext cx="3128071" cy="263371"/>
            </a:xfrm>
            <a:prstGeom prst="rect">
              <a:avLst/>
            </a:prstGeom>
            <a:noFill/>
            <a:effectLst/>
          </p:spPr>
          <p:txBody>
            <a:bodyPr wrap="square" lIns="77943" tIns="38972" rIns="77943" bIns="38972" rtlCol="0">
              <a:spAutoFit/>
            </a:bodyPr>
            <a:lstStyle/>
            <a:p>
              <a:r>
                <a:rPr lang="zh-CN" altLang="en-US" sz="1200" dirty="0">
                  <a:latin typeface="+mn-ea"/>
                </a:rPr>
                <a:t>优化系统部人员配置、岗位职责和考核关系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74370" y="4503572"/>
              <a:ext cx="2845199" cy="263371"/>
            </a:xfrm>
            <a:prstGeom prst="rect">
              <a:avLst/>
            </a:prstGeom>
            <a:noFill/>
            <a:effectLst/>
          </p:spPr>
          <p:txBody>
            <a:bodyPr wrap="square" lIns="77943" tIns="38972" rIns="77943" bIns="38972" rtlCol="0">
              <a:spAutoFit/>
            </a:bodyPr>
            <a:lstStyle/>
            <a:p>
              <a:r>
                <a:rPr lang="zh-CN" altLang="en-US" sz="1200" dirty="0">
                  <a:latin typeface="+mn-ea"/>
                </a:rPr>
                <a:t>优化铁三角的</a:t>
              </a:r>
              <a:r>
                <a:rPr lang="en-US" altLang="zh-CN" sz="1200" dirty="0">
                  <a:latin typeface="+mn-ea"/>
                </a:rPr>
                <a:t>KPI</a:t>
              </a:r>
              <a:r>
                <a:rPr lang="zh-CN" altLang="en-US" sz="1200" dirty="0">
                  <a:latin typeface="+mn-ea"/>
                </a:rPr>
                <a:t>、考核和激励</a:t>
              </a:r>
              <a:endParaRPr lang="en-US" altLang="zh-CN" sz="1200" dirty="0">
                <a:latin typeface="+mn-ea"/>
              </a:endParaRPr>
            </a:p>
          </p:txBody>
        </p:sp>
        <p:sp>
          <p:nvSpPr>
            <p:cNvPr id="101" name="Oval 19"/>
            <p:cNvSpPr/>
            <p:nvPr/>
          </p:nvSpPr>
          <p:spPr bwMode="auto">
            <a:xfrm>
              <a:off x="277868" y="4527257"/>
              <a:ext cx="216000" cy="216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+mn-ea"/>
                </a:rPr>
                <a:t>2</a:t>
              </a:r>
              <a:endParaRPr lang="en-US"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02" name="Oval 21"/>
            <p:cNvSpPr/>
            <p:nvPr/>
          </p:nvSpPr>
          <p:spPr bwMode="auto">
            <a:xfrm>
              <a:off x="277868" y="4242578"/>
              <a:ext cx="216000" cy="216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8970" tIns="38970" rIns="38970" bIns="3897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+mn-ea"/>
                </a:rPr>
                <a:t>1</a:t>
              </a:r>
              <a:endParaRPr lang="en-US" sz="10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78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9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4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9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/>
          <p:cNvSpPr>
            <a:spLocks noChangeArrowheads="1"/>
          </p:cNvSpPr>
          <p:nvPr/>
        </p:nvSpPr>
        <p:spPr bwMode="gray">
          <a:xfrm>
            <a:off x="824090" y="2139554"/>
            <a:ext cx="8046075" cy="1383506"/>
          </a:xfrm>
          <a:prstGeom prst="roundRect">
            <a:avLst/>
          </a:prstGeom>
          <a:solidFill>
            <a:schemeClr val="bg1">
              <a:lumMod val="95000"/>
              <a:alpha val="39999"/>
            </a:schemeClr>
          </a:solidFill>
          <a:ln>
            <a:noFill/>
          </a:ln>
          <a:effectLst/>
        </p:spPr>
        <p:txBody>
          <a:bodyPr wrap="none" lIns="38972" tIns="38972" rIns="38972" bIns="38972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 altLang="zh-CN" sz="7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4" name="矩形 100"/>
          <p:cNvSpPr/>
          <p:nvPr/>
        </p:nvSpPr>
        <p:spPr>
          <a:xfrm>
            <a:off x="2048855" y="809711"/>
            <a:ext cx="6822013" cy="540000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77943" tIns="38972" rIns="77943" bIns="38972" anchor="ctr"/>
          <a:lstStyle/>
          <a:p>
            <a:pPr algn="ctr">
              <a:defRPr/>
            </a:pP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Isosceles Triangle 125"/>
          <p:cNvSpPr>
            <a:spLocks noChangeArrowheads="1"/>
          </p:cNvSpPr>
          <p:nvPr/>
        </p:nvSpPr>
        <p:spPr bwMode="auto">
          <a:xfrm>
            <a:off x="2857230" y="2163366"/>
            <a:ext cx="5281473" cy="1272778"/>
          </a:xfrm>
          <a:prstGeom prst="triangle">
            <a:avLst>
              <a:gd name="adj" fmla="val 50000"/>
            </a:avLst>
          </a:prstGeom>
          <a:noFill/>
          <a:ln w="3175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none" lIns="77943" tIns="38972" rIns="77943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zh-CN" altLang="en-US" sz="2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957483" y="1647826"/>
            <a:ext cx="720000" cy="263371"/>
          </a:xfrm>
          <a:prstGeom prst="rect">
            <a:avLst/>
          </a:prstGeom>
          <a:noFill/>
          <a:ln>
            <a:noFill/>
          </a:ln>
          <a:effectLst/>
        </p:spPr>
        <p:txBody>
          <a:bodyPr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+mn-ea"/>
                <a:ea typeface="+mn-ea"/>
              </a:rPr>
              <a:t>CC3</a:t>
            </a:r>
            <a:endParaRPr lang="en-US" altLang="zh-CN" sz="12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 rot="10800000" flipV="1">
            <a:off x="5245107" y="2394348"/>
            <a:ext cx="463210" cy="610790"/>
          </a:xfrm>
          <a:prstGeom prst="roundRect">
            <a:avLst/>
          </a:prstGeom>
          <a:solidFill>
            <a:srgbClr val="F7B021"/>
          </a:solidFill>
          <a:ln w="12700" algn="ctr">
            <a:noFill/>
            <a:miter lim="800000"/>
          </a:ln>
          <a:effectLst/>
        </p:spPr>
        <p:txBody>
          <a:bodyPr vert="eaVert" lIns="46030" tIns="9206" rIns="46030" bIns="9206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  <a:ea typeface="+mn-ea"/>
              </a:rPr>
              <a:t>客户经理</a:t>
            </a:r>
            <a:endParaRPr lang="zh-CN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 rot="10800000" flipV="1">
            <a:off x="6086507" y="2390775"/>
            <a:ext cx="464676" cy="610791"/>
          </a:xfrm>
          <a:prstGeom prst="roundRect">
            <a:avLst/>
          </a:prstGeom>
          <a:solidFill>
            <a:srgbClr val="F7B021"/>
          </a:solidFill>
          <a:ln w="12700" algn="ctr">
            <a:noFill/>
            <a:miter lim="800000"/>
          </a:ln>
          <a:effectLst/>
        </p:spPr>
        <p:txBody>
          <a:bodyPr vert="eaVert" lIns="46030" tIns="9206" rIns="46030" bIns="9206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  <a:ea typeface="+mn-ea"/>
              </a:rPr>
              <a:t>履行经理</a:t>
            </a:r>
            <a:endParaRPr lang="zh-CN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Text Box 49"/>
          <p:cNvSpPr txBox="1">
            <a:spLocks noChangeArrowheads="1"/>
          </p:cNvSpPr>
          <p:nvPr/>
        </p:nvSpPr>
        <p:spPr bwMode="auto">
          <a:xfrm>
            <a:off x="957484" y="2675335"/>
            <a:ext cx="1122276" cy="26337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  <a:ea typeface="+mn-ea"/>
              </a:rPr>
              <a:t>系统部铁三角</a:t>
            </a:r>
            <a:endParaRPr lang="en-US" altLang="zh-CN" sz="12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3" name="Rectangle 23"/>
          <p:cNvSpPr>
            <a:spLocks noChangeArrowheads="1"/>
          </p:cNvSpPr>
          <p:nvPr/>
        </p:nvSpPr>
        <p:spPr bwMode="auto">
          <a:xfrm rot="10800000" flipV="1">
            <a:off x="4352402" y="2394348"/>
            <a:ext cx="463210" cy="610790"/>
          </a:xfrm>
          <a:prstGeom prst="roundRect">
            <a:avLst/>
          </a:prstGeom>
          <a:solidFill>
            <a:srgbClr val="F7B021"/>
          </a:solidFill>
          <a:ln w="12700" algn="ctr">
            <a:noFill/>
            <a:miter lim="800000"/>
          </a:ln>
          <a:effectLst/>
        </p:spPr>
        <p:txBody>
          <a:bodyPr vert="eaVert" lIns="46030" tIns="9206" rIns="46030" bIns="9206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  <a:ea typeface="+mn-ea"/>
              </a:rPr>
              <a:t>解决方案经理</a:t>
            </a:r>
            <a:endParaRPr lang="zh-CN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4" name="AutoShape 21"/>
          <p:cNvCxnSpPr>
            <a:cxnSpLocks noChangeShapeType="1"/>
          </p:cNvCxnSpPr>
          <p:nvPr/>
        </p:nvCxnSpPr>
        <p:spPr bwMode="auto">
          <a:xfrm rot="5400000">
            <a:off x="5450740" y="2136299"/>
            <a:ext cx="3572" cy="1734106"/>
          </a:xfrm>
          <a:prstGeom prst="bentConnector3">
            <a:avLst>
              <a:gd name="adj1" fmla="val 3700000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  <a:effectLst/>
        </p:spPr>
      </p:cxnSp>
      <p:sp>
        <p:nvSpPr>
          <p:cNvPr id="45" name="Rectangle 22"/>
          <p:cNvSpPr>
            <a:spLocks noChangeArrowheads="1"/>
          </p:cNvSpPr>
          <p:nvPr/>
        </p:nvSpPr>
        <p:spPr bwMode="auto">
          <a:xfrm rot="10800000" flipV="1">
            <a:off x="4413968" y="3238500"/>
            <a:ext cx="2125489" cy="197644"/>
          </a:xfrm>
          <a:prstGeom prst="roundRect">
            <a:avLst/>
          </a:prstGeom>
          <a:solidFill>
            <a:srgbClr val="00B0F0"/>
          </a:solidFill>
          <a:ln w="9525" algn="ctr">
            <a:noFill/>
            <a:miter lim="800000"/>
          </a:ln>
          <a:effectLst/>
        </p:spPr>
        <p:txBody>
          <a:bodyPr lIns="36824" tIns="15343" rIns="36824" bIns="15343" anchor="ctr"/>
          <a:lstStyle>
            <a:lvl1pPr defTabSz="802005"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defTabSz="802005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defTabSz="802005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defTabSz="802005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defTabSz="802005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defTabSz="802005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defTabSz="802005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defTabSz="802005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defTabSz="802005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1000" b="1" dirty="0">
                <a:solidFill>
                  <a:schemeClr val="bg1"/>
                </a:solidFill>
                <a:latin typeface="+mn-ea"/>
                <a:ea typeface="+mn-ea"/>
              </a:rPr>
              <a:t>XX 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ea typeface="+mn-ea"/>
              </a:rPr>
              <a:t>系统部</a:t>
            </a:r>
            <a:endParaRPr lang="zh-CN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6" name="Text Box 28"/>
          <p:cNvSpPr txBox="1">
            <a:spLocks noChangeArrowheads="1"/>
          </p:cNvSpPr>
          <p:nvPr/>
        </p:nvSpPr>
        <p:spPr bwMode="auto">
          <a:xfrm>
            <a:off x="2779540" y="1793082"/>
            <a:ext cx="1209330" cy="232593"/>
          </a:xfrm>
          <a:prstGeom prst="rect">
            <a:avLst/>
          </a:prstGeom>
          <a:noFill/>
          <a:ln>
            <a:noFill/>
          </a:ln>
          <a:effectLst/>
        </p:spPr>
        <p:txBody>
          <a:bodyPr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+mn-ea"/>
                <a:ea typeface="+mn-ea"/>
              </a:rPr>
              <a:t>项目组</a:t>
            </a:r>
            <a:endParaRPr lang="en-US" altLang="zh-CN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7" name="Oval 30"/>
          <p:cNvSpPr>
            <a:spLocks noChangeArrowheads="1"/>
          </p:cNvSpPr>
          <p:nvPr/>
        </p:nvSpPr>
        <p:spPr bwMode="auto">
          <a:xfrm>
            <a:off x="4348004" y="1738313"/>
            <a:ext cx="694815" cy="340519"/>
          </a:xfrm>
          <a:prstGeom prst="ellipse">
            <a:avLst/>
          </a:prstGeom>
          <a:solidFill>
            <a:srgbClr val="0070C0"/>
          </a:solidFill>
          <a:ln w="9525" algn="ctr">
            <a:noFill/>
            <a:round/>
          </a:ln>
          <a:effectLst/>
        </p:spPr>
        <p:txBody>
          <a:bodyPr lIns="0" tIns="38972" rIns="0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800" b="1" dirty="0">
                <a:solidFill>
                  <a:schemeClr val="bg1"/>
                </a:solidFill>
                <a:latin typeface="+mn-ea"/>
                <a:ea typeface="+mn-ea"/>
              </a:rPr>
              <a:t>解决方案责任人</a:t>
            </a:r>
            <a:endParaRPr lang="en-US" altLang="zh-HK" sz="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8" name="Oval 31"/>
          <p:cNvSpPr>
            <a:spLocks noChangeArrowheads="1"/>
          </p:cNvSpPr>
          <p:nvPr/>
        </p:nvSpPr>
        <p:spPr bwMode="auto">
          <a:xfrm>
            <a:off x="5189405" y="1738313"/>
            <a:ext cx="694815" cy="340519"/>
          </a:xfrm>
          <a:prstGeom prst="ellipse">
            <a:avLst/>
          </a:prstGeom>
          <a:solidFill>
            <a:srgbClr val="0070C0"/>
          </a:solidFill>
          <a:ln w="9525" algn="ctr">
            <a:noFill/>
            <a:round/>
          </a:ln>
          <a:effectLst/>
        </p:spPr>
        <p:txBody>
          <a:bodyPr lIns="0" tIns="38972" rIns="0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800" b="1" dirty="0">
                <a:solidFill>
                  <a:schemeClr val="bg1"/>
                </a:solidFill>
                <a:latin typeface="+mn-ea"/>
                <a:ea typeface="+mn-ea"/>
              </a:rPr>
              <a:t>客户</a:t>
            </a:r>
            <a:endParaRPr lang="en-US" altLang="zh-CN" sz="8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800" b="1" dirty="0">
                <a:solidFill>
                  <a:schemeClr val="bg1"/>
                </a:solidFill>
                <a:latin typeface="+mn-ea"/>
                <a:ea typeface="+mn-ea"/>
              </a:rPr>
              <a:t>责任人</a:t>
            </a:r>
            <a:endParaRPr lang="en-US" altLang="zh-HK" sz="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AutoShape 33"/>
          <p:cNvSpPr>
            <a:spLocks noChangeArrowheads="1"/>
          </p:cNvSpPr>
          <p:nvPr/>
        </p:nvSpPr>
        <p:spPr bwMode="auto">
          <a:xfrm>
            <a:off x="4773102" y="1437717"/>
            <a:ext cx="1528887" cy="161925"/>
          </a:xfrm>
          <a:prstGeom prst="roundRect">
            <a:avLst>
              <a:gd name="adj" fmla="val 35241"/>
            </a:avLst>
          </a:prstGeom>
          <a:solidFill>
            <a:schemeClr val="bg1"/>
          </a:solidFill>
          <a:ln w="9525" algn="ctr">
            <a:noFill/>
            <a:round/>
          </a:ln>
          <a:effectLst/>
        </p:spPr>
        <p:txBody>
          <a:bodyPr lIns="0" tIns="38972" rIns="0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项目总监 （</a:t>
            </a:r>
            <a:r>
              <a:rPr lang="en-US" altLang="zh-CN" sz="900" b="1" dirty="0">
                <a:solidFill>
                  <a:srgbClr val="000000"/>
                </a:solidFill>
                <a:latin typeface="+mn-ea"/>
                <a:ea typeface="+mn-ea"/>
              </a:rPr>
              <a:t>PD)</a:t>
            </a:r>
            <a:endParaRPr lang="zh-CN" altLang="en-US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0" name="Oval 32"/>
          <p:cNvSpPr>
            <a:spLocks noChangeArrowheads="1"/>
          </p:cNvSpPr>
          <p:nvPr/>
        </p:nvSpPr>
        <p:spPr bwMode="auto">
          <a:xfrm>
            <a:off x="6030805" y="1738313"/>
            <a:ext cx="693350" cy="340519"/>
          </a:xfrm>
          <a:prstGeom prst="ellipse">
            <a:avLst/>
          </a:prstGeom>
          <a:solidFill>
            <a:srgbClr val="0070C0"/>
          </a:solidFill>
          <a:ln w="9525" algn="ctr">
            <a:noFill/>
            <a:round/>
          </a:ln>
          <a:effectLst/>
        </p:spPr>
        <p:txBody>
          <a:bodyPr lIns="0" tIns="38972" rIns="0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800" b="1" dirty="0">
                <a:solidFill>
                  <a:schemeClr val="bg1"/>
                </a:solidFill>
                <a:latin typeface="+mn-ea"/>
                <a:ea typeface="+mn-ea"/>
              </a:rPr>
              <a:t>履行</a:t>
            </a:r>
            <a:endParaRPr lang="en-US" altLang="zh-CN" sz="8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800" b="1" dirty="0">
                <a:solidFill>
                  <a:schemeClr val="bg1"/>
                </a:solidFill>
                <a:latin typeface="+mn-ea"/>
                <a:ea typeface="+mn-ea"/>
              </a:rPr>
              <a:t>责任人</a:t>
            </a:r>
            <a:endParaRPr lang="en-US" altLang="zh-HK" sz="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1" name="Up Arrow 50"/>
          <p:cNvSpPr/>
          <p:nvPr/>
        </p:nvSpPr>
        <p:spPr bwMode="auto">
          <a:xfrm>
            <a:off x="4743786" y="2084463"/>
            <a:ext cx="1509830" cy="266699"/>
          </a:xfrm>
          <a:prstGeom prst="upArrow">
            <a:avLst>
              <a:gd name="adj1" fmla="val 40317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77943" tIns="38972" rIns="77943" bIns="38972"/>
          <a:lstStyle/>
          <a:p>
            <a:pPr>
              <a:defRPr/>
            </a:pPr>
            <a:endParaRPr lang="en-US" sz="900" b="1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2" name="Straight Connector 124"/>
          <p:cNvCxnSpPr>
            <a:cxnSpLocks noChangeShapeType="1"/>
          </p:cNvCxnSpPr>
          <p:nvPr/>
        </p:nvCxnSpPr>
        <p:spPr bwMode="auto">
          <a:xfrm>
            <a:off x="5476712" y="3005137"/>
            <a:ext cx="0" cy="233363"/>
          </a:xfrm>
          <a:prstGeom prst="line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round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4820009" y="4747803"/>
            <a:ext cx="1344189" cy="252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en-US" altLang="zh-CN" sz="900" dirty="0">
                <a:solidFill>
                  <a:srgbClr val="000000"/>
                </a:solidFill>
                <a:latin typeface="+mn-ea"/>
              </a:rPr>
              <a:t>XXX </a:t>
            </a: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代表处</a:t>
            </a:r>
            <a:endParaRPr lang="en-US" altLang="zh-CN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5626956" y="3659982"/>
            <a:ext cx="1354450" cy="21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B02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>
                <a:solidFill>
                  <a:srgbClr val="000000"/>
                </a:solidFill>
                <a:latin typeface="+mn-ea"/>
              </a:rPr>
              <a:t>服务和交付 </a:t>
            </a:r>
            <a:endParaRPr lang="zh-CN" altLang="en-US" sz="9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4018187" y="3659982"/>
            <a:ext cx="1347121" cy="21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解决方案销售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3364061" y="3528285"/>
            <a:ext cx="358379" cy="255059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企业</a:t>
            </a:r>
            <a:endParaRPr lang="en-US" altLang="zh-CN" sz="80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网络</a:t>
            </a:r>
            <a:endParaRPr lang="zh-CN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965348" y="3528285"/>
            <a:ext cx="358379" cy="255059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软件</a:t>
            </a:r>
            <a:endParaRPr lang="en-US" altLang="zh-CN" sz="80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业务</a:t>
            </a:r>
            <a:endParaRPr lang="zh-CN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2568102" y="3528285"/>
            <a:ext cx="358379" cy="255059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终端</a:t>
            </a:r>
            <a:endParaRPr lang="en-US" altLang="zh-CN" sz="80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zh-CN" altLang="en-US" sz="800" dirty="0">
                <a:solidFill>
                  <a:srgbClr val="000000"/>
                </a:solidFill>
                <a:latin typeface="+mn-ea"/>
              </a:rPr>
              <a:t>业务</a:t>
            </a:r>
            <a:endParaRPr lang="zh-CN" altLang="en-US" sz="8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7" name="Shape 75"/>
          <p:cNvCxnSpPr>
            <a:cxnSpLocks noChangeShapeType="1"/>
            <a:stCxn id="56" idx="1"/>
            <a:endCxn id="55" idx="0"/>
          </p:cNvCxnSpPr>
          <p:nvPr/>
        </p:nvCxnSpPr>
        <p:spPr bwMode="auto">
          <a:xfrm rot="10800000" flipV="1">
            <a:off x="5492104" y="3767981"/>
            <a:ext cx="134852" cy="979821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68" name="Shape 76"/>
          <p:cNvCxnSpPr>
            <a:cxnSpLocks noChangeShapeType="1"/>
            <a:stCxn id="57" idx="3"/>
            <a:endCxn id="55" idx="0"/>
          </p:cNvCxnSpPr>
          <p:nvPr/>
        </p:nvCxnSpPr>
        <p:spPr bwMode="auto">
          <a:xfrm>
            <a:off x="5365308" y="3767982"/>
            <a:ext cx="126796" cy="979821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76" name="Elbow Connector 84"/>
          <p:cNvCxnSpPr>
            <a:cxnSpLocks noChangeShapeType="1"/>
          </p:cNvCxnSpPr>
          <p:nvPr/>
        </p:nvCxnSpPr>
        <p:spPr bwMode="auto">
          <a:xfrm rot="16200000" flipH="1">
            <a:off x="4014911" y="2515724"/>
            <a:ext cx="151672" cy="2686911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77" name="Elbow Connector 85"/>
          <p:cNvCxnSpPr>
            <a:cxnSpLocks noChangeShapeType="1"/>
          </p:cNvCxnSpPr>
          <p:nvPr/>
        </p:nvCxnSpPr>
        <p:spPr bwMode="auto">
          <a:xfrm rot="16200000" flipH="1">
            <a:off x="4245783" y="2682098"/>
            <a:ext cx="151672" cy="2354163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78" name="Elbow Connector 86"/>
          <p:cNvCxnSpPr>
            <a:cxnSpLocks noChangeShapeType="1"/>
          </p:cNvCxnSpPr>
          <p:nvPr/>
        </p:nvCxnSpPr>
        <p:spPr bwMode="auto">
          <a:xfrm rot="16200000" flipH="1">
            <a:off x="4421686" y="2904909"/>
            <a:ext cx="151672" cy="1908542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sp>
        <p:nvSpPr>
          <p:cNvPr id="81" name="Text Box 49"/>
          <p:cNvSpPr txBox="1">
            <a:spLocks noChangeArrowheads="1"/>
          </p:cNvSpPr>
          <p:nvPr/>
        </p:nvSpPr>
        <p:spPr bwMode="auto">
          <a:xfrm>
            <a:off x="957483" y="3994548"/>
            <a:ext cx="720000" cy="263371"/>
          </a:xfrm>
          <a:prstGeom prst="rect">
            <a:avLst/>
          </a:prstGeom>
          <a:noFill/>
          <a:ln>
            <a:noFill/>
          </a:ln>
          <a:effectLst/>
        </p:spPr>
        <p:txBody>
          <a:bodyPr lIns="77943" tIns="38972" rIns="77943" bIns="38972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代表处 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2" name="Left Bracket 81"/>
          <p:cNvSpPr/>
          <p:nvPr/>
        </p:nvSpPr>
        <p:spPr bwMode="auto">
          <a:xfrm>
            <a:off x="2289761" y="3436143"/>
            <a:ext cx="293391" cy="1090613"/>
          </a:xfrm>
          <a:prstGeom prst="leftBrace">
            <a:avLst>
              <a:gd name="adj1" fmla="val 7326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/>
          <a:lstStyle/>
          <a:p>
            <a:pPr>
              <a:defRPr/>
            </a:pPr>
            <a:endParaRPr lang="en-US" sz="9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346810" y="809526"/>
            <a:ext cx="6439853" cy="540370"/>
          </a:xfrm>
          <a:prstGeom prst="rect">
            <a:avLst/>
          </a:prstGeom>
          <a:effectLst/>
        </p:spPr>
        <p:txBody>
          <a:bodyPr wrap="square" lIns="77943" tIns="38972" rIns="77943" bIns="38972">
            <a:spAutoFit/>
          </a:bodyPr>
          <a:lstStyle/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000" dirty="0">
                <a:latin typeface="+mn-ea"/>
              </a:rPr>
              <a:t>CC3 </a:t>
            </a:r>
            <a:r>
              <a:rPr lang="zh-CN" altLang="en-US" sz="1000" dirty="0">
                <a:latin typeface="+mn-ea"/>
              </a:rPr>
              <a:t>（</a:t>
            </a:r>
            <a:r>
              <a:rPr lang="en-US" altLang="zh-CN" sz="1000" dirty="0">
                <a:latin typeface="+mn-ea"/>
              </a:rPr>
              <a:t>Customer Centric 3) </a:t>
            </a:r>
            <a:r>
              <a:rPr lang="zh-CN" altLang="en-US" sz="1000" dirty="0">
                <a:latin typeface="+mn-ea"/>
              </a:rPr>
              <a:t>是项目制跨功能团队，承接从机会点验证到合同关闭的端到端职责</a:t>
            </a:r>
            <a:endParaRPr lang="en-US" altLang="zh-CN" sz="1000" dirty="0">
              <a:latin typeface="+mn-ea"/>
            </a:endParaRP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1000" dirty="0">
                <a:latin typeface="+mn-ea"/>
              </a:rPr>
              <a:t>CC3</a:t>
            </a:r>
            <a:r>
              <a:rPr lang="zh-CN" altLang="en-US" sz="1000" dirty="0">
                <a:latin typeface="+mn-ea"/>
              </a:rPr>
              <a:t>的三个关键角色“客户责任人”“解决方案责任人” 和“履行责任人” 可以由系统部的三个岗位“客户</a:t>
            </a:r>
            <a:br>
              <a:rPr lang="en-US" altLang="zh-CN" sz="1000" dirty="0">
                <a:latin typeface="+mn-ea"/>
              </a:rPr>
            </a:br>
            <a:r>
              <a:rPr lang="zh-CN" altLang="en-US" sz="1000" dirty="0">
                <a:latin typeface="+mn-ea"/>
              </a:rPr>
              <a:t>经理”“解决方案经理”和“履行经理”来承担 ，也可以来源于代表处平台部门，视项目级别和规模而定</a:t>
            </a:r>
            <a:endParaRPr lang="en-US" sz="1000" dirty="0">
              <a:latin typeface="+mn-ea"/>
            </a:endParaRPr>
          </a:p>
        </p:txBody>
      </p:sp>
      <p:sp>
        <p:nvSpPr>
          <p:cNvPr id="124" name="Title 1"/>
          <p:cNvSpPr txBox="1"/>
          <p:nvPr/>
        </p:nvSpPr>
        <p:spPr bwMode="gray">
          <a:xfrm>
            <a:off x="143121" y="170126"/>
            <a:ext cx="2785124" cy="628650"/>
          </a:xfrm>
          <a:prstGeom prst="rect">
            <a:avLst/>
          </a:prstGeom>
          <a:noFill/>
          <a:ln>
            <a:noFill/>
          </a:ln>
          <a:effectLst/>
        </p:spPr>
        <p:txBody>
          <a:bodyPr lIns="38972" tIns="38972" rIns="38972" bIns="38972" anchor="ctr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组织、</a:t>
            </a:r>
            <a:r>
              <a:rPr lang="zh-CN" altLang="zh-HK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R&amp;R</a:t>
            </a: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及能力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以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CC3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为核心的项目制</a:t>
            </a:r>
            <a:endParaRPr lang="en-US" alt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5" name="矩形 100"/>
          <p:cNvSpPr/>
          <p:nvPr/>
        </p:nvSpPr>
        <p:spPr>
          <a:xfrm>
            <a:off x="306364" y="809711"/>
            <a:ext cx="2005289" cy="540000"/>
          </a:xfrm>
          <a:prstGeom prst="roundRect">
            <a:avLst/>
          </a:prstGeom>
          <a:solidFill>
            <a:srgbClr val="0070C0"/>
          </a:solidFill>
          <a:effectLst/>
        </p:spPr>
        <p:txBody>
          <a:bodyPr lIns="77943" tIns="38972" rIns="77943" bIns="38972"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chemeClr val="bg1"/>
                </a:solidFill>
                <a:latin typeface="+mn-ea"/>
              </a:rPr>
              <a:t>CC3</a:t>
            </a:r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和系统部铁三角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5575652" y="4017243"/>
            <a:ext cx="1457059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合同商务及履行管理部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3963218" y="4017243"/>
            <a:ext cx="1457059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行政管理部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5576384" y="4258345"/>
            <a:ext cx="1455594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公共关系部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3963218" y="4258345"/>
            <a:ext cx="1457059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财务部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5576384" y="4499446"/>
            <a:ext cx="1455594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总经理办公室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3963218" y="4499446"/>
            <a:ext cx="1457059" cy="216000"/>
          </a:xfrm>
          <a:prstGeom prst="roundRect">
            <a:avLst/>
          </a:prstGeom>
          <a:solidFill>
            <a:srgbClr val="FACB6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7943" tIns="38972" rIns="77943" bIns="38972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人力资源部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4874" name="Straight Connector 14"/>
          <p:cNvCxnSpPr>
            <a:cxnSpLocks noChangeShapeType="1"/>
            <a:stCxn id="133" idx="3"/>
            <a:endCxn id="88" idx="1"/>
          </p:cNvCxnSpPr>
          <p:nvPr/>
        </p:nvCxnSpPr>
        <p:spPr bwMode="auto">
          <a:xfrm>
            <a:off x="5420277" y="4125243"/>
            <a:ext cx="15537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34875" name="Straight Connector 138"/>
          <p:cNvCxnSpPr>
            <a:cxnSpLocks noChangeShapeType="1"/>
            <a:stCxn id="138" idx="3"/>
            <a:endCxn id="137" idx="1"/>
          </p:cNvCxnSpPr>
          <p:nvPr/>
        </p:nvCxnSpPr>
        <p:spPr bwMode="auto">
          <a:xfrm>
            <a:off x="5420277" y="4607446"/>
            <a:ext cx="15610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34876" name="Straight Connector 139"/>
          <p:cNvCxnSpPr>
            <a:cxnSpLocks noChangeShapeType="1"/>
            <a:stCxn id="136" idx="3"/>
            <a:endCxn id="135" idx="1"/>
          </p:cNvCxnSpPr>
          <p:nvPr/>
        </p:nvCxnSpPr>
        <p:spPr bwMode="auto">
          <a:xfrm>
            <a:off x="5420277" y="4366345"/>
            <a:ext cx="15610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3" name="Elbow Connector 2"/>
          <p:cNvCxnSpPr>
            <a:stCxn id="49" idx="2"/>
            <a:endCxn id="47" idx="0"/>
          </p:cNvCxnSpPr>
          <p:nvPr/>
        </p:nvCxnSpPr>
        <p:spPr bwMode="auto">
          <a:xfrm rot="5400000">
            <a:off x="5047144" y="1247911"/>
            <a:ext cx="138671" cy="842134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Elbow Connector 69"/>
          <p:cNvCxnSpPr>
            <a:stCxn id="49" idx="2"/>
            <a:endCxn id="50" idx="0"/>
          </p:cNvCxnSpPr>
          <p:nvPr/>
        </p:nvCxnSpPr>
        <p:spPr bwMode="auto">
          <a:xfrm rot="16200000" flipH="1">
            <a:off x="5888177" y="1249010"/>
            <a:ext cx="138671" cy="83993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>
            <a:stCxn id="49" idx="2"/>
            <a:endCxn id="48" idx="0"/>
          </p:cNvCxnSpPr>
          <p:nvPr/>
        </p:nvCxnSpPr>
        <p:spPr bwMode="auto">
          <a:xfrm flipH="1">
            <a:off x="5536812" y="1599642"/>
            <a:ext cx="733" cy="13867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5\20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80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3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4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6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cxnSp>
        <p:nvCxnSpPr>
          <p:cNvPr id="4" name="肘形连接符 3"/>
          <p:cNvCxnSpPr>
            <a:stCxn id="57" idx="1"/>
            <a:endCxn id="47" idx="2"/>
          </p:cNvCxnSpPr>
          <p:nvPr/>
        </p:nvCxnSpPr>
        <p:spPr bwMode="auto">
          <a:xfrm rot="10800000" flipH="1">
            <a:off x="4018186" y="1908574"/>
            <a:ext cx="329817" cy="1859409"/>
          </a:xfrm>
          <a:prstGeom prst="bentConnector3">
            <a:avLst>
              <a:gd name="adj1" fmla="val -69311"/>
            </a:avLst>
          </a:prstGeom>
          <a:ln w="9525" cap="flat" cmpd="sng" algn="ctr">
            <a:solidFill>
              <a:srgbClr val="0070C0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肘形连接符 5"/>
          <p:cNvCxnSpPr>
            <a:stCxn id="57" idx="1"/>
            <a:endCxn id="45" idx="3"/>
          </p:cNvCxnSpPr>
          <p:nvPr/>
        </p:nvCxnSpPr>
        <p:spPr bwMode="auto">
          <a:xfrm rot="10800000" flipH="1">
            <a:off x="4018186" y="3337322"/>
            <a:ext cx="395781" cy="430660"/>
          </a:xfrm>
          <a:prstGeom prst="bentConnector3">
            <a:avLst>
              <a:gd name="adj1" fmla="val -57759"/>
            </a:avLst>
          </a:prstGeom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56" idx="3"/>
            <a:endCxn id="50" idx="6"/>
          </p:cNvCxnSpPr>
          <p:nvPr/>
        </p:nvCxnSpPr>
        <p:spPr bwMode="auto">
          <a:xfrm flipH="1" flipV="1">
            <a:off x="6724155" y="1908573"/>
            <a:ext cx="257251" cy="1859409"/>
          </a:xfrm>
          <a:prstGeom prst="bentConnector3">
            <a:avLst>
              <a:gd name="adj1" fmla="val -88863"/>
            </a:avLst>
          </a:prstGeom>
          <a:ln w="9525" cap="flat" cmpd="sng" algn="ctr">
            <a:solidFill>
              <a:srgbClr val="F7B021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56" idx="3"/>
          </p:cNvCxnSpPr>
          <p:nvPr/>
        </p:nvCxnSpPr>
        <p:spPr bwMode="auto">
          <a:xfrm flipH="1" flipV="1">
            <a:off x="6551183" y="3384947"/>
            <a:ext cx="430223" cy="383035"/>
          </a:xfrm>
          <a:prstGeom prst="bentConnector3">
            <a:avLst>
              <a:gd name="adj1" fmla="val -53135"/>
            </a:avLst>
          </a:prstGeom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Left Bracket 81"/>
          <p:cNvSpPr/>
          <p:nvPr/>
        </p:nvSpPr>
        <p:spPr bwMode="auto">
          <a:xfrm>
            <a:off x="2289761" y="2238052"/>
            <a:ext cx="293391" cy="1177851"/>
          </a:xfrm>
          <a:prstGeom prst="leftBrace">
            <a:avLst>
              <a:gd name="adj1" fmla="val 7326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/>
          <a:lstStyle/>
          <a:p>
            <a:pPr>
              <a:defRPr/>
            </a:pPr>
            <a:endParaRPr lang="en-US" sz="9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3" name="Left Bracket 81"/>
          <p:cNvSpPr/>
          <p:nvPr/>
        </p:nvSpPr>
        <p:spPr bwMode="auto">
          <a:xfrm>
            <a:off x="2289761" y="1480369"/>
            <a:ext cx="293391" cy="737443"/>
          </a:xfrm>
          <a:prstGeom prst="leftBrace">
            <a:avLst>
              <a:gd name="adj1" fmla="val 47546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/>
          <a:lstStyle/>
          <a:p>
            <a:pPr>
              <a:defRPr/>
            </a:pPr>
            <a:endParaRPr lang="en-US" sz="9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396201" y="1464829"/>
            <a:ext cx="6619143" cy="10977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 algn="ctr">
            <a:noFill/>
            <a:miter lim="800000"/>
          </a:ln>
          <a:effectLst/>
        </p:spPr>
        <p:txBody>
          <a:bodyPr lIns="77943" tIns="38972" rIns="77943" bIns="38972" anchor="ctr"/>
          <a:lstStyle/>
          <a:p>
            <a:pPr>
              <a:defRPr/>
            </a:pPr>
            <a:endParaRPr lang="zh-HK" altLang="en-US" sz="1200">
              <a:latin typeface="+mn-ea"/>
            </a:endParaRPr>
          </a:p>
        </p:txBody>
      </p:sp>
      <p:cxnSp>
        <p:nvCxnSpPr>
          <p:cNvPr id="67" name="Straight Connector 66"/>
          <p:cNvCxnSpPr>
            <a:endCxn id="30" idx="0"/>
          </p:cNvCxnSpPr>
          <p:nvPr/>
        </p:nvCxnSpPr>
        <p:spPr bwMode="auto">
          <a:xfrm flipH="1">
            <a:off x="4050871" y="974359"/>
            <a:ext cx="1526" cy="4704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3130609" y="1444824"/>
            <a:ext cx="1840523" cy="324000"/>
          </a:xfrm>
          <a:prstGeom prst="roundRect">
            <a:avLst>
              <a:gd name="adj" fmla="val 10435"/>
            </a:avLst>
          </a:prstGeom>
          <a:solidFill>
            <a:srgbClr val="0070C0"/>
          </a:solidFill>
          <a:ln w="9525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100" b="1" dirty="0">
                <a:solidFill>
                  <a:srgbClr val="FFFFFF"/>
                </a:solidFill>
                <a:latin typeface="+mn-ea"/>
              </a:rPr>
              <a:t>Project Director/</a:t>
            </a:r>
            <a:endParaRPr lang="en-US" altLang="zh-CN" sz="1100" b="1" dirty="0">
              <a:solidFill>
                <a:srgbClr val="FFFFFF"/>
              </a:solidFill>
              <a:latin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zh-CN" altLang="en-US" sz="1100" b="1" dirty="0">
                <a:solidFill>
                  <a:srgbClr val="FFFFFF"/>
                </a:solidFill>
                <a:latin typeface="+mn-ea"/>
              </a:rPr>
              <a:t>项目核心组</a:t>
            </a:r>
            <a:endParaRPr lang="en-US" altLang="zh-CN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510501" y="2067285"/>
            <a:ext cx="1651489" cy="464344"/>
          </a:xfrm>
          <a:prstGeom prst="roundRect">
            <a:avLst>
              <a:gd name="adj" fmla="val 10435"/>
            </a:avLst>
          </a:prstGeom>
          <a:solidFill>
            <a:srgbClr val="F7B021"/>
          </a:solidFill>
          <a:ln w="9525" algn="ctr">
            <a:noFill/>
            <a:round/>
          </a:ln>
        </p:spPr>
        <p:txBody>
          <a:bodyPr lIns="7794" tIns="38972" rIns="7794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客户和商务工作组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AR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）</a:t>
            </a:r>
            <a:endParaRPr lang="zh-CN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2871237" y="2067285"/>
            <a:ext cx="1654419" cy="464344"/>
          </a:xfrm>
          <a:prstGeom prst="roundRect">
            <a:avLst>
              <a:gd name="adj" fmla="val 10435"/>
            </a:avLst>
          </a:prstGeom>
          <a:solidFill>
            <a:srgbClr val="F7B021"/>
          </a:solidFill>
          <a:ln w="9525" algn="ctr">
            <a:noFill/>
            <a:round/>
          </a:ln>
        </p:spPr>
        <p:txBody>
          <a:bodyPr lIns="7794" tIns="38972" rIns="7794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解决方案工作组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SR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）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5261273" y="2067285"/>
            <a:ext cx="1654420" cy="464344"/>
          </a:xfrm>
          <a:prstGeom prst="roundRect">
            <a:avLst>
              <a:gd name="adj" fmla="val 8356"/>
            </a:avLst>
          </a:prstGeom>
          <a:solidFill>
            <a:srgbClr val="F7B021"/>
          </a:solidFill>
          <a:ln w="9525" algn="ctr">
            <a:noFill/>
            <a:round/>
          </a:ln>
        </p:spPr>
        <p:txBody>
          <a:bodyPr lIns="7794" tIns="38972" rIns="7794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交付与履行工作组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FR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）</a:t>
            </a:r>
            <a:endParaRPr lang="zh-CN" altLang="en-US" sz="12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4" name="AutoShape 9"/>
          <p:cNvCxnSpPr>
            <a:cxnSpLocks noChangeShapeType="1"/>
            <a:stCxn id="30" idx="2"/>
            <a:endCxn id="31" idx="0"/>
          </p:cNvCxnSpPr>
          <p:nvPr/>
        </p:nvCxnSpPr>
        <p:spPr bwMode="auto">
          <a:xfrm rot="5400000">
            <a:off x="2544329" y="560742"/>
            <a:ext cx="298461" cy="2714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35" name="AutoShape 11"/>
          <p:cNvCxnSpPr>
            <a:cxnSpLocks noChangeShapeType="1"/>
            <a:stCxn id="30" idx="2"/>
            <a:endCxn id="33" idx="0"/>
          </p:cNvCxnSpPr>
          <p:nvPr/>
        </p:nvCxnSpPr>
        <p:spPr bwMode="auto">
          <a:xfrm rot="16200000" flipH="1">
            <a:off x="4920447" y="899248"/>
            <a:ext cx="298461" cy="20376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</a:ln>
        </p:spPr>
      </p:cxnSp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528591" y="2029178"/>
            <a:ext cx="2743200" cy="23241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7943" tIns="38972" rIns="77943" bIns="38972" anchor="ctr"/>
          <a:lstStyle/>
          <a:p>
            <a:endParaRPr lang="zh-CN" altLang="en-US" sz="1200">
              <a:latin typeface="+mn-ea"/>
            </a:endParaRPr>
          </a:p>
        </p:txBody>
      </p:sp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468002" y="2013701"/>
            <a:ext cx="2280138" cy="2114550"/>
          </a:xfrm>
          <a:prstGeom prst="roundRect">
            <a:avLst>
              <a:gd name="adj" fmla="val 5997"/>
            </a:avLst>
          </a:prstGeom>
          <a:noFill/>
          <a:ln w="9525" algn="ctr">
            <a:solidFill>
              <a:schemeClr val="tx1"/>
            </a:solidFill>
            <a:prstDash val="lgDash"/>
            <a:miter lim="800000"/>
          </a:ln>
        </p:spPr>
        <p:txBody>
          <a:bodyPr wrap="none" lIns="77943" tIns="38972" rIns="77943" bIns="38972" anchor="ctr"/>
          <a:lstStyle/>
          <a:p>
            <a:endParaRPr lang="zh-CN" altLang="en-US" sz="1200">
              <a:latin typeface="+mn-ea"/>
            </a:endParaRPr>
          </a:p>
        </p:txBody>
      </p:sp>
      <p:sp>
        <p:nvSpPr>
          <p:cNvPr id="38" name="Rectangle 31"/>
          <p:cNvSpPr>
            <a:spLocks noChangeArrowheads="1"/>
          </p:cNvSpPr>
          <p:nvPr/>
        </p:nvSpPr>
        <p:spPr bwMode="auto">
          <a:xfrm>
            <a:off x="2824340" y="2004176"/>
            <a:ext cx="2280138" cy="2124075"/>
          </a:xfrm>
          <a:prstGeom prst="roundRect">
            <a:avLst>
              <a:gd name="adj" fmla="val 6044"/>
            </a:avLst>
          </a:prstGeom>
          <a:noFill/>
          <a:ln w="9525" algn="ctr">
            <a:solidFill>
              <a:schemeClr val="tx1"/>
            </a:solidFill>
            <a:prstDash val="lgDash"/>
            <a:miter lim="800000"/>
          </a:ln>
        </p:spPr>
        <p:txBody>
          <a:bodyPr wrap="none" lIns="77943" tIns="38972" rIns="77943" bIns="38972" anchor="ctr"/>
          <a:lstStyle/>
          <a:p>
            <a:endParaRPr lang="zh-CN" altLang="en-US" sz="1200">
              <a:latin typeface="+mn-ea"/>
            </a:endParaRP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1482781" y="2747126"/>
            <a:ext cx="1113692" cy="351234"/>
          </a:xfrm>
          <a:prstGeom prst="roundRect">
            <a:avLst>
              <a:gd name="adj" fmla="val 10435"/>
            </a:avLst>
          </a:prstGeom>
          <a:solidFill>
            <a:srgbClr val="FACB6E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客户工作组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1474721" y="3230519"/>
            <a:ext cx="1129812" cy="351234"/>
          </a:xfrm>
          <a:prstGeom prst="roundRect">
            <a:avLst>
              <a:gd name="adj" fmla="val 8356"/>
            </a:avLst>
          </a:prstGeom>
          <a:solidFill>
            <a:srgbClr val="FACB6E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融资工作组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1482781" y="3703204"/>
            <a:ext cx="1113692" cy="351235"/>
          </a:xfrm>
          <a:prstGeom prst="roundRect">
            <a:avLst>
              <a:gd name="adj" fmla="val 10435"/>
            </a:avLst>
          </a:prstGeom>
          <a:solidFill>
            <a:srgbClr val="FACB6E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商务工作组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3801023" y="2747126"/>
            <a:ext cx="1167911" cy="351234"/>
          </a:xfrm>
          <a:prstGeom prst="roundRect">
            <a:avLst>
              <a:gd name="adj" fmla="val 8356"/>
            </a:avLst>
          </a:prstGeom>
          <a:solidFill>
            <a:srgbClr val="FACB6E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产品解决方案</a:t>
            </a:r>
            <a:endParaRPr lang="en-US" altLang="zh-CN" sz="1200" dirty="0">
              <a:latin typeface="+mn-ea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工作组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3" name="Rectangle 17"/>
          <p:cNvSpPr>
            <a:spLocks noChangeArrowheads="1"/>
          </p:cNvSpPr>
          <p:nvPr/>
        </p:nvSpPr>
        <p:spPr bwMode="auto">
          <a:xfrm>
            <a:off x="3800290" y="3179329"/>
            <a:ext cx="1169377" cy="351235"/>
          </a:xfrm>
          <a:prstGeom prst="roundRect">
            <a:avLst>
              <a:gd name="adj" fmla="val 8356"/>
            </a:avLst>
          </a:prstGeom>
          <a:solidFill>
            <a:srgbClr val="FACB6E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专业服务解决</a:t>
            </a:r>
            <a:endParaRPr lang="en-US" altLang="zh-CN" sz="1200" dirty="0">
              <a:latin typeface="+mn-ea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方案工作组</a:t>
            </a:r>
            <a:endParaRPr lang="zh-CN" altLang="en-US" sz="1200" dirty="0">
              <a:latin typeface="+mn-ea"/>
            </a:endParaRPr>
          </a:p>
        </p:txBody>
      </p:sp>
      <p:cxnSp>
        <p:nvCxnSpPr>
          <p:cNvPr id="44" name="Shape 43"/>
          <p:cNvCxnSpPr>
            <a:stCxn id="32" idx="2"/>
            <a:endCxn id="42" idx="1"/>
          </p:cNvCxnSpPr>
          <p:nvPr/>
        </p:nvCxnSpPr>
        <p:spPr bwMode="auto">
          <a:xfrm rot="16200000" flipH="1">
            <a:off x="3554178" y="2675898"/>
            <a:ext cx="391114" cy="1025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hape 44"/>
          <p:cNvCxnSpPr>
            <a:stCxn id="32" idx="2"/>
            <a:endCxn id="43" idx="1"/>
          </p:cNvCxnSpPr>
          <p:nvPr/>
        </p:nvCxnSpPr>
        <p:spPr bwMode="auto">
          <a:xfrm rot="16200000" flipH="1">
            <a:off x="3337709" y="2892366"/>
            <a:ext cx="823318" cy="10184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hape 45"/>
          <p:cNvCxnSpPr>
            <a:stCxn id="31" idx="2"/>
            <a:endCxn id="39" idx="1"/>
          </p:cNvCxnSpPr>
          <p:nvPr/>
        </p:nvCxnSpPr>
        <p:spPr bwMode="auto">
          <a:xfrm rot="16200000" flipH="1">
            <a:off x="1213956" y="2653918"/>
            <a:ext cx="391114" cy="1465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Shape 46"/>
          <p:cNvCxnSpPr>
            <a:stCxn id="31" idx="2"/>
            <a:endCxn id="41" idx="1"/>
          </p:cNvCxnSpPr>
          <p:nvPr/>
        </p:nvCxnSpPr>
        <p:spPr bwMode="auto">
          <a:xfrm rot="16200000" flipH="1">
            <a:off x="735917" y="3131957"/>
            <a:ext cx="1347193" cy="1465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Rectangle 5"/>
          <p:cNvSpPr>
            <a:spLocks noChangeArrowheads="1"/>
          </p:cNvSpPr>
          <p:nvPr/>
        </p:nvSpPr>
        <p:spPr bwMode="auto">
          <a:xfrm>
            <a:off x="3130609" y="1075778"/>
            <a:ext cx="1840523" cy="324000"/>
          </a:xfrm>
          <a:prstGeom prst="roundRect">
            <a:avLst>
              <a:gd name="adj" fmla="val 10435"/>
            </a:avLst>
          </a:prstGeom>
          <a:solidFill>
            <a:srgbClr val="0070C0"/>
          </a:solidFill>
          <a:ln w="9525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200" b="1">
                <a:solidFill>
                  <a:srgbClr val="FFFFFF"/>
                </a:solidFill>
                <a:latin typeface="+mn-ea"/>
              </a:rPr>
              <a:t>Owner</a:t>
            </a:r>
            <a:endParaRPr lang="en-US" altLang="zh-CN" sz="12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3130609" y="713256"/>
            <a:ext cx="1840523" cy="324000"/>
          </a:xfrm>
          <a:prstGeom prst="roundRect">
            <a:avLst>
              <a:gd name="adj" fmla="val 10435"/>
            </a:avLst>
          </a:prstGeom>
          <a:solidFill>
            <a:srgbClr val="0070C0"/>
          </a:solidFill>
          <a:ln w="9525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200" b="1" dirty="0">
                <a:solidFill>
                  <a:srgbClr val="FFFFFF"/>
                </a:solidFill>
                <a:latin typeface="+mn-ea"/>
              </a:rPr>
              <a:t>Sponsor</a:t>
            </a:r>
            <a:endParaRPr lang="en-US" altLang="zh-CN" sz="12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7150161" y="2067278"/>
            <a:ext cx="1654419" cy="466725"/>
          </a:xfrm>
          <a:prstGeom prst="roundRect">
            <a:avLst>
              <a:gd name="adj" fmla="val 8356"/>
            </a:avLst>
          </a:prstGeom>
          <a:solidFill>
            <a:srgbClr val="F7B021"/>
          </a:solidFill>
          <a:ln w="9525" algn="ctr">
            <a:noFill/>
            <a:round/>
          </a:ln>
        </p:spPr>
        <p:txBody>
          <a:bodyPr lIns="7794" tIns="38972" rIns="7794" bIns="38972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项目支撑工作组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4" name="AutoShape 11"/>
          <p:cNvCxnSpPr>
            <a:cxnSpLocks noChangeShapeType="1"/>
            <a:stCxn id="30" idx="2"/>
            <a:endCxn id="53" idx="0"/>
          </p:cNvCxnSpPr>
          <p:nvPr/>
        </p:nvCxnSpPr>
        <p:spPr bwMode="auto">
          <a:xfrm rot="16200000" flipH="1">
            <a:off x="5864894" y="-45199"/>
            <a:ext cx="298454" cy="3926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55" name="AutoShape 11"/>
          <p:cNvCxnSpPr>
            <a:cxnSpLocks noChangeShapeType="1"/>
            <a:stCxn id="30" idx="2"/>
            <a:endCxn id="32" idx="0"/>
          </p:cNvCxnSpPr>
          <p:nvPr/>
        </p:nvCxnSpPr>
        <p:spPr bwMode="auto">
          <a:xfrm rot="5400000">
            <a:off x="3725429" y="1741842"/>
            <a:ext cx="298461" cy="35242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</a:ln>
        </p:spPr>
      </p:cxnSp>
      <p:sp>
        <p:nvSpPr>
          <p:cNvPr id="56" name="TextBox 55"/>
          <p:cNvSpPr txBox="1"/>
          <p:nvPr/>
        </p:nvSpPr>
        <p:spPr>
          <a:xfrm>
            <a:off x="396198" y="1536259"/>
            <a:ext cx="1234626" cy="294149"/>
          </a:xfrm>
          <a:prstGeom prst="rect">
            <a:avLst/>
          </a:prstGeom>
          <a:noFill/>
        </p:spPr>
        <p:txBody>
          <a:bodyPr wrap="none" lIns="77943" tIns="38972" rIns="77943" bIns="38972">
            <a:spAutoFit/>
          </a:bodyPr>
          <a:lstStyle/>
          <a:p>
            <a:pPr>
              <a:defRPr/>
            </a:pPr>
            <a:r>
              <a:rPr lang="zh-CN" altLang="en-US" sz="1400" b="1" dirty="0">
                <a:latin typeface="+mn-ea"/>
              </a:rPr>
              <a:t>以</a:t>
            </a:r>
            <a:r>
              <a:rPr lang="en-US" altLang="zh-CN" sz="1400" b="1" dirty="0">
                <a:latin typeface="+mn-ea"/>
              </a:rPr>
              <a:t>CC3</a:t>
            </a:r>
            <a:r>
              <a:rPr lang="zh-CN" altLang="en-US" sz="1400" b="1" dirty="0">
                <a:latin typeface="+mn-ea"/>
              </a:rPr>
              <a:t>为核心</a:t>
            </a:r>
            <a:endParaRPr lang="en-US" sz="1400" b="1" dirty="0">
              <a:latin typeface="+mn-ea"/>
            </a:endParaRPr>
          </a:p>
        </p:txBody>
      </p:sp>
      <p:cxnSp>
        <p:nvCxnSpPr>
          <p:cNvPr id="57" name="Shape 56"/>
          <p:cNvCxnSpPr>
            <a:stCxn id="31" idx="2"/>
            <a:endCxn id="40" idx="1"/>
          </p:cNvCxnSpPr>
          <p:nvPr/>
        </p:nvCxnSpPr>
        <p:spPr bwMode="auto">
          <a:xfrm rot="16200000" flipH="1">
            <a:off x="968230" y="2899644"/>
            <a:ext cx="874507" cy="1384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Text Box 37"/>
          <p:cNvSpPr txBox="1">
            <a:spLocks noChangeArrowheads="1"/>
          </p:cNvSpPr>
          <p:nvPr/>
        </p:nvSpPr>
        <p:spPr bwMode="auto">
          <a:xfrm>
            <a:off x="172601" y="4272135"/>
            <a:ext cx="4530030" cy="65567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</a:ln>
        </p:spPr>
        <p:txBody>
          <a:bodyPr lIns="144000" tIns="38972" rIns="0" bIns="38972" anchor="ctr"/>
          <a:lstStyle/>
          <a:p>
            <a:pPr>
              <a:defRPr/>
            </a:pPr>
            <a:r>
              <a:rPr lang="zh-CN" altLang="en-US" sz="1050" dirty="0">
                <a:latin typeface="+mn-ea"/>
              </a:rPr>
              <a:t>注：</a:t>
            </a:r>
            <a:endParaRPr lang="en-US" altLang="zh-CN" sz="1050" dirty="0">
              <a:latin typeface="+mn-ea"/>
            </a:endParaRPr>
          </a:p>
          <a:p>
            <a:pPr marL="194945" indent="-194945">
              <a:buFontTx/>
              <a:buAutoNum type="arabicPeriod"/>
              <a:defRPr/>
            </a:pPr>
            <a:r>
              <a:rPr lang="en-US" altLang="zh-CN" sz="1050" dirty="0">
                <a:latin typeface="+mn-ea"/>
              </a:rPr>
              <a:t>CC3</a:t>
            </a:r>
            <a:r>
              <a:rPr lang="zh-CN" altLang="en-US" sz="1050" dirty="0">
                <a:latin typeface="+mn-ea"/>
              </a:rPr>
              <a:t>是各工作组的组长（见图中标注），同时也是项目核心组成员</a:t>
            </a:r>
            <a:endParaRPr lang="en-US" altLang="zh-CN" sz="1050" dirty="0">
              <a:latin typeface="+mn-ea"/>
            </a:endParaRPr>
          </a:p>
          <a:p>
            <a:pPr marL="194945" indent="-194945">
              <a:buFontTx/>
              <a:buAutoNum type="arabicPeriod"/>
              <a:defRPr/>
            </a:pPr>
            <a:r>
              <a:rPr lang="zh-CN" altLang="en-US" sz="1050" dirty="0">
                <a:latin typeface="+mn-ea"/>
              </a:rPr>
              <a:t>各工作组的具体组成成员可参见</a:t>
            </a:r>
            <a:r>
              <a:rPr lang="en-US" altLang="zh-CN" sz="1050" dirty="0">
                <a:latin typeface="+mn-ea"/>
              </a:rPr>
              <a:t>《</a:t>
            </a:r>
            <a:r>
              <a:rPr lang="zh-CN" altLang="en-US" sz="1050" dirty="0">
                <a:latin typeface="+mn-ea"/>
              </a:rPr>
              <a:t>销售项目组任命</a:t>
            </a:r>
            <a:r>
              <a:rPr lang="en-US" altLang="zh-CN" sz="1050" dirty="0">
                <a:latin typeface="+mn-ea"/>
              </a:rPr>
              <a:t>》</a:t>
            </a:r>
            <a:r>
              <a:rPr lang="zh-CN" altLang="en-US" sz="1050" dirty="0">
                <a:latin typeface="+mn-ea"/>
              </a:rPr>
              <a:t>发文</a:t>
            </a:r>
            <a:endParaRPr lang="en-US" altLang="zh-CN" sz="1050" dirty="0">
              <a:latin typeface="+mn-ea"/>
            </a:endParaRPr>
          </a:p>
        </p:txBody>
      </p:sp>
      <p:sp>
        <p:nvSpPr>
          <p:cNvPr id="68" name="Rectangle 13"/>
          <p:cNvSpPr>
            <a:spLocks noChangeArrowheads="1"/>
          </p:cNvSpPr>
          <p:nvPr/>
        </p:nvSpPr>
        <p:spPr bwMode="auto">
          <a:xfrm>
            <a:off x="6419912" y="2625756"/>
            <a:ext cx="1113692" cy="351234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交付项目经理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6411852" y="3057804"/>
            <a:ext cx="1129812" cy="351234"/>
          </a:xfrm>
          <a:prstGeom prst="roundRect">
            <a:avLst>
              <a:gd name="adj" fmla="val 8356"/>
            </a:avLst>
          </a:prstGeom>
          <a:solidFill>
            <a:srgbClr val="FBD893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供应责任人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2" name="Rectangle 15"/>
          <p:cNvSpPr>
            <a:spLocks noChangeArrowheads="1"/>
          </p:cNvSpPr>
          <p:nvPr/>
        </p:nvSpPr>
        <p:spPr bwMode="auto">
          <a:xfrm>
            <a:off x="6419912" y="3732684"/>
            <a:ext cx="1113692" cy="351235"/>
          </a:xfrm>
          <a:prstGeom prst="roundRect">
            <a:avLst>
              <a:gd name="adj" fmla="val 10435"/>
            </a:avLst>
          </a:prstGeom>
          <a:solidFill>
            <a:srgbClr val="FBD893"/>
          </a:solidFill>
          <a:ln w="9525" algn="ctr">
            <a:noFill/>
            <a:round/>
          </a:ln>
        </p:spPr>
        <p:txBody>
          <a:bodyPr lIns="0" tIns="38972" rIns="0" bIns="38972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zh-CN" altLang="en-US" sz="1200" dirty="0">
                <a:latin typeface="+mn-ea"/>
              </a:rPr>
              <a:t>采购责任人</a:t>
            </a:r>
            <a:endParaRPr lang="zh-CN" altLang="en-US" sz="1200" dirty="0">
              <a:latin typeface="+mn-ea"/>
            </a:endParaRPr>
          </a:p>
        </p:txBody>
      </p:sp>
      <p:cxnSp>
        <p:nvCxnSpPr>
          <p:cNvPr id="74" name="形状 73"/>
          <p:cNvCxnSpPr>
            <a:stCxn id="33" idx="2"/>
            <a:endCxn id="68" idx="1"/>
          </p:cNvCxnSpPr>
          <p:nvPr/>
        </p:nvCxnSpPr>
        <p:spPr bwMode="auto">
          <a:xfrm rot="16200000" flipH="1">
            <a:off x="6119325" y="2500786"/>
            <a:ext cx="269744" cy="33142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形状 75"/>
          <p:cNvCxnSpPr>
            <a:stCxn id="33" idx="2"/>
            <a:endCxn id="71" idx="1"/>
          </p:cNvCxnSpPr>
          <p:nvPr/>
        </p:nvCxnSpPr>
        <p:spPr bwMode="auto">
          <a:xfrm rot="16200000" flipH="1">
            <a:off x="5899271" y="2720840"/>
            <a:ext cx="701792" cy="32336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形状 77"/>
          <p:cNvCxnSpPr>
            <a:stCxn id="33" idx="2"/>
            <a:endCxn id="72" idx="1"/>
          </p:cNvCxnSpPr>
          <p:nvPr/>
        </p:nvCxnSpPr>
        <p:spPr bwMode="auto">
          <a:xfrm rot="16200000" flipH="1">
            <a:off x="5565861" y="3054250"/>
            <a:ext cx="1376673" cy="33142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826624" y="3435847"/>
            <a:ext cx="419018" cy="288699"/>
          </a:xfrm>
          <a:prstGeom prst="rect">
            <a:avLst/>
          </a:prstGeom>
          <a:noFill/>
        </p:spPr>
        <p:txBody>
          <a:bodyPr vert="eaVert" wrap="none" lIns="77943" tIns="38972" rIns="77943" bIns="38972" rtlCol="0">
            <a:spAutoFit/>
          </a:bodyPr>
          <a:lstStyle/>
          <a:p>
            <a:r>
              <a:rPr lang="en-US" altLang="zh-CN" sz="1700" b="1" dirty="0">
                <a:latin typeface="+mn-ea"/>
              </a:rPr>
              <a:t>…</a:t>
            </a:r>
            <a:endParaRPr lang="en-US" altLang="zh-CN" sz="1700" b="1" dirty="0">
              <a:latin typeface="+mn-ea"/>
            </a:endParaRPr>
          </a:p>
        </p:txBody>
      </p:sp>
      <p:sp>
        <p:nvSpPr>
          <p:cNvPr id="51" name="Title 1"/>
          <p:cNvSpPr txBox="1"/>
          <p:nvPr/>
        </p:nvSpPr>
        <p:spPr bwMode="gray">
          <a:xfrm>
            <a:off x="168010" y="159493"/>
            <a:ext cx="753940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组织、</a:t>
            </a:r>
            <a:r>
              <a:rPr lang="zh-CN" altLang="zh-HK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R&amp;R</a:t>
            </a: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及能力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以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CC3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为核心的项目制</a:t>
            </a:r>
            <a:endParaRPr lang="en-US" alt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矩形 100"/>
          <p:cNvSpPr/>
          <p:nvPr/>
        </p:nvSpPr>
        <p:spPr>
          <a:xfrm>
            <a:off x="396198" y="869585"/>
            <a:ext cx="1503993" cy="354731"/>
          </a:xfrm>
          <a:prstGeom prst="rect">
            <a:avLst/>
          </a:prstGeom>
        </p:spPr>
        <p:txBody>
          <a:bodyPr wrap="square" lIns="77943" tIns="38972" rIns="77943" bIns="38972">
            <a:noAutofit/>
          </a:bodyPr>
          <a:lstStyle/>
          <a:p>
            <a:r>
              <a:rPr lang="en-US" altLang="zh-CN" sz="1400" b="1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400" b="1" dirty="0">
                <a:latin typeface="+mn-ea"/>
                <a:cs typeface="Arial" panose="020B0604020202020204" pitchFamily="34" charset="0"/>
              </a:rPr>
              <a:t>项目团队</a:t>
            </a:r>
            <a:endParaRPr lang="zh-CN" altLang="en-US" sz="14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69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6\20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70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3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5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7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68568" y="1190246"/>
            <a:ext cx="2700265" cy="3765260"/>
            <a:chOff x="268568" y="1190246"/>
            <a:chExt cx="2700265" cy="3765260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07913" y="1190246"/>
              <a:ext cx="2621574" cy="558403"/>
            </a:xfrm>
            <a:prstGeom prst="roundRect">
              <a:avLst/>
            </a:prstGeom>
            <a:solidFill>
              <a:srgbClr val="0070C0"/>
            </a:solidFill>
            <a:ln w="9525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en-US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07913" y="1765623"/>
              <a:ext cx="2621574" cy="3103260"/>
            </a:xfrm>
            <a:prstGeom prst="roundRect">
              <a:avLst>
                <a:gd name="adj" fmla="val 6701"/>
              </a:avLst>
            </a:prstGeom>
            <a:solidFill>
              <a:schemeClr val="bg1">
                <a:lumMod val="95000"/>
              </a:schemeClr>
            </a:solidFill>
            <a:ln w="12700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zh-CN" altLang="en-US" sz="1400">
                <a:latin typeface="+mn-ea"/>
              </a:endParaRPr>
            </a:p>
          </p:txBody>
        </p:sp>
        <p:sp>
          <p:nvSpPr>
            <p:cNvPr id="56330" name="Text Box 6"/>
            <p:cNvSpPr txBox="1">
              <a:spLocks noChangeArrowheads="1"/>
            </p:cNvSpPr>
            <p:nvPr/>
          </p:nvSpPr>
          <p:spPr bwMode="auto">
            <a:xfrm>
              <a:off x="1086765" y="1208588"/>
              <a:ext cx="1063870" cy="328004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77943" tIns="38972" rIns="77943" bIns="38972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b="1" dirty="0">
                  <a:solidFill>
                    <a:srgbClr val="F7B021"/>
                  </a:solidFill>
                  <a:latin typeface="+mn-ea"/>
                </a:rPr>
                <a:t>AR</a:t>
              </a:r>
              <a:endParaRPr lang="en-US" altLang="zh-CN" b="1" dirty="0">
                <a:solidFill>
                  <a:srgbClr val="F7B021"/>
                </a:solidFill>
                <a:latin typeface="+mn-ea"/>
              </a:endParaRPr>
            </a:p>
          </p:txBody>
        </p:sp>
        <p:sp>
          <p:nvSpPr>
            <p:cNvPr id="56331" name="Text Box 7"/>
            <p:cNvSpPr txBox="1">
              <a:spLocks noChangeArrowheads="1"/>
            </p:cNvSpPr>
            <p:nvPr/>
          </p:nvSpPr>
          <p:spPr bwMode="auto">
            <a:xfrm>
              <a:off x="268568" y="1484236"/>
              <a:ext cx="2700265" cy="294805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15343" tIns="15343" rIns="15343" bIns="15343"/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负责总体客户关系和盈利性销售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8380" name="Text Box 8"/>
            <p:cNvSpPr txBox="1">
              <a:spLocks noChangeArrowheads="1"/>
            </p:cNvSpPr>
            <p:nvPr/>
          </p:nvSpPr>
          <p:spPr bwMode="auto">
            <a:xfrm>
              <a:off x="421134" y="1917529"/>
              <a:ext cx="2395133" cy="303797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 lIns="38972" tIns="38972" rIns="38972" bIns="38972">
              <a:spAutoFit/>
            </a:bodyPr>
            <a:lstStyle/>
            <a:p>
              <a:pPr marL="75565" indent="-75565">
                <a:lnSpc>
                  <a:spcPct val="90000"/>
                </a:lnSpc>
                <a:spcBef>
                  <a:spcPct val="40000"/>
                </a:spcBef>
                <a:buClr>
                  <a:srgbClr val="990000"/>
                </a:buClr>
                <a:defRPr/>
              </a:pPr>
              <a:r>
                <a:rPr lang="zh-CN" altLang="en-US" sz="1300" b="1" dirty="0">
                  <a:latin typeface="+mn-ea"/>
                </a:rPr>
                <a:t>客户关系</a:t>
              </a:r>
              <a:endParaRPr lang="zh-CN" altLang="en-US" sz="1300" b="1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负责建立并维护客户关系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管理客户在各种机会点活动中的期望</a:t>
              </a:r>
              <a:endParaRPr lang="zh-CN" altLang="en-US" sz="1200" dirty="0">
                <a:latin typeface="+mn-ea"/>
              </a:endParaRPr>
            </a:p>
            <a:p>
              <a:pPr marL="75565" indent="-75565">
                <a:lnSpc>
                  <a:spcPct val="90000"/>
                </a:lnSpc>
                <a:spcBef>
                  <a:spcPct val="40000"/>
                </a:spcBef>
                <a:buClr>
                  <a:srgbClr val="990000"/>
                </a:buClr>
                <a:defRPr/>
              </a:pPr>
              <a:r>
                <a:rPr lang="zh-CN" altLang="en-US" sz="1300" b="1" dirty="0">
                  <a:latin typeface="+mn-ea"/>
                </a:rPr>
                <a:t>盈利性销售</a:t>
              </a:r>
              <a:endParaRPr lang="zh-CN" altLang="en-US" sz="1300" b="1" dirty="0">
                <a:latin typeface="+mn-ea"/>
              </a:endParaRPr>
            </a:p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defRPr/>
              </a:pPr>
              <a:r>
                <a:rPr lang="zh-CN" altLang="en-US" sz="1300" dirty="0">
                  <a:latin typeface="+mn-ea"/>
                </a:rPr>
                <a:t>驱动盈利性销售，确保合同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成功 </a:t>
              </a:r>
              <a:endParaRPr lang="zh-CN" altLang="en-US" sz="1300" dirty="0">
                <a:latin typeface="+mn-ea"/>
              </a:endParaRPr>
            </a:p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defRPr/>
              </a:pPr>
              <a:r>
                <a:rPr lang="zh-CN" altLang="en-US" sz="1300" dirty="0">
                  <a:latin typeface="+mn-ea"/>
                </a:rPr>
                <a:t>负责财务概算和预测、定价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策略、融资策略、条款及相关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风险识别</a:t>
              </a:r>
              <a:endParaRPr lang="zh-CN" altLang="en-US" sz="13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制定合同谈判策略，并主导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合同谈判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确保交易和</a:t>
              </a:r>
              <a:r>
                <a:rPr lang="en-US" altLang="zh-CN" sz="1200" dirty="0">
                  <a:latin typeface="+mn-ea"/>
                </a:rPr>
                <a:t>PO</a:t>
              </a:r>
              <a:r>
                <a:rPr lang="zh-CN" altLang="en-US" sz="1200" dirty="0">
                  <a:latin typeface="+mn-ea"/>
                </a:rPr>
                <a:t>签署、回款以及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尾款回款</a:t>
              </a:r>
              <a:endParaRPr lang="zh-CN" altLang="en-US" sz="1200" dirty="0"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207708" y="1190246"/>
            <a:ext cx="2621574" cy="3678637"/>
            <a:chOff x="3188677" y="1190246"/>
            <a:chExt cx="2621574" cy="3678637"/>
          </a:xfrm>
        </p:grpSpPr>
        <p:sp>
          <p:nvSpPr>
            <p:cNvPr id="38" name="Rectangle 10"/>
            <p:cNvSpPr>
              <a:spLocks noChangeArrowheads="1"/>
            </p:cNvSpPr>
            <p:nvPr/>
          </p:nvSpPr>
          <p:spPr bwMode="auto">
            <a:xfrm>
              <a:off x="3188677" y="1190246"/>
              <a:ext cx="2621574" cy="558403"/>
            </a:xfrm>
            <a:prstGeom prst="roundRect">
              <a:avLst/>
            </a:prstGeom>
            <a:solidFill>
              <a:srgbClr val="0070C0"/>
            </a:solidFill>
            <a:ln w="9525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en-US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3188677" y="1765623"/>
              <a:ext cx="2621574" cy="3103260"/>
            </a:xfrm>
            <a:prstGeom prst="roundRect">
              <a:avLst>
                <a:gd name="adj" fmla="val 5342"/>
              </a:avLst>
            </a:prstGeom>
            <a:solidFill>
              <a:schemeClr val="bg1">
                <a:lumMod val="95000"/>
              </a:schemeClr>
            </a:solidFill>
            <a:ln w="12700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en-US">
                <a:latin typeface="+mn-ea"/>
              </a:endParaRPr>
            </a:p>
          </p:txBody>
        </p:sp>
        <p:sp>
          <p:nvSpPr>
            <p:cNvPr id="56335" name="Text Box 12"/>
            <p:cNvSpPr txBox="1">
              <a:spLocks noChangeArrowheads="1"/>
            </p:cNvSpPr>
            <p:nvPr/>
          </p:nvSpPr>
          <p:spPr bwMode="auto">
            <a:xfrm>
              <a:off x="3967529" y="1208588"/>
              <a:ext cx="1063870" cy="328004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77943" tIns="38972" rIns="77943" bIns="38972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b="1" dirty="0">
                  <a:solidFill>
                    <a:srgbClr val="F7B021"/>
                  </a:solidFill>
                  <a:latin typeface="+mn-ea"/>
                </a:rPr>
                <a:t>SR</a:t>
              </a:r>
              <a:endParaRPr lang="en-US" altLang="zh-CN" b="1" dirty="0">
                <a:solidFill>
                  <a:srgbClr val="F7B021"/>
                </a:solidFill>
                <a:latin typeface="+mn-ea"/>
              </a:endParaRPr>
            </a:p>
          </p:txBody>
        </p:sp>
        <p:sp>
          <p:nvSpPr>
            <p:cNvPr id="56336" name="Text Box 13"/>
            <p:cNvSpPr txBox="1">
              <a:spLocks noChangeArrowheads="1"/>
            </p:cNvSpPr>
            <p:nvPr/>
          </p:nvSpPr>
          <p:spPr bwMode="auto">
            <a:xfrm>
              <a:off x="3255353" y="1484235"/>
              <a:ext cx="2488223" cy="246429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15343" tIns="15343" rIns="15343" bIns="15343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chemeClr val="bg1"/>
                  </a:solidFill>
                  <a:latin typeface="+mn-ea"/>
                </a:rPr>
                <a:t>负责技术和服务解决方案</a:t>
              </a:r>
              <a:endParaRPr lang="zh-CN" altLang="en-US" sz="1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8385" name="Text Box 14"/>
            <p:cNvSpPr txBox="1">
              <a:spLocks noChangeArrowheads="1"/>
            </p:cNvSpPr>
            <p:nvPr/>
          </p:nvSpPr>
          <p:spPr bwMode="auto">
            <a:xfrm>
              <a:off x="3300451" y="1917529"/>
              <a:ext cx="2398026" cy="273812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 lIns="38972" tIns="38972" rIns="38972" bIns="38972">
              <a:spAutoFit/>
            </a:bodyPr>
            <a:lstStyle/>
            <a:p>
              <a:pPr marL="75565" indent="-75565">
                <a:lnSpc>
                  <a:spcPct val="90000"/>
                </a:lnSpc>
                <a:spcBef>
                  <a:spcPct val="40000"/>
                </a:spcBef>
                <a:buClr>
                  <a:srgbClr val="990000"/>
                </a:buClr>
                <a:defRPr/>
              </a:pPr>
              <a:r>
                <a:rPr lang="zh-CN" altLang="en-US" sz="1300" b="1" dirty="0">
                  <a:latin typeface="+mn-ea"/>
                </a:rPr>
                <a:t>客户技术和服务解决方案</a:t>
              </a:r>
              <a:endParaRPr lang="zh-CN" altLang="en-US" sz="1300" b="1" dirty="0">
                <a:latin typeface="+mn-ea"/>
              </a:endParaRPr>
            </a:p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defRPr/>
              </a:pPr>
              <a:r>
                <a:rPr lang="zh-CN" altLang="en-US" sz="1300" dirty="0">
                  <a:latin typeface="+mn-ea"/>
                </a:rPr>
                <a:t>负责解决方案策略、规划解决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方案、保证解决方案质量、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标书总体质量以及提升竞争力</a:t>
              </a:r>
              <a:endParaRPr lang="zh-CN" altLang="en-US" sz="13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制定满足客户需求的恰当方案，引导客户接受我方方案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确保解决方案与化为产品</a:t>
              </a:r>
              <a:r>
                <a:rPr lang="en-US" altLang="zh-CN" sz="1200" dirty="0">
                  <a:latin typeface="+mn-ea"/>
                </a:rPr>
                <a:t>/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服务组合和战略保持协同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准备报价清单，识别解决方案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风险以及风险规避措施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负责与客户共同解决有关技术与服务方案的问题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支持客户关系的维护</a:t>
              </a:r>
              <a:endParaRPr lang="zh-CN" altLang="en-US" sz="1200" dirty="0">
                <a:latin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68158" y="1190246"/>
            <a:ext cx="2653738" cy="3678637"/>
            <a:chOff x="6068158" y="1190246"/>
            <a:chExt cx="2653738" cy="3678637"/>
          </a:xfrm>
        </p:grpSpPr>
        <p:sp>
          <p:nvSpPr>
            <p:cNvPr id="43" name="Rectangle 16"/>
            <p:cNvSpPr>
              <a:spLocks noChangeArrowheads="1"/>
            </p:cNvSpPr>
            <p:nvPr/>
          </p:nvSpPr>
          <p:spPr bwMode="auto">
            <a:xfrm>
              <a:off x="6068158" y="1190246"/>
              <a:ext cx="2620107" cy="558403"/>
            </a:xfrm>
            <a:prstGeom prst="roundRect">
              <a:avLst/>
            </a:prstGeom>
            <a:solidFill>
              <a:srgbClr val="0070C0"/>
            </a:solidFill>
            <a:ln w="9525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en-US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4" name="Rectangle 17"/>
            <p:cNvSpPr>
              <a:spLocks noChangeArrowheads="1"/>
            </p:cNvSpPr>
            <p:nvPr/>
          </p:nvSpPr>
          <p:spPr bwMode="auto">
            <a:xfrm>
              <a:off x="6068158" y="1765623"/>
              <a:ext cx="2620107" cy="3103260"/>
            </a:xfrm>
            <a:prstGeom prst="roundRect">
              <a:avLst>
                <a:gd name="adj" fmla="val 5789"/>
              </a:avLst>
            </a:prstGeom>
            <a:solidFill>
              <a:schemeClr val="bg1">
                <a:lumMod val="95000"/>
              </a:schemeClr>
            </a:solidFill>
            <a:ln w="12700" algn="ctr">
              <a:noFill/>
              <a:miter lim="800000"/>
            </a:ln>
            <a:effectLst/>
          </p:spPr>
          <p:txBody>
            <a:bodyPr lIns="77943" tIns="38972" rIns="77943" bIns="38972" anchor="ctr"/>
            <a:lstStyle/>
            <a:p>
              <a:pPr>
                <a:defRPr/>
              </a:pPr>
              <a:endParaRPr lang="en-US">
                <a:latin typeface="+mn-ea"/>
              </a:endParaRPr>
            </a:p>
          </p:txBody>
        </p:sp>
        <p:sp>
          <p:nvSpPr>
            <p:cNvPr id="56340" name="Text Box 18"/>
            <p:cNvSpPr txBox="1">
              <a:spLocks noChangeArrowheads="1"/>
            </p:cNvSpPr>
            <p:nvPr/>
          </p:nvSpPr>
          <p:spPr bwMode="auto">
            <a:xfrm>
              <a:off x="6846276" y="1208588"/>
              <a:ext cx="1063870" cy="328004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77943" tIns="38972" rIns="77943" bIns="38972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b="1" dirty="0">
                  <a:solidFill>
                    <a:srgbClr val="F7B021"/>
                  </a:solidFill>
                  <a:latin typeface="+mn-ea"/>
                </a:rPr>
                <a:t>FR</a:t>
              </a:r>
              <a:endParaRPr lang="en-US" altLang="zh-CN" b="1" dirty="0">
                <a:solidFill>
                  <a:srgbClr val="F7B021"/>
                </a:solidFill>
                <a:latin typeface="+mn-ea"/>
              </a:endParaRPr>
            </a:p>
          </p:txBody>
        </p:sp>
        <p:sp>
          <p:nvSpPr>
            <p:cNvPr id="58389" name="Text Box 19"/>
            <p:cNvSpPr txBox="1">
              <a:spLocks noChangeArrowheads="1"/>
            </p:cNvSpPr>
            <p:nvPr/>
          </p:nvSpPr>
          <p:spPr bwMode="auto">
            <a:xfrm>
              <a:off x="6203275" y="1917529"/>
              <a:ext cx="2518621" cy="279944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38972" tIns="38972" rIns="38972" bIns="38972"/>
            <a:lstStyle/>
            <a:p>
              <a:pPr marL="75565" indent="-75565">
                <a:lnSpc>
                  <a:spcPct val="90000"/>
                </a:lnSpc>
                <a:spcBef>
                  <a:spcPct val="40000"/>
                </a:spcBef>
                <a:buClr>
                  <a:srgbClr val="990000"/>
                </a:buClr>
                <a:defRPr/>
              </a:pPr>
              <a:r>
                <a:rPr lang="zh-CN" altLang="en-US" sz="1300" b="1" dirty="0">
                  <a:latin typeface="+mn-ea"/>
                </a:rPr>
                <a:t>履行和交付</a:t>
              </a:r>
              <a:endParaRPr lang="zh-CN" altLang="en-US" sz="1300" b="1" dirty="0">
                <a:latin typeface="+mn-ea"/>
              </a:endParaRPr>
            </a:p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defRPr/>
              </a:pPr>
              <a:r>
                <a:rPr lang="zh-CN" altLang="en-US" sz="1300" dirty="0">
                  <a:latin typeface="+mn-ea"/>
                </a:rPr>
                <a:t>总体负责合同履行、项目管理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和服务交付</a:t>
              </a:r>
              <a:endParaRPr lang="en-US" altLang="zh-CN" sz="1300" dirty="0">
                <a:latin typeface="+mn-ea"/>
              </a:endParaRPr>
            </a:p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defRPr/>
              </a:pPr>
              <a:r>
                <a:rPr lang="zh-CN" altLang="en-US" sz="1300" dirty="0">
                  <a:latin typeface="+mn-ea"/>
                </a:rPr>
                <a:t>领导</a:t>
              </a:r>
              <a:r>
                <a:rPr lang="en-US" altLang="zh-CN" sz="1300" dirty="0">
                  <a:latin typeface="+mn-ea"/>
                </a:rPr>
                <a:t>DPM</a:t>
              </a:r>
              <a:r>
                <a:rPr lang="zh-CN" altLang="en-US" sz="1300" dirty="0">
                  <a:latin typeface="+mn-ea"/>
                </a:rPr>
                <a:t>协同履行团队在售前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阶段进行早期介入，保证</a:t>
              </a:r>
              <a:br>
                <a:rPr lang="en-US" altLang="zh-CN" sz="1300" dirty="0">
                  <a:latin typeface="+mn-ea"/>
                </a:rPr>
              </a:br>
              <a:r>
                <a:rPr lang="zh-CN" altLang="en-US" sz="1300" dirty="0">
                  <a:latin typeface="+mn-ea"/>
                </a:rPr>
                <a:t>合同质量及可交付性</a:t>
              </a:r>
              <a:endParaRPr lang="zh-CN" altLang="en-US" sz="13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负责合同执行策略以及相关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风险的识别和规避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保障合同成功履行（包括开票），确保化为和客户双方都完全履行了合同义务</a:t>
              </a:r>
              <a:endParaRPr lang="zh-CN" altLang="en-US" sz="1200" dirty="0">
                <a:latin typeface="+mn-ea"/>
              </a:endParaRPr>
            </a:p>
            <a:p>
              <a:pPr marL="179705" indent="-179705">
                <a:lnSpc>
                  <a:spcPct val="90000"/>
                </a:lnSpc>
                <a:spcBef>
                  <a:spcPct val="40000"/>
                </a:spcBef>
                <a:buClr>
                  <a:srgbClr val="0070C0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200" dirty="0">
                  <a:latin typeface="+mn-ea"/>
                </a:rPr>
                <a:t>负责与客户之间的履行中的</a:t>
              </a:r>
              <a:br>
                <a:rPr lang="en-US" altLang="zh-CN" sz="1200" dirty="0">
                  <a:latin typeface="+mn-ea"/>
                </a:rPr>
              </a:br>
              <a:r>
                <a:rPr lang="zh-CN" altLang="en-US" sz="1200" dirty="0">
                  <a:latin typeface="+mn-ea"/>
                </a:rPr>
                <a:t>争议解决</a:t>
              </a:r>
              <a:endParaRPr lang="zh-CN" altLang="en-US" sz="1200" dirty="0">
                <a:latin typeface="+mn-ea"/>
              </a:endParaRP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6068158" y="1484235"/>
              <a:ext cx="2620107" cy="246429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lIns="15343" tIns="15343" rIns="15343" bIns="15343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chemeClr val="bg1"/>
                  </a:solidFill>
                  <a:latin typeface="+mn-ea"/>
                </a:rPr>
                <a:t>负责合同履行的客户满意度</a:t>
              </a:r>
              <a:endParaRPr lang="zh-CN" altLang="en-US" sz="140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itle 1"/>
          <p:cNvSpPr txBox="1"/>
          <p:nvPr/>
        </p:nvSpPr>
        <p:spPr bwMode="gray">
          <a:xfrm>
            <a:off x="154893" y="159493"/>
            <a:ext cx="3477714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组织、</a:t>
            </a:r>
            <a:r>
              <a:rPr lang="zh-CN" altLang="zh-HK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R&amp;R</a:t>
            </a: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及能力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以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CC3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为核心的项目制</a:t>
            </a:r>
            <a:endParaRPr lang="en-US" alt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矩形 100"/>
          <p:cNvSpPr/>
          <p:nvPr/>
        </p:nvSpPr>
        <p:spPr>
          <a:xfrm>
            <a:off x="306766" y="866172"/>
            <a:ext cx="1712039" cy="354731"/>
          </a:xfrm>
          <a:prstGeom prst="rect">
            <a:avLst/>
          </a:prstGeom>
          <a:effectLst/>
        </p:spPr>
        <p:txBody>
          <a:bodyPr wrap="square" lIns="77943" tIns="38972" rIns="77943" bIns="38972">
            <a:noAutofit/>
          </a:bodyPr>
          <a:lstStyle/>
          <a:p>
            <a:r>
              <a:rPr lang="en-US" altLang="zh-CN" sz="1600" b="1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600" b="1" dirty="0">
                <a:latin typeface="+mn-ea"/>
                <a:cs typeface="Arial" panose="020B0604020202020204" pitchFamily="34" charset="0"/>
              </a:rPr>
              <a:t>具体职责</a:t>
            </a:r>
            <a:endParaRPr lang="zh-CN" altLang="en-US" sz="16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1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7\20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45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6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7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8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66" name="Group 54"/>
          <p:cNvGraphicFramePr>
            <a:graphicFrameLocks noGrp="1"/>
          </p:cNvGraphicFramePr>
          <p:nvPr/>
        </p:nvGraphicFramePr>
        <p:xfrm>
          <a:off x="254244" y="1111906"/>
          <a:ext cx="8635513" cy="3543300"/>
        </p:xfrm>
        <a:graphic>
          <a:graphicData uri="http://schemas.openxmlformats.org/drawingml/2006/table">
            <a:tbl>
              <a:tblPr/>
              <a:tblGrid>
                <a:gridCol w="2813212"/>
                <a:gridCol w="3403207"/>
                <a:gridCol w="2419094"/>
              </a:tblGrid>
              <a:tr h="7543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Sponsor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即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as-is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中的“顾问”。利用自身的经验，对项目的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总体方向、节奏把握、关键资源的协调和配置等提供策略指导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解决方案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服务交付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商法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财经投标责任人</a:t>
                      </a: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Solution/Delivery/Commercial/</a:t>
                      </a:r>
                      <a:b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Financing Bid Responsible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组织所属模块的投标专业评审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投标责任人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Bid Responsible 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项目投标管理的责任人，对项目投标质量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标书质量、项目流程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遵从性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负责。组织投标综合评审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决策组织人 </a:t>
                      </a:r>
                      <a:b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Decision-Making Organizer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 algn="l"/>
                      <a:r>
                        <a:rPr kumimoji="0" lang="zh-CN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审核决策申请材料</a:t>
                      </a:r>
                      <a:r>
                        <a:rPr kumimoji="0" lang="zh-CN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的规范性、完整性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组织投标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合同签约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合同变更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合同关闭决策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商务责任人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Commercial Responsible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对合同的商务条款负责，确保合同签审一致性</a:t>
                      </a:r>
                      <a:endParaRPr kumimoji="0" lang="en-US" altLang="zh-CN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6306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Owner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对项目成败负责。参与项目的日常运作，参与项目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分析会，进行重要策略决策、重大问题解决、高层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拜访、资源调配、一线跑动支持等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 horzOverflow="overflow">
                    <a:lnL w="38100" cap="flat" cmpd="sng" algn="ctr">
                      <a:solidFill>
                        <a:srgbClr val="58A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8A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8A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8A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2FF"/>
                    </a:solidFill>
                  </a:tcPr>
                </a:tc>
              </a:tr>
              <a:tr h="191318">
                <a:tc vMerge="1"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专业评审人 </a:t>
                      </a:r>
                      <a:b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Functional Reviewer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为总体方案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投标书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合同（包括变更）提供专业评审意见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综合评审人 </a:t>
                      </a:r>
                      <a:b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Comprehensive Reviewer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综合评审总体方案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投标书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合同（包括变更），为决策提供建议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合同经理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Contract Manager</a:t>
                      </a:r>
                      <a:endParaRPr kumimoji="0" lang="en-US" altLang="zh-CN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检查合同关闭条件，</a:t>
                      </a:r>
                      <a:r>
                        <a:rPr kumimoji="0" lang="zh-CN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组织进行合同预关闭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endParaRPr kumimoji="0" lang="en-US" altLang="zh-CN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关闭度量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2590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项目组组长</a:t>
                      </a:r>
                      <a:b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Project Director (PD)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负责项目的日常运作管理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对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《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ATx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报告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的质量、合同质量（商务、回款、解决方案竞争力等）和项目信息安全负责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685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交付项目经理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Delivery Project Manager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支持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FR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开展项目的具体交付工作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领导履行团队在售前进行早期介入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销售项目管理员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Coordinator of Sales Project Management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组织立项决策；审核机会点定级；审核及发布销售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项目组任命；组织完成及发布项目授权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评审组织人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Review Organizer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审核申请资料的规范性、完整性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kumimoji="0" lang="zh-CN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组织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投标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</a:t>
                      </a:r>
                      <a:r>
                        <a:rPr kumimoji="0" lang="en-US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合同</a:t>
                      </a:r>
                      <a:r>
                        <a:rPr kumimoji="0" lang="zh-CN" altLang="zh-CN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变更</a:t>
                      </a:r>
                      <a:r>
                        <a:rPr kumimoji="0" lang="zh-CN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评审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概算编制人</a:t>
                      </a:r>
                      <a:r>
                        <a:rPr kumimoji="0" lang="en-US" altLang="zh-CN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Estimator</a:t>
                      </a:r>
                      <a:endParaRPr kumimoji="0" lang="en-US" altLang="zh-CN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项目财务控制人</a:t>
                      </a: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PFC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拉通项目四算，支撑明明白白决策，推动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端到端项目经营管理</a:t>
                      </a:r>
                      <a:endParaRPr kumimoji="0" lang="zh-CN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500073" y="4663175"/>
            <a:ext cx="2325837" cy="217205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r>
              <a:rPr lang="zh-CN" altLang="en-US" sz="900" b="1" dirty="0">
                <a:latin typeface="+mn-ea"/>
              </a:rPr>
              <a:t>备注：蓝色底色部分表示支撑性功能角色</a:t>
            </a:r>
            <a:endParaRPr lang="zh-CN" altLang="en-US" sz="900" b="1" dirty="0">
              <a:latin typeface="+mn-ea"/>
            </a:endParaRPr>
          </a:p>
        </p:txBody>
      </p:sp>
      <p:sp>
        <p:nvSpPr>
          <p:cNvPr id="8" name="Title 1"/>
          <p:cNvSpPr txBox="1"/>
          <p:nvPr/>
        </p:nvSpPr>
        <p:spPr bwMode="gray">
          <a:xfrm>
            <a:off x="143018" y="16992"/>
            <a:ext cx="6078410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Organization</a:t>
            </a:r>
            <a:r>
              <a:rPr lang="zh-CN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、</a:t>
            </a:r>
            <a:r>
              <a:rPr lang="zh-CN" altLang="zh-HK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R&amp;R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 and Competency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CC3-based project operation</a:t>
            </a:r>
            <a:endParaRPr lang="en-US" alt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矩形 100"/>
          <p:cNvSpPr/>
          <p:nvPr/>
        </p:nvSpPr>
        <p:spPr>
          <a:xfrm>
            <a:off x="306766" y="841877"/>
            <a:ext cx="6060470" cy="354731"/>
          </a:xfrm>
          <a:prstGeom prst="rect">
            <a:avLst/>
          </a:prstGeom>
        </p:spPr>
        <p:txBody>
          <a:bodyPr wrap="square" lIns="77943" tIns="38972" rIns="77943" bIns="38972">
            <a:noAutofit/>
          </a:bodyPr>
          <a:lstStyle/>
          <a:p>
            <a:r>
              <a:rPr lang="en-US" altLang="zh-CN" sz="1400" b="1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400" b="1" dirty="0">
                <a:latin typeface="+mn-ea"/>
                <a:cs typeface="Arial" panose="020B0604020202020204" pitchFamily="34" charset="0"/>
              </a:rPr>
              <a:t>关键交互角色及其主要职责</a:t>
            </a:r>
            <a:endParaRPr lang="zh-CN" altLang="en-US" sz="1400" b="1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2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8\20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24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5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6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7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109"/>
          <p:cNvSpPr/>
          <p:nvPr/>
        </p:nvSpPr>
        <p:spPr bwMode="auto">
          <a:xfrm>
            <a:off x="547315" y="1560832"/>
            <a:ext cx="1933627" cy="1908442"/>
          </a:xfrm>
          <a:prstGeom prst="roundRect">
            <a:avLst>
              <a:gd name="adj" fmla="val 840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defTabSz="779145"/>
            <a:endParaRPr lang="zh-CN" altLang="en-US" sz="9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0483" y="140370"/>
            <a:ext cx="3173709" cy="653653"/>
          </a:xfrm>
        </p:spPr>
        <p:txBody>
          <a:bodyPr/>
          <a:lstStyle/>
          <a:p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组织、</a:t>
            </a:r>
            <a:r>
              <a:rPr lang="zh-CN" altLang="zh-HK" sz="2400" kern="1200" dirty="0">
                <a:solidFill>
                  <a:srgbClr val="0070C0"/>
                </a:solidFill>
                <a:latin typeface="+mn-ea"/>
                <a:ea typeface="+mn-ea"/>
              </a:rPr>
              <a:t>R&amp;R</a:t>
            </a:r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及能力</a:t>
            </a:r>
            <a:b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</a:b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以</a:t>
            </a:r>
            <a:r>
              <a:rPr lang="en-US" altLang="zh-CN" sz="1400" b="0" kern="1200" dirty="0">
                <a:solidFill>
                  <a:srgbClr val="0070C0"/>
                </a:solidFill>
                <a:latin typeface="+mn-ea"/>
                <a:ea typeface="+mn-ea"/>
              </a:rPr>
              <a:t>CC3</a:t>
            </a: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为核心的项目制</a:t>
            </a:r>
            <a:endParaRPr lang="en-US" sz="1400" b="0" kern="12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68" name="矩形 100"/>
          <p:cNvSpPr/>
          <p:nvPr/>
        </p:nvSpPr>
        <p:spPr>
          <a:xfrm>
            <a:off x="250134" y="1074779"/>
            <a:ext cx="2925570" cy="354731"/>
          </a:xfrm>
          <a:prstGeom prst="rect">
            <a:avLst/>
          </a:prstGeom>
        </p:spPr>
        <p:txBody>
          <a:bodyPr wrap="square" lIns="77943" tIns="38972" rIns="77943" bIns="38972">
            <a:noAutofit/>
          </a:bodyPr>
          <a:lstStyle/>
          <a:p>
            <a:r>
              <a:rPr lang="en-US" altLang="zh-CN" sz="1400" b="1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400" b="1" dirty="0">
                <a:latin typeface="+mn-ea"/>
                <a:cs typeface="Arial" panose="020B0604020202020204" pitchFamily="34" charset="0"/>
              </a:rPr>
              <a:t>为核心的项目制运作模型</a:t>
            </a:r>
            <a:endParaRPr lang="zh-CN" altLang="en-US" sz="14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58842" y="4172684"/>
            <a:ext cx="3040496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dirty="0">
                <a:latin typeface="+mn-ea"/>
                <a:cs typeface="Arial" panose="020B0604020202020204" pitchFamily="34" charset="0"/>
              </a:rPr>
              <a:t>拉通售前</a:t>
            </a:r>
            <a:r>
              <a:rPr lang="en-US" altLang="zh-CN" sz="1200" dirty="0">
                <a:latin typeface="+mn-ea"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latin typeface="+mn-ea"/>
                <a:cs typeface="Arial" panose="020B0604020202020204" pitchFamily="34" charset="0"/>
              </a:rPr>
              <a:t>售后核心角色，明确端到端职责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58842" y="4434084"/>
            <a:ext cx="2505350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dirty="0">
                <a:latin typeface="+mn-ea"/>
                <a:cs typeface="Arial" panose="020B0604020202020204" pitchFamily="34" charset="0"/>
              </a:rPr>
              <a:t>建立交付资源调度机制</a:t>
            </a:r>
            <a:endParaRPr lang="en-US" altLang="zh-CN" sz="12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72" name="TextBox 135"/>
          <p:cNvSpPr txBox="1">
            <a:spLocks noChangeArrowheads="1"/>
          </p:cNvSpPr>
          <p:nvPr/>
        </p:nvSpPr>
        <p:spPr bwMode="auto">
          <a:xfrm>
            <a:off x="681842" y="1696711"/>
            <a:ext cx="1664576" cy="347151"/>
          </a:xfrm>
          <a:prstGeom prst="round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CC3 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为核心的项目组</a:t>
            </a:r>
            <a:endParaRPr lang="zh-CN" altLang="en-US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3" name="TextBox 136"/>
          <p:cNvSpPr txBox="1">
            <a:spLocks noChangeArrowheads="1"/>
          </p:cNvSpPr>
          <p:nvPr/>
        </p:nvSpPr>
        <p:spPr bwMode="auto">
          <a:xfrm>
            <a:off x="681842" y="2378773"/>
            <a:ext cx="1664576" cy="342606"/>
          </a:xfrm>
          <a:prstGeom prst="round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配套机制</a:t>
            </a:r>
            <a:endParaRPr lang="zh-CN" altLang="en-US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4" name="TextBox 96"/>
          <p:cNvSpPr txBox="1">
            <a:spLocks noChangeArrowheads="1"/>
          </p:cNvSpPr>
          <p:nvPr/>
        </p:nvSpPr>
        <p:spPr bwMode="auto">
          <a:xfrm>
            <a:off x="681842" y="3056290"/>
            <a:ext cx="1664576" cy="361505"/>
          </a:xfrm>
          <a:prstGeom prst="round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基础支撑</a:t>
            </a:r>
            <a:endParaRPr lang="zh-CN" altLang="en-US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5" name="矩形 107"/>
          <p:cNvSpPr/>
          <p:nvPr/>
        </p:nvSpPr>
        <p:spPr>
          <a:xfrm>
            <a:off x="1209645" y="1957402"/>
            <a:ext cx="60897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700" dirty="0">
                <a:latin typeface="+mn-ea"/>
                <a:cs typeface="Arial" panose="020B0604020202020204" pitchFamily="34" charset="0"/>
              </a:rPr>
              <a:t>+</a:t>
            </a:r>
            <a:endParaRPr lang="zh-CN" altLang="en-US" sz="27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76" name="矩形 108"/>
          <p:cNvSpPr/>
          <p:nvPr/>
        </p:nvSpPr>
        <p:spPr>
          <a:xfrm>
            <a:off x="1209645" y="2634919"/>
            <a:ext cx="60897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700" dirty="0">
                <a:latin typeface="+mn-ea"/>
                <a:cs typeface="Arial" panose="020B0604020202020204" pitchFamily="34" charset="0"/>
              </a:rPr>
              <a:t>+</a:t>
            </a:r>
            <a:endParaRPr lang="zh-CN" altLang="en-US" sz="27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7" name="等腰三角形 58"/>
          <p:cNvSpPr/>
          <p:nvPr/>
        </p:nvSpPr>
        <p:spPr bwMode="auto">
          <a:xfrm>
            <a:off x="3351037" y="411529"/>
            <a:ext cx="5090457" cy="2178603"/>
          </a:xfrm>
          <a:prstGeom prst="triangl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t" anchorCtr="0" compatLnSpc="1">
            <a:noAutofit/>
          </a:bodyPr>
          <a:lstStyle/>
          <a:p>
            <a:pPr defTabSz="779145"/>
            <a:endParaRPr lang="zh-CN" altLang="en-US" sz="10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2" name="矩形 158"/>
          <p:cNvSpPr>
            <a:spLocks noChangeArrowheads="1"/>
          </p:cNvSpPr>
          <p:nvPr/>
        </p:nvSpPr>
        <p:spPr bwMode="auto">
          <a:xfrm>
            <a:off x="5540279" y="667310"/>
            <a:ext cx="887562" cy="3864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43" tIns="38972" rIns="77943" bIns="38972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为核心</a:t>
            </a:r>
            <a:endParaRPr lang="en-US" altLang="zh-CN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的项目组</a:t>
            </a:r>
            <a:endParaRPr lang="en-US" altLang="zh-CN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3" name="组合 219"/>
          <p:cNvGrpSpPr/>
          <p:nvPr/>
        </p:nvGrpSpPr>
        <p:grpSpPr bwMode="auto">
          <a:xfrm>
            <a:off x="3806262" y="2592035"/>
            <a:ext cx="4026861" cy="905720"/>
            <a:chOff x="542059" y="2580464"/>
            <a:chExt cx="2833556" cy="825750"/>
          </a:xfrm>
          <a:solidFill>
            <a:srgbClr val="336699"/>
          </a:solidFill>
        </p:grpSpPr>
        <p:sp>
          <p:nvSpPr>
            <p:cNvPr id="64" name="Rectangle 11"/>
            <p:cNvSpPr>
              <a:spLocks noChangeAspect="1" noChangeArrowheads="1"/>
            </p:cNvSpPr>
            <p:nvPr/>
          </p:nvSpPr>
          <p:spPr bwMode="auto">
            <a:xfrm>
              <a:off x="1364200" y="2580464"/>
              <a:ext cx="301913" cy="825750"/>
            </a:xfrm>
            <a:prstGeom prst="rect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vert="eaVert" lIns="0" rIns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考核与激励</a:t>
              </a:r>
              <a:endParaRPr lang="en-US" altLang="zh-CN" sz="105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5" name="Rectangle 12"/>
            <p:cNvSpPr>
              <a:spLocks noChangeAspect="1" noChangeArrowheads="1"/>
            </p:cNvSpPr>
            <p:nvPr/>
          </p:nvSpPr>
          <p:spPr bwMode="auto">
            <a:xfrm>
              <a:off x="2288364" y="2580464"/>
              <a:ext cx="305105" cy="825750"/>
            </a:xfrm>
            <a:prstGeom prst="rect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vert="eaVert" lIns="0" rIns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决策与授权</a:t>
              </a:r>
              <a:endParaRPr lang="zh-CN" altLang="en-US" sz="105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6" name="Rectangle 13"/>
            <p:cNvSpPr>
              <a:spLocks noChangeAspect="1" noChangeArrowheads="1"/>
            </p:cNvSpPr>
            <p:nvPr/>
          </p:nvSpPr>
          <p:spPr bwMode="auto">
            <a:xfrm>
              <a:off x="542059" y="2580464"/>
              <a:ext cx="304762" cy="825750"/>
            </a:xfrm>
            <a:prstGeom prst="rect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vert="eaVert" lIns="0" rIns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资源调度</a:t>
              </a:r>
              <a:endParaRPr lang="zh-CN" altLang="en-US" sz="105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7" name="Rectangle 14"/>
            <p:cNvSpPr>
              <a:spLocks noChangeAspect="1" noChangeArrowheads="1"/>
            </p:cNvSpPr>
            <p:nvPr/>
          </p:nvSpPr>
          <p:spPr bwMode="auto">
            <a:xfrm>
              <a:off x="3070853" y="2580464"/>
              <a:ext cx="304762" cy="825750"/>
            </a:xfrm>
            <a:prstGeom prst="rect">
              <a:avLst/>
            </a:prstGeom>
            <a:solidFill>
              <a:srgbClr val="F7B021"/>
            </a:solidFill>
            <a:ln w="9525" algn="ctr">
              <a:noFill/>
              <a:miter lim="800000"/>
            </a:ln>
          </p:spPr>
          <p:txBody>
            <a:bodyPr vert="eaVert" lIns="0" rIns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能力管理</a:t>
              </a:r>
              <a:endParaRPr lang="zh-CN" altLang="zh-CN" sz="105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Oval 4"/>
          <p:cNvSpPr>
            <a:spLocks noChangeArrowheads="1"/>
          </p:cNvSpPr>
          <p:nvPr/>
        </p:nvSpPr>
        <p:spPr bwMode="auto">
          <a:xfrm>
            <a:off x="4771471" y="1044509"/>
            <a:ext cx="2207026" cy="1487351"/>
          </a:xfrm>
          <a:prstGeom prst="ellipse">
            <a:avLst/>
          </a:prstGeom>
          <a:solidFill>
            <a:srgbClr val="F7B021"/>
          </a:solidFill>
          <a:ln w="9525" algn="ctr">
            <a:noFill/>
            <a:round/>
          </a:ln>
        </p:spPr>
        <p:txBody>
          <a:bodyPr lIns="0" tIns="0" rIns="0" bIns="0" anchor="ctr"/>
          <a:lstStyle/>
          <a:p>
            <a:pPr algn="ctr"/>
            <a:endParaRPr lang="zh-CN" altLang="en-US" sz="70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4768377" y="1539574"/>
            <a:ext cx="551537" cy="22032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交付项目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经理</a:t>
            </a:r>
            <a:endParaRPr lang="en-US" altLang="zh-CN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2" name="Text Box 6"/>
          <p:cNvSpPr txBox="1">
            <a:spLocks noChangeArrowheads="1"/>
          </p:cNvSpPr>
          <p:nvPr/>
        </p:nvSpPr>
        <p:spPr bwMode="auto">
          <a:xfrm>
            <a:off x="5204486" y="1157635"/>
            <a:ext cx="533034" cy="2499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项目采购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经理 </a:t>
            </a:r>
            <a:endParaRPr lang="en-US" altLang="zh-CN" sz="700" baseline="30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3" name="Text Box 7"/>
          <p:cNvSpPr txBox="1">
            <a:spLocks noChangeArrowheads="1"/>
          </p:cNvSpPr>
          <p:nvPr/>
        </p:nvSpPr>
        <p:spPr bwMode="auto">
          <a:xfrm>
            <a:off x="4837812" y="1956481"/>
            <a:ext cx="551537" cy="1299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合同经理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4" name="Text Box 8"/>
          <p:cNvSpPr txBox="1">
            <a:spLocks noChangeArrowheads="1"/>
          </p:cNvSpPr>
          <p:nvPr/>
        </p:nvSpPr>
        <p:spPr bwMode="auto">
          <a:xfrm>
            <a:off x="5193830" y="2224617"/>
            <a:ext cx="733579" cy="2045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投标</a:t>
            </a:r>
            <a:endParaRPr lang="en-US" altLang="zh-CN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责任人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6396901" y="1859720"/>
            <a:ext cx="644047" cy="1406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评审组织人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6078524" y="1201199"/>
            <a:ext cx="479290" cy="1299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主谈判人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8" name="AutoShape 12"/>
          <p:cNvSpPr>
            <a:spLocks noChangeArrowheads="1"/>
          </p:cNvSpPr>
          <p:nvPr/>
        </p:nvSpPr>
        <p:spPr bwMode="auto">
          <a:xfrm>
            <a:off x="5243270" y="1363654"/>
            <a:ext cx="1268711" cy="854663"/>
          </a:xfrm>
          <a:custGeom>
            <a:avLst/>
            <a:gdLst>
              <a:gd name="T0" fmla="*/ 495696 w 21600"/>
              <a:gd name="T1" fmla="*/ 0 h 21600"/>
              <a:gd name="T2" fmla="*/ 495696 w 21600"/>
              <a:gd name="T3" fmla="*/ 499071 h 21600"/>
              <a:gd name="T4" fmla="*/ 0 w 21600"/>
              <a:gd name="T5" fmla="*/ 499071 h 21600"/>
              <a:gd name="T6" fmla="*/ 495696 w 21600"/>
              <a:gd name="T7" fmla="*/ 499071 h 21600"/>
              <a:gd name="T8" fmla="*/ 495696 w 21600"/>
              <a:gd name="T9" fmla="*/ 499071 h 21600"/>
              <a:gd name="T10" fmla="*/ 495696 w 21600"/>
              <a:gd name="T11" fmla="*/ 499071 h 21600"/>
              <a:gd name="T12" fmla="*/ 495696 w 21600"/>
              <a:gd name="T13" fmla="*/ 499071 h 21600"/>
              <a:gd name="T14" fmla="*/ 495696 w 21600"/>
              <a:gd name="T15" fmla="*/ 499071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55 h 21600"/>
              <a:gd name="T26" fmla="*/ 18437 w 21600"/>
              <a:gd name="T27" fmla="*/ 1844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54" y="10800"/>
                </a:moveTo>
                <a:cubicBezTo>
                  <a:pt x="1554" y="15906"/>
                  <a:pt x="5694" y="20046"/>
                  <a:pt x="10800" y="20046"/>
                </a:cubicBezTo>
                <a:cubicBezTo>
                  <a:pt x="15906" y="20046"/>
                  <a:pt x="20046" y="15906"/>
                  <a:pt x="20046" y="10800"/>
                </a:cubicBezTo>
                <a:cubicBezTo>
                  <a:pt x="20046" y="5694"/>
                  <a:pt x="15906" y="1554"/>
                  <a:pt x="10800" y="1554"/>
                </a:cubicBezTo>
                <a:cubicBezTo>
                  <a:pt x="5694" y="1554"/>
                  <a:pt x="1554" y="5694"/>
                  <a:pt x="1554" y="10800"/>
                </a:cubicBezTo>
                <a:close/>
              </a:path>
            </a:pathLst>
          </a:custGeom>
          <a:solidFill>
            <a:schemeClr val="bg1"/>
          </a:solidFill>
          <a:ln w="9525" algn="ctr">
            <a:noFill/>
            <a:round/>
          </a:ln>
        </p:spPr>
        <p:txBody>
          <a:bodyPr wrap="none" lIns="0" tIns="0" rIns="0" bIns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199765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  <a:lvl9pPr marL="3656965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sz="70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5327410" y="1420038"/>
            <a:ext cx="1100431" cy="741894"/>
          </a:xfrm>
          <a:prstGeom prst="ellipse">
            <a:avLst/>
          </a:prstGeom>
          <a:solidFill>
            <a:srgbClr val="00B0F0"/>
          </a:solidFill>
          <a:ln w="9525" algn="ctr">
            <a:noFill/>
            <a:round/>
          </a:ln>
        </p:spPr>
        <p:txBody>
          <a:bodyPr lIns="0" tIns="0" rIns="0" bIns="0" anchor="ctr"/>
          <a:lstStyle/>
          <a:p>
            <a:pPr algn="ctr"/>
            <a:endParaRPr lang="zh-CN" altLang="en-US" sz="70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0" name="Text Box 15"/>
          <p:cNvSpPr txBox="1">
            <a:spLocks noChangeArrowheads="1"/>
          </p:cNvSpPr>
          <p:nvPr/>
        </p:nvSpPr>
        <p:spPr bwMode="auto">
          <a:xfrm>
            <a:off x="5886877" y="1575114"/>
            <a:ext cx="563871" cy="19467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AR</a:t>
            </a:r>
            <a:endParaRPr lang="zh-CN" altLang="en-US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1" name="Text Box 16"/>
          <p:cNvSpPr txBox="1">
            <a:spLocks noChangeArrowheads="1"/>
          </p:cNvSpPr>
          <p:nvPr/>
        </p:nvSpPr>
        <p:spPr bwMode="auto">
          <a:xfrm>
            <a:off x="5611991" y="1896799"/>
            <a:ext cx="564752" cy="19526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SR</a:t>
            </a:r>
            <a:endParaRPr lang="en-US" altLang="zh-CN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2" name="Text Box 17"/>
          <p:cNvSpPr txBox="1">
            <a:spLocks noChangeArrowheads="1"/>
          </p:cNvSpPr>
          <p:nvPr/>
        </p:nvSpPr>
        <p:spPr bwMode="auto">
          <a:xfrm>
            <a:off x="5272787" y="1575114"/>
            <a:ext cx="588540" cy="19467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FR</a:t>
            </a:r>
            <a:endParaRPr lang="en-US" altLang="zh-CN" sz="9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3" name="Line 18"/>
          <p:cNvSpPr>
            <a:spLocks noChangeShapeType="1"/>
          </p:cNvSpPr>
          <p:nvPr/>
        </p:nvSpPr>
        <p:spPr bwMode="auto">
          <a:xfrm flipH="1">
            <a:off x="5365297" y="1773941"/>
            <a:ext cx="490744" cy="281920"/>
          </a:xfrm>
          <a:prstGeom prst="line">
            <a:avLst/>
          </a:prstGeom>
          <a:noFill/>
          <a:ln w="9525">
            <a:noFill/>
            <a:prstDash val="lgDash"/>
            <a:round/>
          </a:ln>
        </p:spPr>
        <p:txBody>
          <a:bodyPr lIns="0" tIns="0" rIns="0" bIns="0"/>
          <a:lstStyle/>
          <a:p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55" name="Line 20"/>
          <p:cNvSpPr>
            <a:spLocks noChangeShapeType="1"/>
          </p:cNvSpPr>
          <p:nvPr/>
        </p:nvSpPr>
        <p:spPr bwMode="auto">
          <a:xfrm>
            <a:off x="5837537" y="1778689"/>
            <a:ext cx="546251" cy="244529"/>
          </a:xfrm>
          <a:prstGeom prst="line">
            <a:avLst/>
          </a:prstGeom>
          <a:noFill/>
          <a:ln w="9525">
            <a:noFill/>
            <a:prstDash val="lgDash"/>
            <a:round/>
          </a:ln>
        </p:spPr>
        <p:txBody>
          <a:bodyPr lIns="0" tIns="0" rIns="0" bIns="0"/>
          <a:lstStyle/>
          <a:p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54" name="Line 19"/>
          <p:cNvSpPr>
            <a:spLocks noChangeShapeType="1"/>
          </p:cNvSpPr>
          <p:nvPr/>
        </p:nvSpPr>
        <p:spPr bwMode="auto">
          <a:xfrm flipV="1">
            <a:off x="5856040" y="1360260"/>
            <a:ext cx="3525" cy="381631"/>
          </a:xfrm>
          <a:prstGeom prst="line">
            <a:avLst/>
          </a:prstGeom>
          <a:noFill/>
          <a:ln w="9525">
            <a:solidFill>
              <a:schemeClr val="bg1"/>
            </a:solidFill>
            <a:prstDash val="lgDash"/>
            <a:round/>
          </a:ln>
        </p:spPr>
        <p:txBody>
          <a:bodyPr lIns="0" tIns="0" rIns="0" bIns="0"/>
          <a:lstStyle/>
          <a:p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6239297" y="1371913"/>
            <a:ext cx="545369" cy="13057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商务责任人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6470699" y="1687819"/>
            <a:ext cx="545369" cy="13116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融资责任人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5618181" y="1099707"/>
            <a:ext cx="494068" cy="30293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项目财务 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控制人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9" name="Oval 34"/>
          <p:cNvSpPr>
            <a:spLocks noChangeArrowheads="1"/>
          </p:cNvSpPr>
          <p:nvPr/>
        </p:nvSpPr>
        <p:spPr bwMode="auto">
          <a:xfrm>
            <a:off x="5697451" y="1674656"/>
            <a:ext cx="360349" cy="232659"/>
          </a:xfrm>
          <a:prstGeom prst="ellipse">
            <a:avLst/>
          </a:prstGeom>
          <a:solidFill>
            <a:schemeClr val="bg1"/>
          </a:solidFill>
          <a:ln w="9525" algn="ctr">
            <a:noFill/>
            <a:round/>
          </a:ln>
        </p:spPr>
        <p:txBody>
          <a:bodyPr wrap="none" lIns="0" tIns="0" rIns="0" bIns="0" anchor="ctr"/>
          <a:lstStyle/>
          <a:p>
            <a:pPr algn="ctr"/>
            <a:endParaRPr lang="zh-CN" altLang="en-US" sz="70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0" name="Text Box 35"/>
          <p:cNvSpPr txBox="1">
            <a:spLocks noChangeArrowheads="1"/>
          </p:cNvSpPr>
          <p:nvPr/>
        </p:nvSpPr>
        <p:spPr bwMode="auto">
          <a:xfrm>
            <a:off x="5673940" y="1715881"/>
            <a:ext cx="421746" cy="1388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 anchor="ctr"/>
          <a:lstStyle/>
          <a:p>
            <a:pPr algn="ctr"/>
            <a:r>
              <a:rPr lang="en-US" altLang="zh-CN" sz="1000" dirty="0">
                <a:latin typeface="+mn-ea"/>
                <a:cs typeface="Arial" panose="020B0604020202020204" pitchFamily="34" charset="0"/>
              </a:rPr>
              <a:t>PD</a:t>
            </a: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61" name="Text Box 36"/>
          <p:cNvSpPr txBox="1">
            <a:spLocks noChangeArrowheads="1"/>
          </p:cNvSpPr>
          <p:nvPr/>
        </p:nvSpPr>
        <p:spPr bwMode="auto">
          <a:xfrm>
            <a:off x="6411982" y="1543220"/>
            <a:ext cx="565633" cy="10386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概算编制人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4939924" y="1299199"/>
            <a:ext cx="574444" cy="23681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供应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责任人</a:t>
            </a:r>
            <a:endParaRPr lang="en-US" altLang="zh-CN" sz="700" baseline="30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3" name="Text Box 9"/>
          <p:cNvSpPr txBox="1">
            <a:spLocks noChangeArrowheads="1"/>
          </p:cNvSpPr>
          <p:nvPr/>
        </p:nvSpPr>
        <p:spPr bwMode="auto">
          <a:xfrm>
            <a:off x="6281382" y="2041117"/>
            <a:ext cx="645808" cy="11514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决策组织人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4996045" y="2100178"/>
            <a:ext cx="525460" cy="21860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BSSC</a:t>
            </a:r>
            <a:r>
              <a:rPr lang="zh-CN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项目</a:t>
            </a:r>
            <a:endParaRPr lang="en-US" altLang="zh-CN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责任人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6074515" y="2196994"/>
            <a:ext cx="535411" cy="16612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服务解决方案责任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5542090" y="2255671"/>
            <a:ext cx="646251" cy="25400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产品</a:t>
            </a:r>
            <a:endParaRPr lang="en-US" altLang="zh-CN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责任人</a:t>
            </a:r>
            <a:endParaRPr lang="zh-CN" altLang="en-US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4632270" y="1773472"/>
            <a:ext cx="864264" cy="11693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tIns="0" rIns="0" bIns="0"/>
          <a:lstStyle/>
          <a:p>
            <a:pPr algn="ctr"/>
            <a:r>
              <a:rPr lang="zh-CN" altLang="en-US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实施经理</a:t>
            </a:r>
            <a:endParaRPr lang="en-US" altLang="zh-CN" sz="7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Rectangle 15"/>
          <p:cNvSpPr>
            <a:spLocks noChangeAspect="1" noChangeArrowheads="1"/>
          </p:cNvSpPr>
          <p:nvPr/>
        </p:nvSpPr>
        <p:spPr bwMode="auto">
          <a:xfrm>
            <a:off x="6594265" y="2370923"/>
            <a:ext cx="1847229" cy="2775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7943" tIns="38972" rIns="77943" bIns="38972"/>
          <a:lstStyle/>
          <a:p>
            <a:r>
              <a:rPr lang="zh-CN" altLang="en-US" sz="1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职责、岗位匹配、汇报关系</a:t>
            </a:r>
            <a:endParaRPr lang="zh-CN" altLang="en-US" sz="1000" b="1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98" name="Line 19"/>
          <p:cNvSpPr>
            <a:spLocks noChangeShapeType="1"/>
          </p:cNvSpPr>
          <p:nvPr/>
        </p:nvSpPr>
        <p:spPr bwMode="auto">
          <a:xfrm>
            <a:off x="6027479" y="1865218"/>
            <a:ext cx="306533" cy="215428"/>
          </a:xfrm>
          <a:prstGeom prst="line">
            <a:avLst/>
          </a:prstGeom>
          <a:noFill/>
          <a:ln w="9525">
            <a:solidFill>
              <a:schemeClr val="bg1"/>
            </a:solidFill>
            <a:prstDash val="lgDash"/>
            <a:round/>
          </a:ln>
        </p:spPr>
        <p:txBody>
          <a:bodyPr lIns="0" tIns="0" rIns="0" bIns="0"/>
          <a:lstStyle/>
          <a:p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99" name="Line 19"/>
          <p:cNvSpPr>
            <a:spLocks noChangeShapeType="1"/>
          </p:cNvSpPr>
          <p:nvPr/>
        </p:nvSpPr>
        <p:spPr bwMode="auto">
          <a:xfrm flipH="1">
            <a:off x="5461303" y="1857472"/>
            <a:ext cx="258907" cy="266308"/>
          </a:xfrm>
          <a:prstGeom prst="line">
            <a:avLst/>
          </a:prstGeom>
          <a:noFill/>
          <a:ln w="9525">
            <a:solidFill>
              <a:schemeClr val="bg1"/>
            </a:solidFill>
            <a:prstDash val="lgDash"/>
            <a:round/>
          </a:ln>
        </p:spPr>
        <p:txBody>
          <a:bodyPr lIns="0" tIns="0" rIns="0" bIns="0"/>
          <a:lstStyle/>
          <a:p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169028" y="2728544"/>
            <a:ext cx="811417" cy="632703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销售资源管理规定</a:t>
            </a:r>
            <a:endParaRPr lang="en-US" altLang="zh-CN" sz="900" dirty="0">
              <a:latin typeface="+mn-ea"/>
              <a:cs typeface="Arial" panose="020B0604020202020204" pitchFamily="34" charset="0"/>
            </a:endParaRPr>
          </a:p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交付资源买卖机制</a:t>
            </a:r>
            <a:endParaRPr lang="zh-CN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360918" y="2728544"/>
            <a:ext cx="973094" cy="632703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900" dirty="0">
                <a:latin typeface="+mn-ea"/>
                <a:cs typeface="Arial" panose="020B0604020202020204" pitchFamily="34" charset="0"/>
              </a:rPr>
              <a:t>CC3</a:t>
            </a:r>
            <a:r>
              <a:rPr lang="zh-CN" altLang="en-US" sz="900" dirty="0">
                <a:latin typeface="+mn-ea"/>
                <a:cs typeface="Arial" panose="020B0604020202020204" pitchFamily="34" charset="0"/>
              </a:rPr>
              <a:t>共享</a:t>
            </a:r>
            <a:r>
              <a:rPr lang="en-US" altLang="zh-CN" sz="900" dirty="0">
                <a:latin typeface="+mn-ea"/>
                <a:cs typeface="Arial" panose="020B0604020202020204" pitchFamily="34" charset="0"/>
              </a:rPr>
              <a:t>KPI</a:t>
            </a:r>
            <a:endParaRPr lang="zh-CN" altLang="en-US" sz="900" dirty="0">
              <a:latin typeface="+mn-ea"/>
              <a:cs typeface="Arial" panose="020B0604020202020204" pitchFamily="34" charset="0"/>
            </a:endParaRPr>
          </a:p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项目制考核</a:t>
            </a:r>
            <a:endParaRPr lang="en-US" altLang="zh-CN" sz="900" dirty="0">
              <a:latin typeface="+mn-ea"/>
              <a:cs typeface="Arial" panose="020B0604020202020204" pitchFamily="34" charset="0"/>
            </a:endParaRPr>
          </a:p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项目奖分配方案</a:t>
            </a:r>
            <a:endParaRPr lang="zh-CN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674277" y="2728544"/>
            <a:ext cx="824228" cy="494204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900" dirty="0">
                <a:latin typeface="+mn-ea"/>
                <a:cs typeface="Arial" panose="020B0604020202020204" pitchFamily="34" charset="0"/>
              </a:rPr>
              <a:t>SDT</a:t>
            </a:r>
            <a:r>
              <a:rPr lang="zh-CN" altLang="en-US" sz="900" dirty="0">
                <a:latin typeface="+mn-ea"/>
                <a:cs typeface="Arial" panose="020B0604020202020204" pitchFamily="34" charset="0"/>
              </a:rPr>
              <a:t>运作规则</a:t>
            </a:r>
            <a:endParaRPr lang="en-US" altLang="zh-CN" sz="900" dirty="0">
              <a:latin typeface="+mn-ea"/>
              <a:cs typeface="Arial" panose="020B0604020202020204" pitchFamily="34" charset="0"/>
            </a:endParaRPr>
          </a:p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项目授权</a:t>
            </a:r>
            <a:endParaRPr lang="zh-CN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782581" y="2728544"/>
            <a:ext cx="797883" cy="494204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行业线</a:t>
            </a:r>
            <a:br>
              <a:rPr lang="en-US" altLang="zh-CN" sz="900" dirty="0">
                <a:latin typeface="+mn-ea"/>
                <a:cs typeface="Arial" panose="020B0604020202020204" pitchFamily="34" charset="0"/>
              </a:rPr>
            </a:br>
            <a:r>
              <a:rPr lang="zh-CN" altLang="en-US" sz="900" dirty="0">
                <a:latin typeface="+mn-ea"/>
                <a:cs typeface="Arial" panose="020B0604020202020204" pitchFamily="34" charset="0"/>
              </a:rPr>
              <a:t>能力提升</a:t>
            </a:r>
            <a:endParaRPr lang="en-US" altLang="zh-CN" sz="900" dirty="0">
              <a:latin typeface="+mn-ea"/>
              <a:cs typeface="Arial" panose="020B0604020202020204" pitchFamily="34" charset="0"/>
            </a:endParaRPr>
          </a:p>
          <a:p>
            <a:pPr marL="171450" indent="-17145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latin typeface="+mn-ea"/>
                <a:cs typeface="Arial" panose="020B0604020202020204" pitchFamily="34" charset="0"/>
              </a:rPr>
              <a:t>区域赋能</a:t>
            </a:r>
            <a:endParaRPr lang="zh-CN" altLang="en-US" sz="900" dirty="0"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3385764" y="3402879"/>
            <a:ext cx="5055731" cy="400110"/>
            <a:chOff x="4951411" y="3770050"/>
            <a:chExt cx="4225860" cy="494429"/>
          </a:xfrm>
        </p:grpSpPr>
        <p:sp>
          <p:nvSpPr>
            <p:cNvPr id="34" name="Rectangle 15"/>
            <p:cNvSpPr>
              <a:spLocks noChangeAspect="1" noChangeArrowheads="1"/>
            </p:cNvSpPr>
            <p:nvPr/>
          </p:nvSpPr>
          <p:spPr bwMode="auto">
            <a:xfrm>
              <a:off x="4951411" y="3821999"/>
              <a:ext cx="4225860" cy="395701"/>
            </a:xfrm>
            <a:prstGeom prst="roundRect">
              <a:avLst/>
            </a:prstGeom>
            <a:solidFill>
              <a:srgbClr val="00B0F0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 sz="9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466886" y="3846117"/>
              <a:ext cx="668867" cy="3422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关键流程</a:t>
              </a:r>
              <a:endParaRPr lang="zh-CN" altLang="en-US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6715282" y="3846117"/>
              <a:ext cx="668867" cy="3422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组织保障</a:t>
              </a:r>
              <a:endParaRPr lang="zh-CN" altLang="en-US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963680" y="3846117"/>
              <a:ext cx="792136" cy="3422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IT</a:t>
              </a:r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系统支撑</a:t>
              </a:r>
              <a:endParaRPr lang="zh-CN" altLang="en-US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矩形 108"/>
            <p:cNvSpPr/>
            <p:nvPr/>
          </p:nvSpPr>
          <p:spPr>
            <a:xfrm>
              <a:off x="6232379" y="3770051"/>
              <a:ext cx="386277" cy="4944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+</a:t>
              </a:r>
              <a:endParaRPr lang="zh-CN" altLang="en-US" sz="2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矩形 108"/>
            <p:cNvSpPr/>
            <p:nvPr/>
          </p:nvSpPr>
          <p:spPr>
            <a:xfrm>
              <a:off x="7480775" y="3770050"/>
              <a:ext cx="386277" cy="494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+</a:t>
              </a:r>
              <a:endParaRPr lang="zh-CN" altLang="en-US" sz="2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24" name="Oval 123"/>
          <p:cNvSpPr/>
          <p:nvPr/>
        </p:nvSpPr>
        <p:spPr bwMode="auto">
          <a:xfrm>
            <a:off x="547314" y="447576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5" name="Oval 124"/>
          <p:cNvSpPr/>
          <p:nvPr/>
        </p:nvSpPr>
        <p:spPr bwMode="auto">
          <a:xfrm>
            <a:off x="547314" y="421436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4837961" y="4300793"/>
            <a:ext cx="4246685" cy="232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55575" lvl="1" indent="-155575">
              <a:spcBef>
                <a:spcPts val="765"/>
              </a:spcBef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altLang="zh-CN" sz="100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  <a:sym typeface="华文细黑" panose="02010600040101010101" pitchFamily="2" charset="-122"/>
            </a:endParaRPr>
          </a:p>
        </p:txBody>
      </p:sp>
      <p:sp>
        <p:nvSpPr>
          <p:cNvPr id="129" name="Rectangle 128"/>
          <p:cNvSpPr>
            <a:spLocks noChangeArrowheads="1"/>
          </p:cNvSpPr>
          <p:nvPr/>
        </p:nvSpPr>
        <p:spPr bwMode="auto">
          <a:xfrm>
            <a:off x="4837961" y="4678223"/>
            <a:ext cx="4246685" cy="263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1200" b="1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30" name="Oval 129"/>
          <p:cNvSpPr/>
          <p:nvPr/>
        </p:nvSpPr>
        <p:spPr bwMode="auto">
          <a:xfrm>
            <a:off x="547314" y="4732958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>
            <a:off x="2713462" y="1665615"/>
            <a:ext cx="262773" cy="378248"/>
          </a:xfrm>
          <a:prstGeom prst="rightArrow">
            <a:avLst>
              <a:gd name="adj1" fmla="val 50000"/>
              <a:gd name="adj2" fmla="val 55838"/>
            </a:avLst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pPr defTabSz="779145"/>
            <a:endParaRPr lang="en-US" sz="10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44" name="Right Arrow 143"/>
          <p:cNvSpPr/>
          <p:nvPr/>
        </p:nvSpPr>
        <p:spPr bwMode="auto">
          <a:xfrm>
            <a:off x="2710273" y="2367899"/>
            <a:ext cx="262773" cy="378248"/>
          </a:xfrm>
          <a:prstGeom prst="rightArrow">
            <a:avLst>
              <a:gd name="adj1" fmla="val 50000"/>
              <a:gd name="adj2" fmla="val 55838"/>
            </a:avLst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pPr defTabSz="779145"/>
            <a:endParaRPr lang="en-US" sz="10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45" name="Right Arrow 144"/>
          <p:cNvSpPr/>
          <p:nvPr/>
        </p:nvSpPr>
        <p:spPr bwMode="auto">
          <a:xfrm>
            <a:off x="2710273" y="3069771"/>
            <a:ext cx="262773" cy="378248"/>
          </a:xfrm>
          <a:prstGeom prst="rightArrow">
            <a:avLst>
              <a:gd name="adj1" fmla="val 50000"/>
              <a:gd name="adj2" fmla="val 55838"/>
            </a:avLst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pPr defTabSz="779145"/>
            <a:endParaRPr lang="en-US" sz="10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58842" y="4691273"/>
            <a:ext cx="2505350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dirty="0">
                <a:latin typeface="+mn-ea"/>
                <a:cs typeface="Arial" panose="020B0604020202020204" pitchFamily="34" charset="0"/>
              </a:rPr>
              <a:t>加强项目制</a:t>
            </a:r>
            <a:r>
              <a:rPr lang="en-US" altLang="zh-CN" sz="1200" dirty="0">
                <a:latin typeface="+mn-ea"/>
                <a:cs typeface="Arial" panose="020B0604020202020204" pitchFamily="34" charset="0"/>
              </a:rPr>
              <a:t>KPI</a:t>
            </a:r>
            <a:r>
              <a:rPr lang="zh-CN" altLang="en-US" sz="1200" dirty="0">
                <a:latin typeface="+mn-ea"/>
                <a:cs typeface="Arial" panose="020B0604020202020204" pitchFamily="34" charset="0"/>
              </a:rPr>
              <a:t>考核，激励</a:t>
            </a:r>
            <a:endParaRPr lang="en-US" altLang="zh-CN" sz="12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5103922" y="4691273"/>
            <a:ext cx="3176188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dirty="0">
                <a:latin typeface="+mn-ea"/>
                <a:cs typeface="Arial" panose="020B0604020202020204" pitchFamily="34" charset="0"/>
              </a:rPr>
              <a:t>促进业务增长，确保利润，提高组织效率</a:t>
            </a:r>
            <a:endParaRPr lang="en-US" altLang="zh-CN" sz="12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103921" y="4172684"/>
            <a:ext cx="3058551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提升交易质量（合同生成、履约质量）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103921" y="4434084"/>
            <a:ext cx="3058551" cy="263371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zh-CN" altLang="en-US" sz="1200" kern="0" dirty="0">
                <a:latin typeface="+mn-ea"/>
                <a:cs typeface="Arial" panose="020B0604020202020204" pitchFamily="34" charset="0"/>
              </a:rPr>
              <a:t>保证项目的运作与经营</a:t>
            </a:r>
            <a:endParaRPr lang="en-US" altLang="zh-CN" sz="1200" kern="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84" name="圆角矩形 183"/>
          <p:cNvSpPr/>
          <p:nvPr/>
        </p:nvSpPr>
        <p:spPr bwMode="auto">
          <a:xfrm>
            <a:off x="547314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变革要点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5" name="圆角矩形 184"/>
          <p:cNvSpPr/>
          <p:nvPr/>
        </p:nvSpPr>
        <p:spPr bwMode="auto">
          <a:xfrm>
            <a:off x="5064401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价值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6" name="灯片编号占位符 2"/>
          <p:cNvSpPr>
            <a:spLocks noGrp="1" noChangeArrowheads="1"/>
          </p:cNvSpPr>
          <p:nvPr/>
        </p:nvSpPr>
        <p:spPr bwMode="auto">
          <a:xfrm flipH="1">
            <a:off x="8636832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9\20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84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7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4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5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 bwMode="auto">
          <a:xfrm>
            <a:off x="1452510" y="907050"/>
            <a:ext cx="1732639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需求记录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客户文档归档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交易文件集成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版本管理</a:t>
            </a:r>
            <a:endParaRPr lang="zh-CN" altLang="en-US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</p:txBody>
      </p:sp>
      <p:sp>
        <p:nvSpPr>
          <p:cNvPr id="96" name="Pentagon 95"/>
          <p:cNvSpPr/>
          <p:nvPr/>
        </p:nvSpPr>
        <p:spPr bwMode="auto">
          <a:xfrm>
            <a:off x="1452510" y="2124052"/>
            <a:ext cx="1720913" cy="504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签前审核、签后复核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水印管理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送达管理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</p:txBody>
      </p:sp>
      <p:sp>
        <p:nvSpPr>
          <p:cNvPr id="97" name="Pentagon 96"/>
          <p:cNvSpPr/>
          <p:nvPr/>
        </p:nvSpPr>
        <p:spPr bwMode="auto">
          <a:xfrm>
            <a:off x="1452510" y="1569551"/>
            <a:ext cx="1720913" cy="504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统一评审规则和标准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统一监控评审流程遵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评审资源池建设和维护</a:t>
            </a:r>
            <a:endParaRPr lang="zh-CN" altLang="en-US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</p:txBody>
      </p:sp>
      <p:sp>
        <p:nvSpPr>
          <p:cNvPr id="98" name="Pentagon 97"/>
          <p:cNvSpPr/>
          <p:nvPr/>
        </p:nvSpPr>
        <p:spPr bwMode="auto">
          <a:xfrm>
            <a:off x="1452510" y="2678553"/>
            <a:ext cx="1720913" cy="504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171450" indent="-171450" defTabSz="778510" fontAlgn="auto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合同生效批准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 defTabSz="778510" fontAlgn="auto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SDT</a:t>
            </a: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行权复核、权签人行权复核 </a:t>
            </a:r>
            <a:endParaRPr lang="zh-CN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</p:txBody>
      </p:sp>
      <p:sp>
        <p:nvSpPr>
          <p:cNvPr id="99" name="Pentagon 98"/>
          <p:cNvSpPr/>
          <p:nvPr/>
        </p:nvSpPr>
        <p:spPr bwMode="auto">
          <a:xfrm>
            <a:off x="1452510" y="3233054"/>
            <a:ext cx="1720913" cy="504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合同要素标准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合同模板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kern="100" dirty="0">
                <a:solidFill>
                  <a:sysClr val="windowText" lastClr="000000"/>
                </a:solidFill>
                <a:latin typeface="+mn-ea"/>
                <a:cs typeface="Times New Roman" panose="02020603050405020304"/>
              </a:rPr>
              <a:t>合同文档</a:t>
            </a:r>
            <a:endParaRPr lang="en-US" altLang="zh-CN" sz="900" kern="100" dirty="0">
              <a:solidFill>
                <a:sysClr val="windowText" lastClr="000000"/>
              </a:solidFill>
              <a:latin typeface="+mn-ea"/>
              <a:cs typeface="Times New Roman" panose="02020603050405020304"/>
            </a:endParaRPr>
          </a:p>
          <a:p>
            <a:pPr marL="171450" indent="-171450"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900" dirty="0">
                <a:solidFill>
                  <a:sysClr val="windowText" lastClr="000000"/>
                </a:solidFill>
                <a:latin typeface="+mn-ea"/>
              </a:rPr>
              <a:t>结构化数据</a:t>
            </a:r>
            <a:endParaRPr lang="en-US" sz="9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Flowchart: Direct Access Storage 157"/>
          <p:cNvSpPr/>
          <p:nvPr/>
        </p:nvSpPr>
        <p:spPr>
          <a:xfrm>
            <a:off x="5215320" y="2527697"/>
            <a:ext cx="1178547" cy="536972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归档交接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30" name="Flowchart: Direct Access Storage 157"/>
          <p:cNvSpPr/>
          <p:nvPr/>
        </p:nvSpPr>
        <p:spPr>
          <a:xfrm>
            <a:off x="5944473" y="2517744"/>
            <a:ext cx="1134571" cy="557213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打印签署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21" name="Flowchart: Direct Access Storage 157"/>
          <p:cNvSpPr/>
          <p:nvPr/>
        </p:nvSpPr>
        <p:spPr>
          <a:xfrm>
            <a:off x="6675866" y="2517744"/>
            <a:ext cx="1134571" cy="557213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0" tIns="0" rIns="0" bIns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版本锁定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9" name="Flowchart: Direct Access Storage 157"/>
          <p:cNvSpPr/>
          <p:nvPr/>
        </p:nvSpPr>
        <p:spPr>
          <a:xfrm>
            <a:off x="5240973" y="1431132"/>
            <a:ext cx="1127242" cy="569119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91441" tIns="45720" rIns="91441" bIns="45720"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需求受理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23" name="Flowchart: Direct Access Storage 157"/>
          <p:cNvSpPr/>
          <p:nvPr/>
        </p:nvSpPr>
        <p:spPr>
          <a:xfrm>
            <a:off x="5973928" y="1421607"/>
            <a:ext cx="1235715" cy="583406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91441" tIns="45720" rIns="91441" bIns="45720" anchor="ctr"/>
          <a:lstStyle/>
          <a:p>
            <a:pPr>
              <a:lnSpc>
                <a:spcPct val="150000"/>
              </a:lnSpc>
              <a:defRPr/>
            </a:pPr>
            <a:endParaRPr lang="en-US" altLang="zh-CN" sz="900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3928" y="1619008"/>
            <a:ext cx="797425" cy="230832"/>
          </a:xfrm>
          <a:prstGeom prst="rect">
            <a:avLst/>
          </a:prstGeom>
          <a:noFill/>
          <a:effectLst/>
        </p:spPr>
        <p:txBody>
          <a:bodyPr wrap="square" lIns="91441" tIns="45720" rIns="91441" bIns="45720" anchor="ctr">
            <a:spAutoFit/>
          </a:bodyPr>
          <a:lstStyle/>
          <a:p>
            <a:pPr algn="ctr">
              <a:defRPr/>
            </a:pPr>
            <a:r>
              <a:rPr lang="zh-CN" altLang="en-US" sz="900" b="1" dirty="0">
                <a:latin typeface="+mn-ea"/>
              </a:rPr>
              <a:t>需求分解</a:t>
            </a:r>
            <a:endParaRPr lang="en-US" sz="900" b="1" dirty="0">
              <a:latin typeface="+mn-ea"/>
            </a:endParaRPr>
          </a:p>
        </p:txBody>
      </p:sp>
      <p:sp>
        <p:nvSpPr>
          <p:cNvPr id="25" name="Flowchart: Direct Access Storage 157"/>
          <p:cNvSpPr/>
          <p:nvPr/>
        </p:nvSpPr>
        <p:spPr>
          <a:xfrm>
            <a:off x="6698060" y="1421606"/>
            <a:ext cx="1190274" cy="576263"/>
          </a:xfrm>
          <a:prstGeom prst="flowChartMagneticDrum">
            <a:avLst/>
          </a:prstGeom>
          <a:solidFill>
            <a:srgbClr val="FACD72"/>
          </a:solidFill>
          <a:ln>
            <a:solidFill>
              <a:schemeClr val="bg1"/>
            </a:solidFill>
          </a:ln>
          <a:effectLst/>
        </p:spPr>
        <p:txBody>
          <a:bodyPr wrap="none" lIns="91441" tIns="45720" rIns="91441" bIns="45720"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 交易文件</a:t>
            </a:r>
            <a:endParaRPr lang="en-US" altLang="zh-CN" sz="900" b="1" dirty="0">
              <a:latin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900" b="1" dirty="0">
                <a:latin typeface="+mn-ea"/>
              </a:rPr>
              <a:t>集成 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26" name="Freeform 145"/>
          <p:cNvSpPr/>
          <p:nvPr/>
        </p:nvSpPr>
        <p:spPr bwMode="gray">
          <a:xfrm rot="16200000">
            <a:off x="7312055" y="1812542"/>
            <a:ext cx="1621631" cy="870718"/>
          </a:xfrm>
          <a:custGeom>
            <a:avLst/>
            <a:gdLst>
              <a:gd name="T0" fmla="*/ 0 w 2072"/>
              <a:gd name="T1" fmla="*/ 0 h 1040"/>
              <a:gd name="T2" fmla="*/ 683 w 2072"/>
              <a:gd name="T3" fmla="*/ 8 h 1040"/>
              <a:gd name="T4" fmla="*/ 1023 w 2072"/>
              <a:gd name="T5" fmla="*/ 359 h 1040"/>
              <a:gd name="T6" fmla="*/ 1377 w 2072"/>
              <a:gd name="T7" fmla="*/ 7 h 1040"/>
              <a:gd name="T8" fmla="*/ 2072 w 2072"/>
              <a:gd name="T9" fmla="*/ 0 h 1040"/>
              <a:gd name="T10" fmla="*/ 1038 w 2072"/>
              <a:gd name="T11" fmla="*/ 1061 h 1040"/>
              <a:gd name="T12" fmla="*/ 0 w 2072"/>
              <a:gd name="T13" fmla="*/ 0 h 10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2"/>
              <a:gd name="T22" fmla="*/ 0 h 1040"/>
              <a:gd name="T23" fmla="*/ 2072 w 2072"/>
              <a:gd name="T24" fmla="*/ 1040 h 10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2" h="1040">
                <a:moveTo>
                  <a:pt x="0" y="0"/>
                </a:moveTo>
                <a:cubicBezTo>
                  <a:pt x="345" y="0"/>
                  <a:pt x="683" y="8"/>
                  <a:pt x="683" y="8"/>
                </a:cubicBezTo>
                <a:cubicBezTo>
                  <a:pt x="683" y="248"/>
                  <a:pt x="907" y="352"/>
                  <a:pt x="1023" y="352"/>
                </a:cubicBezTo>
                <a:cubicBezTo>
                  <a:pt x="1139" y="352"/>
                  <a:pt x="1377" y="280"/>
                  <a:pt x="1377" y="7"/>
                </a:cubicBezTo>
                <a:lnTo>
                  <a:pt x="2072" y="0"/>
                </a:lnTo>
                <a:cubicBezTo>
                  <a:pt x="2072" y="730"/>
                  <a:pt x="1418" y="1040"/>
                  <a:pt x="1038" y="1040"/>
                </a:cubicBezTo>
                <a:cubicBezTo>
                  <a:pt x="658" y="1040"/>
                  <a:pt x="0" y="756"/>
                  <a:pt x="0" y="0"/>
                </a:cubicBezTo>
                <a:close/>
              </a:path>
            </a:pathLst>
          </a:custGeom>
          <a:solidFill>
            <a:srgbClr val="FACD72"/>
          </a:solidFill>
          <a:ln>
            <a:noFill/>
          </a:ln>
          <a:effectLst/>
        </p:spPr>
        <p:txBody>
          <a:bodyPr wrap="none" lIns="91441" tIns="45720" rIns="91441" bIns="45720" anchor="ctr"/>
          <a:lstStyle/>
          <a:p>
            <a:pPr>
              <a:defRPr/>
            </a:pPr>
            <a:endParaRPr lang="zh-CN" altLang="en-US" sz="500" dirty="0">
              <a:latin typeface="+mn-ea"/>
            </a:endParaRPr>
          </a:p>
        </p:txBody>
      </p:sp>
      <p:sp>
        <p:nvSpPr>
          <p:cNvPr id="140" name="圆角矩形 139"/>
          <p:cNvSpPr/>
          <p:nvPr/>
        </p:nvSpPr>
        <p:spPr bwMode="auto">
          <a:xfrm>
            <a:off x="3383298" y="1388269"/>
            <a:ext cx="4133710" cy="692944"/>
          </a:xfrm>
          <a:prstGeom prst="roundRect">
            <a:avLst/>
          </a:prstGeom>
          <a:noFill/>
          <a:ln w="9525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7934" tIns="38967" rIns="77934" bIns="38967"/>
          <a:lstStyle/>
          <a:p>
            <a:pPr defTabSz="779145">
              <a:defRPr/>
            </a:pPr>
            <a:endParaRPr lang="zh-CN" altLang="en-US" sz="700" dirty="0">
              <a:latin typeface="+mn-ea"/>
            </a:endParaRPr>
          </a:p>
        </p:txBody>
      </p:sp>
      <p:sp>
        <p:nvSpPr>
          <p:cNvPr id="28" name="TextBox 103"/>
          <p:cNvSpPr txBox="1">
            <a:spLocks noChangeArrowheads="1"/>
          </p:cNvSpPr>
          <p:nvPr/>
        </p:nvSpPr>
        <p:spPr bwMode="auto">
          <a:xfrm>
            <a:off x="8014954" y="1769290"/>
            <a:ext cx="323167" cy="9917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lIns="91441" tIns="45720" rIns="91441" bIns="45720">
            <a:spAutoFit/>
          </a:bodyPr>
          <a:lstStyle/>
          <a:p>
            <a:pPr algn="ctr">
              <a:defRPr/>
            </a:pPr>
            <a:r>
              <a:rPr lang="zh-CN" altLang="en-US" sz="900" b="1" dirty="0">
                <a:latin typeface="+mn-ea"/>
              </a:rPr>
              <a:t>组织评审</a:t>
            </a:r>
            <a:r>
              <a:rPr lang="en-US" altLang="zh-CN" sz="900" b="1" dirty="0">
                <a:latin typeface="+mn-ea"/>
              </a:rPr>
              <a:t>\</a:t>
            </a:r>
            <a:r>
              <a:rPr lang="zh-CN" altLang="en-US" sz="900" b="1" dirty="0">
                <a:latin typeface="+mn-ea"/>
              </a:rPr>
              <a:t>决策</a:t>
            </a:r>
            <a:endParaRPr lang="zh-CN" altLang="en-US" sz="900" b="1" dirty="0">
              <a:latin typeface="+mn-ea"/>
            </a:endParaRPr>
          </a:p>
        </p:txBody>
      </p:sp>
      <p:sp>
        <p:nvSpPr>
          <p:cNvPr id="30" name="AutoShape 83"/>
          <p:cNvSpPr>
            <a:spLocks noChangeArrowheads="1"/>
          </p:cNvSpPr>
          <p:nvPr/>
        </p:nvSpPr>
        <p:spPr bwMode="gray">
          <a:xfrm>
            <a:off x="3417479" y="1421606"/>
            <a:ext cx="202288" cy="1468041"/>
          </a:xfrm>
          <a:prstGeom prst="roundRect">
            <a:avLst>
              <a:gd name="adj" fmla="val 11921"/>
            </a:avLst>
          </a:prstGeom>
          <a:solidFill>
            <a:srgbClr val="0070C0"/>
          </a:solidFill>
          <a:ln w="9525">
            <a:noFill/>
            <a:round/>
          </a:ln>
          <a:effectLst/>
        </p:spPr>
        <p:txBody>
          <a:bodyPr wrap="none" lIns="91441" tIns="45720" rIns="91441" bIns="45720" anchor="ctr"/>
          <a:lstStyle/>
          <a:p>
            <a:pPr>
              <a:defRPr/>
            </a:pP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Rectangle 96"/>
          <p:cNvSpPr>
            <a:spLocks noChangeArrowheads="1"/>
          </p:cNvSpPr>
          <p:nvPr/>
        </p:nvSpPr>
        <p:spPr bwMode="auto">
          <a:xfrm>
            <a:off x="3452107" y="1693969"/>
            <a:ext cx="133032" cy="923314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91422" tIns="45712" rIns="91422" bIns="45712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客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户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en-US" altLang="zh-CN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85"/>
          <p:cNvSpPr txBox="1">
            <a:spLocks noChangeArrowheads="1"/>
          </p:cNvSpPr>
          <p:nvPr/>
        </p:nvSpPr>
        <p:spPr bwMode="auto">
          <a:xfrm>
            <a:off x="3766381" y="1677592"/>
            <a:ext cx="265319" cy="1059656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  <a:effectLst/>
        </p:spPr>
        <p:txBody>
          <a:bodyPr lIns="0" tIns="45720" rIns="0" bIns="45720" anchor="ctr"/>
          <a:lstStyle/>
          <a:p>
            <a:pPr>
              <a:defRPr/>
            </a:pP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CC3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右箭头 87"/>
          <p:cNvSpPr>
            <a:spLocks noChangeArrowheads="1"/>
          </p:cNvSpPr>
          <p:nvPr/>
        </p:nvSpPr>
        <p:spPr bwMode="auto">
          <a:xfrm>
            <a:off x="3634453" y="1744266"/>
            <a:ext cx="134859" cy="13215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ACD72"/>
          </a:solidFill>
          <a:ln w="9525" algn="ctr">
            <a:noFill/>
            <a:round/>
          </a:ln>
          <a:effectLst/>
        </p:spPr>
        <p:txBody>
          <a:bodyPr lIns="79201" tIns="39601" rIns="79201" bIns="39601"/>
          <a:lstStyle/>
          <a:p>
            <a:pPr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" name="左箭头 88"/>
          <p:cNvSpPr>
            <a:spLocks noChangeArrowheads="1"/>
          </p:cNvSpPr>
          <p:nvPr/>
        </p:nvSpPr>
        <p:spPr bwMode="auto">
          <a:xfrm>
            <a:off x="3641050" y="2546748"/>
            <a:ext cx="121665" cy="115490"/>
          </a:xfrm>
          <a:prstGeom prst="leftArrow">
            <a:avLst>
              <a:gd name="adj1" fmla="val 50000"/>
              <a:gd name="adj2" fmla="val 50371"/>
            </a:avLst>
          </a:prstGeom>
          <a:solidFill>
            <a:srgbClr val="FACD72"/>
          </a:solidFill>
          <a:ln w="9525" algn="ctr">
            <a:noFill/>
            <a:round/>
          </a:ln>
          <a:effectLst/>
        </p:spPr>
        <p:txBody>
          <a:bodyPr lIns="79201" tIns="39601" rIns="79201" bIns="39601"/>
          <a:lstStyle/>
          <a:p>
            <a:pPr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左箭头 36"/>
          <p:cNvSpPr/>
          <p:nvPr/>
        </p:nvSpPr>
        <p:spPr bwMode="auto">
          <a:xfrm>
            <a:off x="4035952" y="2492113"/>
            <a:ext cx="144000" cy="180000"/>
          </a:xfrm>
          <a:prstGeom prst="leftArrow">
            <a:avLst/>
          </a:prstGeom>
          <a:solidFill>
            <a:srgbClr val="FACD72"/>
          </a:solidFill>
          <a:ln w="25400" cap="flat" cmpd="sng" algn="ctr">
            <a:noFill/>
            <a:prstDash val="solid"/>
          </a:ln>
          <a:effectLst/>
        </p:spPr>
        <p:txBody>
          <a:bodyPr lIns="91441" tIns="45720" rIns="91441" bIns="4572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4" name="矩形 112"/>
          <p:cNvSpPr>
            <a:spLocks noChangeArrowheads="1"/>
          </p:cNvSpPr>
          <p:nvPr/>
        </p:nvSpPr>
        <p:spPr bwMode="auto">
          <a:xfrm>
            <a:off x="4184162" y="1362074"/>
            <a:ext cx="846000" cy="845345"/>
          </a:xfrm>
          <a:prstGeom prst="roundRect">
            <a:avLst>
              <a:gd name="adj" fmla="val 7987"/>
            </a:avLst>
          </a:prstGeom>
          <a:noFill/>
          <a:ln w="9525" algn="ctr">
            <a:solidFill>
              <a:schemeClr val="tx1"/>
            </a:solidFill>
            <a:round/>
          </a:ln>
        </p:spPr>
        <p:txBody>
          <a:bodyPr lIns="79200" tIns="39600" rIns="79200" bIns="39600"/>
          <a:lstStyle/>
          <a:p>
            <a:pPr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4211162" y="2334816"/>
            <a:ext cx="792000" cy="144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标前承诺</a:t>
            </a:r>
            <a:endParaRPr lang="zh-CN" altLang="en-US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圆角矩形 46"/>
          <p:cNvSpPr/>
          <p:nvPr/>
        </p:nvSpPr>
        <p:spPr bwMode="auto">
          <a:xfrm>
            <a:off x="4211162" y="2501801"/>
            <a:ext cx="792000" cy="144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标书</a:t>
            </a:r>
            <a:r>
              <a:rPr lang="en-US" altLang="zh-CN" sz="800" b="1" kern="0" dirty="0">
                <a:solidFill>
                  <a:schemeClr val="bg1"/>
                </a:solidFill>
                <a:latin typeface="+mn-ea"/>
              </a:rPr>
              <a:t>/LOI/MOU</a:t>
            </a:r>
            <a:endParaRPr lang="zh-CN" altLang="en-US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圆角矩形 47"/>
          <p:cNvSpPr/>
          <p:nvPr/>
        </p:nvSpPr>
        <p:spPr bwMode="auto">
          <a:xfrm>
            <a:off x="4211162" y="2668786"/>
            <a:ext cx="792000" cy="144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合同</a:t>
            </a:r>
            <a:endParaRPr lang="zh-CN" altLang="en-US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圆角矩形 48"/>
          <p:cNvSpPr/>
          <p:nvPr/>
        </p:nvSpPr>
        <p:spPr bwMode="auto">
          <a:xfrm>
            <a:off x="4211162" y="2835771"/>
            <a:ext cx="792000" cy="144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变更协议</a:t>
            </a:r>
            <a:endParaRPr lang="zh-CN" altLang="en-US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圆角矩形 49"/>
          <p:cNvSpPr/>
          <p:nvPr/>
        </p:nvSpPr>
        <p:spPr bwMode="auto">
          <a:xfrm>
            <a:off x="4211162" y="3002757"/>
            <a:ext cx="792000" cy="14400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关闭协议</a:t>
            </a:r>
            <a:endParaRPr lang="zh-CN" altLang="en-US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1" name="矩形 120"/>
          <p:cNvSpPr>
            <a:spLocks noChangeArrowheads="1"/>
          </p:cNvSpPr>
          <p:nvPr/>
        </p:nvSpPr>
        <p:spPr bwMode="auto">
          <a:xfrm>
            <a:off x="4184162" y="2301479"/>
            <a:ext cx="846000" cy="862456"/>
          </a:xfrm>
          <a:prstGeom prst="roundRect">
            <a:avLst>
              <a:gd name="adj" fmla="val 7216"/>
            </a:avLst>
          </a:prstGeom>
          <a:noFill/>
          <a:ln w="9525" algn="ctr">
            <a:solidFill>
              <a:schemeClr val="tx1"/>
            </a:solidFill>
            <a:round/>
          </a:ln>
        </p:spPr>
        <p:txBody>
          <a:bodyPr lIns="79200" tIns="39600" rIns="79200" bIns="39600"/>
          <a:lstStyle/>
          <a:p>
            <a:pPr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圆角矩形 100"/>
          <p:cNvSpPr/>
          <p:nvPr/>
        </p:nvSpPr>
        <p:spPr bwMode="auto">
          <a:xfrm>
            <a:off x="7354763" y="999963"/>
            <a:ext cx="1360313" cy="216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 anchor="ctr"/>
          <a:lstStyle/>
          <a:p>
            <a:pPr algn="ctr" defTabSz="779145"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统一交易文件出口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2" name="圆角矩形 141"/>
          <p:cNvSpPr/>
          <p:nvPr/>
        </p:nvSpPr>
        <p:spPr bwMode="auto">
          <a:xfrm>
            <a:off x="3383298" y="2463404"/>
            <a:ext cx="4224592" cy="552450"/>
          </a:xfrm>
          <a:prstGeom prst="roundRect">
            <a:avLst/>
          </a:prstGeom>
          <a:noFill/>
          <a:ln w="9525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7934" tIns="38967" rIns="77934" bIns="38967"/>
          <a:lstStyle/>
          <a:p>
            <a:pPr defTabSz="779145">
              <a:defRPr/>
            </a:pPr>
            <a:endParaRPr lang="zh-CN" altLang="en-US" sz="700" dirty="0">
              <a:latin typeface="+mn-ea"/>
            </a:endParaRPr>
          </a:p>
        </p:txBody>
      </p:sp>
      <p:cxnSp>
        <p:nvCxnSpPr>
          <p:cNvPr id="18461" name="肘形连接符 143"/>
          <p:cNvCxnSpPr>
            <a:cxnSpLocks noChangeShapeType="1"/>
          </p:cNvCxnSpPr>
          <p:nvPr/>
        </p:nvCxnSpPr>
        <p:spPr bwMode="auto">
          <a:xfrm rot="5400000">
            <a:off x="5430880" y="1239999"/>
            <a:ext cx="167543" cy="128996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C00000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462" name="形状 150"/>
          <p:cNvCxnSpPr>
            <a:cxnSpLocks noChangeShapeType="1"/>
          </p:cNvCxnSpPr>
          <p:nvPr/>
        </p:nvCxnSpPr>
        <p:spPr bwMode="auto">
          <a:xfrm rot="10800000" flipV="1">
            <a:off x="5495594" y="1107962"/>
            <a:ext cx="3214618" cy="1907891"/>
          </a:xfrm>
          <a:prstGeom prst="bentConnector4">
            <a:avLst>
              <a:gd name="adj1" fmla="val -4189"/>
              <a:gd name="adj2" fmla="val 111982"/>
            </a:avLst>
          </a:prstGeom>
          <a:noFill/>
          <a:ln w="9525" algn="ctr">
            <a:solidFill>
              <a:srgbClr val="C00000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463" name="形状 158"/>
          <p:cNvCxnSpPr>
            <a:cxnSpLocks noChangeShapeType="1"/>
          </p:cNvCxnSpPr>
          <p:nvPr/>
        </p:nvCxnSpPr>
        <p:spPr bwMode="auto">
          <a:xfrm rot="16200000" flipH="1">
            <a:off x="7340895" y="651551"/>
            <a:ext cx="169924" cy="129874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C00000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102" name="圆角矩形 101"/>
          <p:cNvSpPr/>
          <p:nvPr/>
        </p:nvSpPr>
        <p:spPr bwMode="auto">
          <a:xfrm>
            <a:off x="4974216" y="1004725"/>
            <a:ext cx="1219591" cy="216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 anchor="ctr"/>
          <a:lstStyle/>
          <a:p>
            <a:pPr algn="ctr" defTabSz="779145"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1. 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交易文件统一入口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6" name="圆角矩形 105"/>
          <p:cNvSpPr/>
          <p:nvPr/>
        </p:nvSpPr>
        <p:spPr bwMode="auto">
          <a:xfrm>
            <a:off x="6265633" y="999963"/>
            <a:ext cx="1021701" cy="216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 anchor="ctr"/>
          <a:lstStyle/>
          <a:p>
            <a:pPr algn="ctr" defTabSz="779145"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统一评审决策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0" name="圆角矩形 109"/>
          <p:cNvSpPr/>
          <p:nvPr/>
        </p:nvSpPr>
        <p:spPr bwMode="auto">
          <a:xfrm>
            <a:off x="7730022" y="1385887"/>
            <a:ext cx="690417" cy="1672829"/>
          </a:xfrm>
          <a:prstGeom prst="round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lIns="77934" tIns="38967" rIns="77934" bIns="38967"/>
          <a:lstStyle/>
          <a:p>
            <a:pPr defTabSz="779145">
              <a:defRPr/>
            </a:pPr>
            <a:endParaRPr lang="zh-CN" altLang="en-US" sz="700" dirty="0">
              <a:latin typeface="+mn-ea"/>
            </a:endParaRPr>
          </a:p>
        </p:txBody>
      </p:sp>
      <p:sp>
        <p:nvSpPr>
          <p:cNvPr id="113" name="圆角矩形 112"/>
          <p:cNvSpPr/>
          <p:nvPr/>
        </p:nvSpPr>
        <p:spPr bwMode="auto">
          <a:xfrm>
            <a:off x="6401958" y="3274219"/>
            <a:ext cx="2534462" cy="1800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 anchor="ctr"/>
          <a:lstStyle/>
          <a:p>
            <a:pPr algn="ctr" defTabSz="779145"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能力建设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4" name="圆角矩形 113"/>
          <p:cNvSpPr/>
          <p:nvPr/>
        </p:nvSpPr>
        <p:spPr bwMode="auto">
          <a:xfrm>
            <a:off x="3342720" y="3274219"/>
            <a:ext cx="2783658" cy="1800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7943" tIns="38972" rIns="77943" bIns="38972" anchor="ctr"/>
          <a:lstStyle/>
          <a:p>
            <a:pPr algn="ctr" defTabSz="779145"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行权复核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410753" y="3449242"/>
            <a:ext cx="861922" cy="252000"/>
          </a:xfrm>
          <a:prstGeom prst="rect">
            <a:avLst/>
          </a:prstGeom>
          <a:solidFill>
            <a:srgbClr val="FCE6BA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8972" rIns="0" bIns="38972"/>
          <a:lstStyle/>
          <a:p>
            <a:pPr marL="0" lvl="1" algn="ctr" defTabSz="779145">
              <a:defRPr/>
            </a:pPr>
            <a:r>
              <a:rPr lang="zh-CN" altLang="en-US" sz="900" dirty="0">
                <a:latin typeface="+mn-ea"/>
              </a:rPr>
              <a:t>评审资源池管理</a:t>
            </a:r>
            <a:endParaRPr lang="zh-CN" altLang="en-US" sz="900" dirty="0">
              <a:latin typeface="+mn-ea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7278289" y="3449242"/>
            <a:ext cx="1647620" cy="252000"/>
          </a:xfrm>
          <a:prstGeom prst="rect">
            <a:avLst/>
          </a:prstGeom>
          <a:solidFill>
            <a:srgbClr val="FCE6BA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8972" rIns="0" bIns="38972"/>
          <a:lstStyle/>
          <a:p>
            <a:pPr marL="292100" lvl="2" indent="-292100" algn="ctr">
              <a:defRPr/>
            </a:pPr>
            <a:r>
              <a:rPr lang="zh-CN" altLang="en-US" sz="900" dirty="0">
                <a:latin typeface="+mn-ea"/>
              </a:rPr>
              <a:t>合同要素基线与模板应用与维护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3342719" y="3449242"/>
            <a:ext cx="929352" cy="252000"/>
          </a:xfrm>
          <a:prstGeom prst="rect">
            <a:avLst/>
          </a:prstGeom>
          <a:solidFill>
            <a:srgbClr val="FCE6BA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/>
          <a:lstStyle/>
          <a:p>
            <a:pPr marL="0" lvl="1" algn="ctr" defTabSz="779145">
              <a:defRPr/>
            </a:pPr>
            <a:r>
              <a:rPr lang="zh-CN" altLang="en-US" sz="900" dirty="0">
                <a:latin typeface="+mn-ea"/>
              </a:rPr>
              <a:t>合同生效批准</a:t>
            </a:r>
            <a:endParaRPr lang="zh-CN" altLang="en-US" sz="900" dirty="0">
              <a:latin typeface="+mn-ea"/>
            </a:endParaRPr>
          </a:p>
        </p:txBody>
      </p:sp>
      <p:sp>
        <p:nvSpPr>
          <p:cNvPr id="118" name="矩形 117"/>
          <p:cNvSpPr/>
          <p:nvPr/>
        </p:nvSpPr>
        <p:spPr bwMode="auto">
          <a:xfrm>
            <a:off x="4241289" y="3449242"/>
            <a:ext cx="898568" cy="252000"/>
          </a:xfrm>
          <a:prstGeom prst="rect">
            <a:avLst/>
          </a:prstGeom>
          <a:solidFill>
            <a:srgbClr val="FCE6BA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/>
          <a:lstStyle/>
          <a:p>
            <a:pPr marL="0" lvl="1" algn="ctr" defTabSz="779145">
              <a:defRPr/>
            </a:pPr>
            <a:r>
              <a:rPr lang="en-US" altLang="zh-CN" sz="900" dirty="0">
                <a:latin typeface="+mn-ea"/>
              </a:rPr>
              <a:t>SDT</a:t>
            </a:r>
            <a:r>
              <a:rPr lang="zh-CN" altLang="en-US" sz="900" dirty="0">
                <a:latin typeface="+mn-ea"/>
              </a:rPr>
              <a:t>行权复核</a:t>
            </a:r>
            <a:endParaRPr lang="zh-CN" altLang="en-US" sz="900" dirty="0">
              <a:latin typeface="+mn-ea"/>
            </a:endParaRPr>
          </a:p>
        </p:txBody>
      </p:sp>
      <p:sp>
        <p:nvSpPr>
          <p:cNvPr id="119" name="矩形 118"/>
          <p:cNvSpPr/>
          <p:nvPr/>
        </p:nvSpPr>
        <p:spPr bwMode="auto">
          <a:xfrm>
            <a:off x="5109075" y="3449242"/>
            <a:ext cx="1017303" cy="252000"/>
          </a:xfrm>
          <a:prstGeom prst="rect">
            <a:avLst/>
          </a:prstGeom>
          <a:solidFill>
            <a:srgbClr val="FCE6BA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/>
          <a:lstStyle/>
          <a:p>
            <a:pPr marL="0" lvl="1" algn="ctr" defTabSz="779145">
              <a:defRPr/>
            </a:pPr>
            <a:r>
              <a:rPr lang="zh-CN" altLang="en-US" sz="900" dirty="0">
                <a:latin typeface="+mn-ea"/>
              </a:rPr>
              <a:t>签约人行权复核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2" name="Title 1"/>
          <p:cNvSpPr>
            <a:spLocks noGrp="1"/>
          </p:cNvSpPr>
          <p:nvPr>
            <p:ph type="title" idx="4294967295"/>
          </p:nvPr>
        </p:nvSpPr>
        <p:spPr>
          <a:xfrm>
            <a:off x="189241" y="141202"/>
            <a:ext cx="7632700" cy="653653"/>
          </a:xfrm>
          <a:effectLst/>
        </p:spPr>
        <p:txBody>
          <a:bodyPr/>
          <a:lstStyle/>
          <a:p>
            <a:pPr>
              <a:defRPr/>
            </a:pPr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组织、</a:t>
            </a:r>
            <a:r>
              <a:rPr lang="zh-CN" altLang="zh-HK" sz="2400" kern="1200" dirty="0">
                <a:solidFill>
                  <a:srgbClr val="0070C0"/>
                </a:solidFill>
                <a:latin typeface="+mn-ea"/>
                <a:ea typeface="+mn-ea"/>
              </a:rPr>
              <a:t>R&amp;R</a:t>
            </a:r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及能力</a:t>
            </a:r>
            <a:b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</a:br>
            <a:r>
              <a:rPr lang="en-US" altLang="zh-CN" sz="1400" b="0" kern="1200" dirty="0">
                <a:solidFill>
                  <a:srgbClr val="0070C0"/>
                </a:solidFill>
                <a:latin typeface="+mn-ea"/>
                <a:ea typeface="+mn-ea"/>
              </a:rPr>
              <a:t>Deal Hub</a:t>
            </a: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方案构想</a:t>
            </a:r>
            <a:endParaRPr lang="en-US" sz="1400" b="0" kern="12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922712" y="713872"/>
            <a:ext cx="2255740" cy="294149"/>
          </a:xfrm>
          <a:prstGeom prst="rect">
            <a:avLst/>
          </a:prstGeom>
          <a:effectLst/>
        </p:spPr>
        <p:txBody>
          <a:bodyPr wrap="none" lIns="77943" tIns="38972" rIns="77943" bIns="38972">
            <a:spAutoFit/>
          </a:bodyPr>
          <a:lstStyle/>
          <a:p>
            <a:pPr defTabSz="683260">
              <a:defRPr/>
            </a:pPr>
            <a:r>
              <a:rPr lang="zh-CN" altLang="en-US" sz="1400" b="1" kern="0" dirty="0">
                <a:latin typeface="+mn-ea"/>
              </a:rPr>
              <a:t>代表处</a:t>
            </a:r>
            <a:r>
              <a:rPr lang="en-US" altLang="zh-CN" sz="1400" b="1" kern="0" dirty="0">
                <a:latin typeface="+mn-ea"/>
              </a:rPr>
              <a:t>Deal Hub</a:t>
            </a:r>
            <a:r>
              <a:rPr lang="zh-CN" altLang="en-US" sz="1400" b="1" kern="0" dirty="0">
                <a:latin typeface="+mn-ea"/>
              </a:rPr>
              <a:t>职能总览</a:t>
            </a:r>
            <a:endParaRPr lang="en-US" altLang="zh-CN" sz="1400" b="1" kern="0" dirty="0">
              <a:latin typeface="+mn-ea"/>
            </a:endParaRPr>
          </a:p>
        </p:txBody>
      </p:sp>
      <p:sp>
        <p:nvSpPr>
          <p:cNvPr id="90" name="矩形 101"/>
          <p:cNvSpPr/>
          <p:nvPr/>
        </p:nvSpPr>
        <p:spPr bwMode="auto">
          <a:xfrm>
            <a:off x="302538" y="907050"/>
            <a:ext cx="1193205" cy="612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228600" indent="-228600" algn="ctr" defTabSz="779145">
              <a:buFont typeface="+mj-lt"/>
              <a:buAutoNum type="arabicPeriod"/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交易文件</a:t>
            </a:r>
            <a:br>
              <a:rPr lang="en-US" altLang="zh-CN" sz="1000" b="1" dirty="0">
                <a:solidFill>
                  <a:schemeClr val="bg1"/>
                </a:solidFill>
                <a:latin typeface="+mn-ea"/>
              </a:rPr>
            </a:b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统一入口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矩形 105"/>
          <p:cNvSpPr/>
          <p:nvPr/>
        </p:nvSpPr>
        <p:spPr bwMode="auto">
          <a:xfrm>
            <a:off x="292277" y="1569551"/>
            <a:ext cx="1213727" cy="504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228600" indent="-228600" algn="ctr" defTabSz="779145">
              <a:buFont typeface="+mj-lt"/>
              <a:buAutoNum type="arabicPeriod" startAt="2"/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统一评审</a:t>
            </a:r>
            <a:br>
              <a:rPr lang="en-US" altLang="zh-CN" sz="1000" b="1" dirty="0">
                <a:solidFill>
                  <a:schemeClr val="bg1"/>
                </a:solidFill>
                <a:latin typeface="+mn-ea"/>
              </a:rPr>
            </a:b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决策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3" name="矩形 100"/>
          <p:cNvSpPr/>
          <p:nvPr/>
        </p:nvSpPr>
        <p:spPr bwMode="auto">
          <a:xfrm>
            <a:off x="292277" y="2124052"/>
            <a:ext cx="1213727" cy="504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228600" indent="-228600" algn="ctr" defTabSz="779145">
              <a:buFont typeface="+mj-lt"/>
              <a:buAutoNum type="arabicPeriod" startAt="3"/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统一交易</a:t>
            </a:r>
            <a:br>
              <a:rPr lang="en-US" altLang="zh-CN" sz="1000" b="1" dirty="0">
                <a:solidFill>
                  <a:schemeClr val="bg1"/>
                </a:solidFill>
                <a:latin typeface="+mn-ea"/>
              </a:rPr>
            </a:b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文件出口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4" name="矩形 113"/>
          <p:cNvSpPr/>
          <p:nvPr/>
        </p:nvSpPr>
        <p:spPr bwMode="auto">
          <a:xfrm>
            <a:off x="294476" y="2678553"/>
            <a:ext cx="1209329" cy="504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228600" indent="-228600" algn="ctr" defTabSz="779145">
              <a:buFont typeface="+mj-lt"/>
              <a:buAutoNum type="arabicPeriod" startAt="4"/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行权复核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5" name="矩形 112"/>
          <p:cNvSpPr/>
          <p:nvPr/>
        </p:nvSpPr>
        <p:spPr bwMode="auto">
          <a:xfrm>
            <a:off x="295208" y="3233054"/>
            <a:ext cx="1207864" cy="50400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228600" indent="-228600" algn="ctr" defTabSz="779145">
              <a:buFont typeface="+mj-lt"/>
              <a:buAutoNum type="arabicPeriod" startAt="5"/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能力建设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708580" y="4222244"/>
            <a:ext cx="3773109" cy="448037"/>
          </a:xfrm>
          <a:prstGeom prst="rect">
            <a:avLst/>
          </a:prstGeom>
          <a:effectLst/>
        </p:spPr>
        <p:txBody>
          <a:bodyPr lIns="77943" tIns="38972" rIns="77943" bIns="38972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在代表处建立</a:t>
            </a:r>
            <a:r>
              <a:rPr lang="en-US" altLang="zh-CN" sz="1200" kern="0" dirty="0">
                <a:solidFill>
                  <a:prstClr val="black"/>
                </a:solidFill>
                <a:latin typeface="+mn-ea"/>
              </a:rPr>
              <a:t>Deal Hub</a:t>
            </a: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，作为综合性的交易管理中心和支撑平台</a:t>
            </a:r>
            <a:endParaRPr lang="en-US" altLang="zh-CN" sz="12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08579" y="4638503"/>
            <a:ext cx="3204358" cy="263371"/>
          </a:xfrm>
          <a:prstGeom prst="rect">
            <a:avLst/>
          </a:prstGeom>
          <a:effectLst/>
        </p:spPr>
        <p:txBody>
          <a:bodyPr lIns="77943" tIns="38972" rIns="77943" bIns="38972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持续优化</a:t>
            </a:r>
            <a:r>
              <a:rPr lang="en-US" altLang="zh-CN" sz="1200" kern="0" dirty="0">
                <a:solidFill>
                  <a:prstClr val="black"/>
                </a:solidFill>
                <a:latin typeface="+mn-ea"/>
              </a:rPr>
              <a:t>Deal Hub</a:t>
            </a: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运作机制和能力建设</a:t>
            </a:r>
            <a:endParaRPr lang="en-US" altLang="zh-CN" sz="12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5013793" y="4473585"/>
            <a:ext cx="3204358" cy="263371"/>
          </a:xfrm>
          <a:prstGeom prst="rect">
            <a:avLst/>
          </a:prstGeom>
          <a:effectLst/>
        </p:spPr>
        <p:txBody>
          <a:bodyPr lIns="77943" tIns="38972" rIns="77943" bIns="38972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业务整合，效率提升</a:t>
            </a:r>
            <a:endParaRPr lang="en-US" altLang="zh-CN" sz="12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5013793" y="4222244"/>
            <a:ext cx="4039895" cy="263371"/>
          </a:xfrm>
          <a:prstGeom prst="rect">
            <a:avLst/>
          </a:prstGeom>
          <a:effectLst/>
        </p:spPr>
        <p:txBody>
          <a:bodyPr lIns="77943" tIns="38972" rIns="77943" bIns="38972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+mn-ea"/>
              </a:rPr>
              <a:t>对销售项目提供一站式交易支持服务，提升交易质量</a:t>
            </a:r>
            <a:endParaRPr lang="en-US" altLang="zh-CN" sz="12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5" name="圆角矩形 84"/>
          <p:cNvSpPr/>
          <p:nvPr/>
        </p:nvSpPr>
        <p:spPr bwMode="auto">
          <a:xfrm>
            <a:off x="457002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变革要点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7" name="圆角矩形 86"/>
          <p:cNvSpPr/>
          <p:nvPr/>
        </p:nvSpPr>
        <p:spPr bwMode="auto">
          <a:xfrm>
            <a:off x="4974089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价值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9" name="左箭头 88"/>
          <p:cNvSpPr/>
          <p:nvPr/>
        </p:nvSpPr>
        <p:spPr bwMode="auto">
          <a:xfrm>
            <a:off x="5036624" y="2696647"/>
            <a:ext cx="170421" cy="199406"/>
          </a:xfrm>
          <a:prstGeom prst="leftArrow">
            <a:avLst/>
          </a:prstGeom>
          <a:solidFill>
            <a:srgbClr val="FACD72"/>
          </a:solidFill>
          <a:ln w="25400" cap="flat" cmpd="sng" algn="ctr">
            <a:noFill/>
            <a:prstDash val="solid"/>
          </a:ln>
          <a:effectLst/>
        </p:spPr>
        <p:txBody>
          <a:bodyPr lIns="91441" tIns="45720" rIns="91441" bIns="4572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92" name="Oval 123"/>
          <p:cNvSpPr/>
          <p:nvPr/>
        </p:nvSpPr>
        <p:spPr bwMode="auto">
          <a:xfrm>
            <a:off x="457002" y="4680188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3" name="Oval 124"/>
          <p:cNvSpPr/>
          <p:nvPr/>
        </p:nvSpPr>
        <p:spPr bwMode="auto">
          <a:xfrm>
            <a:off x="457002" y="426986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1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10\20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79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0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1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2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圆角矩形 1"/>
          <p:cNvSpPr/>
          <p:nvPr/>
        </p:nvSpPr>
        <p:spPr bwMode="auto">
          <a:xfrm>
            <a:off x="4211162" y="1396031"/>
            <a:ext cx="792000" cy="173978"/>
          </a:xfrm>
          <a:prstGeom prst="roundRect">
            <a:avLst/>
          </a:prstGeom>
          <a:solidFill>
            <a:srgbClr val="F7B02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投标类制作</a:t>
            </a:r>
            <a:endParaRPr lang="en-US" altLang="zh-CN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圆角矩形 83"/>
          <p:cNvSpPr/>
          <p:nvPr/>
        </p:nvSpPr>
        <p:spPr bwMode="auto">
          <a:xfrm>
            <a:off x="4211162" y="1595717"/>
            <a:ext cx="792000" cy="173978"/>
          </a:xfrm>
          <a:prstGeom prst="roundRect">
            <a:avLst/>
          </a:prstGeom>
          <a:solidFill>
            <a:srgbClr val="F7B02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合同生成需求</a:t>
            </a:r>
            <a:endParaRPr lang="en-US" altLang="zh-CN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圆角矩形 99"/>
          <p:cNvSpPr/>
          <p:nvPr/>
        </p:nvSpPr>
        <p:spPr bwMode="auto">
          <a:xfrm>
            <a:off x="4211162" y="1795403"/>
            <a:ext cx="792000" cy="173978"/>
          </a:xfrm>
          <a:prstGeom prst="roundRect">
            <a:avLst/>
          </a:prstGeom>
          <a:solidFill>
            <a:srgbClr val="F7B02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合同变更需求</a:t>
            </a:r>
            <a:endParaRPr lang="en-US" altLang="zh-CN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圆角矩形 104"/>
          <p:cNvSpPr/>
          <p:nvPr/>
        </p:nvSpPr>
        <p:spPr bwMode="auto">
          <a:xfrm>
            <a:off x="4211162" y="1995089"/>
            <a:ext cx="792000" cy="173978"/>
          </a:xfrm>
          <a:prstGeom prst="roundRect">
            <a:avLst/>
          </a:prstGeom>
          <a:solidFill>
            <a:srgbClr val="F7B02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00" b="1" kern="0" dirty="0">
                <a:solidFill>
                  <a:schemeClr val="bg1"/>
                </a:solidFill>
                <a:latin typeface="+mn-ea"/>
              </a:rPr>
              <a:t>关闭合同需求</a:t>
            </a:r>
            <a:endParaRPr lang="en-US" altLang="zh-CN" sz="8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7" name="左箭头 106"/>
          <p:cNvSpPr/>
          <p:nvPr/>
        </p:nvSpPr>
        <p:spPr bwMode="auto">
          <a:xfrm flipH="1">
            <a:off x="4035952" y="1734424"/>
            <a:ext cx="144000" cy="180000"/>
          </a:xfrm>
          <a:prstGeom prst="leftArrow">
            <a:avLst/>
          </a:prstGeom>
          <a:solidFill>
            <a:srgbClr val="FACD72"/>
          </a:solidFill>
          <a:ln w="25400" cap="flat" cmpd="sng" algn="ctr">
            <a:noFill/>
            <a:prstDash val="solid"/>
          </a:ln>
          <a:effectLst/>
        </p:spPr>
        <p:txBody>
          <a:bodyPr lIns="91441" tIns="45720" rIns="91441" bIns="4572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8" name="左箭头 107"/>
          <p:cNvSpPr/>
          <p:nvPr/>
        </p:nvSpPr>
        <p:spPr bwMode="auto">
          <a:xfrm flipH="1">
            <a:off x="5060439" y="1622145"/>
            <a:ext cx="170421" cy="199406"/>
          </a:xfrm>
          <a:prstGeom prst="leftArrow">
            <a:avLst/>
          </a:prstGeom>
          <a:solidFill>
            <a:srgbClr val="FACD72"/>
          </a:solidFill>
          <a:ln w="25400" cap="flat" cmpd="sng" algn="ctr">
            <a:noFill/>
            <a:prstDash val="solid"/>
          </a:ln>
          <a:effectLst/>
        </p:spPr>
        <p:txBody>
          <a:bodyPr lIns="91441" tIns="45720" rIns="91441" bIns="45720" anchor="ctr"/>
          <a:lstStyle/>
          <a:p>
            <a:pPr algn="ctr" defTabSz="80200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kern="0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 bwMode="auto">
          <a:xfrm>
            <a:off x="4652296" y="1093874"/>
            <a:ext cx="4388355" cy="2531827"/>
          </a:xfrm>
          <a:prstGeom prst="roundRect">
            <a:avLst>
              <a:gd name="adj" fmla="val 7008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en-US" sz="100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16" name="肘形连接符 40"/>
          <p:cNvCxnSpPr/>
          <p:nvPr/>
        </p:nvCxnSpPr>
        <p:spPr bwMode="auto">
          <a:xfrm>
            <a:off x="6706767" y="2427855"/>
            <a:ext cx="1319185" cy="22928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9264" y="147557"/>
            <a:ext cx="7632700" cy="653653"/>
          </a:xfrm>
          <a:effectLst/>
        </p:spPr>
        <p:txBody>
          <a:bodyPr/>
          <a:lstStyle/>
          <a:p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组织、</a:t>
            </a:r>
            <a:r>
              <a:rPr lang="zh-CN" altLang="zh-HK" sz="2400" kern="1200" dirty="0">
                <a:solidFill>
                  <a:srgbClr val="0070C0"/>
                </a:solidFill>
                <a:latin typeface="+mn-ea"/>
                <a:ea typeface="+mn-ea"/>
              </a:rPr>
              <a:t>R&amp;R</a:t>
            </a:r>
            <a:r>
              <a:rPr lang="zh-CN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及能力</a:t>
            </a:r>
            <a:b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</a:b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质量运营组织</a:t>
            </a:r>
            <a:endParaRPr lang="en-US" sz="1400" b="0" kern="12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187293" y="1093874"/>
            <a:ext cx="4388355" cy="2531827"/>
          </a:xfrm>
          <a:prstGeom prst="roundRect">
            <a:avLst>
              <a:gd name="adj" fmla="val 6168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17154" y="843558"/>
            <a:ext cx="4459444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流程质量组织是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业务主管在流程质量方面的业务伙伴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3042724" y="1633324"/>
            <a:ext cx="1512279" cy="446015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  <a:latin typeface="+mn-ea"/>
              </a:rPr>
              <a:t>流程质量建设与遵从</a:t>
            </a:r>
            <a:endParaRPr lang="en-US" altLang="zh-CN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9" name="Rectangle 168"/>
          <p:cNvSpPr>
            <a:spLocks noChangeArrowheads="1"/>
          </p:cNvSpPr>
          <p:nvPr/>
        </p:nvSpPr>
        <p:spPr bwMode="auto">
          <a:xfrm>
            <a:off x="4851767" y="3968587"/>
            <a:ext cx="4246685" cy="23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55575" lvl="1" indent="-155575">
              <a:spcBef>
                <a:spcPts val="765"/>
              </a:spcBef>
              <a:buClr>
                <a:srgbClr val="990000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altLang="zh-CN" sz="1000" dirty="0">
              <a:solidFill>
                <a:srgbClr val="000000"/>
              </a:solidFill>
              <a:latin typeface="+mn-ea"/>
              <a:ea typeface="+mn-ea"/>
              <a:sym typeface="华文细黑" panose="02010600040101010101" pitchFamily="2" charset="-122"/>
            </a:endParaRPr>
          </a:p>
        </p:txBody>
      </p:sp>
      <p:sp>
        <p:nvSpPr>
          <p:cNvPr id="170" name="Rectangle 169"/>
          <p:cNvSpPr>
            <a:spLocks noChangeArrowheads="1"/>
          </p:cNvSpPr>
          <p:nvPr/>
        </p:nvSpPr>
        <p:spPr bwMode="auto">
          <a:xfrm>
            <a:off x="4851767" y="4389719"/>
            <a:ext cx="4246685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 altLang="en-US" sz="12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117727" y="4141269"/>
            <a:ext cx="4040079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确保变革项目在代表处的落地、流程质量和持续改进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62353" y="4141269"/>
            <a:ext cx="3936077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夯实代表处的质量运营组织，明确岗位职责和考核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862353" y="4411299"/>
            <a:ext cx="3936077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质量运营组织管理业务运营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metrics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117727" y="4411299"/>
            <a:ext cx="4040079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从端到端的视角监控、分析，推动改进业务运营结果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62353" y="4681329"/>
            <a:ext cx="3936077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质量运营组织兼管合规运营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117728" y="4681329"/>
            <a:ext cx="3535209" cy="263371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加强对外部法律法规的祖聪， 规避合规风险</a:t>
            </a:r>
            <a:endParaRPr 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12511" y="843558"/>
            <a:ext cx="1696291" cy="263371"/>
          </a:xfrm>
          <a:prstGeom prst="rect">
            <a:avLst/>
          </a:prstGeom>
          <a:effectLst/>
        </p:spPr>
        <p:txBody>
          <a:bodyPr wrap="none" lIns="77943" tIns="38972" rIns="77943" bIns="38972">
            <a:spAutoFit/>
          </a:bodyPr>
          <a:lstStyle/>
          <a:p>
            <a:r>
              <a:rPr lang="zh-CN" altLang="en-US" sz="1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区域流程质量组织结构</a:t>
            </a:r>
            <a:endParaRPr lang="zh-CN" altLang="en-US" sz="1200" b="1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  <p:sp>
        <p:nvSpPr>
          <p:cNvPr id="181" name="Rectangle 180"/>
          <p:cNvSpPr/>
          <p:nvPr/>
        </p:nvSpPr>
        <p:spPr bwMode="auto">
          <a:xfrm>
            <a:off x="3042724" y="2443414"/>
            <a:ext cx="1512279" cy="446015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安全合规运营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4" name="肘形连接符 50"/>
          <p:cNvCxnSpPr>
            <a:cxnSpLocks noChangeShapeType="1"/>
          </p:cNvCxnSpPr>
          <p:nvPr/>
        </p:nvCxnSpPr>
        <p:spPr bwMode="auto">
          <a:xfrm>
            <a:off x="6282168" y="1110687"/>
            <a:ext cx="732749" cy="195621"/>
          </a:xfrm>
          <a:prstGeom prst="bentConnector3">
            <a:avLst>
              <a:gd name="adj1" fmla="val 50000"/>
            </a:avLst>
          </a:prstGeom>
          <a:noFill/>
          <a:ln w="9525" algn="ctr">
            <a:noFill/>
            <a:round/>
          </a:ln>
          <a:effectLst/>
        </p:spPr>
      </p:cxnSp>
      <p:sp>
        <p:nvSpPr>
          <p:cNvPr id="196" name="Rectangle 12"/>
          <p:cNvSpPr>
            <a:spLocks noChangeArrowheads="1"/>
          </p:cNvSpPr>
          <p:nvPr/>
        </p:nvSpPr>
        <p:spPr bwMode="auto">
          <a:xfrm>
            <a:off x="7770536" y="1689555"/>
            <a:ext cx="488910" cy="326033"/>
          </a:xfrm>
          <a:prstGeom prst="roundRect">
            <a:avLst/>
          </a:prstGeom>
          <a:solidFill>
            <a:srgbClr val="FBD893"/>
          </a:solidFill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900" dirty="0">
                <a:latin typeface="+mn-ea"/>
                <a:cs typeface="FrutigerNext LT Regular" pitchFamily="34" charset="0"/>
              </a:rPr>
              <a:t>IT</a:t>
            </a:r>
            <a:endParaRPr lang="en-US" altLang="zh-CN" sz="900" dirty="0">
              <a:latin typeface="+mn-ea"/>
              <a:cs typeface="FrutigerNext LT Regular" pitchFamily="34" charset="0"/>
            </a:endParaRPr>
          </a:p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服务部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7" name="Rectangle 11"/>
          <p:cNvSpPr>
            <a:spLocks noChangeArrowheads="1"/>
          </p:cNvSpPr>
          <p:nvPr/>
        </p:nvSpPr>
        <p:spPr bwMode="auto">
          <a:xfrm>
            <a:off x="7161992" y="1689555"/>
            <a:ext cx="566936" cy="326033"/>
          </a:xfrm>
          <a:prstGeom prst="roundRect">
            <a:avLst/>
          </a:prstGeom>
          <a:solidFill>
            <a:srgbClr val="FBD893"/>
          </a:solidFill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法务部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8" name="Rectangle 10"/>
          <p:cNvSpPr>
            <a:spLocks noChangeArrowheads="1"/>
          </p:cNvSpPr>
          <p:nvPr/>
        </p:nvSpPr>
        <p:spPr bwMode="auto">
          <a:xfrm>
            <a:off x="6553449" y="1689555"/>
            <a:ext cx="566936" cy="326033"/>
          </a:xfrm>
          <a:prstGeom prst="roundRect">
            <a:avLst/>
          </a:prstGeom>
          <a:solidFill>
            <a:srgbClr val="FBD893"/>
          </a:solidFill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信管办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9" name="Rectangle 9"/>
          <p:cNvSpPr>
            <a:spLocks noChangeArrowheads="1"/>
          </p:cNvSpPr>
          <p:nvPr/>
        </p:nvSpPr>
        <p:spPr bwMode="auto">
          <a:xfrm>
            <a:off x="5944906" y="1689555"/>
            <a:ext cx="566936" cy="326033"/>
          </a:xfrm>
          <a:prstGeom prst="roundRect">
            <a:avLst/>
          </a:prstGeom>
          <a:solidFill>
            <a:srgbClr val="FBD893"/>
          </a:solidFill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运营</a:t>
            </a:r>
            <a:endParaRPr lang="en-US" altLang="zh-CN" sz="900" dirty="0">
              <a:latin typeface="+mn-ea"/>
              <a:cs typeface="FrutigerNext LT Regular" pitchFamily="34" charset="0"/>
            </a:endParaRPr>
          </a:p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支撑部</a:t>
            </a:r>
            <a:endParaRPr lang="zh-CN" altLang="en-US" sz="900" dirty="0">
              <a:latin typeface="+mn-ea"/>
            </a:endParaRPr>
          </a:p>
        </p:txBody>
      </p:sp>
      <p:sp>
        <p:nvSpPr>
          <p:cNvPr id="200" name="Rectangle 8"/>
          <p:cNvSpPr>
            <a:spLocks noChangeArrowheads="1"/>
          </p:cNvSpPr>
          <p:nvPr/>
        </p:nvSpPr>
        <p:spPr bwMode="auto">
          <a:xfrm>
            <a:off x="5336363" y="1689555"/>
            <a:ext cx="566936" cy="326033"/>
          </a:xfrm>
          <a:prstGeom prst="roundRect">
            <a:avLst/>
          </a:prstGeom>
          <a:solidFill>
            <a:srgbClr val="FBD893"/>
          </a:solidFill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流程</a:t>
            </a:r>
            <a:endParaRPr lang="en-US" altLang="zh-CN" sz="900" dirty="0">
              <a:latin typeface="+mn-ea"/>
              <a:cs typeface="FrutigerNext LT Regular" pitchFamily="34" charset="0"/>
            </a:endParaRPr>
          </a:p>
          <a:p>
            <a:pPr algn="ctr"/>
            <a:r>
              <a:rPr lang="zh-CN" altLang="en-US" sz="900" dirty="0">
                <a:latin typeface="+mn-ea"/>
                <a:cs typeface="FrutigerNext LT Regular" pitchFamily="34" charset="0"/>
              </a:rPr>
              <a:t>质量部</a:t>
            </a:r>
            <a:endParaRPr lang="zh-CN" altLang="en-US" sz="900" dirty="0">
              <a:latin typeface="+mn-ea"/>
            </a:endParaRPr>
          </a:p>
        </p:txBody>
      </p:sp>
      <p:sp>
        <p:nvSpPr>
          <p:cNvPr id="201" name="AutoShape 5"/>
          <p:cNvSpPr>
            <a:spLocks noChangeShapeType="1"/>
          </p:cNvSpPr>
          <p:nvPr/>
        </p:nvSpPr>
        <p:spPr bwMode="auto">
          <a:xfrm rot="16200000" flipH="1">
            <a:off x="7124751" y="810355"/>
            <a:ext cx="402857" cy="1353659"/>
          </a:xfrm>
          <a:prstGeom prst="bentConnector3">
            <a:avLst>
              <a:gd name="adj1" fmla="val 47678"/>
            </a:avLst>
          </a:prstGeom>
          <a:noFill/>
          <a:ln w="9525">
            <a:solidFill>
              <a:schemeClr val="tx1"/>
            </a:solidFill>
            <a:prstDash val="lgDash"/>
            <a:miter lim="800000"/>
          </a:ln>
          <a:effectLst/>
        </p:spPr>
        <p:txBody>
          <a:bodyPr vert="horz" wrap="square" lIns="77943" tIns="38972" rIns="77943" bIns="38972" numCol="1" anchor="t" anchorCtr="0" compatLnSpc="1"/>
          <a:lstStyle/>
          <a:p>
            <a:endParaRPr lang="zh-CN" altLang="en-US" sz="90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02" name="形状 20"/>
          <p:cNvCxnSpPr/>
          <p:nvPr/>
        </p:nvCxnSpPr>
        <p:spPr bwMode="auto">
          <a:xfrm rot="5400000">
            <a:off x="6224923" y="1271322"/>
            <a:ext cx="417287" cy="43184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肘形连接符 22"/>
          <p:cNvCxnSpPr/>
          <p:nvPr/>
        </p:nvCxnSpPr>
        <p:spPr bwMode="auto">
          <a:xfrm rot="16200000" flipH="1">
            <a:off x="6756015" y="1191064"/>
            <a:ext cx="404617" cy="598701"/>
          </a:xfrm>
          <a:prstGeom prst="bentConnector3">
            <a:avLst>
              <a:gd name="adj1" fmla="val 49100"/>
            </a:avLst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Rectangle 17"/>
          <p:cNvSpPr>
            <a:spLocks noChangeArrowheads="1"/>
          </p:cNvSpPr>
          <p:nvPr/>
        </p:nvSpPr>
        <p:spPr bwMode="auto">
          <a:xfrm>
            <a:off x="5901625" y="2139702"/>
            <a:ext cx="1581930" cy="216000"/>
          </a:xfrm>
          <a:prstGeom prst="roundRect">
            <a:avLst/>
          </a:prstGeom>
          <a:solidFill>
            <a:srgbClr val="F7B021"/>
          </a:solidFill>
          <a:ln w="9525" algn="ctr">
            <a:noFill/>
            <a:miter lim="800000"/>
          </a:ln>
          <a:effectLst/>
        </p:spPr>
        <p:txBody>
          <a:bodyPr lIns="70713" tIns="35358" rIns="70713" bIns="35358"/>
          <a:lstStyle/>
          <a:p>
            <a:pPr algn="ctr" defTabSz="715645">
              <a:defRPr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代表处总经办</a:t>
            </a:r>
            <a:endParaRPr lang="zh-CN" alt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5" name="Rectangle 17"/>
          <p:cNvSpPr>
            <a:spLocks noChangeArrowheads="1"/>
          </p:cNvSpPr>
          <p:nvPr/>
        </p:nvSpPr>
        <p:spPr bwMode="auto">
          <a:xfrm>
            <a:off x="5583744" y="2654175"/>
            <a:ext cx="517531" cy="286233"/>
          </a:xfrm>
          <a:prstGeom prst="round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lgDash"/>
            <a:miter lim="800000"/>
          </a:ln>
          <a:effectLst/>
        </p:spPr>
        <p:txBody>
          <a:bodyPr lIns="70713" tIns="35358" rIns="70713" bIns="35358" anchor="ctr"/>
          <a:lstStyle/>
          <a:p>
            <a:pPr algn="ctr" defTabSz="715645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流程</a:t>
            </a:r>
            <a:endParaRPr lang="en-US" altLang="zh-CN" sz="900" dirty="0">
              <a:solidFill>
                <a:srgbClr val="000000"/>
              </a:solidFill>
              <a:latin typeface="+mn-ea"/>
            </a:endParaRPr>
          </a:p>
          <a:p>
            <a:pPr algn="ctr" defTabSz="715645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质量</a:t>
            </a:r>
            <a:endParaRPr lang="zh-CN" altLang="en-US" sz="9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6" name="Rectangle 25"/>
          <p:cNvSpPr>
            <a:spLocks noChangeArrowheads="1"/>
          </p:cNvSpPr>
          <p:nvPr/>
        </p:nvSpPr>
        <p:spPr bwMode="auto">
          <a:xfrm>
            <a:off x="6310438" y="2657284"/>
            <a:ext cx="517235" cy="280014"/>
          </a:xfrm>
          <a:prstGeom prst="roundRect">
            <a:avLst/>
          </a:prstGeom>
          <a:solidFill>
            <a:schemeClr val="bg1"/>
          </a:solidFill>
          <a:ln w="9525" algn="ctr">
            <a:solidFill>
              <a:srgbClr val="C00000"/>
            </a:solidFill>
            <a:prstDash val="lgDash"/>
            <a:miter lim="800000"/>
          </a:ln>
          <a:effectLst/>
        </p:spPr>
        <p:txBody>
          <a:bodyPr lIns="81643" tIns="40821" rIns="81643" bIns="40821" anchor="ctr"/>
          <a:lstStyle/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运营</a:t>
            </a:r>
            <a:endParaRPr lang="en-US" altLang="zh-CN" sz="90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支撑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07" name="直接连接符 83"/>
          <p:cNvCxnSpPr>
            <a:cxnSpLocks noChangeShapeType="1"/>
          </p:cNvCxnSpPr>
          <p:nvPr/>
        </p:nvCxnSpPr>
        <p:spPr bwMode="auto">
          <a:xfrm flipH="1" flipV="1">
            <a:off x="4924185" y="2424228"/>
            <a:ext cx="2373914" cy="362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208" name="直接连接符 88"/>
          <p:cNvCxnSpPr>
            <a:cxnSpLocks noChangeShapeType="1"/>
          </p:cNvCxnSpPr>
          <p:nvPr/>
        </p:nvCxnSpPr>
        <p:spPr bwMode="auto">
          <a:xfrm flipV="1">
            <a:off x="6534281" y="2417467"/>
            <a:ext cx="0" cy="23034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sp>
        <p:nvSpPr>
          <p:cNvPr id="209" name="矩形 78"/>
          <p:cNvSpPr>
            <a:spLocks noChangeArrowheads="1"/>
          </p:cNvSpPr>
          <p:nvPr/>
        </p:nvSpPr>
        <p:spPr bwMode="auto">
          <a:xfrm>
            <a:off x="5355866" y="2531711"/>
            <a:ext cx="3507713" cy="585293"/>
          </a:xfrm>
          <a:prstGeom prst="roundRect">
            <a:avLst/>
          </a:prstGeom>
          <a:noFill/>
          <a:ln w="19050" algn="ctr">
            <a:solidFill>
              <a:srgbClr val="FF0000"/>
            </a:solidFill>
            <a:prstDash val="dash"/>
            <a:round/>
          </a:ln>
          <a:effectLst/>
        </p:spPr>
        <p:txBody>
          <a:bodyPr lIns="67510" tIns="33755" rIns="67510" bIns="33755"/>
          <a:lstStyle/>
          <a:p>
            <a:pPr defTabSz="683260"/>
            <a:endParaRPr lang="zh-CN" altLang="en-US" sz="9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7425992" y="2924416"/>
            <a:ext cx="1351738" cy="217205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zh-CN" altLang="en-US" sz="900" dirty="0">
                <a:latin typeface="+mn-ea"/>
              </a:rPr>
              <a:t>代表处质量运营</a:t>
            </a:r>
            <a:endParaRPr lang="en-US" altLang="zh-CN" sz="900" dirty="0">
              <a:latin typeface="+mn-ea"/>
            </a:endParaRPr>
          </a:p>
        </p:txBody>
      </p:sp>
      <p:sp>
        <p:nvSpPr>
          <p:cNvPr id="211" name="Rectangle 25"/>
          <p:cNvSpPr>
            <a:spLocks noChangeArrowheads="1"/>
          </p:cNvSpPr>
          <p:nvPr/>
        </p:nvSpPr>
        <p:spPr bwMode="auto">
          <a:xfrm>
            <a:off x="4723386" y="2654703"/>
            <a:ext cx="488316" cy="289621"/>
          </a:xfrm>
          <a:prstGeom prst="rect">
            <a:avLst/>
          </a:prstGeom>
          <a:solidFill>
            <a:srgbClr val="00B0F0"/>
          </a:solidFill>
          <a:ln w="9525" cmpd="sng" algn="ctr">
            <a:solidFill>
              <a:schemeClr val="tx1"/>
            </a:solidFill>
            <a:prstDash val="dash"/>
            <a:miter lim="800000"/>
          </a:ln>
          <a:effectLst/>
        </p:spPr>
        <p:txBody>
          <a:bodyPr lIns="81643" tIns="40821" rIns="81643" bIns="40821" anchor="ctr"/>
          <a:lstStyle/>
          <a:p>
            <a:pPr algn="ctr">
              <a:defRPr/>
            </a:pP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XX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12" name="直接连接符 87"/>
          <p:cNvCxnSpPr>
            <a:cxnSpLocks noChangeShapeType="1"/>
          </p:cNvCxnSpPr>
          <p:nvPr/>
        </p:nvCxnSpPr>
        <p:spPr bwMode="auto">
          <a:xfrm flipV="1">
            <a:off x="4924183" y="2424228"/>
            <a:ext cx="0" cy="230342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</a:ln>
          <a:effectLst/>
        </p:spPr>
      </p:cxnSp>
      <p:sp>
        <p:nvSpPr>
          <p:cNvPr id="213" name="Rectangle 17"/>
          <p:cNvSpPr>
            <a:spLocks noChangeArrowheads="1"/>
          </p:cNvSpPr>
          <p:nvPr/>
        </p:nvSpPr>
        <p:spPr bwMode="auto">
          <a:xfrm>
            <a:off x="7036836" y="2654175"/>
            <a:ext cx="517531" cy="286233"/>
          </a:xfrm>
          <a:prstGeom prst="round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lgDash"/>
            <a:miter lim="800000"/>
          </a:ln>
          <a:effectLst/>
        </p:spPr>
        <p:txBody>
          <a:bodyPr lIns="70713" tIns="35358" rIns="70713" bIns="35358" anchor="ctr"/>
          <a:lstStyle/>
          <a:p>
            <a:pPr algn="ctr" defTabSz="715645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安全</a:t>
            </a:r>
            <a:endParaRPr lang="en-US" altLang="zh-CN" sz="900" dirty="0">
              <a:solidFill>
                <a:srgbClr val="000000"/>
              </a:solidFill>
              <a:latin typeface="+mn-ea"/>
            </a:endParaRPr>
          </a:p>
          <a:p>
            <a:pPr algn="ctr" defTabSz="715645">
              <a:defRPr/>
            </a:pP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合规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14" name="直接连接符 88"/>
          <p:cNvCxnSpPr>
            <a:cxnSpLocks noChangeShapeType="1"/>
          </p:cNvCxnSpPr>
          <p:nvPr/>
        </p:nvCxnSpPr>
        <p:spPr bwMode="auto">
          <a:xfrm flipV="1">
            <a:off x="7298099" y="2424228"/>
            <a:ext cx="0" cy="23034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</p:spPr>
      </p:cxnSp>
      <p:cxnSp>
        <p:nvCxnSpPr>
          <p:cNvPr id="215" name="肘形连接符 39"/>
          <p:cNvCxnSpPr/>
          <p:nvPr/>
        </p:nvCxnSpPr>
        <p:spPr bwMode="auto">
          <a:xfrm rot="5400000">
            <a:off x="6082615" y="2122141"/>
            <a:ext cx="328192" cy="747437"/>
          </a:xfrm>
          <a:prstGeom prst="bentConnector3">
            <a:avLst>
              <a:gd name="adj1" fmla="val 2693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7" name="TextBox 216"/>
          <p:cNvSpPr txBox="1"/>
          <p:nvPr/>
        </p:nvSpPr>
        <p:spPr>
          <a:xfrm>
            <a:off x="4652296" y="3189769"/>
            <a:ext cx="3680224" cy="355704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spAutoFit/>
          </a:bodyPr>
          <a:lstStyle/>
          <a:p>
            <a:r>
              <a:rPr lang="en-US" altLang="zh-CN" sz="900" dirty="0">
                <a:solidFill>
                  <a:srgbClr val="000000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包括销售管理、融资、回款、合同商务等，由代表处自己选择。</a:t>
            </a:r>
            <a:endParaRPr lang="en-US" altLang="zh-CN" sz="900" dirty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虚线表示代管， 实线表示直接管理，虚框表示模块非实体部门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18" name="形状 45"/>
          <p:cNvCxnSpPr>
            <a:endCxn id="204" idx="3"/>
          </p:cNvCxnSpPr>
          <p:nvPr/>
        </p:nvCxnSpPr>
        <p:spPr bwMode="auto">
          <a:xfrm rot="16200000" flipH="1">
            <a:off x="6622306" y="1386453"/>
            <a:ext cx="899598" cy="822899"/>
          </a:xfrm>
          <a:prstGeom prst="bentConnector4">
            <a:avLst>
              <a:gd name="adj1" fmla="val 15134"/>
              <a:gd name="adj2" fmla="val 218322"/>
            </a:avLst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9" name="肘形连接符 53"/>
          <p:cNvCxnSpPr/>
          <p:nvPr/>
        </p:nvCxnSpPr>
        <p:spPr bwMode="auto">
          <a:xfrm rot="16200000" flipH="1">
            <a:off x="6570976" y="1426881"/>
            <a:ext cx="341450" cy="183897"/>
          </a:xfrm>
          <a:prstGeom prst="bentConnector3">
            <a:avLst>
              <a:gd name="adj1" fmla="val 4008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0" name="肘形连接符 57"/>
          <p:cNvCxnSpPr/>
          <p:nvPr/>
        </p:nvCxnSpPr>
        <p:spPr bwMode="auto">
          <a:xfrm rot="5400000" flipH="1" flipV="1">
            <a:off x="5964067" y="1003869"/>
            <a:ext cx="341450" cy="1029922"/>
          </a:xfrm>
          <a:prstGeom prst="bentConnector3">
            <a:avLst>
              <a:gd name="adj1" fmla="val 5991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1" name="Rectangle 36"/>
          <p:cNvSpPr>
            <a:spLocks noChangeArrowheads="1"/>
          </p:cNvSpPr>
          <p:nvPr/>
        </p:nvSpPr>
        <p:spPr bwMode="auto">
          <a:xfrm>
            <a:off x="7763531" y="2657138"/>
            <a:ext cx="524841" cy="280306"/>
          </a:xfrm>
          <a:prstGeom prst="round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lgDash"/>
            <a:miter lim="800000"/>
          </a:ln>
          <a:effectLst/>
        </p:spPr>
        <p:txBody>
          <a:bodyPr lIns="70713" tIns="35358" rIns="70713" bIns="35358" anchor="ctr"/>
          <a:lstStyle/>
          <a:p>
            <a:pPr algn="ctr" defTabSz="715645">
              <a:defRPr/>
            </a:pPr>
            <a:r>
              <a:rPr lang="en-US" altLang="zh-CN" sz="900" dirty="0">
                <a:solidFill>
                  <a:srgbClr val="000000"/>
                </a:solidFill>
                <a:latin typeface="+mn-ea"/>
              </a:rPr>
              <a:t>IT</a:t>
            </a:r>
            <a:r>
              <a:rPr lang="zh-CN" altLang="en-US" sz="900" dirty="0">
                <a:solidFill>
                  <a:srgbClr val="000000"/>
                </a:solidFill>
                <a:latin typeface="+mn-ea"/>
              </a:rPr>
              <a:t>服务</a:t>
            </a:r>
            <a:endParaRPr lang="zh-CN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457002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变革要点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93" name="圆角矩形 92"/>
          <p:cNvSpPr/>
          <p:nvPr/>
        </p:nvSpPr>
        <p:spPr bwMode="auto">
          <a:xfrm>
            <a:off x="4974089" y="3838046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价值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4" name="Oval 123"/>
          <p:cNvSpPr/>
          <p:nvPr/>
        </p:nvSpPr>
        <p:spPr bwMode="auto">
          <a:xfrm>
            <a:off x="547314" y="447576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7" name="Oval 124"/>
          <p:cNvSpPr/>
          <p:nvPr/>
        </p:nvSpPr>
        <p:spPr bwMode="auto">
          <a:xfrm>
            <a:off x="547314" y="4224640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8" name="Oval 129"/>
          <p:cNvSpPr/>
          <p:nvPr/>
        </p:nvSpPr>
        <p:spPr bwMode="auto">
          <a:xfrm>
            <a:off x="547314" y="4732958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09" name="Group 2"/>
          <p:cNvGrpSpPr/>
          <p:nvPr/>
        </p:nvGrpSpPr>
        <p:grpSpPr>
          <a:xfrm>
            <a:off x="2291910" y="1629517"/>
            <a:ext cx="701807" cy="531906"/>
            <a:chOff x="2287116" y="1676264"/>
            <a:chExt cx="887461" cy="672616"/>
          </a:xfrm>
        </p:grpSpPr>
        <p:sp>
          <p:nvSpPr>
            <p:cNvPr id="111" name="Oval 102"/>
            <p:cNvSpPr/>
            <p:nvPr/>
          </p:nvSpPr>
          <p:spPr bwMode="auto">
            <a:xfrm>
              <a:off x="2287116" y="1731220"/>
              <a:ext cx="887461" cy="492554"/>
            </a:xfrm>
            <a:prstGeom prst="ellipse">
              <a:avLst/>
            </a:prstGeom>
            <a:solidFill>
              <a:srgbClr val="3366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112" name="Group 13"/>
            <p:cNvGrpSpPr/>
            <p:nvPr/>
          </p:nvGrpSpPr>
          <p:grpSpPr bwMode="auto">
            <a:xfrm>
              <a:off x="2427062" y="1676264"/>
              <a:ext cx="652142" cy="672616"/>
              <a:chOff x="523" y="2809"/>
              <a:chExt cx="876" cy="882"/>
            </a:xfrm>
          </p:grpSpPr>
          <p:sp>
            <p:nvSpPr>
              <p:cNvPr id="115" name="Oval 14"/>
              <p:cNvSpPr>
                <a:spLocks noChangeArrowheads="1"/>
              </p:cNvSpPr>
              <p:nvPr/>
            </p:nvSpPr>
            <p:spPr bwMode="gray">
              <a:xfrm>
                <a:off x="523" y="2809"/>
                <a:ext cx="876" cy="876"/>
              </a:xfrm>
              <a:prstGeom prst="ellipse">
                <a:avLst/>
              </a:prstGeom>
              <a:noFill/>
              <a:ln w="19050" algn="ctr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6" name="Line 15"/>
              <p:cNvSpPr>
                <a:spLocks noChangeShapeType="1"/>
              </p:cNvSpPr>
              <p:nvPr/>
            </p:nvSpPr>
            <p:spPr bwMode="gray">
              <a:xfrm>
                <a:off x="964" y="2809"/>
                <a:ext cx="0" cy="870"/>
              </a:xfrm>
              <a:prstGeom prst="line">
                <a:avLst/>
              </a:pr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7" name="Line 16"/>
              <p:cNvSpPr>
                <a:spLocks noChangeShapeType="1"/>
              </p:cNvSpPr>
              <p:nvPr/>
            </p:nvSpPr>
            <p:spPr bwMode="gray">
              <a:xfrm>
                <a:off x="523" y="3244"/>
                <a:ext cx="876" cy="0"/>
              </a:xfrm>
              <a:prstGeom prst="line">
                <a:avLst/>
              </a:pr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8" name="Freeform 17"/>
              <p:cNvSpPr/>
              <p:nvPr/>
            </p:nvSpPr>
            <p:spPr bwMode="gray">
              <a:xfrm>
                <a:off x="1023" y="2815"/>
                <a:ext cx="182" cy="864"/>
              </a:xfrm>
              <a:custGeom>
                <a:avLst/>
                <a:gdLst>
                  <a:gd name="T0" fmla="*/ 0 w 182"/>
                  <a:gd name="T1" fmla="*/ 0 h 864"/>
                  <a:gd name="T2" fmla="*/ 182 w 182"/>
                  <a:gd name="T3" fmla="*/ 435 h 864"/>
                  <a:gd name="T4" fmla="*/ 6 w 182"/>
                  <a:gd name="T5" fmla="*/ 864 h 864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864"/>
                  <a:gd name="T11" fmla="*/ 182 w 182"/>
                  <a:gd name="T12" fmla="*/ 864 h 8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864">
                    <a:moveTo>
                      <a:pt x="0" y="0"/>
                    </a:moveTo>
                    <a:cubicBezTo>
                      <a:pt x="59" y="89"/>
                      <a:pt x="182" y="177"/>
                      <a:pt x="182" y="435"/>
                    </a:cubicBezTo>
                    <a:cubicBezTo>
                      <a:pt x="182" y="693"/>
                      <a:pt x="70" y="800"/>
                      <a:pt x="6" y="864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6" name="Freeform 18"/>
              <p:cNvSpPr/>
              <p:nvPr/>
            </p:nvSpPr>
            <p:spPr bwMode="gray">
              <a:xfrm>
                <a:off x="726" y="2821"/>
                <a:ext cx="197" cy="870"/>
              </a:xfrm>
              <a:custGeom>
                <a:avLst/>
                <a:gdLst>
                  <a:gd name="T0" fmla="*/ 167 w 197"/>
                  <a:gd name="T1" fmla="*/ 0 h 870"/>
                  <a:gd name="T2" fmla="*/ 0 w 197"/>
                  <a:gd name="T3" fmla="*/ 436 h 870"/>
                  <a:gd name="T4" fmla="*/ 197 w 197"/>
                  <a:gd name="T5" fmla="*/ 870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gray">
              <a:xfrm rot="5400000">
                <a:off x="892" y="3171"/>
                <a:ext cx="114" cy="653"/>
              </a:xfrm>
              <a:custGeom>
                <a:avLst/>
                <a:gdLst>
                  <a:gd name="T0" fmla="*/ 1 w 197"/>
                  <a:gd name="T1" fmla="*/ 0 h 870"/>
                  <a:gd name="T2" fmla="*/ 0 w 197"/>
                  <a:gd name="T3" fmla="*/ 19 h 870"/>
                  <a:gd name="T4" fmla="*/ 1 w 197"/>
                  <a:gd name="T5" fmla="*/ 37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8" name="Freeform 20"/>
              <p:cNvSpPr/>
              <p:nvPr/>
            </p:nvSpPr>
            <p:spPr bwMode="gray">
              <a:xfrm rot="16200000" flipV="1">
                <a:off x="900" y="2668"/>
                <a:ext cx="114" cy="653"/>
              </a:xfrm>
              <a:custGeom>
                <a:avLst/>
                <a:gdLst>
                  <a:gd name="T0" fmla="*/ 1 w 197"/>
                  <a:gd name="T1" fmla="*/ 0 h 870"/>
                  <a:gd name="T2" fmla="*/ 0 w 197"/>
                  <a:gd name="T3" fmla="*/ 19 h 870"/>
                  <a:gd name="T4" fmla="*/ 1 w 197"/>
                  <a:gd name="T5" fmla="*/ 37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113" name="Rectangle 21"/>
            <p:cNvSpPr>
              <a:spLocks noChangeArrowheads="1"/>
            </p:cNvSpPr>
            <p:nvPr/>
          </p:nvSpPr>
          <p:spPr bwMode="white">
            <a:xfrm>
              <a:off x="2354623" y="1763439"/>
              <a:ext cx="752445" cy="42811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+mn-ea"/>
                </a:rPr>
                <a:t>对内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129" name="Group 179"/>
          <p:cNvGrpSpPr/>
          <p:nvPr/>
        </p:nvGrpSpPr>
        <p:grpSpPr>
          <a:xfrm>
            <a:off x="2291910" y="2496950"/>
            <a:ext cx="701807" cy="547433"/>
            <a:chOff x="2287116" y="1656630"/>
            <a:chExt cx="887461" cy="692250"/>
          </a:xfrm>
        </p:grpSpPr>
        <p:sp>
          <p:nvSpPr>
            <p:cNvPr id="131" name="Oval 181"/>
            <p:cNvSpPr/>
            <p:nvPr/>
          </p:nvSpPr>
          <p:spPr bwMode="auto">
            <a:xfrm>
              <a:off x="2287116" y="1656630"/>
              <a:ext cx="887461" cy="492554"/>
            </a:xfrm>
            <a:prstGeom prst="ellipse">
              <a:avLst/>
            </a:prstGeom>
            <a:solidFill>
              <a:srgbClr val="3366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132" name="Group 13"/>
            <p:cNvGrpSpPr/>
            <p:nvPr/>
          </p:nvGrpSpPr>
          <p:grpSpPr bwMode="auto">
            <a:xfrm>
              <a:off x="2427062" y="1676264"/>
              <a:ext cx="652142" cy="672616"/>
              <a:chOff x="523" y="2809"/>
              <a:chExt cx="876" cy="882"/>
            </a:xfrm>
          </p:grpSpPr>
          <p:sp>
            <p:nvSpPr>
              <p:cNvPr id="135" name="Oval 14"/>
              <p:cNvSpPr>
                <a:spLocks noChangeArrowheads="1"/>
              </p:cNvSpPr>
              <p:nvPr/>
            </p:nvSpPr>
            <p:spPr bwMode="gray">
              <a:xfrm>
                <a:off x="523" y="2809"/>
                <a:ext cx="876" cy="876"/>
              </a:xfrm>
              <a:prstGeom prst="ellipse">
                <a:avLst/>
              </a:prstGeom>
              <a:noFill/>
              <a:ln w="19050" algn="ctr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6" name="Line 15"/>
              <p:cNvSpPr>
                <a:spLocks noChangeShapeType="1"/>
              </p:cNvSpPr>
              <p:nvPr/>
            </p:nvSpPr>
            <p:spPr bwMode="gray">
              <a:xfrm>
                <a:off x="964" y="2809"/>
                <a:ext cx="0" cy="870"/>
              </a:xfrm>
              <a:prstGeom prst="line">
                <a:avLst/>
              </a:pr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7" name="Line 16"/>
              <p:cNvSpPr>
                <a:spLocks noChangeShapeType="1"/>
              </p:cNvSpPr>
              <p:nvPr/>
            </p:nvSpPr>
            <p:spPr bwMode="gray">
              <a:xfrm>
                <a:off x="523" y="3244"/>
                <a:ext cx="876" cy="0"/>
              </a:xfrm>
              <a:prstGeom prst="line">
                <a:avLst/>
              </a:pr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8" name="Freeform 17"/>
              <p:cNvSpPr/>
              <p:nvPr/>
            </p:nvSpPr>
            <p:spPr bwMode="gray">
              <a:xfrm>
                <a:off x="1023" y="2815"/>
                <a:ext cx="182" cy="864"/>
              </a:xfrm>
              <a:custGeom>
                <a:avLst/>
                <a:gdLst>
                  <a:gd name="T0" fmla="*/ 0 w 182"/>
                  <a:gd name="T1" fmla="*/ 0 h 864"/>
                  <a:gd name="T2" fmla="*/ 182 w 182"/>
                  <a:gd name="T3" fmla="*/ 435 h 864"/>
                  <a:gd name="T4" fmla="*/ 6 w 182"/>
                  <a:gd name="T5" fmla="*/ 864 h 864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864"/>
                  <a:gd name="T11" fmla="*/ 182 w 182"/>
                  <a:gd name="T12" fmla="*/ 864 h 8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864">
                    <a:moveTo>
                      <a:pt x="0" y="0"/>
                    </a:moveTo>
                    <a:cubicBezTo>
                      <a:pt x="59" y="89"/>
                      <a:pt x="182" y="177"/>
                      <a:pt x="182" y="435"/>
                    </a:cubicBezTo>
                    <a:cubicBezTo>
                      <a:pt x="182" y="693"/>
                      <a:pt x="70" y="800"/>
                      <a:pt x="6" y="864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9" name="Freeform 18"/>
              <p:cNvSpPr/>
              <p:nvPr/>
            </p:nvSpPr>
            <p:spPr bwMode="gray">
              <a:xfrm>
                <a:off x="726" y="2821"/>
                <a:ext cx="197" cy="870"/>
              </a:xfrm>
              <a:custGeom>
                <a:avLst/>
                <a:gdLst>
                  <a:gd name="T0" fmla="*/ 167 w 197"/>
                  <a:gd name="T1" fmla="*/ 0 h 870"/>
                  <a:gd name="T2" fmla="*/ 0 w 197"/>
                  <a:gd name="T3" fmla="*/ 436 h 870"/>
                  <a:gd name="T4" fmla="*/ 197 w 197"/>
                  <a:gd name="T5" fmla="*/ 870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40" name="Freeform 19"/>
              <p:cNvSpPr/>
              <p:nvPr/>
            </p:nvSpPr>
            <p:spPr bwMode="gray">
              <a:xfrm rot="5400000">
                <a:off x="892" y="3171"/>
                <a:ext cx="114" cy="653"/>
              </a:xfrm>
              <a:custGeom>
                <a:avLst/>
                <a:gdLst>
                  <a:gd name="T0" fmla="*/ 1 w 197"/>
                  <a:gd name="T1" fmla="*/ 0 h 870"/>
                  <a:gd name="T2" fmla="*/ 0 w 197"/>
                  <a:gd name="T3" fmla="*/ 19 h 870"/>
                  <a:gd name="T4" fmla="*/ 1 w 197"/>
                  <a:gd name="T5" fmla="*/ 37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41" name="Freeform 20"/>
              <p:cNvSpPr/>
              <p:nvPr/>
            </p:nvSpPr>
            <p:spPr bwMode="gray">
              <a:xfrm rot="16200000" flipV="1">
                <a:off x="871" y="2955"/>
                <a:ext cx="114" cy="653"/>
              </a:xfrm>
              <a:custGeom>
                <a:avLst/>
                <a:gdLst>
                  <a:gd name="T0" fmla="*/ 1 w 197"/>
                  <a:gd name="T1" fmla="*/ 0 h 870"/>
                  <a:gd name="T2" fmla="*/ 0 w 197"/>
                  <a:gd name="T3" fmla="*/ 19 h 870"/>
                  <a:gd name="T4" fmla="*/ 1 w 197"/>
                  <a:gd name="T5" fmla="*/ 37 h 870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870"/>
                  <a:gd name="T11" fmla="*/ 197 w 197"/>
                  <a:gd name="T12" fmla="*/ 870 h 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870">
                    <a:moveTo>
                      <a:pt x="167" y="0"/>
                    </a:moveTo>
                    <a:cubicBezTo>
                      <a:pt x="117" y="64"/>
                      <a:pt x="0" y="178"/>
                      <a:pt x="0" y="436"/>
                    </a:cubicBezTo>
                    <a:cubicBezTo>
                      <a:pt x="0" y="694"/>
                      <a:pt x="124" y="769"/>
                      <a:pt x="197" y="870"/>
                    </a:cubicBezTo>
                  </a:path>
                </a:pathLst>
              </a:custGeom>
              <a:noFill/>
              <a:ln w="19050">
                <a:solidFill>
                  <a:srgbClr val="FFFFFF">
                    <a:alpha val="20000"/>
                  </a:srgbClr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133" name="Rectangle 21"/>
            <p:cNvSpPr>
              <a:spLocks noChangeArrowheads="1"/>
            </p:cNvSpPr>
            <p:nvPr/>
          </p:nvSpPr>
          <p:spPr bwMode="white">
            <a:xfrm>
              <a:off x="2352427" y="1701240"/>
              <a:ext cx="752445" cy="42811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+mn-ea"/>
                </a:rPr>
                <a:t>对外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95" name="Rectangle 15"/>
          <p:cNvSpPr>
            <a:spLocks noChangeArrowheads="1"/>
          </p:cNvSpPr>
          <p:nvPr/>
        </p:nvSpPr>
        <p:spPr bwMode="auto">
          <a:xfrm>
            <a:off x="5988463" y="1132105"/>
            <a:ext cx="1322580" cy="216000"/>
          </a:xfrm>
          <a:prstGeom prst="round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77943" tIns="38972" rIns="77943" bIns="38972" numCol="1" anchor="ctr" anchorCtr="0" compatLnSpc="1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+mn-ea"/>
                <a:cs typeface="FrutigerNext LT Regular" pitchFamily="34" charset="0"/>
              </a:rPr>
              <a:t>地区部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cs typeface="MS PGothic" panose="020B0600070205080204" pitchFamily="34" charset="-128"/>
              </a:rPr>
              <a:t>总裁办</a:t>
            </a:r>
            <a:endParaRPr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99557" y="1529837"/>
            <a:ext cx="2363371" cy="1703298"/>
            <a:chOff x="-2160573" y="1306308"/>
            <a:chExt cx="2363371" cy="1703298"/>
          </a:xfrm>
        </p:grpSpPr>
        <p:sp>
          <p:nvSpPr>
            <p:cNvPr id="21" name="圆角矩形 20"/>
            <p:cNvSpPr/>
            <p:nvPr/>
          </p:nvSpPr>
          <p:spPr bwMode="auto">
            <a:xfrm>
              <a:off x="-1351025" y="1306308"/>
              <a:ext cx="720000" cy="254519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代表处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2" name="圆角矩形 141"/>
            <p:cNvSpPr/>
            <p:nvPr/>
          </p:nvSpPr>
          <p:spPr bwMode="auto">
            <a:xfrm>
              <a:off x="-2107408" y="1872725"/>
              <a:ext cx="720000" cy="254519"/>
            </a:xfrm>
            <a:prstGeom prst="roundRect">
              <a:avLst/>
            </a:prstGeom>
            <a:solidFill>
              <a:srgbClr val="F7B021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财务部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3" name="圆角矩形 142"/>
            <p:cNvSpPr/>
            <p:nvPr/>
          </p:nvSpPr>
          <p:spPr bwMode="auto">
            <a:xfrm>
              <a:off x="-2107408" y="2228442"/>
              <a:ext cx="720000" cy="254519"/>
            </a:xfrm>
            <a:prstGeom prst="roundRect">
              <a:avLst/>
            </a:prstGeom>
            <a:solidFill>
              <a:srgbClr val="F7B021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人力资源部</a:t>
              </a:r>
              <a:endParaRPr kumimoji="0" lang="zh-CN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4" name="圆角矩形 143"/>
            <p:cNvSpPr/>
            <p:nvPr/>
          </p:nvSpPr>
          <p:spPr bwMode="auto">
            <a:xfrm>
              <a:off x="-806628" y="2228442"/>
              <a:ext cx="720000" cy="254519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总经理办公室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5" name="圆角矩形 144"/>
            <p:cNvSpPr/>
            <p:nvPr/>
          </p:nvSpPr>
          <p:spPr bwMode="auto">
            <a:xfrm>
              <a:off x="-2160573" y="2755087"/>
              <a:ext cx="756000" cy="25451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运营商业务部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6" name="圆角矩形 145"/>
            <p:cNvSpPr/>
            <p:nvPr/>
          </p:nvSpPr>
          <p:spPr bwMode="auto">
            <a:xfrm>
              <a:off x="-1369025" y="2755087"/>
              <a:ext cx="756000" cy="25451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终端业务部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sp>
          <p:nvSpPr>
            <p:cNvPr id="147" name="圆角矩形 146"/>
            <p:cNvSpPr/>
            <p:nvPr/>
          </p:nvSpPr>
          <p:spPr bwMode="auto">
            <a:xfrm>
              <a:off x="-553202" y="2755087"/>
              <a:ext cx="756000" cy="25451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zh-CN" altLang="en-US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</a:rPr>
                <a:t>企业业务部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endParaRPr>
            </a:p>
          </p:txBody>
        </p:sp>
        <p:cxnSp>
          <p:nvCxnSpPr>
            <p:cNvPr id="23" name="直接连接符 22"/>
            <p:cNvCxnSpPr>
              <a:stCxn id="21" idx="2"/>
              <a:endCxn id="146" idx="0"/>
            </p:cNvCxnSpPr>
            <p:nvPr/>
          </p:nvCxnSpPr>
          <p:spPr bwMode="auto">
            <a:xfrm>
              <a:off x="-991025" y="1560827"/>
              <a:ext cx="0" cy="119426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43" idx="3"/>
              <a:endCxn id="144" idx="1"/>
            </p:cNvCxnSpPr>
            <p:nvPr/>
          </p:nvCxnSpPr>
          <p:spPr bwMode="auto">
            <a:xfrm>
              <a:off x="-1387408" y="2355702"/>
              <a:ext cx="580780" cy="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145" idx="0"/>
            </p:cNvCxnSpPr>
            <p:nvPr/>
          </p:nvCxnSpPr>
          <p:spPr bwMode="auto">
            <a:xfrm rot="5400000" flipH="1" flipV="1">
              <a:off x="-1400894" y="2160822"/>
              <a:ext cx="212587" cy="975944"/>
            </a:xfrm>
            <a:prstGeom prst="bentConnector2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endCxn id="147" idx="0"/>
            </p:cNvCxnSpPr>
            <p:nvPr/>
          </p:nvCxnSpPr>
          <p:spPr bwMode="auto">
            <a:xfrm>
              <a:off x="-984653" y="2542500"/>
              <a:ext cx="809451" cy="212587"/>
            </a:xfrm>
            <a:prstGeom prst="bentConnector2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>
              <a:stCxn id="142" idx="3"/>
            </p:cNvCxnSpPr>
            <p:nvPr/>
          </p:nvCxnSpPr>
          <p:spPr bwMode="auto">
            <a:xfrm>
              <a:off x="-1387408" y="1999985"/>
              <a:ext cx="396383" cy="0"/>
            </a:xfrm>
            <a:prstGeom prst="line">
              <a:avLst/>
            </a:prstGeom>
            <a:ln w="9525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-2160573" y="209435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>
                  <a:latin typeface="+mn-ea"/>
                </a:rPr>
                <a:t>CFO</a:t>
              </a:r>
              <a:endParaRPr lang="zh-CN" altLang="en-US" sz="600" dirty="0">
                <a:latin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-2160573" y="2458488"/>
              <a:ext cx="41069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>
                  <a:latin typeface="+mn-ea"/>
                </a:rPr>
                <a:t>HR BP</a:t>
              </a:r>
              <a:endParaRPr lang="zh-CN" altLang="en-US" sz="600" dirty="0">
                <a:latin typeface="+mn-ea"/>
              </a:endParaRPr>
            </a:p>
          </p:txBody>
        </p:sp>
        <p:sp>
          <p:nvSpPr>
            <p:cNvPr id="156" name="圆角矩形 155"/>
            <p:cNvSpPr/>
            <p:nvPr/>
          </p:nvSpPr>
          <p:spPr bwMode="auto">
            <a:xfrm>
              <a:off x="-836857" y="2023032"/>
              <a:ext cx="433122" cy="206824"/>
            </a:xfrm>
            <a:prstGeom prst="roundRect">
              <a:avLst/>
            </a:prstGeom>
            <a:solidFill>
              <a:srgbClr val="FDEAC3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</a:pPr>
              <a:r>
                <a:rPr kumimoji="0" lang="en-US" altLang="zh-CN" sz="800" b="0" i="0" u="none" strike="noStrike" cap="none" normalizeH="0" baseline="0" dirty="0">
                  <a:ln>
                    <a:noFill/>
                  </a:ln>
                  <a:effectLst/>
                  <a:latin typeface="+mn-ea"/>
                </a:rPr>
                <a:t>Q&amp;OBP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effectLst/>
                <a:latin typeface="+mn-ea"/>
              </a:endParaRPr>
            </a:p>
          </p:txBody>
        </p:sp>
      </p:grpSp>
      <p:sp>
        <p:nvSpPr>
          <p:cNvPr id="161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11\20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6818111" y="97796"/>
            <a:ext cx="1043678" cy="573498"/>
            <a:chOff x="6818111" y="97796"/>
            <a:chExt cx="1043678" cy="573498"/>
          </a:xfrm>
        </p:grpSpPr>
        <p:sp>
          <p:nvSpPr>
            <p:cNvPr id="98" name="Rectangle 34"/>
            <p:cNvSpPr/>
            <p:nvPr/>
          </p:nvSpPr>
          <p:spPr bwMode="auto">
            <a:xfrm>
              <a:off x="7359737" y="97796"/>
              <a:ext cx="231238" cy="57349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Deal Hub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0" name="Rectangle 35"/>
            <p:cNvSpPr/>
            <p:nvPr/>
          </p:nvSpPr>
          <p:spPr bwMode="auto">
            <a:xfrm>
              <a:off x="7630551" y="97796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量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运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营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1" name="Rectangle 36"/>
            <p:cNvSpPr/>
            <p:nvPr/>
          </p:nvSpPr>
          <p:spPr bwMode="auto">
            <a:xfrm>
              <a:off x="7088924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CC3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3" name="Rectangle 36"/>
            <p:cNvSpPr/>
            <p:nvPr/>
          </p:nvSpPr>
          <p:spPr bwMode="auto">
            <a:xfrm>
              <a:off x="6818111" y="97796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15588" numCol="1" rtlCol="0" anchor="ctr" anchorCtr="0" compatLnSpc="1">
              <a:noAutofit/>
            </a:bodyPr>
            <a:lstStyle/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系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统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900" kern="0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rPr>
                <a:t>部</a:t>
              </a:r>
              <a:endParaRPr lang="en-US" altLang="zh-CN" sz="900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4"/>
          <p:cNvSpPr>
            <a:spLocks noGrp="1"/>
          </p:cNvSpPr>
          <p:nvPr>
            <p:ph type="title" idx="4294967295"/>
          </p:nvPr>
        </p:nvSpPr>
        <p:spPr>
          <a:xfrm>
            <a:off x="167975" y="46612"/>
            <a:ext cx="7632700" cy="653653"/>
          </a:xfrm>
        </p:spPr>
        <p:txBody>
          <a:bodyPr/>
          <a:lstStyle/>
          <a:p>
            <a:pPr eaLnBrk="1" hangingPunct="1"/>
            <a: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LTC</a:t>
            </a:r>
            <a:r>
              <a:rPr lang="zh-CN" altLang="en-US" sz="2400" kern="1200" dirty="0">
                <a:solidFill>
                  <a:srgbClr val="0070C0"/>
                </a:solidFill>
                <a:latin typeface="+mn-ea"/>
                <a:ea typeface="+mn-ea"/>
              </a:rPr>
              <a:t>总体解决方案</a:t>
            </a:r>
            <a:endParaRPr lang="zh-CN" altLang="en-US" sz="1800" kern="1200" dirty="0">
              <a:solidFill>
                <a:srgbClr val="0070C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38136" y="665014"/>
            <a:ext cx="2116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+mn-ea"/>
              </a:rPr>
              <a:t>集成的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IT</a:t>
            </a:r>
            <a:r>
              <a:rPr lang="zh-CN" altLang="en-US" dirty="0">
                <a:solidFill>
                  <a:srgbClr val="0070C0"/>
                </a:solidFill>
                <a:latin typeface="+mn-ea"/>
              </a:rPr>
              <a:t>及数据</a:t>
            </a:r>
            <a:endParaRPr lang="zh-CN" altLang="en-US" dirty="0">
              <a:latin typeface="+mn-ea"/>
            </a:endParaRPr>
          </a:p>
        </p:txBody>
      </p:sp>
      <p:sp>
        <p:nvSpPr>
          <p:cNvPr id="29" name="Rectangle 45"/>
          <p:cNvSpPr/>
          <p:nvPr/>
        </p:nvSpPr>
        <p:spPr bwMode="auto">
          <a:xfrm>
            <a:off x="4683239" y="1351808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30" name="Rectangle 45"/>
          <p:cNvSpPr/>
          <p:nvPr/>
        </p:nvSpPr>
        <p:spPr bwMode="auto">
          <a:xfrm>
            <a:off x="451973" y="2932603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Line 5"/>
          <p:cNvSpPr>
            <a:spLocks noChangeShapeType="1"/>
          </p:cNvSpPr>
          <p:nvPr/>
        </p:nvSpPr>
        <p:spPr bwMode="auto">
          <a:xfrm flipV="1">
            <a:off x="472868" y="2755964"/>
            <a:ext cx="2793023" cy="0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406811" y="4074260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HK" altLang="zh-CN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4683239" y="1092364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HK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2. </a:t>
            </a:r>
            <a:r>
              <a:rPr kumimoji="0" lang="zh-HK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管理体系</a:t>
            </a:r>
            <a:endParaRPr kumimoji="0" lang="zh-HK" altLang="en-US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Rectangle 45"/>
          <p:cNvSpPr/>
          <p:nvPr/>
        </p:nvSpPr>
        <p:spPr bwMode="auto">
          <a:xfrm>
            <a:off x="4697893" y="2935982"/>
            <a:ext cx="3953707" cy="1279594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21465" y="1092364"/>
            <a:ext cx="3953708" cy="1579677"/>
            <a:chOff x="421465" y="1016164"/>
            <a:chExt cx="3953708" cy="1579677"/>
          </a:xfrm>
        </p:grpSpPr>
        <p:sp>
          <p:nvSpPr>
            <p:cNvPr id="36" name="Rectangle 6"/>
            <p:cNvSpPr/>
            <p:nvPr/>
          </p:nvSpPr>
          <p:spPr bwMode="auto">
            <a:xfrm>
              <a:off x="421466" y="1316247"/>
              <a:ext cx="3953707" cy="127959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lvl="0" indent="0" defTabSz="7791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421465" y="1016164"/>
              <a:ext cx="3953707" cy="391597"/>
            </a:xfrm>
            <a:prstGeom prst="roundRect">
              <a:avLst/>
            </a:prstGeom>
            <a:solidFill>
              <a:srgbClr val="00ACE2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lnSpc>
                  <a:spcPct val="140000"/>
                </a:lnSpc>
                <a:buClr>
                  <a:schemeClr val="bg2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lnSpc>
                  <a:spcPct val="14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140000"/>
                </a:lnSpc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140000"/>
                </a:lnSpc>
                <a:buChar char="–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140000"/>
                </a:lnSpc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Font typeface="FrutigerNext LT Medium" pitchFamily="34" charset="0"/>
                <a:buChar char="~"/>
                <a:defRPr sz="1200">
                  <a:solidFill>
                    <a:schemeClr val="tx1"/>
                  </a:solidFill>
                  <a:latin typeface="FrutigerNext LT Medium" pitchFamily="34" charset="0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HK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4683239" y="4074260"/>
            <a:ext cx="3968361" cy="391597"/>
          </a:xfrm>
          <a:prstGeom prst="roundRect">
            <a:avLst/>
          </a:prstGeom>
          <a:solidFill>
            <a:srgbClr val="00ACE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HK" altLang="en-US" sz="1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Oval 3"/>
          <p:cNvSpPr>
            <a:spLocks noChangeArrowheads="1"/>
          </p:cNvSpPr>
          <p:nvPr/>
        </p:nvSpPr>
        <p:spPr bwMode="auto">
          <a:xfrm>
            <a:off x="3438841" y="1929535"/>
            <a:ext cx="2220699" cy="1642865"/>
          </a:xfrm>
          <a:prstGeom prst="ellipse">
            <a:avLst/>
          </a:prstGeom>
          <a:solidFill>
            <a:srgbClr val="0070C0"/>
          </a:solidFill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en-US" altLang="zh-CN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98870" y="2215904"/>
            <a:ext cx="2286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LTC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总体解决方案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Rectangle 2"/>
          <p:cNvSpPr/>
          <p:nvPr/>
        </p:nvSpPr>
        <p:spPr>
          <a:xfrm>
            <a:off x="5547048" y="1567832"/>
            <a:ext cx="31901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授权、评审、决策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交易质量管理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Metrics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运营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4529205" y="1092364"/>
            <a:ext cx="0" cy="745498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Line 5"/>
          <p:cNvSpPr>
            <a:spLocks noChangeShapeType="1"/>
          </p:cNvSpPr>
          <p:nvPr/>
        </p:nvSpPr>
        <p:spPr bwMode="auto">
          <a:xfrm flipV="1">
            <a:off x="5792520" y="2755964"/>
            <a:ext cx="2793023" cy="0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529205" y="3630646"/>
            <a:ext cx="0" cy="745498"/>
          </a:xfrm>
          <a:prstGeom prst="line">
            <a:avLst/>
          </a:prstGeom>
          <a:noFill/>
          <a:ln w="9525">
            <a:solidFill>
              <a:srgbClr val="FFFFFF">
                <a:lumMod val="75000"/>
              </a:srgb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739261" y="1513825"/>
            <a:ext cx="3145531" cy="1418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" indent="-180975"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174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tabLst>
                <a:tab pos="1746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tabLst>
                <a:tab pos="1746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tabLst>
                <a:tab pos="174625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tabLst>
                <a:tab pos="174625" algn="l"/>
              </a:tabLst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LTC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主业务流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(ML/MO/MCE)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国家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客户群视角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L5L6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适配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  <a:p>
            <a:pPr marL="284480" marR="0" lvl="0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tabLst>
                <a:tab pos="174625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对准客户流程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对准业务痛点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对准内部集成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  <a:p>
            <a:pPr marL="292100" marR="0" lvl="0" indent="-2921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74625" algn="l"/>
              </a:tabLst>
              <a:defRPr/>
            </a:pPr>
            <a:endParaRPr kumimoji="0" lang="zh-HK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739261" y="3007990"/>
            <a:ext cx="23702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系统部优化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CC3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项目制运作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Deal Hub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建立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质量运营组织建设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543225" y="1103496"/>
            <a:ext cx="15376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1. 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流程和集成</a:t>
            </a:r>
            <a:endParaRPr kumimoji="0" lang="en-US" altLang="zh-HK" sz="1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1" name="圆角矩形 50"/>
          <p:cNvSpPr/>
          <p:nvPr/>
        </p:nvSpPr>
        <p:spPr bwMode="auto">
          <a:xfrm>
            <a:off x="920564" y="-499507"/>
            <a:ext cx="8223436" cy="276999"/>
          </a:xfrm>
          <a:prstGeom prst="roundRect">
            <a:avLst>
              <a:gd name="adj" fmla="val 1138"/>
            </a:avLst>
          </a:prstGeom>
          <a:solidFill>
            <a:srgbClr val="FFFFFF">
              <a:lumMod val="95000"/>
              <a:alpha val="8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391295" y="1092364"/>
            <a:ext cx="8264416" cy="3367538"/>
          </a:xfrm>
          <a:prstGeom prst="roundRect">
            <a:avLst>
              <a:gd name="adj" fmla="val 2702"/>
            </a:avLst>
          </a:prstGeom>
          <a:solidFill>
            <a:srgbClr val="F2F2F2">
              <a:alpha val="83922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n"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3" name="Rectangle 7"/>
          <p:cNvSpPr/>
          <p:nvPr/>
        </p:nvSpPr>
        <p:spPr bwMode="auto">
          <a:xfrm>
            <a:off x="4720198" y="2907230"/>
            <a:ext cx="3931402" cy="1552672"/>
          </a:xfrm>
          <a:prstGeom prst="rect">
            <a:avLst/>
          </a:prstGeom>
          <a:noFill/>
          <a:ln w="952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marL="0" marR="0" lvl="0" indent="0" defTabSz="779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54" name="Rectangle 8"/>
          <p:cNvSpPr>
            <a:spLocks noChangeArrowheads="1"/>
          </p:cNvSpPr>
          <p:nvPr/>
        </p:nvSpPr>
        <p:spPr bwMode="auto">
          <a:xfrm>
            <a:off x="518402" y="4072994"/>
            <a:ext cx="3218325" cy="391597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3. 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组织、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角色职责及</a:t>
            </a:r>
            <a:r>
              <a:rPr kumimoji="0" lang="zh-CN" altLang="zh-CN" sz="1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能力</a:t>
            </a:r>
            <a:endParaRPr kumimoji="0" lang="zh-HK" altLang="zh-CN" sz="1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4698844" y="4078073"/>
            <a:ext cx="3968361" cy="391597"/>
          </a:xfrm>
          <a:prstGeom prst="round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4.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endParaRPr kumimoji="0" lang="zh-HK" altLang="en-US" sz="17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547048" y="3152006"/>
            <a:ext cx="2818998" cy="908956"/>
            <a:chOff x="5569352" y="2967649"/>
            <a:chExt cx="2818998" cy="908956"/>
          </a:xfrm>
        </p:grpSpPr>
        <p:sp>
          <p:nvSpPr>
            <p:cNvPr id="47" name="Rectangle 4"/>
            <p:cNvSpPr/>
            <p:nvPr/>
          </p:nvSpPr>
          <p:spPr>
            <a:xfrm>
              <a:off x="5569352" y="2967649"/>
              <a:ext cx="21146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端到端的作业平台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5820467" y="3291830"/>
              <a:ext cx="256788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4140" marR="0" lvl="0" indent="-10414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iSales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  <a:p>
              <a:pPr marL="104140" marR="0" lvl="0" indent="-10414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配置打通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交付上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ERP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56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12\20</a:t>
            </a:r>
            <a:endParaRPr lang="zh-CN" altLang="en-US" sz="1000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/>
        </p:nvSpPr>
        <p:spPr bwMode="gray">
          <a:xfrm>
            <a:off x="150086" y="152478"/>
            <a:ext cx="6769592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分层构建简单、灵活、集成、高效的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架构，支撑一线业务运作效率提升</a:t>
            </a:r>
            <a:endParaRPr lang="en-US" altLang="zh-CN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11" name="矩形 212"/>
          <p:cNvSpPr/>
          <p:nvPr/>
        </p:nvSpPr>
        <p:spPr bwMode="auto">
          <a:xfrm>
            <a:off x="778920" y="2674670"/>
            <a:ext cx="6347077" cy="81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2" name="矩形 202"/>
          <p:cNvSpPr/>
          <p:nvPr/>
        </p:nvSpPr>
        <p:spPr bwMode="auto">
          <a:xfrm>
            <a:off x="779739" y="3560537"/>
            <a:ext cx="6347077" cy="783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8" name="矩形 214"/>
          <p:cNvSpPr/>
          <p:nvPr/>
        </p:nvSpPr>
        <p:spPr bwMode="auto">
          <a:xfrm>
            <a:off x="778920" y="1810574"/>
            <a:ext cx="6347077" cy="783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7" name="Freeform 23"/>
          <p:cNvSpPr/>
          <p:nvPr/>
        </p:nvSpPr>
        <p:spPr bwMode="auto">
          <a:xfrm>
            <a:off x="2191406" y="2986930"/>
            <a:ext cx="4046636" cy="319865"/>
          </a:xfrm>
          <a:custGeom>
            <a:avLst/>
            <a:gdLst/>
            <a:ahLst/>
            <a:cxnLst>
              <a:cxn ang="0">
                <a:pos x="0" y="2485"/>
              </a:cxn>
              <a:cxn ang="0">
                <a:pos x="6472" y="2485"/>
              </a:cxn>
              <a:cxn ang="0">
                <a:pos x="3236" y="0"/>
              </a:cxn>
              <a:cxn ang="0">
                <a:pos x="0" y="2485"/>
              </a:cxn>
            </a:cxnLst>
            <a:rect l="0" t="0" r="r" b="b"/>
            <a:pathLst>
              <a:path w="6472" h="2485">
                <a:moveTo>
                  <a:pt x="0" y="2485"/>
                </a:moveTo>
                <a:lnTo>
                  <a:pt x="6472" y="2485"/>
                </a:lnTo>
                <a:lnTo>
                  <a:pt x="3236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1" name="线形标注 1 71"/>
          <p:cNvSpPr/>
          <p:nvPr/>
        </p:nvSpPr>
        <p:spPr bwMode="auto">
          <a:xfrm>
            <a:off x="783271" y="1388758"/>
            <a:ext cx="6347077" cy="322867"/>
          </a:xfrm>
          <a:prstGeom prst="roundRect">
            <a:avLst/>
          </a:prstGeom>
          <a:solidFill>
            <a:srgbClr val="FCE6BA"/>
          </a:solidFill>
          <a:ln w="9525">
            <a:noFill/>
            <a:miter lim="800000"/>
          </a:ln>
          <a:effectLst/>
        </p:spPr>
        <p:txBody>
          <a:bodyPr lIns="74461" tIns="37231" rIns="74461" bIns="37231" anchor="ctr" anchorCtr="1">
            <a:noAutofit/>
          </a:bodyPr>
          <a:lstStyle/>
          <a:p>
            <a:pPr algn="ctr" defTabSz="779145" fontAlgn="auto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</a:pPr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建立基于角色的一站式工作平台（</a:t>
            </a:r>
            <a:r>
              <a:rPr lang="en-US" altLang="zh-CN" sz="1000" b="1" dirty="0" err="1">
                <a:solidFill>
                  <a:srgbClr val="000000"/>
                </a:solidFill>
                <a:latin typeface="+mn-ea"/>
              </a:rPr>
              <a:t>iSales</a:t>
            </a:r>
            <a:r>
              <a:rPr lang="en-US" altLang="zh-CN" sz="1000" b="1" dirty="0">
                <a:solidFill>
                  <a:srgbClr val="000000"/>
                </a:solidFill>
                <a:latin typeface="+mn-ea"/>
              </a:rPr>
              <a:t>)</a:t>
            </a:r>
            <a:endParaRPr lang="en-US" altLang="zh-CN" sz="1000" b="1" dirty="0">
              <a:solidFill>
                <a:srgbClr val="000000"/>
              </a:solidFill>
              <a:latin typeface="+mn-ea"/>
            </a:endParaRPr>
          </a:p>
          <a:p>
            <a:pPr algn="ctr" defTabSz="779145" fontAlgn="auto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（业务操作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内部协同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+BI+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知识分享）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1749461" y="863686"/>
            <a:ext cx="598223" cy="37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1"/>
          <p:cNvGrpSpPr/>
          <p:nvPr/>
        </p:nvGrpSpPr>
        <p:grpSpPr>
          <a:xfrm flipH="1">
            <a:off x="5453627" y="891680"/>
            <a:ext cx="162442" cy="224107"/>
            <a:chOff x="4867279" y="2055806"/>
            <a:chExt cx="1171578" cy="3067773"/>
          </a:xfrm>
          <a:solidFill>
            <a:srgbClr val="990000">
              <a:lumMod val="75000"/>
            </a:srgbClr>
          </a:solidFill>
          <a:effectLst>
            <a:reflection blurRad="6350" stA="52000" endA="300" endPos="35000" dir="5400000" sy="-100000" algn="bl" rotWithShape="0"/>
          </a:effectLst>
        </p:grpSpPr>
        <p:sp>
          <p:nvSpPr>
            <p:cNvPr id="134" name="Freeform 91"/>
            <p:cNvSpPr/>
            <p:nvPr/>
          </p:nvSpPr>
          <p:spPr bwMode="auto">
            <a:xfrm>
              <a:off x="5143504" y="2500306"/>
              <a:ext cx="831850" cy="1851025"/>
            </a:xfrm>
            <a:custGeom>
              <a:avLst/>
              <a:gdLst/>
              <a:ahLst/>
              <a:cxnLst>
                <a:cxn ang="0">
                  <a:pos x="386" y="40"/>
                </a:cxn>
                <a:cxn ang="0">
                  <a:pos x="412" y="48"/>
                </a:cxn>
                <a:cxn ang="0">
                  <a:pos x="432" y="70"/>
                </a:cxn>
                <a:cxn ang="0">
                  <a:pos x="440" y="98"/>
                </a:cxn>
                <a:cxn ang="0">
                  <a:pos x="442" y="116"/>
                </a:cxn>
                <a:cxn ang="0">
                  <a:pos x="448" y="134"/>
                </a:cxn>
                <a:cxn ang="0">
                  <a:pos x="452" y="154"/>
                </a:cxn>
                <a:cxn ang="0">
                  <a:pos x="482" y="248"/>
                </a:cxn>
                <a:cxn ang="0">
                  <a:pos x="522" y="410"/>
                </a:cxn>
                <a:cxn ang="0">
                  <a:pos x="522" y="422"/>
                </a:cxn>
                <a:cxn ang="0">
                  <a:pos x="514" y="450"/>
                </a:cxn>
                <a:cxn ang="0">
                  <a:pos x="460" y="580"/>
                </a:cxn>
                <a:cxn ang="0">
                  <a:pos x="476" y="616"/>
                </a:cxn>
                <a:cxn ang="0">
                  <a:pos x="490" y="672"/>
                </a:cxn>
                <a:cxn ang="0">
                  <a:pos x="486" y="704"/>
                </a:cxn>
                <a:cxn ang="0">
                  <a:pos x="490" y="928"/>
                </a:cxn>
                <a:cxn ang="0">
                  <a:pos x="492" y="1018"/>
                </a:cxn>
                <a:cxn ang="0">
                  <a:pos x="464" y="1096"/>
                </a:cxn>
                <a:cxn ang="0">
                  <a:pos x="396" y="1122"/>
                </a:cxn>
                <a:cxn ang="0">
                  <a:pos x="320" y="1144"/>
                </a:cxn>
                <a:cxn ang="0">
                  <a:pos x="228" y="1164"/>
                </a:cxn>
                <a:cxn ang="0">
                  <a:pos x="160" y="1160"/>
                </a:cxn>
                <a:cxn ang="0">
                  <a:pos x="106" y="1140"/>
                </a:cxn>
                <a:cxn ang="0">
                  <a:pos x="92" y="1102"/>
                </a:cxn>
                <a:cxn ang="0">
                  <a:pos x="92" y="1070"/>
                </a:cxn>
                <a:cxn ang="0">
                  <a:pos x="92" y="1012"/>
                </a:cxn>
                <a:cxn ang="0">
                  <a:pos x="92" y="960"/>
                </a:cxn>
                <a:cxn ang="0">
                  <a:pos x="86" y="838"/>
                </a:cxn>
                <a:cxn ang="0">
                  <a:pos x="88" y="744"/>
                </a:cxn>
                <a:cxn ang="0">
                  <a:pos x="68" y="736"/>
                </a:cxn>
                <a:cxn ang="0">
                  <a:pos x="64" y="728"/>
                </a:cxn>
                <a:cxn ang="0">
                  <a:pos x="80" y="660"/>
                </a:cxn>
                <a:cxn ang="0">
                  <a:pos x="94" y="600"/>
                </a:cxn>
                <a:cxn ang="0">
                  <a:pos x="116" y="522"/>
                </a:cxn>
                <a:cxn ang="0">
                  <a:pos x="124" y="480"/>
                </a:cxn>
                <a:cxn ang="0">
                  <a:pos x="108" y="430"/>
                </a:cxn>
                <a:cxn ang="0">
                  <a:pos x="88" y="380"/>
                </a:cxn>
                <a:cxn ang="0">
                  <a:pos x="74" y="338"/>
                </a:cxn>
                <a:cxn ang="0">
                  <a:pos x="46" y="240"/>
                </a:cxn>
                <a:cxn ang="0">
                  <a:pos x="26" y="160"/>
                </a:cxn>
                <a:cxn ang="0">
                  <a:pos x="6" y="132"/>
                </a:cxn>
                <a:cxn ang="0">
                  <a:pos x="0" y="106"/>
                </a:cxn>
                <a:cxn ang="0">
                  <a:pos x="4" y="74"/>
                </a:cxn>
                <a:cxn ang="0">
                  <a:pos x="16" y="54"/>
                </a:cxn>
                <a:cxn ang="0">
                  <a:pos x="56" y="46"/>
                </a:cxn>
                <a:cxn ang="0">
                  <a:pos x="86" y="36"/>
                </a:cxn>
                <a:cxn ang="0">
                  <a:pos x="112" y="22"/>
                </a:cxn>
                <a:cxn ang="0">
                  <a:pos x="166" y="0"/>
                </a:cxn>
                <a:cxn ang="0">
                  <a:pos x="178" y="0"/>
                </a:cxn>
                <a:cxn ang="0">
                  <a:pos x="338" y="28"/>
                </a:cxn>
              </a:cxnLst>
              <a:rect l="0" t="0" r="r" b="b"/>
              <a:pathLst>
                <a:path w="524" h="1166">
                  <a:moveTo>
                    <a:pt x="350" y="32"/>
                  </a:moveTo>
                  <a:lnTo>
                    <a:pt x="386" y="40"/>
                  </a:lnTo>
                  <a:lnTo>
                    <a:pt x="386" y="40"/>
                  </a:lnTo>
                  <a:lnTo>
                    <a:pt x="390" y="40"/>
                  </a:lnTo>
                  <a:lnTo>
                    <a:pt x="404" y="44"/>
                  </a:lnTo>
                  <a:lnTo>
                    <a:pt x="412" y="48"/>
                  </a:lnTo>
                  <a:lnTo>
                    <a:pt x="420" y="54"/>
                  </a:lnTo>
                  <a:lnTo>
                    <a:pt x="426" y="60"/>
                  </a:lnTo>
                  <a:lnTo>
                    <a:pt x="432" y="70"/>
                  </a:lnTo>
                  <a:lnTo>
                    <a:pt x="432" y="70"/>
                  </a:lnTo>
                  <a:lnTo>
                    <a:pt x="436" y="84"/>
                  </a:lnTo>
                  <a:lnTo>
                    <a:pt x="440" y="98"/>
                  </a:lnTo>
                  <a:lnTo>
                    <a:pt x="440" y="108"/>
                  </a:lnTo>
                  <a:lnTo>
                    <a:pt x="440" y="108"/>
                  </a:lnTo>
                  <a:lnTo>
                    <a:pt x="442" y="116"/>
                  </a:lnTo>
                  <a:lnTo>
                    <a:pt x="444" y="122"/>
                  </a:lnTo>
                  <a:lnTo>
                    <a:pt x="448" y="134"/>
                  </a:lnTo>
                  <a:lnTo>
                    <a:pt x="448" y="134"/>
                  </a:lnTo>
                  <a:lnTo>
                    <a:pt x="450" y="146"/>
                  </a:lnTo>
                  <a:lnTo>
                    <a:pt x="452" y="154"/>
                  </a:lnTo>
                  <a:lnTo>
                    <a:pt x="452" y="154"/>
                  </a:lnTo>
                  <a:lnTo>
                    <a:pt x="468" y="202"/>
                  </a:lnTo>
                  <a:lnTo>
                    <a:pt x="482" y="248"/>
                  </a:lnTo>
                  <a:lnTo>
                    <a:pt x="482" y="248"/>
                  </a:lnTo>
                  <a:lnTo>
                    <a:pt x="518" y="396"/>
                  </a:lnTo>
                  <a:lnTo>
                    <a:pt x="518" y="396"/>
                  </a:lnTo>
                  <a:lnTo>
                    <a:pt x="522" y="410"/>
                  </a:lnTo>
                  <a:lnTo>
                    <a:pt x="524" y="416"/>
                  </a:lnTo>
                  <a:lnTo>
                    <a:pt x="522" y="422"/>
                  </a:lnTo>
                  <a:lnTo>
                    <a:pt x="522" y="422"/>
                  </a:lnTo>
                  <a:lnTo>
                    <a:pt x="516" y="438"/>
                  </a:lnTo>
                  <a:lnTo>
                    <a:pt x="514" y="450"/>
                  </a:lnTo>
                  <a:lnTo>
                    <a:pt x="514" y="450"/>
                  </a:lnTo>
                  <a:lnTo>
                    <a:pt x="506" y="472"/>
                  </a:lnTo>
                  <a:lnTo>
                    <a:pt x="488" y="518"/>
                  </a:lnTo>
                  <a:lnTo>
                    <a:pt x="460" y="580"/>
                  </a:lnTo>
                  <a:lnTo>
                    <a:pt x="460" y="580"/>
                  </a:lnTo>
                  <a:lnTo>
                    <a:pt x="466" y="590"/>
                  </a:lnTo>
                  <a:lnTo>
                    <a:pt x="476" y="616"/>
                  </a:lnTo>
                  <a:lnTo>
                    <a:pt x="480" y="634"/>
                  </a:lnTo>
                  <a:lnTo>
                    <a:pt x="486" y="652"/>
                  </a:lnTo>
                  <a:lnTo>
                    <a:pt x="490" y="672"/>
                  </a:lnTo>
                  <a:lnTo>
                    <a:pt x="490" y="694"/>
                  </a:lnTo>
                  <a:lnTo>
                    <a:pt x="486" y="704"/>
                  </a:lnTo>
                  <a:lnTo>
                    <a:pt x="486" y="704"/>
                  </a:lnTo>
                  <a:lnTo>
                    <a:pt x="488" y="802"/>
                  </a:lnTo>
                  <a:lnTo>
                    <a:pt x="490" y="876"/>
                  </a:lnTo>
                  <a:lnTo>
                    <a:pt x="490" y="928"/>
                  </a:lnTo>
                  <a:lnTo>
                    <a:pt x="490" y="928"/>
                  </a:lnTo>
                  <a:lnTo>
                    <a:pt x="490" y="968"/>
                  </a:lnTo>
                  <a:lnTo>
                    <a:pt x="492" y="1018"/>
                  </a:lnTo>
                  <a:lnTo>
                    <a:pt x="494" y="1080"/>
                  </a:lnTo>
                  <a:lnTo>
                    <a:pt x="494" y="1080"/>
                  </a:lnTo>
                  <a:lnTo>
                    <a:pt x="464" y="1096"/>
                  </a:lnTo>
                  <a:lnTo>
                    <a:pt x="432" y="1110"/>
                  </a:lnTo>
                  <a:lnTo>
                    <a:pt x="414" y="1116"/>
                  </a:lnTo>
                  <a:lnTo>
                    <a:pt x="396" y="1122"/>
                  </a:lnTo>
                  <a:lnTo>
                    <a:pt x="396" y="1122"/>
                  </a:lnTo>
                  <a:lnTo>
                    <a:pt x="320" y="1144"/>
                  </a:lnTo>
                  <a:lnTo>
                    <a:pt x="320" y="1144"/>
                  </a:lnTo>
                  <a:lnTo>
                    <a:pt x="294" y="1152"/>
                  </a:lnTo>
                  <a:lnTo>
                    <a:pt x="252" y="1160"/>
                  </a:lnTo>
                  <a:lnTo>
                    <a:pt x="228" y="1164"/>
                  </a:lnTo>
                  <a:lnTo>
                    <a:pt x="204" y="1166"/>
                  </a:lnTo>
                  <a:lnTo>
                    <a:pt x="180" y="1164"/>
                  </a:lnTo>
                  <a:lnTo>
                    <a:pt x="160" y="1160"/>
                  </a:lnTo>
                  <a:lnTo>
                    <a:pt x="160" y="1160"/>
                  </a:lnTo>
                  <a:lnTo>
                    <a:pt x="126" y="1148"/>
                  </a:lnTo>
                  <a:lnTo>
                    <a:pt x="106" y="1140"/>
                  </a:lnTo>
                  <a:lnTo>
                    <a:pt x="92" y="1132"/>
                  </a:lnTo>
                  <a:lnTo>
                    <a:pt x="92" y="1132"/>
                  </a:lnTo>
                  <a:lnTo>
                    <a:pt x="92" y="1102"/>
                  </a:lnTo>
                  <a:lnTo>
                    <a:pt x="92" y="1102"/>
                  </a:lnTo>
                  <a:lnTo>
                    <a:pt x="92" y="1070"/>
                  </a:lnTo>
                  <a:lnTo>
                    <a:pt x="92" y="1070"/>
                  </a:lnTo>
                  <a:lnTo>
                    <a:pt x="92" y="1026"/>
                  </a:lnTo>
                  <a:lnTo>
                    <a:pt x="92" y="1026"/>
                  </a:lnTo>
                  <a:lnTo>
                    <a:pt x="92" y="1012"/>
                  </a:lnTo>
                  <a:lnTo>
                    <a:pt x="92" y="986"/>
                  </a:lnTo>
                  <a:lnTo>
                    <a:pt x="92" y="986"/>
                  </a:lnTo>
                  <a:lnTo>
                    <a:pt x="92" y="960"/>
                  </a:lnTo>
                  <a:lnTo>
                    <a:pt x="90" y="914"/>
                  </a:lnTo>
                  <a:lnTo>
                    <a:pt x="86" y="838"/>
                  </a:lnTo>
                  <a:lnTo>
                    <a:pt x="86" y="838"/>
                  </a:lnTo>
                  <a:lnTo>
                    <a:pt x="86" y="790"/>
                  </a:lnTo>
                  <a:lnTo>
                    <a:pt x="86" y="762"/>
                  </a:lnTo>
                  <a:lnTo>
                    <a:pt x="88" y="744"/>
                  </a:lnTo>
                  <a:lnTo>
                    <a:pt x="88" y="744"/>
                  </a:lnTo>
                  <a:lnTo>
                    <a:pt x="76" y="740"/>
                  </a:lnTo>
                  <a:lnTo>
                    <a:pt x="68" y="736"/>
                  </a:lnTo>
                  <a:lnTo>
                    <a:pt x="66" y="732"/>
                  </a:lnTo>
                  <a:lnTo>
                    <a:pt x="64" y="728"/>
                  </a:lnTo>
                  <a:lnTo>
                    <a:pt x="64" y="728"/>
                  </a:lnTo>
                  <a:lnTo>
                    <a:pt x="72" y="700"/>
                  </a:lnTo>
                  <a:lnTo>
                    <a:pt x="78" y="676"/>
                  </a:lnTo>
                  <a:lnTo>
                    <a:pt x="80" y="660"/>
                  </a:lnTo>
                  <a:lnTo>
                    <a:pt x="80" y="660"/>
                  </a:lnTo>
                  <a:lnTo>
                    <a:pt x="86" y="636"/>
                  </a:lnTo>
                  <a:lnTo>
                    <a:pt x="94" y="600"/>
                  </a:lnTo>
                  <a:lnTo>
                    <a:pt x="108" y="548"/>
                  </a:lnTo>
                  <a:lnTo>
                    <a:pt x="108" y="548"/>
                  </a:lnTo>
                  <a:lnTo>
                    <a:pt x="116" y="522"/>
                  </a:lnTo>
                  <a:lnTo>
                    <a:pt x="120" y="500"/>
                  </a:lnTo>
                  <a:lnTo>
                    <a:pt x="124" y="480"/>
                  </a:lnTo>
                  <a:lnTo>
                    <a:pt x="124" y="480"/>
                  </a:lnTo>
                  <a:lnTo>
                    <a:pt x="122" y="470"/>
                  </a:lnTo>
                  <a:lnTo>
                    <a:pt x="120" y="458"/>
                  </a:lnTo>
                  <a:lnTo>
                    <a:pt x="108" y="430"/>
                  </a:lnTo>
                  <a:lnTo>
                    <a:pt x="96" y="400"/>
                  </a:lnTo>
                  <a:lnTo>
                    <a:pt x="92" y="390"/>
                  </a:lnTo>
                  <a:lnTo>
                    <a:pt x="88" y="380"/>
                  </a:lnTo>
                  <a:lnTo>
                    <a:pt x="88" y="380"/>
                  </a:lnTo>
                  <a:lnTo>
                    <a:pt x="84" y="360"/>
                  </a:lnTo>
                  <a:lnTo>
                    <a:pt x="74" y="338"/>
                  </a:lnTo>
                  <a:lnTo>
                    <a:pt x="62" y="312"/>
                  </a:lnTo>
                  <a:lnTo>
                    <a:pt x="62" y="312"/>
                  </a:lnTo>
                  <a:lnTo>
                    <a:pt x="46" y="240"/>
                  </a:lnTo>
                  <a:lnTo>
                    <a:pt x="32" y="188"/>
                  </a:lnTo>
                  <a:lnTo>
                    <a:pt x="26" y="160"/>
                  </a:lnTo>
                  <a:lnTo>
                    <a:pt x="26" y="160"/>
                  </a:lnTo>
                  <a:lnTo>
                    <a:pt x="14" y="144"/>
                  </a:lnTo>
                  <a:lnTo>
                    <a:pt x="6" y="132"/>
                  </a:lnTo>
                  <a:lnTo>
                    <a:pt x="6" y="132"/>
                  </a:lnTo>
                  <a:lnTo>
                    <a:pt x="6" y="128"/>
                  </a:lnTo>
                  <a:lnTo>
                    <a:pt x="2" y="120"/>
                  </a:lnTo>
                  <a:lnTo>
                    <a:pt x="0" y="106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4" y="74"/>
                  </a:lnTo>
                  <a:lnTo>
                    <a:pt x="8" y="64"/>
                  </a:lnTo>
                  <a:lnTo>
                    <a:pt x="12" y="58"/>
                  </a:lnTo>
                  <a:lnTo>
                    <a:pt x="16" y="54"/>
                  </a:lnTo>
                  <a:lnTo>
                    <a:pt x="16" y="54"/>
                  </a:lnTo>
                  <a:lnTo>
                    <a:pt x="40" y="50"/>
                  </a:lnTo>
                  <a:lnTo>
                    <a:pt x="56" y="46"/>
                  </a:lnTo>
                  <a:lnTo>
                    <a:pt x="64" y="44"/>
                  </a:lnTo>
                  <a:lnTo>
                    <a:pt x="64" y="44"/>
                  </a:lnTo>
                  <a:lnTo>
                    <a:pt x="86" y="36"/>
                  </a:lnTo>
                  <a:lnTo>
                    <a:pt x="102" y="28"/>
                  </a:lnTo>
                  <a:lnTo>
                    <a:pt x="112" y="22"/>
                  </a:lnTo>
                  <a:lnTo>
                    <a:pt x="112" y="22"/>
                  </a:lnTo>
                  <a:lnTo>
                    <a:pt x="126" y="14"/>
                  </a:lnTo>
                  <a:lnTo>
                    <a:pt x="146" y="6"/>
                  </a:lnTo>
                  <a:lnTo>
                    <a:pt x="166" y="0"/>
                  </a:lnTo>
                  <a:lnTo>
                    <a:pt x="174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262" y="12"/>
                  </a:lnTo>
                  <a:lnTo>
                    <a:pt x="318" y="22"/>
                  </a:lnTo>
                  <a:lnTo>
                    <a:pt x="338" y="28"/>
                  </a:lnTo>
                  <a:lnTo>
                    <a:pt x="350" y="32"/>
                  </a:lnTo>
                  <a:lnTo>
                    <a:pt x="350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36" name="Freeform 92"/>
            <p:cNvSpPr/>
            <p:nvPr/>
          </p:nvSpPr>
          <p:spPr bwMode="auto">
            <a:xfrm>
              <a:off x="5416554" y="2474906"/>
              <a:ext cx="282575" cy="473075"/>
            </a:xfrm>
            <a:custGeom>
              <a:avLst/>
              <a:gdLst/>
              <a:ahLst/>
              <a:cxnLst>
                <a:cxn ang="0">
                  <a:pos x="122" y="4"/>
                </a:cxn>
                <a:cxn ang="0">
                  <a:pos x="122" y="4"/>
                </a:cxn>
                <a:cxn ang="0">
                  <a:pos x="142" y="38"/>
                </a:cxn>
                <a:cxn ang="0">
                  <a:pos x="142" y="38"/>
                </a:cxn>
                <a:cxn ang="0">
                  <a:pos x="146" y="54"/>
                </a:cxn>
                <a:cxn ang="0">
                  <a:pos x="152" y="70"/>
                </a:cxn>
                <a:cxn ang="0">
                  <a:pos x="152" y="70"/>
                </a:cxn>
                <a:cxn ang="0">
                  <a:pos x="158" y="106"/>
                </a:cxn>
                <a:cxn ang="0">
                  <a:pos x="168" y="182"/>
                </a:cxn>
                <a:cxn ang="0">
                  <a:pos x="176" y="258"/>
                </a:cxn>
                <a:cxn ang="0">
                  <a:pos x="178" y="284"/>
                </a:cxn>
                <a:cxn ang="0">
                  <a:pos x="178" y="294"/>
                </a:cxn>
                <a:cxn ang="0">
                  <a:pos x="176" y="298"/>
                </a:cxn>
                <a:cxn ang="0">
                  <a:pos x="176" y="298"/>
                </a:cxn>
                <a:cxn ang="0">
                  <a:pos x="156" y="262"/>
                </a:cxn>
                <a:cxn ang="0">
                  <a:pos x="112" y="182"/>
                </a:cxn>
                <a:cxn ang="0">
                  <a:pos x="84" y="138"/>
                </a:cxn>
                <a:cxn ang="0">
                  <a:pos x="56" y="96"/>
                </a:cxn>
                <a:cxn ang="0">
                  <a:pos x="30" y="62"/>
                </a:cxn>
                <a:cxn ang="0">
                  <a:pos x="20" y="50"/>
                </a:cxn>
                <a:cxn ang="0">
                  <a:pos x="10" y="42"/>
                </a:cxn>
                <a:cxn ang="0">
                  <a:pos x="0" y="34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16" y="16"/>
                </a:cxn>
                <a:cxn ang="0">
                  <a:pos x="52" y="8"/>
                </a:cxn>
                <a:cxn ang="0">
                  <a:pos x="74" y="4"/>
                </a:cxn>
                <a:cxn ang="0">
                  <a:pos x="94" y="0"/>
                </a:cxn>
                <a:cxn ang="0">
                  <a:pos x="110" y="2"/>
                </a:cxn>
                <a:cxn ang="0">
                  <a:pos x="116" y="2"/>
                </a:cxn>
                <a:cxn ang="0">
                  <a:pos x="122" y="4"/>
                </a:cxn>
                <a:cxn ang="0">
                  <a:pos x="122" y="4"/>
                </a:cxn>
              </a:cxnLst>
              <a:rect l="0" t="0" r="r" b="b"/>
              <a:pathLst>
                <a:path w="178" h="298">
                  <a:moveTo>
                    <a:pt x="122" y="4"/>
                  </a:moveTo>
                  <a:lnTo>
                    <a:pt x="122" y="4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6" y="54"/>
                  </a:lnTo>
                  <a:lnTo>
                    <a:pt x="152" y="70"/>
                  </a:lnTo>
                  <a:lnTo>
                    <a:pt x="152" y="70"/>
                  </a:lnTo>
                  <a:lnTo>
                    <a:pt x="158" y="106"/>
                  </a:lnTo>
                  <a:lnTo>
                    <a:pt x="168" y="182"/>
                  </a:lnTo>
                  <a:lnTo>
                    <a:pt x="176" y="258"/>
                  </a:lnTo>
                  <a:lnTo>
                    <a:pt x="178" y="284"/>
                  </a:lnTo>
                  <a:lnTo>
                    <a:pt x="178" y="294"/>
                  </a:lnTo>
                  <a:lnTo>
                    <a:pt x="176" y="298"/>
                  </a:lnTo>
                  <a:lnTo>
                    <a:pt x="176" y="298"/>
                  </a:lnTo>
                  <a:lnTo>
                    <a:pt x="156" y="262"/>
                  </a:lnTo>
                  <a:lnTo>
                    <a:pt x="112" y="182"/>
                  </a:lnTo>
                  <a:lnTo>
                    <a:pt x="84" y="138"/>
                  </a:lnTo>
                  <a:lnTo>
                    <a:pt x="56" y="96"/>
                  </a:lnTo>
                  <a:lnTo>
                    <a:pt x="30" y="62"/>
                  </a:lnTo>
                  <a:lnTo>
                    <a:pt x="20" y="50"/>
                  </a:lnTo>
                  <a:lnTo>
                    <a:pt x="10" y="42"/>
                  </a:lnTo>
                  <a:lnTo>
                    <a:pt x="0" y="3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6" y="16"/>
                  </a:lnTo>
                  <a:lnTo>
                    <a:pt x="52" y="8"/>
                  </a:lnTo>
                  <a:lnTo>
                    <a:pt x="74" y="4"/>
                  </a:lnTo>
                  <a:lnTo>
                    <a:pt x="94" y="0"/>
                  </a:lnTo>
                  <a:lnTo>
                    <a:pt x="110" y="2"/>
                  </a:lnTo>
                  <a:lnTo>
                    <a:pt x="116" y="2"/>
                  </a:lnTo>
                  <a:lnTo>
                    <a:pt x="122" y="4"/>
                  </a:lnTo>
                  <a:lnTo>
                    <a:pt x="12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43" name="Freeform 93"/>
            <p:cNvSpPr/>
            <p:nvPr/>
          </p:nvSpPr>
          <p:spPr bwMode="auto">
            <a:xfrm>
              <a:off x="5254629" y="2055806"/>
              <a:ext cx="482600" cy="511175"/>
            </a:xfrm>
            <a:custGeom>
              <a:avLst/>
              <a:gdLst/>
              <a:ahLst/>
              <a:cxnLst>
                <a:cxn ang="0">
                  <a:pos x="180" y="2"/>
                </a:cxn>
                <a:cxn ang="0">
                  <a:pos x="198" y="4"/>
                </a:cxn>
                <a:cxn ang="0">
                  <a:pos x="222" y="4"/>
                </a:cxn>
                <a:cxn ang="0">
                  <a:pos x="252" y="10"/>
                </a:cxn>
                <a:cxn ang="0">
                  <a:pos x="268" y="24"/>
                </a:cxn>
                <a:cxn ang="0">
                  <a:pos x="278" y="58"/>
                </a:cxn>
                <a:cxn ang="0">
                  <a:pos x="278" y="92"/>
                </a:cxn>
                <a:cxn ang="0">
                  <a:pos x="286" y="172"/>
                </a:cxn>
                <a:cxn ang="0">
                  <a:pos x="278" y="204"/>
                </a:cxn>
                <a:cxn ang="0">
                  <a:pos x="272" y="226"/>
                </a:cxn>
                <a:cxn ang="0">
                  <a:pos x="278" y="256"/>
                </a:cxn>
                <a:cxn ang="0">
                  <a:pos x="294" y="268"/>
                </a:cxn>
                <a:cxn ang="0">
                  <a:pos x="284" y="270"/>
                </a:cxn>
                <a:cxn ang="0">
                  <a:pos x="278" y="272"/>
                </a:cxn>
                <a:cxn ang="0">
                  <a:pos x="294" y="290"/>
                </a:cxn>
                <a:cxn ang="0">
                  <a:pos x="304" y="290"/>
                </a:cxn>
                <a:cxn ang="0">
                  <a:pos x="298" y="312"/>
                </a:cxn>
                <a:cxn ang="0">
                  <a:pos x="284" y="322"/>
                </a:cxn>
                <a:cxn ang="0">
                  <a:pos x="264" y="322"/>
                </a:cxn>
                <a:cxn ang="0">
                  <a:pos x="244" y="310"/>
                </a:cxn>
                <a:cxn ang="0">
                  <a:pos x="238" y="292"/>
                </a:cxn>
                <a:cxn ang="0">
                  <a:pos x="218" y="282"/>
                </a:cxn>
                <a:cxn ang="0">
                  <a:pos x="202" y="270"/>
                </a:cxn>
                <a:cxn ang="0">
                  <a:pos x="106" y="284"/>
                </a:cxn>
                <a:cxn ang="0">
                  <a:pos x="106" y="300"/>
                </a:cxn>
                <a:cxn ang="0">
                  <a:pos x="98" y="316"/>
                </a:cxn>
                <a:cxn ang="0">
                  <a:pos x="86" y="318"/>
                </a:cxn>
                <a:cxn ang="0">
                  <a:pos x="64" y="320"/>
                </a:cxn>
                <a:cxn ang="0">
                  <a:pos x="32" y="320"/>
                </a:cxn>
                <a:cxn ang="0">
                  <a:pos x="14" y="306"/>
                </a:cxn>
                <a:cxn ang="0">
                  <a:pos x="0" y="280"/>
                </a:cxn>
                <a:cxn ang="0">
                  <a:pos x="18" y="284"/>
                </a:cxn>
                <a:cxn ang="0">
                  <a:pos x="22" y="280"/>
                </a:cxn>
                <a:cxn ang="0">
                  <a:pos x="32" y="270"/>
                </a:cxn>
                <a:cxn ang="0">
                  <a:pos x="40" y="248"/>
                </a:cxn>
                <a:cxn ang="0">
                  <a:pos x="32" y="218"/>
                </a:cxn>
                <a:cxn ang="0">
                  <a:pos x="30" y="170"/>
                </a:cxn>
                <a:cxn ang="0">
                  <a:pos x="50" y="116"/>
                </a:cxn>
                <a:cxn ang="0">
                  <a:pos x="58" y="92"/>
                </a:cxn>
                <a:cxn ang="0">
                  <a:pos x="90" y="44"/>
                </a:cxn>
                <a:cxn ang="0">
                  <a:pos x="144" y="2"/>
                </a:cxn>
                <a:cxn ang="0">
                  <a:pos x="164" y="0"/>
                </a:cxn>
              </a:cxnLst>
              <a:rect l="0" t="0" r="r" b="b"/>
              <a:pathLst>
                <a:path w="304" h="322">
                  <a:moveTo>
                    <a:pt x="170" y="4"/>
                  </a:moveTo>
                  <a:lnTo>
                    <a:pt x="170" y="4"/>
                  </a:lnTo>
                  <a:lnTo>
                    <a:pt x="180" y="2"/>
                  </a:lnTo>
                  <a:lnTo>
                    <a:pt x="190" y="2"/>
                  </a:lnTo>
                  <a:lnTo>
                    <a:pt x="194" y="2"/>
                  </a:lnTo>
                  <a:lnTo>
                    <a:pt x="198" y="4"/>
                  </a:lnTo>
                  <a:lnTo>
                    <a:pt x="198" y="4"/>
                  </a:lnTo>
                  <a:lnTo>
                    <a:pt x="204" y="4"/>
                  </a:lnTo>
                  <a:lnTo>
                    <a:pt x="222" y="4"/>
                  </a:lnTo>
                  <a:lnTo>
                    <a:pt x="232" y="4"/>
                  </a:lnTo>
                  <a:lnTo>
                    <a:pt x="242" y="6"/>
                  </a:lnTo>
                  <a:lnTo>
                    <a:pt x="252" y="10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68" y="24"/>
                  </a:lnTo>
                  <a:lnTo>
                    <a:pt x="272" y="34"/>
                  </a:lnTo>
                  <a:lnTo>
                    <a:pt x="276" y="46"/>
                  </a:lnTo>
                  <a:lnTo>
                    <a:pt x="278" y="58"/>
                  </a:lnTo>
                  <a:lnTo>
                    <a:pt x="278" y="80"/>
                  </a:lnTo>
                  <a:lnTo>
                    <a:pt x="278" y="92"/>
                  </a:lnTo>
                  <a:lnTo>
                    <a:pt x="278" y="92"/>
                  </a:lnTo>
                  <a:lnTo>
                    <a:pt x="284" y="134"/>
                  </a:lnTo>
                  <a:lnTo>
                    <a:pt x="286" y="160"/>
                  </a:lnTo>
                  <a:lnTo>
                    <a:pt x="286" y="172"/>
                  </a:lnTo>
                  <a:lnTo>
                    <a:pt x="284" y="182"/>
                  </a:lnTo>
                  <a:lnTo>
                    <a:pt x="284" y="182"/>
                  </a:lnTo>
                  <a:lnTo>
                    <a:pt x="278" y="204"/>
                  </a:lnTo>
                  <a:lnTo>
                    <a:pt x="272" y="222"/>
                  </a:lnTo>
                  <a:lnTo>
                    <a:pt x="272" y="222"/>
                  </a:lnTo>
                  <a:lnTo>
                    <a:pt x="272" y="226"/>
                  </a:lnTo>
                  <a:lnTo>
                    <a:pt x="272" y="232"/>
                  </a:lnTo>
                  <a:lnTo>
                    <a:pt x="276" y="248"/>
                  </a:lnTo>
                  <a:lnTo>
                    <a:pt x="278" y="256"/>
                  </a:lnTo>
                  <a:lnTo>
                    <a:pt x="282" y="262"/>
                  </a:lnTo>
                  <a:lnTo>
                    <a:pt x="288" y="266"/>
                  </a:lnTo>
                  <a:lnTo>
                    <a:pt x="294" y="268"/>
                  </a:lnTo>
                  <a:lnTo>
                    <a:pt x="294" y="268"/>
                  </a:lnTo>
                  <a:lnTo>
                    <a:pt x="290" y="270"/>
                  </a:lnTo>
                  <a:lnTo>
                    <a:pt x="284" y="270"/>
                  </a:lnTo>
                  <a:lnTo>
                    <a:pt x="276" y="268"/>
                  </a:lnTo>
                  <a:lnTo>
                    <a:pt x="276" y="268"/>
                  </a:lnTo>
                  <a:lnTo>
                    <a:pt x="278" y="272"/>
                  </a:lnTo>
                  <a:lnTo>
                    <a:pt x="284" y="282"/>
                  </a:lnTo>
                  <a:lnTo>
                    <a:pt x="288" y="288"/>
                  </a:lnTo>
                  <a:lnTo>
                    <a:pt x="294" y="290"/>
                  </a:lnTo>
                  <a:lnTo>
                    <a:pt x="300" y="292"/>
                  </a:lnTo>
                  <a:lnTo>
                    <a:pt x="304" y="290"/>
                  </a:lnTo>
                  <a:lnTo>
                    <a:pt x="304" y="290"/>
                  </a:lnTo>
                  <a:lnTo>
                    <a:pt x="304" y="294"/>
                  </a:lnTo>
                  <a:lnTo>
                    <a:pt x="300" y="306"/>
                  </a:lnTo>
                  <a:lnTo>
                    <a:pt x="298" y="312"/>
                  </a:lnTo>
                  <a:lnTo>
                    <a:pt x="294" y="318"/>
                  </a:lnTo>
                  <a:lnTo>
                    <a:pt x="290" y="320"/>
                  </a:lnTo>
                  <a:lnTo>
                    <a:pt x="284" y="322"/>
                  </a:lnTo>
                  <a:lnTo>
                    <a:pt x="284" y="322"/>
                  </a:lnTo>
                  <a:lnTo>
                    <a:pt x="272" y="322"/>
                  </a:lnTo>
                  <a:lnTo>
                    <a:pt x="264" y="322"/>
                  </a:lnTo>
                  <a:lnTo>
                    <a:pt x="256" y="320"/>
                  </a:lnTo>
                  <a:lnTo>
                    <a:pt x="250" y="316"/>
                  </a:lnTo>
                  <a:lnTo>
                    <a:pt x="244" y="310"/>
                  </a:lnTo>
                  <a:lnTo>
                    <a:pt x="240" y="302"/>
                  </a:lnTo>
                  <a:lnTo>
                    <a:pt x="238" y="292"/>
                  </a:lnTo>
                  <a:lnTo>
                    <a:pt x="238" y="292"/>
                  </a:lnTo>
                  <a:lnTo>
                    <a:pt x="236" y="288"/>
                  </a:lnTo>
                  <a:lnTo>
                    <a:pt x="232" y="284"/>
                  </a:lnTo>
                  <a:lnTo>
                    <a:pt x="218" y="282"/>
                  </a:lnTo>
                  <a:lnTo>
                    <a:pt x="212" y="280"/>
                  </a:lnTo>
                  <a:lnTo>
                    <a:pt x="206" y="276"/>
                  </a:lnTo>
                  <a:lnTo>
                    <a:pt x="202" y="270"/>
                  </a:lnTo>
                  <a:lnTo>
                    <a:pt x="202" y="262"/>
                  </a:lnTo>
                  <a:lnTo>
                    <a:pt x="118" y="270"/>
                  </a:lnTo>
                  <a:lnTo>
                    <a:pt x="106" y="284"/>
                  </a:lnTo>
                  <a:lnTo>
                    <a:pt x="106" y="284"/>
                  </a:lnTo>
                  <a:lnTo>
                    <a:pt x="106" y="288"/>
                  </a:lnTo>
                  <a:lnTo>
                    <a:pt x="106" y="300"/>
                  </a:lnTo>
                  <a:lnTo>
                    <a:pt x="106" y="306"/>
                  </a:lnTo>
                  <a:lnTo>
                    <a:pt x="102" y="312"/>
                  </a:lnTo>
                  <a:lnTo>
                    <a:pt x="98" y="316"/>
                  </a:lnTo>
                  <a:lnTo>
                    <a:pt x="92" y="318"/>
                  </a:lnTo>
                  <a:lnTo>
                    <a:pt x="92" y="318"/>
                  </a:lnTo>
                  <a:lnTo>
                    <a:pt x="86" y="318"/>
                  </a:lnTo>
                  <a:lnTo>
                    <a:pt x="74" y="318"/>
                  </a:lnTo>
                  <a:lnTo>
                    <a:pt x="74" y="318"/>
                  </a:lnTo>
                  <a:lnTo>
                    <a:pt x="64" y="320"/>
                  </a:lnTo>
                  <a:lnTo>
                    <a:pt x="54" y="322"/>
                  </a:lnTo>
                  <a:lnTo>
                    <a:pt x="44" y="322"/>
                  </a:lnTo>
                  <a:lnTo>
                    <a:pt x="32" y="320"/>
                  </a:lnTo>
                  <a:lnTo>
                    <a:pt x="22" y="314"/>
                  </a:lnTo>
                  <a:lnTo>
                    <a:pt x="18" y="310"/>
                  </a:lnTo>
                  <a:lnTo>
                    <a:pt x="14" y="306"/>
                  </a:lnTo>
                  <a:lnTo>
                    <a:pt x="10" y="300"/>
                  </a:lnTo>
                  <a:lnTo>
                    <a:pt x="8" y="292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10" y="284"/>
                  </a:lnTo>
                  <a:lnTo>
                    <a:pt x="18" y="284"/>
                  </a:lnTo>
                  <a:lnTo>
                    <a:pt x="20" y="282"/>
                  </a:lnTo>
                  <a:lnTo>
                    <a:pt x="22" y="280"/>
                  </a:lnTo>
                  <a:lnTo>
                    <a:pt x="22" y="280"/>
                  </a:lnTo>
                  <a:lnTo>
                    <a:pt x="26" y="276"/>
                  </a:lnTo>
                  <a:lnTo>
                    <a:pt x="28" y="274"/>
                  </a:lnTo>
                  <a:lnTo>
                    <a:pt x="32" y="270"/>
                  </a:lnTo>
                  <a:lnTo>
                    <a:pt x="36" y="264"/>
                  </a:lnTo>
                  <a:lnTo>
                    <a:pt x="38" y="258"/>
                  </a:lnTo>
                  <a:lnTo>
                    <a:pt x="40" y="248"/>
                  </a:lnTo>
                  <a:lnTo>
                    <a:pt x="38" y="234"/>
                  </a:lnTo>
                  <a:lnTo>
                    <a:pt x="32" y="218"/>
                  </a:lnTo>
                  <a:lnTo>
                    <a:pt x="32" y="218"/>
                  </a:lnTo>
                  <a:lnTo>
                    <a:pt x="28" y="200"/>
                  </a:lnTo>
                  <a:lnTo>
                    <a:pt x="28" y="184"/>
                  </a:lnTo>
                  <a:lnTo>
                    <a:pt x="30" y="170"/>
                  </a:lnTo>
                  <a:lnTo>
                    <a:pt x="34" y="156"/>
                  </a:lnTo>
                  <a:lnTo>
                    <a:pt x="44" y="130"/>
                  </a:lnTo>
                  <a:lnTo>
                    <a:pt x="50" y="116"/>
                  </a:lnTo>
                  <a:lnTo>
                    <a:pt x="56" y="100"/>
                  </a:lnTo>
                  <a:lnTo>
                    <a:pt x="56" y="100"/>
                  </a:lnTo>
                  <a:lnTo>
                    <a:pt x="58" y="92"/>
                  </a:lnTo>
                  <a:lnTo>
                    <a:pt x="62" y="82"/>
                  </a:lnTo>
                  <a:lnTo>
                    <a:pt x="74" y="62"/>
                  </a:lnTo>
                  <a:lnTo>
                    <a:pt x="90" y="44"/>
                  </a:lnTo>
                  <a:lnTo>
                    <a:pt x="108" y="26"/>
                  </a:lnTo>
                  <a:lnTo>
                    <a:pt x="126" y="12"/>
                  </a:lnTo>
                  <a:lnTo>
                    <a:pt x="144" y="2"/>
                  </a:lnTo>
                  <a:lnTo>
                    <a:pt x="152" y="0"/>
                  </a:lnTo>
                  <a:lnTo>
                    <a:pt x="158" y="0"/>
                  </a:lnTo>
                  <a:lnTo>
                    <a:pt x="164" y="0"/>
                  </a:lnTo>
                  <a:lnTo>
                    <a:pt x="170" y="4"/>
                  </a:lnTo>
                  <a:lnTo>
                    <a:pt x="17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44" name="Freeform 94"/>
            <p:cNvSpPr/>
            <p:nvPr/>
          </p:nvSpPr>
          <p:spPr bwMode="auto">
            <a:xfrm>
              <a:off x="5407029" y="2325681"/>
              <a:ext cx="212725" cy="333375"/>
            </a:xfrm>
            <a:custGeom>
              <a:avLst/>
              <a:gdLst/>
              <a:ahLst/>
              <a:cxnLst>
                <a:cxn ang="0">
                  <a:pos x="116" y="72"/>
                </a:cxn>
                <a:cxn ang="0">
                  <a:pos x="116" y="72"/>
                </a:cxn>
                <a:cxn ang="0">
                  <a:pos x="114" y="82"/>
                </a:cxn>
                <a:cxn ang="0">
                  <a:pos x="108" y="104"/>
                </a:cxn>
                <a:cxn ang="0">
                  <a:pos x="106" y="116"/>
                </a:cxn>
                <a:cxn ang="0">
                  <a:pos x="108" y="126"/>
                </a:cxn>
                <a:cxn ang="0">
                  <a:pos x="110" y="132"/>
                </a:cxn>
                <a:cxn ang="0">
                  <a:pos x="112" y="136"/>
                </a:cxn>
                <a:cxn ang="0">
                  <a:pos x="116" y="138"/>
                </a:cxn>
                <a:cxn ang="0">
                  <a:pos x="122" y="140"/>
                </a:cxn>
                <a:cxn ang="0">
                  <a:pos x="122" y="140"/>
                </a:cxn>
                <a:cxn ang="0">
                  <a:pos x="134" y="144"/>
                </a:cxn>
                <a:cxn ang="0">
                  <a:pos x="134" y="144"/>
                </a:cxn>
                <a:cxn ang="0">
                  <a:pos x="134" y="154"/>
                </a:cxn>
                <a:cxn ang="0">
                  <a:pos x="134" y="162"/>
                </a:cxn>
                <a:cxn ang="0">
                  <a:pos x="130" y="168"/>
                </a:cxn>
                <a:cxn ang="0">
                  <a:pos x="130" y="168"/>
                </a:cxn>
                <a:cxn ang="0">
                  <a:pos x="126" y="178"/>
                </a:cxn>
                <a:cxn ang="0">
                  <a:pos x="120" y="192"/>
                </a:cxn>
                <a:cxn ang="0">
                  <a:pos x="116" y="210"/>
                </a:cxn>
                <a:cxn ang="0">
                  <a:pos x="110" y="208"/>
                </a:cxn>
                <a:cxn ang="0">
                  <a:pos x="110" y="208"/>
                </a:cxn>
                <a:cxn ang="0">
                  <a:pos x="112" y="206"/>
                </a:cxn>
                <a:cxn ang="0">
                  <a:pos x="114" y="202"/>
                </a:cxn>
                <a:cxn ang="0">
                  <a:pos x="114" y="194"/>
                </a:cxn>
                <a:cxn ang="0">
                  <a:pos x="114" y="188"/>
                </a:cxn>
                <a:cxn ang="0">
                  <a:pos x="110" y="184"/>
                </a:cxn>
                <a:cxn ang="0">
                  <a:pos x="110" y="184"/>
                </a:cxn>
                <a:cxn ang="0">
                  <a:pos x="106" y="180"/>
                </a:cxn>
                <a:cxn ang="0">
                  <a:pos x="100" y="176"/>
                </a:cxn>
                <a:cxn ang="0">
                  <a:pos x="84" y="168"/>
                </a:cxn>
                <a:cxn ang="0">
                  <a:pos x="68" y="162"/>
                </a:cxn>
                <a:cxn ang="0">
                  <a:pos x="54" y="154"/>
                </a:cxn>
                <a:cxn ang="0">
                  <a:pos x="54" y="154"/>
                </a:cxn>
                <a:cxn ang="0">
                  <a:pos x="42" y="144"/>
                </a:cxn>
                <a:cxn ang="0">
                  <a:pos x="30" y="134"/>
                </a:cxn>
                <a:cxn ang="0">
                  <a:pos x="20" y="122"/>
                </a:cxn>
                <a:cxn ang="0">
                  <a:pos x="10" y="114"/>
                </a:cxn>
                <a:cxn ang="0">
                  <a:pos x="10" y="114"/>
                </a:cxn>
                <a:cxn ang="0">
                  <a:pos x="8" y="72"/>
                </a:cxn>
                <a:cxn ang="0">
                  <a:pos x="8" y="72"/>
                </a:cxn>
                <a:cxn ang="0">
                  <a:pos x="4" y="4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4" y="14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4" y="0"/>
                </a:cxn>
                <a:cxn ang="0">
                  <a:pos x="18" y="2"/>
                </a:cxn>
                <a:cxn ang="0">
                  <a:pos x="30" y="8"/>
                </a:cxn>
                <a:cxn ang="0">
                  <a:pos x="66" y="32"/>
                </a:cxn>
                <a:cxn ang="0">
                  <a:pos x="116" y="72"/>
                </a:cxn>
                <a:cxn ang="0">
                  <a:pos x="116" y="72"/>
                </a:cxn>
              </a:cxnLst>
              <a:rect l="0" t="0" r="r" b="b"/>
              <a:pathLst>
                <a:path w="134" h="210">
                  <a:moveTo>
                    <a:pt x="116" y="72"/>
                  </a:moveTo>
                  <a:lnTo>
                    <a:pt x="116" y="72"/>
                  </a:lnTo>
                  <a:lnTo>
                    <a:pt x="114" y="82"/>
                  </a:lnTo>
                  <a:lnTo>
                    <a:pt x="108" y="104"/>
                  </a:lnTo>
                  <a:lnTo>
                    <a:pt x="106" y="116"/>
                  </a:lnTo>
                  <a:lnTo>
                    <a:pt x="108" y="126"/>
                  </a:lnTo>
                  <a:lnTo>
                    <a:pt x="110" y="132"/>
                  </a:lnTo>
                  <a:lnTo>
                    <a:pt x="112" y="136"/>
                  </a:lnTo>
                  <a:lnTo>
                    <a:pt x="116" y="138"/>
                  </a:lnTo>
                  <a:lnTo>
                    <a:pt x="122" y="140"/>
                  </a:lnTo>
                  <a:lnTo>
                    <a:pt x="122" y="140"/>
                  </a:lnTo>
                  <a:lnTo>
                    <a:pt x="134" y="144"/>
                  </a:lnTo>
                  <a:lnTo>
                    <a:pt x="134" y="144"/>
                  </a:lnTo>
                  <a:lnTo>
                    <a:pt x="134" y="154"/>
                  </a:lnTo>
                  <a:lnTo>
                    <a:pt x="134" y="162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26" y="178"/>
                  </a:lnTo>
                  <a:lnTo>
                    <a:pt x="120" y="192"/>
                  </a:lnTo>
                  <a:lnTo>
                    <a:pt x="116" y="210"/>
                  </a:lnTo>
                  <a:lnTo>
                    <a:pt x="110" y="208"/>
                  </a:lnTo>
                  <a:lnTo>
                    <a:pt x="110" y="208"/>
                  </a:lnTo>
                  <a:lnTo>
                    <a:pt x="112" y="206"/>
                  </a:lnTo>
                  <a:lnTo>
                    <a:pt x="114" y="202"/>
                  </a:lnTo>
                  <a:lnTo>
                    <a:pt x="114" y="194"/>
                  </a:lnTo>
                  <a:lnTo>
                    <a:pt x="114" y="188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06" y="180"/>
                  </a:lnTo>
                  <a:lnTo>
                    <a:pt x="100" y="176"/>
                  </a:lnTo>
                  <a:lnTo>
                    <a:pt x="84" y="168"/>
                  </a:lnTo>
                  <a:lnTo>
                    <a:pt x="68" y="162"/>
                  </a:lnTo>
                  <a:lnTo>
                    <a:pt x="54" y="154"/>
                  </a:lnTo>
                  <a:lnTo>
                    <a:pt x="54" y="154"/>
                  </a:lnTo>
                  <a:lnTo>
                    <a:pt x="42" y="144"/>
                  </a:lnTo>
                  <a:lnTo>
                    <a:pt x="30" y="134"/>
                  </a:lnTo>
                  <a:lnTo>
                    <a:pt x="20" y="122"/>
                  </a:lnTo>
                  <a:lnTo>
                    <a:pt x="10" y="114"/>
                  </a:lnTo>
                  <a:lnTo>
                    <a:pt x="10" y="114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4" y="4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4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30" y="8"/>
                  </a:lnTo>
                  <a:lnTo>
                    <a:pt x="66" y="32"/>
                  </a:lnTo>
                  <a:lnTo>
                    <a:pt x="116" y="72"/>
                  </a:lnTo>
                  <a:lnTo>
                    <a:pt x="116" y="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45" name="Freeform 95"/>
            <p:cNvSpPr/>
            <p:nvPr/>
          </p:nvSpPr>
          <p:spPr bwMode="auto">
            <a:xfrm>
              <a:off x="5416554" y="2109781"/>
              <a:ext cx="254000" cy="358775"/>
            </a:xfrm>
            <a:custGeom>
              <a:avLst/>
              <a:gdLst/>
              <a:ahLst/>
              <a:cxnLst>
                <a:cxn ang="0">
                  <a:pos x="140" y="30"/>
                </a:cxn>
                <a:cxn ang="0">
                  <a:pos x="140" y="30"/>
                </a:cxn>
                <a:cxn ang="0">
                  <a:pos x="150" y="52"/>
                </a:cxn>
                <a:cxn ang="0">
                  <a:pos x="156" y="70"/>
                </a:cxn>
                <a:cxn ang="0">
                  <a:pos x="160" y="84"/>
                </a:cxn>
                <a:cxn ang="0">
                  <a:pos x="160" y="84"/>
                </a:cxn>
                <a:cxn ang="0">
                  <a:pos x="160" y="112"/>
                </a:cxn>
                <a:cxn ang="0">
                  <a:pos x="160" y="112"/>
                </a:cxn>
                <a:cxn ang="0">
                  <a:pos x="156" y="144"/>
                </a:cxn>
                <a:cxn ang="0">
                  <a:pos x="150" y="166"/>
                </a:cxn>
                <a:cxn ang="0">
                  <a:pos x="148" y="174"/>
                </a:cxn>
                <a:cxn ang="0">
                  <a:pos x="144" y="182"/>
                </a:cxn>
                <a:cxn ang="0">
                  <a:pos x="144" y="182"/>
                </a:cxn>
                <a:cxn ang="0">
                  <a:pos x="122" y="220"/>
                </a:cxn>
                <a:cxn ang="0">
                  <a:pos x="122" y="220"/>
                </a:cxn>
                <a:cxn ang="0">
                  <a:pos x="114" y="224"/>
                </a:cxn>
                <a:cxn ang="0">
                  <a:pos x="106" y="226"/>
                </a:cxn>
                <a:cxn ang="0">
                  <a:pos x="96" y="226"/>
                </a:cxn>
                <a:cxn ang="0">
                  <a:pos x="96" y="226"/>
                </a:cxn>
                <a:cxn ang="0">
                  <a:pos x="82" y="224"/>
                </a:cxn>
                <a:cxn ang="0">
                  <a:pos x="64" y="216"/>
                </a:cxn>
                <a:cxn ang="0">
                  <a:pos x="40" y="206"/>
                </a:cxn>
                <a:cxn ang="0">
                  <a:pos x="40" y="206"/>
                </a:cxn>
                <a:cxn ang="0">
                  <a:pos x="36" y="204"/>
                </a:cxn>
                <a:cxn ang="0">
                  <a:pos x="24" y="198"/>
                </a:cxn>
                <a:cxn ang="0">
                  <a:pos x="12" y="188"/>
                </a:cxn>
                <a:cxn ang="0">
                  <a:pos x="8" y="184"/>
                </a:cxn>
                <a:cxn ang="0">
                  <a:pos x="4" y="178"/>
                </a:cxn>
                <a:cxn ang="0">
                  <a:pos x="4" y="178"/>
                </a:cxn>
                <a:cxn ang="0">
                  <a:pos x="2" y="166"/>
                </a:cxn>
                <a:cxn ang="0">
                  <a:pos x="0" y="15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6" y="124"/>
                </a:cxn>
                <a:cxn ang="0">
                  <a:pos x="10" y="100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4" y="64"/>
                </a:cxn>
                <a:cxn ang="0">
                  <a:pos x="18" y="52"/>
                </a:cxn>
                <a:cxn ang="0">
                  <a:pos x="24" y="40"/>
                </a:cxn>
                <a:cxn ang="0">
                  <a:pos x="32" y="28"/>
                </a:cxn>
                <a:cxn ang="0">
                  <a:pos x="40" y="16"/>
                </a:cxn>
                <a:cxn ang="0">
                  <a:pos x="52" y="8"/>
                </a:cxn>
                <a:cxn ang="0">
                  <a:pos x="62" y="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94" y="2"/>
                </a:cxn>
                <a:cxn ang="0">
                  <a:pos x="112" y="8"/>
                </a:cxn>
                <a:cxn ang="0">
                  <a:pos x="128" y="18"/>
                </a:cxn>
                <a:cxn ang="0">
                  <a:pos x="134" y="24"/>
                </a:cxn>
                <a:cxn ang="0">
                  <a:pos x="140" y="30"/>
                </a:cxn>
                <a:cxn ang="0">
                  <a:pos x="140" y="30"/>
                </a:cxn>
              </a:cxnLst>
              <a:rect l="0" t="0" r="r" b="b"/>
              <a:pathLst>
                <a:path w="160" h="226">
                  <a:moveTo>
                    <a:pt x="140" y="30"/>
                  </a:moveTo>
                  <a:lnTo>
                    <a:pt x="140" y="30"/>
                  </a:lnTo>
                  <a:lnTo>
                    <a:pt x="150" y="52"/>
                  </a:lnTo>
                  <a:lnTo>
                    <a:pt x="156" y="70"/>
                  </a:lnTo>
                  <a:lnTo>
                    <a:pt x="160" y="84"/>
                  </a:lnTo>
                  <a:lnTo>
                    <a:pt x="160" y="84"/>
                  </a:lnTo>
                  <a:lnTo>
                    <a:pt x="160" y="112"/>
                  </a:lnTo>
                  <a:lnTo>
                    <a:pt x="160" y="112"/>
                  </a:lnTo>
                  <a:lnTo>
                    <a:pt x="156" y="144"/>
                  </a:lnTo>
                  <a:lnTo>
                    <a:pt x="150" y="166"/>
                  </a:lnTo>
                  <a:lnTo>
                    <a:pt x="148" y="174"/>
                  </a:lnTo>
                  <a:lnTo>
                    <a:pt x="144" y="182"/>
                  </a:lnTo>
                  <a:lnTo>
                    <a:pt x="144" y="182"/>
                  </a:lnTo>
                  <a:lnTo>
                    <a:pt x="122" y="220"/>
                  </a:lnTo>
                  <a:lnTo>
                    <a:pt x="122" y="220"/>
                  </a:lnTo>
                  <a:lnTo>
                    <a:pt x="114" y="224"/>
                  </a:lnTo>
                  <a:lnTo>
                    <a:pt x="106" y="226"/>
                  </a:lnTo>
                  <a:lnTo>
                    <a:pt x="96" y="226"/>
                  </a:lnTo>
                  <a:lnTo>
                    <a:pt x="96" y="226"/>
                  </a:lnTo>
                  <a:lnTo>
                    <a:pt x="82" y="224"/>
                  </a:lnTo>
                  <a:lnTo>
                    <a:pt x="64" y="21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36" y="204"/>
                  </a:lnTo>
                  <a:lnTo>
                    <a:pt x="24" y="198"/>
                  </a:lnTo>
                  <a:lnTo>
                    <a:pt x="12" y="188"/>
                  </a:lnTo>
                  <a:lnTo>
                    <a:pt x="8" y="184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66"/>
                  </a:lnTo>
                  <a:lnTo>
                    <a:pt x="0" y="15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6" y="124"/>
                  </a:lnTo>
                  <a:lnTo>
                    <a:pt x="10" y="100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4" y="64"/>
                  </a:lnTo>
                  <a:lnTo>
                    <a:pt x="18" y="52"/>
                  </a:lnTo>
                  <a:lnTo>
                    <a:pt x="24" y="40"/>
                  </a:lnTo>
                  <a:lnTo>
                    <a:pt x="32" y="28"/>
                  </a:lnTo>
                  <a:lnTo>
                    <a:pt x="40" y="16"/>
                  </a:lnTo>
                  <a:lnTo>
                    <a:pt x="52" y="8"/>
                  </a:lnTo>
                  <a:lnTo>
                    <a:pt x="62" y="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94" y="2"/>
                  </a:lnTo>
                  <a:lnTo>
                    <a:pt x="112" y="8"/>
                  </a:lnTo>
                  <a:lnTo>
                    <a:pt x="128" y="18"/>
                  </a:lnTo>
                  <a:lnTo>
                    <a:pt x="134" y="24"/>
                  </a:lnTo>
                  <a:lnTo>
                    <a:pt x="140" y="30"/>
                  </a:lnTo>
                  <a:lnTo>
                    <a:pt x="140" y="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46" name="Freeform 97"/>
            <p:cNvSpPr>
              <a:spLocks noEditPoints="1"/>
            </p:cNvSpPr>
            <p:nvPr/>
          </p:nvSpPr>
          <p:spPr bwMode="auto">
            <a:xfrm>
              <a:off x="5254631" y="4233856"/>
              <a:ext cx="784226" cy="889723"/>
            </a:xfrm>
            <a:custGeom>
              <a:avLst/>
              <a:gdLst/>
              <a:ahLst/>
              <a:cxnLst>
                <a:cxn ang="0">
                  <a:pos x="88" y="436"/>
                </a:cxn>
                <a:cxn ang="0">
                  <a:pos x="86" y="428"/>
                </a:cxn>
                <a:cxn ang="0">
                  <a:pos x="82" y="382"/>
                </a:cxn>
                <a:cxn ang="0">
                  <a:pos x="84" y="330"/>
                </a:cxn>
                <a:cxn ang="0">
                  <a:pos x="26" y="32"/>
                </a:cxn>
                <a:cxn ang="0">
                  <a:pos x="8" y="76"/>
                </a:cxn>
                <a:cxn ang="0">
                  <a:pos x="0" y="168"/>
                </a:cxn>
                <a:cxn ang="0">
                  <a:pos x="12" y="294"/>
                </a:cxn>
                <a:cxn ang="0">
                  <a:pos x="18" y="356"/>
                </a:cxn>
                <a:cxn ang="0">
                  <a:pos x="14" y="400"/>
                </a:cxn>
                <a:cxn ang="0">
                  <a:pos x="4" y="476"/>
                </a:cxn>
                <a:cxn ang="0">
                  <a:pos x="16" y="482"/>
                </a:cxn>
                <a:cxn ang="0">
                  <a:pos x="20" y="504"/>
                </a:cxn>
                <a:cxn ang="0">
                  <a:pos x="26" y="556"/>
                </a:cxn>
                <a:cxn ang="0">
                  <a:pos x="32" y="580"/>
                </a:cxn>
                <a:cxn ang="0">
                  <a:pos x="62" y="606"/>
                </a:cxn>
                <a:cxn ang="0">
                  <a:pos x="84" y="612"/>
                </a:cxn>
                <a:cxn ang="0">
                  <a:pos x="128" y="606"/>
                </a:cxn>
                <a:cxn ang="0">
                  <a:pos x="140" y="586"/>
                </a:cxn>
                <a:cxn ang="0">
                  <a:pos x="134" y="564"/>
                </a:cxn>
                <a:cxn ang="0">
                  <a:pos x="488" y="402"/>
                </a:cxn>
                <a:cxn ang="0">
                  <a:pos x="476" y="394"/>
                </a:cxn>
                <a:cxn ang="0">
                  <a:pos x="446" y="368"/>
                </a:cxn>
                <a:cxn ang="0">
                  <a:pos x="426" y="346"/>
                </a:cxn>
                <a:cxn ang="0">
                  <a:pos x="412" y="322"/>
                </a:cxn>
                <a:cxn ang="0">
                  <a:pos x="398" y="290"/>
                </a:cxn>
                <a:cxn ang="0">
                  <a:pos x="390" y="132"/>
                </a:cxn>
                <a:cxn ang="0">
                  <a:pos x="284" y="36"/>
                </a:cxn>
                <a:cxn ang="0">
                  <a:pos x="286" y="98"/>
                </a:cxn>
                <a:cxn ang="0">
                  <a:pos x="310" y="210"/>
                </a:cxn>
                <a:cxn ang="0">
                  <a:pos x="316" y="256"/>
                </a:cxn>
                <a:cxn ang="0">
                  <a:pos x="312" y="278"/>
                </a:cxn>
                <a:cxn ang="0">
                  <a:pos x="302" y="310"/>
                </a:cxn>
                <a:cxn ang="0">
                  <a:pos x="300" y="340"/>
                </a:cxn>
                <a:cxn ang="0">
                  <a:pos x="308" y="356"/>
                </a:cxn>
                <a:cxn ang="0">
                  <a:pos x="316" y="414"/>
                </a:cxn>
                <a:cxn ang="0">
                  <a:pos x="324" y="348"/>
                </a:cxn>
                <a:cxn ang="0">
                  <a:pos x="352" y="366"/>
                </a:cxn>
                <a:cxn ang="0">
                  <a:pos x="370" y="390"/>
                </a:cxn>
                <a:cxn ang="0">
                  <a:pos x="384" y="428"/>
                </a:cxn>
                <a:cxn ang="0">
                  <a:pos x="400" y="446"/>
                </a:cxn>
                <a:cxn ang="0">
                  <a:pos x="482" y="454"/>
                </a:cxn>
                <a:cxn ang="0">
                  <a:pos x="490" y="444"/>
                </a:cxn>
                <a:cxn ang="0">
                  <a:pos x="494" y="428"/>
                </a:cxn>
                <a:cxn ang="0">
                  <a:pos x="488" y="402"/>
                </a:cxn>
              </a:cxnLst>
              <a:rect l="0" t="0" r="r" b="b"/>
              <a:pathLst>
                <a:path w="494" h="612">
                  <a:moveTo>
                    <a:pt x="110" y="518"/>
                  </a:moveTo>
                  <a:lnTo>
                    <a:pt x="110" y="518"/>
                  </a:lnTo>
                  <a:lnTo>
                    <a:pt x="88" y="436"/>
                  </a:lnTo>
                  <a:lnTo>
                    <a:pt x="88" y="436"/>
                  </a:lnTo>
                  <a:lnTo>
                    <a:pt x="88" y="434"/>
                  </a:lnTo>
                  <a:lnTo>
                    <a:pt x="86" y="428"/>
                  </a:lnTo>
                  <a:lnTo>
                    <a:pt x="86" y="428"/>
                  </a:lnTo>
                  <a:lnTo>
                    <a:pt x="82" y="412"/>
                  </a:lnTo>
                  <a:lnTo>
                    <a:pt x="82" y="382"/>
                  </a:lnTo>
                  <a:lnTo>
                    <a:pt x="82" y="350"/>
                  </a:lnTo>
                  <a:lnTo>
                    <a:pt x="84" y="330"/>
                  </a:lnTo>
                  <a:lnTo>
                    <a:pt x="84" y="330"/>
                  </a:lnTo>
                  <a:lnTo>
                    <a:pt x="136" y="64"/>
                  </a:lnTo>
                  <a:lnTo>
                    <a:pt x="26" y="32"/>
                  </a:lnTo>
                  <a:lnTo>
                    <a:pt x="26" y="32"/>
                  </a:lnTo>
                  <a:lnTo>
                    <a:pt x="20" y="44"/>
                  </a:lnTo>
                  <a:lnTo>
                    <a:pt x="14" y="60"/>
                  </a:lnTo>
                  <a:lnTo>
                    <a:pt x="8" y="76"/>
                  </a:lnTo>
                  <a:lnTo>
                    <a:pt x="4" y="92"/>
                  </a:lnTo>
                  <a:lnTo>
                    <a:pt x="0" y="130"/>
                  </a:lnTo>
                  <a:lnTo>
                    <a:pt x="0" y="168"/>
                  </a:lnTo>
                  <a:lnTo>
                    <a:pt x="2" y="204"/>
                  </a:lnTo>
                  <a:lnTo>
                    <a:pt x="4" y="240"/>
                  </a:lnTo>
                  <a:lnTo>
                    <a:pt x="12" y="294"/>
                  </a:lnTo>
                  <a:lnTo>
                    <a:pt x="12" y="294"/>
                  </a:lnTo>
                  <a:lnTo>
                    <a:pt x="18" y="328"/>
                  </a:lnTo>
                  <a:lnTo>
                    <a:pt x="18" y="356"/>
                  </a:lnTo>
                  <a:lnTo>
                    <a:pt x="18" y="382"/>
                  </a:lnTo>
                  <a:lnTo>
                    <a:pt x="14" y="400"/>
                  </a:lnTo>
                  <a:lnTo>
                    <a:pt x="14" y="400"/>
                  </a:lnTo>
                  <a:lnTo>
                    <a:pt x="14" y="396"/>
                  </a:lnTo>
                  <a:lnTo>
                    <a:pt x="6" y="438"/>
                  </a:lnTo>
                  <a:lnTo>
                    <a:pt x="4" y="476"/>
                  </a:lnTo>
                  <a:lnTo>
                    <a:pt x="10" y="482"/>
                  </a:lnTo>
                  <a:lnTo>
                    <a:pt x="16" y="482"/>
                  </a:lnTo>
                  <a:lnTo>
                    <a:pt x="16" y="482"/>
                  </a:lnTo>
                  <a:lnTo>
                    <a:pt x="18" y="476"/>
                  </a:lnTo>
                  <a:lnTo>
                    <a:pt x="18" y="476"/>
                  </a:lnTo>
                  <a:lnTo>
                    <a:pt x="20" y="504"/>
                  </a:lnTo>
                  <a:lnTo>
                    <a:pt x="22" y="540"/>
                  </a:lnTo>
                  <a:lnTo>
                    <a:pt x="22" y="540"/>
                  </a:lnTo>
                  <a:lnTo>
                    <a:pt x="26" y="556"/>
                  </a:lnTo>
                  <a:lnTo>
                    <a:pt x="28" y="568"/>
                  </a:lnTo>
                  <a:lnTo>
                    <a:pt x="32" y="580"/>
                  </a:lnTo>
                  <a:lnTo>
                    <a:pt x="32" y="580"/>
                  </a:lnTo>
                  <a:lnTo>
                    <a:pt x="36" y="586"/>
                  </a:lnTo>
                  <a:lnTo>
                    <a:pt x="40" y="592"/>
                  </a:lnTo>
                  <a:lnTo>
                    <a:pt x="62" y="606"/>
                  </a:lnTo>
                  <a:lnTo>
                    <a:pt x="62" y="606"/>
                  </a:lnTo>
                  <a:lnTo>
                    <a:pt x="72" y="610"/>
                  </a:lnTo>
                  <a:lnTo>
                    <a:pt x="84" y="612"/>
                  </a:lnTo>
                  <a:lnTo>
                    <a:pt x="96" y="612"/>
                  </a:lnTo>
                  <a:lnTo>
                    <a:pt x="108" y="610"/>
                  </a:lnTo>
                  <a:lnTo>
                    <a:pt x="128" y="606"/>
                  </a:lnTo>
                  <a:lnTo>
                    <a:pt x="136" y="604"/>
                  </a:lnTo>
                  <a:lnTo>
                    <a:pt x="140" y="586"/>
                  </a:lnTo>
                  <a:lnTo>
                    <a:pt x="140" y="586"/>
                  </a:lnTo>
                  <a:lnTo>
                    <a:pt x="140" y="582"/>
                  </a:lnTo>
                  <a:lnTo>
                    <a:pt x="140" y="576"/>
                  </a:lnTo>
                  <a:lnTo>
                    <a:pt x="134" y="564"/>
                  </a:lnTo>
                  <a:lnTo>
                    <a:pt x="128" y="548"/>
                  </a:lnTo>
                  <a:lnTo>
                    <a:pt x="110" y="518"/>
                  </a:lnTo>
                  <a:close/>
                  <a:moveTo>
                    <a:pt x="488" y="402"/>
                  </a:moveTo>
                  <a:lnTo>
                    <a:pt x="488" y="402"/>
                  </a:lnTo>
                  <a:lnTo>
                    <a:pt x="484" y="400"/>
                  </a:lnTo>
                  <a:lnTo>
                    <a:pt x="476" y="394"/>
                  </a:lnTo>
                  <a:lnTo>
                    <a:pt x="476" y="394"/>
                  </a:lnTo>
                  <a:lnTo>
                    <a:pt x="464" y="382"/>
                  </a:lnTo>
                  <a:lnTo>
                    <a:pt x="446" y="368"/>
                  </a:lnTo>
                  <a:lnTo>
                    <a:pt x="446" y="368"/>
                  </a:lnTo>
                  <a:lnTo>
                    <a:pt x="438" y="358"/>
                  </a:lnTo>
                  <a:lnTo>
                    <a:pt x="426" y="346"/>
                  </a:lnTo>
                  <a:lnTo>
                    <a:pt x="426" y="346"/>
                  </a:lnTo>
                  <a:lnTo>
                    <a:pt x="420" y="336"/>
                  </a:lnTo>
                  <a:lnTo>
                    <a:pt x="412" y="322"/>
                  </a:lnTo>
                  <a:lnTo>
                    <a:pt x="402" y="302"/>
                  </a:lnTo>
                  <a:lnTo>
                    <a:pt x="402" y="302"/>
                  </a:lnTo>
                  <a:lnTo>
                    <a:pt x="398" y="290"/>
                  </a:lnTo>
                  <a:lnTo>
                    <a:pt x="392" y="274"/>
                  </a:lnTo>
                  <a:lnTo>
                    <a:pt x="392" y="274"/>
                  </a:lnTo>
                  <a:lnTo>
                    <a:pt x="390" y="132"/>
                  </a:lnTo>
                  <a:lnTo>
                    <a:pt x="390" y="0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86" y="62"/>
                  </a:lnTo>
                  <a:lnTo>
                    <a:pt x="286" y="98"/>
                  </a:lnTo>
                  <a:lnTo>
                    <a:pt x="286" y="98"/>
                  </a:lnTo>
                  <a:lnTo>
                    <a:pt x="290" y="122"/>
                  </a:lnTo>
                  <a:lnTo>
                    <a:pt x="300" y="166"/>
                  </a:lnTo>
                  <a:lnTo>
                    <a:pt x="310" y="210"/>
                  </a:lnTo>
                  <a:lnTo>
                    <a:pt x="316" y="238"/>
                  </a:lnTo>
                  <a:lnTo>
                    <a:pt x="316" y="238"/>
                  </a:lnTo>
                  <a:lnTo>
                    <a:pt x="316" y="256"/>
                  </a:lnTo>
                  <a:lnTo>
                    <a:pt x="316" y="266"/>
                  </a:lnTo>
                  <a:lnTo>
                    <a:pt x="316" y="266"/>
                  </a:lnTo>
                  <a:lnTo>
                    <a:pt x="312" y="278"/>
                  </a:lnTo>
                  <a:lnTo>
                    <a:pt x="312" y="278"/>
                  </a:lnTo>
                  <a:lnTo>
                    <a:pt x="308" y="290"/>
                  </a:lnTo>
                  <a:lnTo>
                    <a:pt x="302" y="310"/>
                  </a:lnTo>
                  <a:lnTo>
                    <a:pt x="300" y="320"/>
                  </a:lnTo>
                  <a:lnTo>
                    <a:pt x="300" y="332"/>
                  </a:lnTo>
                  <a:lnTo>
                    <a:pt x="300" y="340"/>
                  </a:lnTo>
                  <a:lnTo>
                    <a:pt x="304" y="348"/>
                  </a:lnTo>
                  <a:lnTo>
                    <a:pt x="304" y="348"/>
                  </a:lnTo>
                  <a:lnTo>
                    <a:pt x="308" y="356"/>
                  </a:lnTo>
                  <a:lnTo>
                    <a:pt x="310" y="366"/>
                  </a:lnTo>
                  <a:lnTo>
                    <a:pt x="314" y="388"/>
                  </a:lnTo>
                  <a:lnTo>
                    <a:pt x="316" y="414"/>
                  </a:lnTo>
                  <a:lnTo>
                    <a:pt x="326" y="418"/>
                  </a:lnTo>
                  <a:lnTo>
                    <a:pt x="332" y="412"/>
                  </a:lnTo>
                  <a:lnTo>
                    <a:pt x="324" y="348"/>
                  </a:lnTo>
                  <a:lnTo>
                    <a:pt x="336" y="356"/>
                  </a:lnTo>
                  <a:lnTo>
                    <a:pt x="336" y="356"/>
                  </a:lnTo>
                  <a:lnTo>
                    <a:pt x="352" y="366"/>
                  </a:lnTo>
                  <a:lnTo>
                    <a:pt x="362" y="376"/>
                  </a:lnTo>
                  <a:lnTo>
                    <a:pt x="366" y="384"/>
                  </a:lnTo>
                  <a:lnTo>
                    <a:pt x="370" y="390"/>
                  </a:lnTo>
                  <a:lnTo>
                    <a:pt x="370" y="390"/>
                  </a:lnTo>
                  <a:lnTo>
                    <a:pt x="378" y="414"/>
                  </a:lnTo>
                  <a:lnTo>
                    <a:pt x="384" y="428"/>
                  </a:lnTo>
                  <a:lnTo>
                    <a:pt x="392" y="440"/>
                  </a:lnTo>
                  <a:lnTo>
                    <a:pt x="392" y="440"/>
                  </a:lnTo>
                  <a:lnTo>
                    <a:pt x="400" y="446"/>
                  </a:lnTo>
                  <a:lnTo>
                    <a:pt x="412" y="448"/>
                  </a:lnTo>
                  <a:lnTo>
                    <a:pt x="442" y="452"/>
                  </a:lnTo>
                  <a:lnTo>
                    <a:pt x="482" y="454"/>
                  </a:lnTo>
                  <a:lnTo>
                    <a:pt x="482" y="454"/>
                  </a:lnTo>
                  <a:lnTo>
                    <a:pt x="486" y="450"/>
                  </a:lnTo>
                  <a:lnTo>
                    <a:pt x="490" y="444"/>
                  </a:lnTo>
                  <a:lnTo>
                    <a:pt x="492" y="430"/>
                  </a:lnTo>
                  <a:lnTo>
                    <a:pt x="492" y="430"/>
                  </a:lnTo>
                  <a:lnTo>
                    <a:pt x="494" y="428"/>
                  </a:lnTo>
                  <a:lnTo>
                    <a:pt x="494" y="424"/>
                  </a:lnTo>
                  <a:lnTo>
                    <a:pt x="492" y="414"/>
                  </a:lnTo>
                  <a:lnTo>
                    <a:pt x="488" y="402"/>
                  </a:lnTo>
                  <a:lnTo>
                    <a:pt x="488" y="40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47" name="Freeform 99"/>
            <p:cNvSpPr/>
            <p:nvPr/>
          </p:nvSpPr>
          <p:spPr bwMode="auto">
            <a:xfrm>
              <a:off x="4867279" y="2528881"/>
              <a:ext cx="482600" cy="1019175"/>
            </a:xfrm>
            <a:custGeom>
              <a:avLst/>
              <a:gdLst/>
              <a:ahLst/>
              <a:cxnLst>
                <a:cxn ang="0">
                  <a:pos x="250" y="278"/>
                </a:cxn>
                <a:cxn ang="0">
                  <a:pos x="230" y="296"/>
                </a:cxn>
                <a:cxn ang="0">
                  <a:pos x="204" y="328"/>
                </a:cxn>
                <a:cxn ang="0">
                  <a:pos x="196" y="342"/>
                </a:cxn>
                <a:cxn ang="0">
                  <a:pos x="178" y="366"/>
                </a:cxn>
                <a:cxn ang="0">
                  <a:pos x="158" y="380"/>
                </a:cxn>
                <a:cxn ang="0">
                  <a:pos x="132" y="390"/>
                </a:cxn>
                <a:cxn ang="0">
                  <a:pos x="130" y="396"/>
                </a:cxn>
                <a:cxn ang="0">
                  <a:pos x="136" y="404"/>
                </a:cxn>
                <a:cxn ang="0">
                  <a:pos x="140" y="406"/>
                </a:cxn>
                <a:cxn ang="0">
                  <a:pos x="146" y="416"/>
                </a:cxn>
                <a:cxn ang="0">
                  <a:pos x="148" y="426"/>
                </a:cxn>
                <a:cxn ang="0">
                  <a:pos x="158" y="440"/>
                </a:cxn>
                <a:cxn ang="0">
                  <a:pos x="202" y="490"/>
                </a:cxn>
                <a:cxn ang="0">
                  <a:pos x="216" y="506"/>
                </a:cxn>
                <a:cxn ang="0">
                  <a:pos x="280" y="538"/>
                </a:cxn>
                <a:cxn ang="0">
                  <a:pos x="296" y="544"/>
                </a:cxn>
                <a:cxn ang="0">
                  <a:pos x="298" y="544"/>
                </a:cxn>
                <a:cxn ang="0">
                  <a:pos x="298" y="556"/>
                </a:cxn>
                <a:cxn ang="0">
                  <a:pos x="290" y="588"/>
                </a:cxn>
                <a:cxn ang="0">
                  <a:pos x="272" y="620"/>
                </a:cxn>
                <a:cxn ang="0">
                  <a:pos x="254" y="638"/>
                </a:cxn>
                <a:cxn ang="0">
                  <a:pos x="248" y="642"/>
                </a:cxn>
                <a:cxn ang="0">
                  <a:pos x="74" y="502"/>
                </a:cxn>
                <a:cxn ang="0">
                  <a:pos x="40" y="474"/>
                </a:cxn>
                <a:cxn ang="0">
                  <a:pos x="30" y="460"/>
                </a:cxn>
                <a:cxn ang="0">
                  <a:pos x="12" y="426"/>
                </a:cxn>
                <a:cxn ang="0">
                  <a:pos x="6" y="418"/>
                </a:cxn>
                <a:cxn ang="0">
                  <a:pos x="0" y="402"/>
                </a:cxn>
                <a:cxn ang="0">
                  <a:pos x="2" y="388"/>
                </a:cxn>
                <a:cxn ang="0">
                  <a:pos x="6" y="380"/>
                </a:cxn>
                <a:cxn ang="0">
                  <a:pos x="124" y="186"/>
                </a:cxn>
                <a:cxn ang="0">
                  <a:pos x="160" y="96"/>
                </a:cxn>
                <a:cxn ang="0">
                  <a:pos x="178" y="56"/>
                </a:cxn>
                <a:cxn ang="0">
                  <a:pos x="186" y="44"/>
                </a:cxn>
                <a:cxn ang="0">
                  <a:pos x="204" y="34"/>
                </a:cxn>
                <a:cxn ang="0">
                  <a:pos x="218" y="30"/>
                </a:cxn>
                <a:cxn ang="0">
                  <a:pos x="304" y="0"/>
                </a:cxn>
                <a:cxn ang="0">
                  <a:pos x="290" y="116"/>
                </a:cxn>
                <a:cxn ang="0">
                  <a:pos x="274" y="210"/>
                </a:cxn>
                <a:cxn ang="0">
                  <a:pos x="256" y="264"/>
                </a:cxn>
                <a:cxn ang="0">
                  <a:pos x="250" y="278"/>
                </a:cxn>
              </a:cxnLst>
              <a:rect l="0" t="0" r="r" b="b"/>
              <a:pathLst>
                <a:path w="304" h="642">
                  <a:moveTo>
                    <a:pt x="250" y="278"/>
                  </a:moveTo>
                  <a:lnTo>
                    <a:pt x="250" y="278"/>
                  </a:lnTo>
                  <a:lnTo>
                    <a:pt x="244" y="282"/>
                  </a:lnTo>
                  <a:lnTo>
                    <a:pt x="230" y="296"/>
                  </a:lnTo>
                  <a:lnTo>
                    <a:pt x="214" y="316"/>
                  </a:lnTo>
                  <a:lnTo>
                    <a:pt x="204" y="328"/>
                  </a:lnTo>
                  <a:lnTo>
                    <a:pt x="196" y="342"/>
                  </a:lnTo>
                  <a:lnTo>
                    <a:pt x="196" y="342"/>
                  </a:lnTo>
                  <a:lnTo>
                    <a:pt x="188" y="354"/>
                  </a:lnTo>
                  <a:lnTo>
                    <a:pt x="178" y="366"/>
                  </a:lnTo>
                  <a:lnTo>
                    <a:pt x="168" y="374"/>
                  </a:lnTo>
                  <a:lnTo>
                    <a:pt x="158" y="380"/>
                  </a:lnTo>
                  <a:lnTo>
                    <a:pt x="140" y="388"/>
                  </a:lnTo>
                  <a:lnTo>
                    <a:pt x="132" y="390"/>
                  </a:lnTo>
                  <a:lnTo>
                    <a:pt x="132" y="390"/>
                  </a:lnTo>
                  <a:lnTo>
                    <a:pt x="130" y="396"/>
                  </a:lnTo>
                  <a:lnTo>
                    <a:pt x="132" y="400"/>
                  </a:lnTo>
                  <a:lnTo>
                    <a:pt x="136" y="404"/>
                  </a:lnTo>
                  <a:lnTo>
                    <a:pt x="136" y="404"/>
                  </a:lnTo>
                  <a:lnTo>
                    <a:pt x="140" y="406"/>
                  </a:lnTo>
                  <a:lnTo>
                    <a:pt x="144" y="410"/>
                  </a:lnTo>
                  <a:lnTo>
                    <a:pt x="146" y="416"/>
                  </a:lnTo>
                  <a:lnTo>
                    <a:pt x="148" y="426"/>
                  </a:lnTo>
                  <a:lnTo>
                    <a:pt x="148" y="426"/>
                  </a:lnTo>
                  <a:lnTo>
                    <a:pt x="152" y="432"/>
                  </a:lnTo>
                  <a:lnTo>
                    <a:pt x="158" y="440"/>
                  </a:lnTo>
                  <a:lnTo>
                    <a:pt x="176" y="462"/>
                  </a:lnTo>
                  <a:lnTo>
                    <a:pt x="202" y="490"/>
                  </a:lnTo>
                  <a:lnTo>
                    <a:pt x="216" y="506"/>
                  </a:lnTo>
                  <a:lnTo>
                    <a:pt x="216" y="506"/>
                  </a:lnTo>
                  <a:lnTo>
                    <a:pt x="252" y="524"/>
                  </a:lnTo>
                  <a:lnTo>
                    <a:pt x="280" y="538"/>
                  </a:lnTo>
                  <a:lnTo>
                    <a:pt x="290" y="542"/>
                  </a:lnTo>
                  <a:lnTo>
                    <a:pt x="296" y="544"/>
                  </a:lnTo>
                  <a:lnTo>
                    <a:pt x="296" y="544"/>
                  </a:lnTo>
                  <a:lnTo>
                    <a:pt x="298" y="544"/>
                  </a:lnTo>
                  <a:lnTo>
                    <a:pt x="298" y="546"/>
                  </a:lnTo>
                  <a:lnTo>
                    <a:pt x="298" y="556"/>
                  </a:lnTo>
                  <a:lnTo>
                    <a:pt x="294" y="570"/>
                  </a:lnTo>
                  <a:lnTo>
                    <a:pt x="290" y="588"/>
                  </a:lnTo>
                  <a:lnTo>
                    <a:pt x="282" y="604"/>
                  </a:lnTo>
                  <a:lnTo>
                    <a:pt x="272" y="620"/>
                  </a:lnTo>
                  <a:lnTo>
                    <a:pt x="260" y="634"/>
                  </a:lnTo>
                  <a:lnTo>
                    <a:pt x="254" y="638"/>
                  </a:lnTo>
                  <a:lnTo>
                    <a:pt x="248" y="642"/>
                  </a:lnTo>
                  <a:lnTo>
                    <a:pt x="248" y="642"/>
                  </a:lnTo>
                  <a:lnTo>
                    <a:pt x="74" y="502"/>
                  </a:lnTo>
                  <a:lnTo>
                    <a:pt x="74" y="502"/>
                  </a:lnTo>
                  <a:lnTo>
                    <a:pt x="52" y="486"/>
                  </a:lnTo>
                  <a:lnTo>
                    <a:pt x="40" y="474"/>
                  </a:lnTo>
                  <a:lnTo>
                    <a:pt x="30" y="460"/>
                  </a:lnTo>
                  <a:lnTo>
                    <a:pt x="30" y="460"/>
                  </a:lnTo>
                  <a:lnTo>
                    <a:pt x="18" y="438"/>
                  </a:lnTo>
                  <a:lnTo>
                    <a:pt x="12" y="426"/>
                  </a:lnTo>
                  <a:lnTo>
                    <a:pt x="12" y="426"/>
                  </a:lnTo>
                  <a:lnTo>
                    <a:pt x="6" y="418"/>
                  </a:lnTo>
                  <a:lnTo>
                    <a:pt x="2" y="408"/>
                  </a:lnTo>
                  <a:lnTo>
                    <a:pt x="0" y="402"/>
                  </a:lnTo>
                  <a:lnTo>
                    <a:pt x="0" y="396"/>
                  </a:lnTo>
                  <a:lnTo>
                    <a:pt x="2" y="388"/>
                  </a:lnTo>
                  <a:lnTo>
                    <a:pt x="6" y="380"/>
                  </a:lnTo>
                  <a:lnTo>
                    <a:pt x="6" y="380"/>
                  </a:lnTo>
                  <a:lnTo>
                    <a:pt x="70" y="274"/>
                  </a:lnTo>
                  <a:lnTo>
                    <a:pt x="124" y="186"/>
                  </a:lnTo>
                  <a:lnTo>
                    <a:pt x="160" y="96"/>
                  </a:lnTo>
                  <a:lnTo>
                    <a:pt x="160" y="96"/>
                  </a:lnTo>
                  <a:lnTo>
                    <a:pt x="168" y="74"/>
                  </a:lnTo>
                  <a:lnTo>
                    <a:pt x="178" y="56"/>
                  </a:lnTo>
                  <a:lnTo>
                    <a:pt x="186" y="44"/>
                  </a:lnTo>
                  <a:lnTo>
                    <a:pt x="186" y="44"/>
                  </a:lnTo>
                  <a:lnTo>
                    <a:pt x="196" y="36"/>
                  </a:lnTo>
                  <a:lnTo>
                    <a:pt x="204" y="34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304" y="0"/>
                  </a:lnTo>
                  <a:lnTo>
                    <a:pt x="304" y="0"/>
                  </a:lnTo>
                  <a:lnTo>
                    <a:pt x="300" y="36"/>
                  </a:lnTo>
                  <a:lnTo>
                    <a:pt x="290" y="116"/>
                  </a:lnTo>
                  <a:lnTo>
                    <a:pt x="282" y="164"/>
                  </a:lnTo>
                  <a:lnTo>
                    <a:pt x="274" y="210"/>
                  </a:lnTo>
                  <a:lnTo>
                    <a:pt x="262" y="248"/>
                  </a:lnTo>
                  <a:lnTo>
                    <a:pt x="256" y="264"/>
                  </a:lnTo>
                  <a:lnTo>
                    <a:pt x="250" y="278"/>
                  </a:lnTo>
                  <a:lnTo>
                    <a:pt x="250" y="27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200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pSp>
        <p:nvGrpSpPr>
          <p:cNvPr id="5" name="Group 9"/>
          <p:cNvGrpSpPr/>
          <p:nvPr/>
        </p:nvGrpSpPr>
        <p:grpSpPr>
          <a:xfrm>
            <a:off x="4009405" y="911247"/>
            <a:ext cx="172557" cy="233052"/>
            <a:chOff x="5500694" y="4214818"/>
            <a:chExt cx="533400" cy="1765300"/>
          </a:xfrm>
          <a:solidFill>
            <a:srgbClr val="990000">
              <a:lumMod val="75000"/>
            </a:srgbClr>
          </a:solidFill>
          <a:effectLst>
            <a:reflection blurRad="6350" stA="52000" endA="300" endPos="35000" dir="5400000" sy="-100000" algn="bl" rotWithShape="0"/>
          </a:effectLst>
        </p:grpSpPr>
        <p:sp>
          <p:nvSpPr>
            <p:cNvPr id="149" name="Freeform 288"/>
            <p:cNvSpPr>
              <a:spLocks noEditPoints="1"/>
            </p:cNvSpPr>
            <p:nvPr/>
          </p:nvSpPr>
          <p:spPr bwMode="auto">
            <a:xfrm>
              <a:off x="5500694" y="4214818"/>
              <a:ext cx="533400" cy="1765300"/>
            </a:xfrm>
            <a:custGeom>
              <a:avLst/>
              <a:gdLst/>
              <a:ahLst/>
              <a:cxnLst>
                <a:cxn ang="0">
                  <a:pos x="300" y="204"/>
                </a:cxn>
                <a:cxn ang="0">
                  <a:pos x="240" y="172"/>
                </a:cxn>
                <a:cxn ang="0">
                  <a:pos x="212" y="154"/>
                </a:cxn>
                <a:cxn ang="0">
                  <a:pos x="202" y="142"/>
                </a:cxn>
                <a:cxn ang="0">
                  <a:pos x="204" y="120"/>
                </a:cxn>
                <a:cxn ang="0">
                  <a:pos x="222" y="80"/>
                </a:cxn>
                <a:cxn ang="0">
                  <a:pos x="220" y="32"/>
                </a:cxn>
                <a:cxn ang="0">
                  <a:pos x="190" y="2"/>
                </a:cxn>
                <a:cxn ang="0">
                  <a:pos x="156" y="4"/>
                </a:cxn>
                <a:cxn ang="0">
                  <a:pos x="132" y="22"/>
                </a:cxn>
                <a:cxn ang="0">
                  <a:pos x="126" y="44"/>
                </a:cxn>
                <a:cxn ang="0">
                  <a:pos x="124" y="66"/>
                </a:cxn>
                <a:cxn ang="0">
                  <a:pos x="122" y="86"/>
                </a:cxn>
                <a:cxn ang="0">
                  <a:pos x="134" y="108"/>
                </a:cxn>
                <a:cxn ang="0">
                  <a:pos x="134" y="138"/>
                </a:cxn>
                <a:cxn ang="0">
                  <a:pos x="116" y="154"/>
                </a:cxn>
                <a:cxn ang="0">
                  <a:pos x="50" y="186"/>
                </a:cxn>
                <a:cxn ang="0">
                  <a:pos x="40" y="194"/>
                </a:cxn>
                <a:cxn ang="0">
                  <a:pos x="22" y="232"/>
                </a:cxn>
                <a:cxn ang="0">
                  <a:pos x="0" y="358"/>
                </a:cxn>
                <a:cxn ang="0">
                  <a:pos x="8" y="400"/>
                </a:cxn>
                <a:cxn ang="0">
                  <a:pos x="42" y="446"/>
                </a:cxn>
                <a:cxn ang="0">
                  <a:pos x="58" y="496"/>
                </a:cxn>
                <a:cxn ang="0">
                  <a:pos x="54" y="580"/>
                </a:cxn>
                <a:cxn ang="0">
                  <a:pos x="60" y="642"/>
                </a:cxn>
                <a:cxn ang="0">
                  <a:pos x="56" y="888"/>
                </a:cxn>
                <a:cxn ang="0">
                  <a:pos x="54" y="974"/>
                </a:cxn>
                <a:cxn ang="0">
                  <a:pos x="64" y="1048"/>
                </a:cxn>
                <a:cxn ang="0">
                  <a:pos x="38" y="1092"/>
                </a:cxn>
                <a:cxn ang="0">
                  <a:pos x="56" y="1106"/>
                </a:cxn>
                <a:cxn ang="0">
                  <a:pos x="86" y="1102"/>
                </a:cxn>
                <a:cxn ang="0">
                  <a:pos x="126" y="1070"/>
                </a:cxn>
                <a:cxn ang="0">
                  <a:pos x="136" y="1050"/>
                </a:cxn>
                <a:cxn ang="0">
                  <a:pos x="140" y="1012"/>
                </a:cxn>
                <a:cxn ang="0">
                  <a:pos x="144" y="736"/>
                </a:cxn>
                <a:cxn ang="0">
                  <a:pos x="156" y="626"/>
                </a:cxn>
                <a:cxn ang="0">
                  <a:pos x="158" y="620"/>
                </a:cxn>
                <a:cxn ang="0">
                  <a:pos x="178" y="742"/>
                </a:cxn>
                <a:cxn ang="0">
                  <a:pos x="180" y="922"/>
                </a:cxn>
                <a:cxn ang="0">
                  <a:pos x="178" y="1058"/>
                </a:cxn>
                <a:cxn ang="0">
                  <a:pos x="190" y="1066"/>
                </a:cxn>
                <a:cxn ang="0">
                  <a:pos x="188" y="1086"/>
                </a:cxn>
                <a:cxn ang="0">
                  <a:pos x="198" y="1108"/>
                </a:cxn>
                <a:cxn ang="0">
                  <a:pos x="230" y="1112"/>
                </a:cxn>
                <a:cxn ang="0">
                  <a:pos x="248" y="1090"/>
                </a:cxn>
                <a:cxn ang="0">
                  <a:pos x="238" y="1054"/>
                </a:cxn>
                <a:cxn ang="0">
                  <a:pos x="246" y="920"/>
                </a:cxn>
                <a:cxn ang="0">
                  <a:pos x="252" y="746"/>
                </a:cxn>
                <a:cxn ang="0">
                  <a:pos x="266" y="582"/>
                </a:cxn>
                <a:cxn ang="0">
                  <a:pos x="276" y="560"/>
                </a:cxn>
                <a:cxn ang="0">
                  <a:pos x="296" y="480"/>
                </a:cxn>
                <a:cxn ang="0">
                  <a:pos x="336" y="368"/>
                </a:cxn>
                <a:cxn ang="0">
                  <a:pos x="324" y="292"/>
                </a:cxn>
                <a:cxn ang="0">
                  <a:pos x="68" y="380"/>
                </a:cxn>
                <a:cxn ang="0">
                  <a:pos x="60" y="360"/>
                </a:cxn>
                <a:cxn ang="0">
                  <a:pos x="68" y="358"/>
                </a:cxn>
                <a:cxn ang="0">
                  <a:pos x="274" y="376"/>
                </a:cxn>
                <a:cxn ang="0">
                  <a:pos x="266" y="362"/>
                </a:cxn>
                <a:cxn ang="0">
                  <a:pos x="274" y="376"/>
                </a:cxn>
              </a:cxnLst>
              <a:rect l="0" t="0" r="r" b="b"/>
              <a:pathLst>
                <a:path w="336" h="1112">
                  <a:moveTo>
                    <a:pt x="308" y="222"/>
                  </a:moveTo>
                  <a:lnTo>
                    <a:pt x="308" y="222"/>
                  </a:lnTo>
                  <a:lnTo>
                    <a:pt x="304" y="210"/>
                  </a:lnTo>
                  <a:lnTo>
                    <a:pt x="300" y="204"/>
                  </a:lnTo>
                  <a:lnTo>
                    <a:pt x="294" y="198"/>
                  </a:lnTo>
                  <a:lnTo>
                    <a:pt x="286" y="192"/>
                  </a:lnTo>
                  <a:lnTo>
                    <a:pt x="274" y="186"/>
                  </a:lnTo>
                  <a:lnTo>
                    <a:pt x="240" y="172"/>
                  </a:lnTo>
                  <a:lnTo>
                    <a:pt x="240" y="172"/>
                  </a:lnTo>
                  <a:lnTo>
                    <a:pt x="224" y="164"/>
                  </a:lnTo>
                  <a:lnTo>
                    <a:pt x="218" y="158"/>
                  </a:lnTo>
                  <a:lnTo>
                    <a:pt x="212" y="154"/>
                  </a:lnTo>
                  <a:lnTo>
                    <a:pt x="212" y="154"/>
                  </a:lnTo>
                  <a:lnTo>
                    <a:pt x="210" y="150"/>
                  </a:lnTo>
                  <a:lnTo>
                    <a:pt x="202" y="142"/>
                  </a:lnTo>
                  <a:lnTo>
                    <a:pt x="202" y="142"/>
                  </a:lnTo>
                  <a:lnTo>
                    <a:pt x="198" y="136"/>
                  </a:lnTo>
                  <a:lnTo>
                    <a:pt x="198" y="130"/>
                  </a:lnTo>
                  <a:lnTo>
                    <a:pt x="200" y="124"/>
                  </a:lnTo>
                  <a:lnTo>
                    <a:pt x="204" y="120"/>
                  </a:lnTo>
                  <a:lnTo>
                    <a:pt x="204" y="120"/>
                  </a:lnTo>
                  <a:lnTo>
                    <a:pt x="212" y="112"/>
                  </a:lnTo>
                  <a:lnTo>
                    <a:pt x="218" y="96"/>
                  </a:lnTo>
                  <a:lnTo>
                    <a:pt x="222" y="80"/>
                  </a:lnTo>
                  <a:lnTo>
                    <a:pt x="224" y="62"/>
                  </a:lnTo>
                  <a:lnTo>
                    <a:pt x="224" y="62"/>
                  </a:lnTo>
                  <a:lnTo>
                    <a:pt x="222" y="42"/>
                  </a:lnTo>
                  <a:lnTo>
                    <a:pt x="220" y="32"/>
                  </a:lnTo>
                  <a:lnTo>
                    <a:pt x="216" y="22"/>
                  </a:lnTo>
                  <a:lnTo>
                    <a:pt x="210" y="14"/>
                  </a:lnTo>
                  <a:lnTo>
                    <a:pt x="202" y="6"/>
                  </a:lnTo>
                  <a:lnTo>
                    <a:pt x="190" y="2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64" y="0"/>
                  </a:lnTo>
                  <a:lnTo>
                    <a:pt x="156" y="4"/>
                  </a:lnTo>
                  <a:lnTo>
                    <a:pt x="148" y="6"/>
                  </a:lnTo>
                  <a:lnTo>
                    <a:pt x="142" y="12"/>
                  </a:lnTo>
                  <a:lnTo>
                    <a:pt x="136" y="16"/>
                  </a:lnTo>
                  <a:lnTo>
                    <a:pt x="132" y="22"/>
                  </a:lnTo>
                  <a:lnTo>
                    <a:pt x="128" y="28"/>
                  </a:lnTo>
                  <a:lnTo>
                    <a:pt x="126" y="34"/>
                  </a:lnTo>
                  <a:lnTo>
                    <a:pt x="126" y="34"/>
                  </a:lnTo>
                  <a:lnTo>
                    <a:pt x="126" y="44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62"/>
                  </a:lnTo>
                  <a:lnTo>
                    <a:pt x="124" y="66"/>
                  </a:lnTo>
                  <a:lnTo>
                    <a:pt x="122" y="72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22" y="86"/>
                  </a:lnTo>
                  <a:lnTo>
                    <a:pt x="126" y="94"/>
                  </a:lnTo>
                  <a:lnTo>
                    <a:pt x="126" y="94"/>
                  </a:lnTo>
                  <a:lnTo>
                    <a:pt x="130" y="102"/>
                  </a:lnTo>
                  <a:lnTo>
                    <a:pt x="134" y="108"/>
                  </a:lnTo>
                  <a:lnTo>
                    <a:pt x="136" y="120"/>
                  </a:lnTo>
                  <a:lnTo>
                    <a:pt x="136" y="120"/>
                  </a:lnTo>
                  <a:lnTo>
                    <a:pt x="136" y="132"/>
                  </a:lnTo>
                  <a:lnTo>
                    <a:pt x="134" y="138"/>
                  </a:lnTo>
                  <a:lnTo>
                    <a:pt x="130" y="140"/>
                  </a:lnTo>
                  <a:lnTo>
                    <a:pt x="126" y="144"/>
                  </a:lnTo>
                  <a:lnTo>
                    <a:pt x="126" y="144"/>
                  </a:lnTo>
                  <a:lnTo>
                    <a:pt x="116" y="154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78" y="174"/>
                  </a:lnTo>
                  <a:lnTo>
                    <a:pt x="50" y="186"/>
                  </a:lnTo>
                  <a:lnTo>
                    <a:pt x="50" y="186"/>
                  </a:lnTo>
                  <a:lnTo>
                    <a:pt x="44" y="192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36" y="200"/>
                  </a:lnTo>
                  <a:lnTo>
                    <a:pt x="36" y="200"/>
                  </a:lnTo>
                  <a:lnTo>
                    <a:pt x="28" y="214"/>
                  </a:lnTo>
                  <a:lnTo>
                    <a:pt x="22" y="232"/>
                  </a:lnTo>
                  <a:lnTo>
                    <a:pt x="16" y="254"/>
                  </a:lnTo>
                  <a:lnTo>
                    <a:pt x="12" y="276"/>
                  </a:lnTo>
                  <a:lnTo>
                    <a:pt x="4" y="322"/>
                  </a:lnTo>
                  <a:lnTo>
                    <a:pt x="0" y="358"/>
                  </a:lnTo>
                  <a:lnTo>
                    <a:pt x="0" y="358"/>
                  </a:lnTo>
                  <a:lnTo>
                    <a:pt x="0" y="376"/>
                  </a:lnTo>
                  <a:lnTo>
                    <a:pt x="2" y="388"/>
                  </a:lnTo>
                  <a:lnTo>
                    <a:pt x="8" y="400"/>
                  </a:lnTo>
                  <a:lnTo>
                    <a:pt x="14" y="410"/>
                  </a:lnTo>
                  <a:lnTo>
                    <a:pt x="28" y="428"/>
                  </a:lnTo>
                  <a:lnTo>
                    <a:pt x="42" y="446"/>
                  </a:lnTo>
                  <a:lnTo>
                    <a:pt x="42" y="446"/>
                  </a:lnTo>
                  <a:lnTo>
                    <a:pt x="48" y="458"/>
                  </a:lnTo>
                  <a:lnTo>
                    <a:pt x="52" y="470"/>
                  </a:lnTo>
                  <a:lnTo>
                    <a:pt x="58" y="496"/>
                  </a:lnTo>
                  <a:lnTo>
                    <a:pt x="58" y="496"/>
                  </a:lnTo>
                  <a:lnTo>
                    <a:pt x="54" y="530"/>
                  </a:lnTo>
                  <a:lnTo>
                    <a:pt x="54" y="530"/>
                  </a:lnTo>
                  <a:lnTo>
                    <a:pt x="52" y="572"/>
                  </a:lnTo>
                  <a:lnTo>
                    <a:pt x="54" y="580"/>
                  </a:lnTo>
                  <a:lnTo>
                    <a:pt x="56" y="582"/>
                  </a:lnTo>
                  <a:lnTo>
                    <a:pt x="58" y="584"/>
                  </a:lnTo>
                  <a:lnTo>
                    <a:pt x="58" y="584"/>
                  </a:lnTo>
                  <a:lnTo>
                    <a:pt x="60" y="642"/>
                  </a:lnTo>
                  <a:lnTo>
                    <a:pt x="62" y="762"/>
                  </a:lnTo>
                  <a:lnTo>
                    <a:pt x="62" y="762"/>
                  </a:lnTo>
                  <a:lnTo>
                    <a:pt x="60" y="826"/>
                  </a:lnTo>
                  <a:lnTo>
                    <a:pt x="56" y="888"/>
                  </a:lnTo>
                  <a:lnTo>
                    <a:pt x="54" y="940"/>
                  </a:lnTo>
                  <a:lnTo>
                    <a:pt x="54" y="960"/>
                  </a:lnTo>
                  <a:lnTo>
                    <a:pt x="54" y="974"/>
                  </a:lnTo>
                  <a:lnTo>
                    <a:pt x="54" y="974"/>
                  </a:lnTo>
                  <a:lnTo>
                    <a:pt x="62" y="1018"/>
                  </a:lnTo>
                  <a:lnTo>
                    <a:pt x="64" y="1036"/>
                  </a:lnTo>
                  <a:lnTo>
                    <a:pt x="64" y="1048"/>
                  </a:lnTo>
                  <a:lnTo>
                    <a:pt x="64" y="1048"/>
                  </a:lnTo>
                  <a:lnTo>
                    <a:pt x="60" y="1058"/>
                  </a:lnTo>
                  <a:lnTo>
                    <a:pt x="50" y="1074"/>
                  </a:lnTo>
                  <a:lnTo>
                    <a:pt x="40" y="1088"/>
                  </a:lnTo>
                  <a:lnTo>
                    <a:pt x="38" y="1092"/>
                  </a:lnTo>
                  <a:lnTo>
                    <a:pt x="38" y="1096"/>
                  </a:lnTo>
                  <a:lnTo>
                    <a:pt x="38" y="1096"/>
                  </a:lnTo>
                  <a:lnTo>
                    <a:pt x="44" y="1100"/>
                  </a:lnTo>
                  <a:lnTo>
                    <a:pt x="56" y="1106"/>
                  </a:lnTo>
                  <a:lnTo>
                    <a:pt x="64" y="1108"/>
                  </a:lnTo>
                  <a:lnTo>
                    <a:pt x="72" y="1108"/>
                  </a:lnTo>
                  <a:lnTo>
                    <a:pt x="78" y="1106"/>
                  </a:lnTo>
                  <a:lnTo>
                    <a:pt x="86" y="1102"/>
                  </a:lnTo>
                  <a:lnTo>
                    <a:pt x="86" y="1102"/>
                  </a:lnTo>
                  <a:lnTo>
                    <a:pt x="110" y="1082"/>
                  </a:lnTo>
                  <a:lnTo>
                    <a:pt x="126" y="1070"/>
                  </a:lnTo>
                  <a:lnTo>
                    <a:pt x="126" y="1070"/>
                  </a:lnTo>
                  <a:lnTo>
                    <a:pt x="132" y="1066"/>
                  </a:lnTo>
                  <a:lnTo>
                    <a:pt x="134" y="1062"/>
                  </a:lnTo>
                  <a:lnTo>
                    <a:pt x="136" y="1056"/>
                  </a:lnTo>
                  <a:lnTo>
                    <a:pt x="136" y="1050"/>
                  </a:lnTo>
                  <a:lnTo>
                    <a:pt x="136" y="1050"/>
                  </a:lnTo>
                  <a:lnTo>
                    <a:pt x="138" y="1032"/>
                  </a:lnTo>
                  <a:lnTo>
                    <a:pt x="140" y="1012"/>
                  </a:lnTo>
                  <a:lnTo>
                    <a:pt x="140" y="1012"/>
                  </a:lnTo>
                  <a:lnTo>
                    <a:pt x="140" y="884"/>
                  </a:lnTo>
                  <a:lnTo>
                    <a:pt x="140" y="794"/>
                  </a:lnTo>
                  <a:lnTo>
                    <a:pt x="142" y="758"/>
                  </a:lnTo>
                  <a:lnTo>
                    <a:pt x="144" y="736"/>
                  </a:lnTo>
                  <a:lnTo>
                    <a:pt x="144" y="736"/>
                  </a:lnTo>
                  <a:lnTo>
                    <a:pt x="148" y="698"/>
                  </a:lnTo>
                  <a:lnTo>
                    <a:pt x="152" y="656"/>
                  </a:lnTo>
                  <a:lnTo>
                    <a:pt x="156" y="626"/>
                  </a:lnTo>
                  <a:lnTo>
                    <a:pt x="158" y="620"/>
                  </a:lnTo>
                  <a:lnTo>
                    <a:pt x="158" y="618"/>
                  </a:lnTo>
                  <a:lnTo>
                    <a:pt x="158" y="620"/>
                  </a:lnTo>
                  <a:lnTo>
                    <a:pt x="158" y="620"/>
                  </a:lnTo>
                  <a:lnTo>
                    <a:pt x="164" y="642"/>
                  </a:lnTo>
                  <a:lnTo>
                    <a:pt x="168" y="678"/>
                  </a:lnTo>
                  <a:lnTo>
                    <a:pt x="178" y="742"/>
                  </a:lnTo>
                  <a:lnTo>
                    <a:pt x="178" y="742"/>
                  </a:lnTo>
                  <a:lnTo>
                    <a:pt x="180" y="774"/>
                  </a:lnTo>
                  <a:lnTo>
                    <a:pt x="180" y="822"/>
                  </a:lnTo>
                  <a:lnTo>
                    <a:pt x="180" y="922"/>
                  </a:lnTo>
                  <a:lnTo>
                    <a:pt x="180" y="922"/>
                  </a:lnTo>
                  <a:lnTo>
                    <a:pt x="180" y="984"/>
                  </a:lnTo>
                  <a:lnTo>
                    <a:pt x="180" y="1030"/>
                  </a:lnTo>
                  <a:lnTo>
                    <a:pt x="180" y="1030"/>
                  </a:lnTo>
                  <a:lnTo>
                    <a:pt x="178" y="1058"/>
                  </a:lnTo>
                  <a:lnTo>
                    <a:pt x="178" y="1064"/>
                  </a:lnTo>
                  <a:lnTo>
                    <a:pt x="182" y="1066"/>
                  </a:lnTo>
                  <a:lnTo>
                    <a:pt x="182" y="1066"/>
                  </a:lnTo>
                  <a:lnTo>
                    <a:pt x="190" y="1066"/>
                  </a:lnTo>
                  <a:lnTo>
                    <a:pt x="190" y="1068"/>
                  </a:lnTo>
                  <a:lnTo>
                    <a:pt x="190" y="1076"/>
                  </a:lnTo>
                  <a:lnTo>
                    <a:pt x="190" y="1076"/>
                  </a:lnTo>
                  <a:lnTo>
                    <a:pt x="188" y="1086"/>
                  </a:lnTo>
                  <a:lnTo>
                    <a:pt x="188" y="1092"/>
                  </a:lnTo>
                  <a:lnTo>
                    <a:pt x="188" y="1098"/>
                  </a:lnTo>
                  <a:lnTo>
                    <a:pt x="192" y="1104"/>
                  </a:lnTo>
                  <a:lnTo>
                    <a:pt x="198" y="1108"/>
                  </a:lnTo>
                  <a:lnTo>
                    <a:pt x="208" y="1112"/>
                  </a:lnTo>
                  <a:lnTo>
                    <a:pt x="224" y="1112"/>
                  </a:lnTo>
                  <a:lnTo>
                    <a:pt x="224" y="1112"/>
                  </a:lnTo>
                  <a:lnTo>
                    <a:pt x="230" y="1112"/>
                  </a:lnTo>
                  <a:lnTo>
                    <a:pt x="238" y="1110"/>
                  </a:lnTo>
                  <a:lnTo>
                    <a:pt x="244" y="1106"/>
                  </a:lnTo>
                  <a:lnTo>
                    <a:pt x="248" y="1100"/>
                  </a:lnTo>
                  <a:lnTo>
                    <a:pt x="248" y="1090"/>
                  </a:lnTo>
                  <a:lnTo>
                    <a:pt x="246" y="1076"/>
                  </a:lnTo>
                  <a:lnTo>
                    <a:pt x="236" y="1056"/>
                  </a:lnTo>
                  <a:lnTo>
                    <a:pt x="236" y="1056"/>
                  </a:lnTo>
                  <a:lnTo>
                    <a:pt x="238" y="1054"/>
                  </a:lnTo>
                  <a:lnTo>
                    <a:pt x="240" y="1048"/>
                  </a:lnTo>
                  <a:lnTo>
                    <a:pt x="240" y="1042"/>
                  </a:lnTo>
                  <a:lnTo>
                    <a:pt x="240" y="1042"/>
                  </a:lnTo>
                  <a:lnTo>
                    <a:pt x="246" y="920"/>
                  </a:lnTo>
                  <a:lnTo>
                    <a:pt x="250" y="838"/>
                  </a:lnTo>
                  <a:lnTo>
                    <a:pt x="250" y="788"/>
                  </a:lnTo>
                  <a:lnTo>
                    <a:pt x="250" y="788"/>
                  </a:lnTo>
                  <a:lnTo>
                    <a:pt x="252" y="746"/>
                  </a:lnTo>
                  <a:lnTo>
                    <a:pt x="254" y="680"/>
                  </a:lnTo>
                  <a:lnTo>
                    <a:pt x="260" y="616"/>
                  </a:lnTo>
                  <a:lnTo>
                    <a:pt x="262" y="594"/>
                  </a:lnTo>
                  <a:lnTo>
                    <a:pt x="266" y="582"/>
                  </a:lnTo>
                  <a:lnTo>
                    <a:pt x="266" y="582"/>
                  </a:lnTo>
                  <a:lnTo>
                    <a:pt x="274" y="572"/>
                  </a:lnTo>
                  <a:lnTo>
                    <a:pt x="276" y="568"/>
                  </a:lnTo>
                  <a:lnTo>
                    <a:pt x="276" y="560"/>
                  </a:lnTo>
                  <a:lnTo>
                    <a:pt x="276" y="560"/>
                  </a:lnTo>
                  <a:lnTo>
                    <a:pt x="274" y="534"/>
                  </a:lnTo>
                  <a:lnTo>
                    <a:pt x="274" y="534"/>
                  </a:lnTo>
                  <a:lnTo>
                    <a:pt x="296" y="480"/>
                  </a:lnTo>
                  <a:lnTo>
                    <a:pt x="296" y="480"/>
                  </a:lnTo>
                  <a:lnTo>
                    <a:pt x="322" y="414"/>
                  </a:lnTo>
                  <a:lnTo>
                    <a:pt x="332" y="388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56"/>
                  </a:lnTo>
                  <a:lnTo>
                    <a:pt x="332" y="338"/>
                  </a:lnTo>
                  <a:lnTo>
                    <a:pt x="324" y="292"/>
                  </a:lnTo>
                  <a:lnTo>
                    <a:pt x="308" y="222"/>
                  </a:lnTo>
                  <a:lnTo>
                    <a:pt x="308" y="222"/>
                  </a:lnTo>
                  <a:close/>
                  <a:moveTo>
                    <a:pt x="68" y="380"/>
                  </a:moveTo>
                  <a:lnTo>
                    <a:pt x="68" y="380"/>
                  </a:lnTo>
                  <a:lnTo>
                    <a:pt x="62" y="374"/>
                  </a:lnTo>
                  <a:lnTo>
                    <a:pt x="60" y="366"/>
                  </a:lnTo>
                  <a:lnTo>
                    <a:pt x="60" y="366"/>
                  </a:lnTo>
                  <a:lnTo>
                    <a:pt x="60" y="360"/>
                  </a:lnTo>
                  <a:lnTo>
                    <a:pt x="62" y="352"/>
                  </a:lnTo>
                  <a:lnTo>
                    <a:pt x="70" y="340"/>
                  </a:lnTo>
                  <a:lnTo>
                    <a:pt x="70" y="340"/>
                  </a:lnTo>
                  <a:lnTo>
                    <a:pt x="68" y="358"/>
                  </a:lnTo>
                  <a:lnTo>
                    <a:pt x="68" y="380"/>
                  </a:lnTo>
                  <a:lnTo>
                    <a:pt x="68" y="380"/>
                  </a:lnTo>
                  <a:close/>
                  <a:moveTo>
                    <a:pt x="274" y="376"/>
                  </a:moveTo>
                  <a:lnTo>
                    <a:pt x="274" y="376"/>
                  </a:lnTo>
                  <a:lnTo>
                    <a:pt x="266" y="394"/>
                  </a:lnTo>
                  <a:lnTo>
                    <a:pt x="266" y="394"/>
                  </a:lnTo>
                  <a:lnTo>
                    <a:pt x="266" y="362"/>
                  </a:lnTo>
                  <a:lnTo>
                    <a:pt x="266" y="362"/>
                  </a:lnTo>
                  <a:lnTo>
                    <a:pt x="272" y="370"/>
                  </a:lnTo>
                  <a:lnTo>
                    <a:pt x="274" y="374"/>
                  </a:lnTo>
                  <a:lnTo>
                    <a:pt x="274" y="376"/>
                  </a:lnTo>
                  <a:lnTo>
                    <a:pt x="274" y="3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0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50" name="Freeform 290"/>
            <p:cNvSpPr/>
            <p:nvPr/>
          </p:nvSpPr>
          <p:spPr bwMode="auto">
            <a:xfrm>
              <a:off x="5713419" y="4491043"/>
              <a:ext cx="82550" cy="539750"/>
            </a:xfrm>
            <a:custGeom>
              <a:avLst/>
              <a:gdLst/>
              <a:ahLst/>
              <a:cxnLst>
                <a:cxn ang="0">
                  <a:pos x="42" y="10"/>
                </a:cxn>
                <a:cxn ang="0">
                  <a:pos x="42" y="10"/>
                </a:cxn>
                <a:cxn ang="0">
                  <a:pos x="38" y="4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20" y="4"/>
                </a:cxn>
                <a:cxn ang="0">
                  <a:pos x="18" y="6"/>
                </a:cxn>
                <a:cxn ang="0">
                  <a:pos x="18" y="10"/>
                </a:cxn>
                <a:cxn ang="0">
                  <a:pos x="18" y="10"/>
                </a:cxn>
                <a:cxn ang="0">
                  <a:pos x="22" y="16"/>
                </a:cxn>
                <a:cxn ang="0">
                  <a:pos x="22" y="26"/>
                </a:cxn>
                <a:cxn ang="0">
                  <a:pos x="22" y="26"/>
                </a:cxn>
                <a:cxn ang="0">
                  <a:pos x="16" y="58"/>
                </a:cxn>
                <a:cxn ang="0">
                  <a:pos x="12" y="7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206"/>
                </a:cxn>
                <a:cxn ang="0">
                  <a:pos x="0" y="286"/>
                </a:cxn>
                <a:cxn ang="0">
                  <a:pos x="0" y="316"/>
                </a:cxn>
                <a:cxn ang="0">
                  <a:pos x="2" y="334"/>
                </a:cxn>
                <a:cxn ang="0">
                  <a:pos x="2" y="334"/>
                </a:cxn>
                <a:cxn ang="0">
                  <a:pos x="4" y="338"/>
                </a:cxn>
                <a:cxn ang="0">
                  <a:pos x="6" y="340"/>
                </a:cxn>
                <a:cxn ang="0">
                  <a:pos x="10" y="340"/>
                </a:cxn>
                <a:cxn ang="0">
                  <a:pos x="14" y="336"/>
                </a:cxn>
                <a:cxn ang="0">
                  <a:pos x="22" y="328"/>
                </a:cxn>
                <a:cxn ang="0">
                  <a:pos x="30" y="314"/>
                </a:cxn>
                <a:cxn ang="0">
                  <a:pos x="46" y="286"/>
                </a:cxn>
                <a:cxn ang="0">
                  <a:pos x="52" y="272"/>
                </a:cxn>
                <a:cxn ang="0">
                  <a:pos x="52" y="272"/>
                </a:cxn>
                <a:cxn ang="0">
                  <a:pos x="44" y="234"/>
                </a:cxn>
                <a:cxn ang="0">
                  <a:pos x="40" y="196"/>
                </a:cxn>
                <a:cxn ang="0">
                  <a:pos x="38" y="178"/>
                </a:cxn>
                <a:cxn ang="0">
                  <a:pos x="38" y="158"/>
                </a:cxn>
                <a:cxn ang="0">
                  <a:pos x="38" y="158"/>
                </a:cxn>
                <a:cxn ang="0">
                  <a:pos x="42" y="82"/>
                </a:cxn>
                <a:cxn ang="0">
                  <a:pos x="42" y="52"/>
                </a:cxn>
                <a:cxn ang="0">
                  <a:pos x="40" y="42"/>
                </a:cxn>
                <a:cxn ang="0">
                  <a:pos x="38" y="36"/>
                </a:cxn>
                <a:cxn ang="0">
                  <a:pos x="38" y="36"/>
                </a:cxn>
                <a:cxn ang="0">
                  <a:pos x="36" y="30"/>
                </a:cxn>
                <a:cxn ang="0">
                  <a:pos x="34" y="24"/>
                </a:cxn>
                <a:cxn ang="0">
                  <a:pos x="36" y="18"/>
                </a:cxn>
                <a:cxn ang="0">
                  <a:pos x="42" y="10"/>
                </a:cxn>
                <a:cxn ang="0">
                  <a:pos x="42" y="10"/>
                </a:cxn>
              </a:cxnLst>
              <a:rect l="0" t="0" r="r" b="b"/>
              <a:pathLst>
                <a:path w="52" h="340">
                  <a:moveTo>
                    <a:pt x="42" y="10"/>
                  </a:moveTo>
                  <a:lnTo>
                    <a:pt x="42" y="10"/>
                  </a:lnTo>
                  <a:lnTo>
                    <a:pt x="38" y="4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2" y="1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6" y="58"/>
                  </a:lnTo>
                  <a:lnTo>
                    <a:pt x="12" y="7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206"/>
                  </a:lnTo>
                  <a:lnTo>
                    <a:pt x="0" y="286"/>
                  </a:lnTo>
                  <a:lnTo>
                    <a:pt x="0" y="316"/>
                  </a:lnTo>
                  <a:lnTo>
                    <a:pt x="2" y="334"/>
                  </a:lnTo>
                  <a:lnTo>
                    <a:pt x="2" y="334"/>
                  </a:lnTo>
                  <a:lnTo>
                    <a:pt x="4" y="338"/>
                  </a:lnTo>
                  <a:lnTo>
                    <a:pt x="6" y="340"/>
                  </a:lnTo>
                  <a:lnTo>
                    <a:pt x="10" y="340"/>
                  </a:lnTo>
                  <a:lnTo>
                    <a:pt x="14" y="336"/>
                  </a:lnTo>
                  <a:lnTo>
                    <a:pt x="22" y="328"/>
                  </a:lnTo>
                  <a:lnTo>
                    <a:pt x="30" y="314"/>
                  </a:lnTo>
                  <a:lnTo>
                    <a:pt x="46" y="286"/>
                  </a:lnTo>
                  <a:lnTo>
                    <a:pt x="52" y="272"/>
                  </a:lnTo>
                  <a:lnTo>
                    <a:pt x="52" y="272"/>
                  </a:lnTo>
                  <a:lnTo>
                    <a:pt x="44" y="234"/>
                  </a:lnTo>
                  <a:lnTo>
                    <a:pt x="40" y="196"/>
                  </a:lnTo>
                  <a:lnTo>
                    <a:pt x="38" y="178"/>
                  </a:lnTo>
                  <a:lnTo>
                    <a:pt x="38" y="158"/>
                  </a:lnTo>
                  <a:lnTo>
                    <a:pt x="38" y="158"/>
                  </a:lnTo>
                  <a:lnTo>
                    <a:pt x="42" y="82"/>
                  </a:lnTo>
                  <a:lnTo>
                    <a:pt x="42" y="52"/>
                  </a:lnTo>
                  <a:lnTo>
                    <a:pt x="40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36" y="30"/>
                  </a:lnTo>
                  <a:lnTo>
                    <a:pt x="34" y="24"/>
                  </a:lnTo>
                  <a:lnTo>
                    <a:pt x="36" y="18"/>
                  </a:lnTo>
                  <a:lnTo>
                    <a:pt x="42" y="10"/>
                  </a:lnTo>
                  <a:lnTo>
                    <a:pt x="42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SG" sz="1000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pic>
        <p:nvPicPr>
          <p:cNvPr id="151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245717" y="820430"/>
            <a:ext cx="236518" cy="417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Picture 2" descr="E:\Clip_Installer\DVD_ART\Artwork_Imagery\HARDWARE_IMAGERY\Illustration - Misc Hardware\eHome icons\laptop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42619" y="904697"/>
            <a:ext cx="413906" cy="34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755542" y="891680"/>
            <a:ext cx="350702" cy="3427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下箭头 152"/>
          <p:cNvSpPr/>
          <p:nvPr/>
        </p:nvSpPr>
        <p:spPr bwMode="auto">
          <a:xfrm>
            <a:off x="1906855" y="1254247"/>
            <a:ext cx="338732" cy="108000"/>
          </a:xfrm>
          <a:prstGeom prst="down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5" name="下箭头 153"/>
          <p:cNvSpPr/>
          <p:nvPr/>
        </p:nvSpPr>
        <p:spPr bwMode="auto">
          <a:xfrm>
            <a:off x="3787978" y="1254247"/>
            <a:ext cx="338732" cy="108000"/>
          </a:xfrm>
          <a:prstGeom prst="down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6" name="下箭头 154"/>
          <p:cNvSpPr/>
          <p:nvPr/>
        </p:nvSpPr>
        <p:spPr bwMode="auto">
          <a:xfrm>
            <a:off x="5833404" y="1264483"/>
            <a:ext cx="338732" cy="108000"/>
          </a:xfrm>
          <a:prstGeom prst="down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97226" y="1255117"/>
            <a:ext cx="1646904" cy="530915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1200" dirty="0">
                <a:solidFill>
                  <a:srgbClr val="99CCFF">
                    <a:lumMod val="50000"/>
                  </a:srgbClr>
                </a:solidFill>
                <a:latin typeface="+mn-ea"/>
              </a:rPr>
              <a:t>便捷：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Any where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Any time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Any device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访问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IT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系统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9" name="Rectangle 141"/>
          <p:cNvSpPr/>
          <p:nvPr/>
        </p:nvSpPr>
        <p:spPr bwMode="auto">
          <a:xfrm>
            <a:off x="185051" y="1648556"/>
            <a:ext cx="346592" cy="3051000"/>
          </a:xfrm>
          <a:prstGeom prst="roundRect">
            <a:avLst/>
          </a:prstGeom>
          <a:solidFill>
            <a:srgbClr val="0070C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77868" tIns="38935" rIns="77868" bIns="38935">
            <a:noAutofit/>
          </a:bodyPr>
          <a:lstStyle/>
          <a:p>
            <a:pPr defTabSz="77851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85051" y="2506120"/>
            <a:ext cx="346592" cy="992579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客</a:t>
            </a:r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户</a:t>
            </a:r>
            <a:endParaRPr lang="zh-CN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圆角矩形 160"/>
          <p:cNvSpPr/>
          <p:nvPr/>
        </p:nvSpPr>
        <p:spPr bwMode="auto">
          <a:xfrm>
            <a:off x="1332890" y="1899130"/>
            <a:ext cx="1377982" cy="27003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ctr" anchorCtr="1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客户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PO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对接工具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2" name="圆角矩形 161"/>
          <p:cNvSpPr/>
          <p:nvPr/>
        </p:nvSpPr>
        <p:spPr bwMode="auto">
          <a:xfrm>
            <a:off x="1332890" y="2188616"/>
            <a:ext cx="1377981" cy="27003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8972" rIns="0" bIns="38972" numCol="1" rtlCol="0" anchor="ctr" anchorCtr="1" compatLnSpc="1">
            <a:no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PO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扫描转换工具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4" name="直接箭头连接符 164"/>
          <p:cNvCxnSpPr/>
          <p:nvPr/>
        </p:nvCxnSpPr>
        <p:spPr bwMode="auto">
          <a:xfrm>
            <a:off x="531642" y="2323631"/>
            <a:ext cx="80124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66" name="圆角矩形 165"/>
          <p:cNvSpPr/>
          <p:nvPr/>
        </p:nvSpPr>
        <p:spPr bwMode="auto">
          <a:xfrm>
            <a:off x="2855327" y="2065721"/>
            <a:ext cx="1129846" cy="27003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ctr" anchorCtr="1" compatLnSpc="1">
            <a:no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PO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文档生成工具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7" name="圆角矩形 166"/>
          <p:cNvSpPr/>
          <p:nvPr/>
        </p:nvSpPr>
        <p:spPr bwMode="auto">
          <a:xfrm>
            <a:off x="5847182" y="2065721"/>
            <a:ext cx="1129846" cy="27003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43" tIns="38972" rIns="77943" bIns="38972" numCol="1" rtlCol="0" anchor="ctr" anchorCtr="1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服务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BOQ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批量倒入工具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9" name="矩形 167"/>
          <p:cNvSpPr/>
          <p:nvPr/>
        </p:nvSpPr>
        <p:spPr bwMode="auto">
          <a:xfrm>
            <a:off x="4318397" y="2065721"/>
            <a:ext cx="1129846" cy="270030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ctr" anchorCtr="1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预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PO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工具</a:t>
            </a:r>
            <a:endParaRPr lang="zh-CN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0" name="矩形 174"/>
          <p:cNvSpPr/>
          <p:nvPr/>
        </p:nvSpPr>
        <p:spPr bwMode="auto">
          <a:xfrm>
            <a:off x="845390" y="4540061"/>
            <a:ext cx="6280615" cy="245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pPr algn="r"/>
            <a:r>
              <a:rPr lang="zh-CN" altLang="en-US" sz="1000" dirty="0">
                <a:latin typeface="+mn-ea"/>
              </a:rPr>
              <a:t>财经</a:t>
            </a:r>
            <a:endParaRPr lang="zh-CN" altLang="en-US" sz="1000" dirty="0">
              <a:latin typeface="+mn-ea"/>
            </a:endParaRPr>
          </a:p>
        </p:txBody>
      </p:sp>
      <p:cxnSp>
        <p:nvCxnSpPr>
          <p:cNvPr id="171" name="直接箭头连接符 176"/>
          <p:cNvCxnSpPr/>
          <p:nvPr/>
        </p:nvCxnSpPr>
        <p:spPr bwMode="auto">
          <a:xfrm>
            <a:off x="2540160" y="3970814"/>
            <a:ext cx="170712" cy="0"/>
          </a:xfrm>
          <a:prstGeom prst="straightConnector1">
            <a:avLst/>
          </a:prstGeom>
          <a:noFill/>
          <a:ln w="952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2" name="直接箭头连接符 193"/>
          <p:cNvCxnSpPr/>
          <p:nvPr/>
        </p:nvCxnSpPr>
        <p:spPr bwMode="auto">
          <a:xfrm flipH="1">
            <a:off x="1872964" y="2472698"/>
            <a:ext cx="0" cy="621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1044797" y="4570461"/>
            <a:ext cx="832367" cy="18466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900" dirty="0">
                <a:latin typeface="+mn-ea"/>
              </a:rPr>
              <a:t>合同解析</a:t>
            </a:r>
            <a:endParaRPr lang="zh-CN" altLang="en-US" sz="900" dirty="0">
              <a:latin typeface="+mn-ea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286553" y="4570461"/>
            <a:ext cx="1129972" cy="18466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900" dirty="0">
                <a:latin typeface="+mn-ea"/>
              </a:rPr>
              <a:t>开票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收入计划</a:t>
            </a:r>
            <a:endParaRPr lang="zh-CN" altLang="en-US" sz="900" dirty="0">
              <a:latin typeface="+mn-ea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3825914" y="4570461"/>
            <a:ext cx="1129972" cy="18466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900" dirty="0">
                <a:latin typeface="+mn-ea"/>
              </a:rPr>
              <a:t>开票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收入触发</a:t>
            </a:r>
            <a:endParaRPr lang="zh-CN" altLang="en-US" sz="900" dirty="0">
              <a:latin typeface="+mn-ea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365276" y="4570461"/>
            <a:ext cx="1129972" cy="184666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900" dirty="0">
                <a:latin typeface="+mn-ea"/>
              </a:rPr>
              <a:t>收入成本确认</a:t>
            </a:r>
            <a:endParaRPr lang="zh-CN" altLang="en-US" sz="900" dirty="0">
              <a:latin typeface="+mn-ea"/>
            </a:endParaRPr>
          </a:p>
        </p:txBody>
      </p:sp>
      <p:cxnSp>
        <p:nvCxnSpPr>
          <p:cNvPr id="177" name="直接箭头连接符 205"/>
          <p:cNvCxnSpPr>
            <a:stCxn id="235" idx="4"/>
          </p:cNvCxnSpPr>
          <p:nvPr/>
        </p:nvCxnSpPr>
        <p:spPr bwMode="auto">
          <a:xfrm>
            <a:off x="3395271" y="3460977"/>
            <a:ext cx="0" cy="18977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78" name="右箭头 208"/>
          <p:cNvSpPr/>
          <p:nvPr/>
        </p:nvSpPr>
        <p:spPr bwMode="auto">
          <a:xfrm>
            <a:off x="7159532" y="1353984"/>
            <a:ext cx="166878" cy="347409"/>
          </a:xfrm>
          <a:prstGeom prst="right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7306524" y="2021512"/>
            <a:ext cx="1628308" cy="530915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1200" dirty="0">
                <a:solidFill>
                  <a:srgbClr val="99CCFF">
                    <a:lumMod val="50000"/>
                  </a:srgbClr>
                </a:solidFill>
                <a:latin typeface="+mn-ea"/>
              </a:rPr>
              <a:t>灵活：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末端工具由一线自行构建、提升作业效率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306524" y="2880963"/>
            <a:ext cx="1637606" cy="392415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1200" dirty="0">
                <a:solidFill>
                  <a:srgbClr val="99CCFF">
                    <a:lumMod val="50000"/>
                  </a:srgbClr>
                </a:solidFill>
                <a:latin typeface="+mn-ea"/>
              </a:rPr>
              <a:t>高效：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依据业务场景适配一线诉求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306524" y="3686996"/>
            <a:ext cx="1720744" cy="669414"/>
          </a:xfrm>
          <a:prstGeom prst="rect">
            <a:avLst/>
          </a:prstGeom>
          <a:noFill/>
          <a:effectLst/>
        </p:spPr>
        <p:txBody>
          <a:bodyPr wrap="square" lIns="77943" tIns="38972" rIns="77943" bIns="38972" rtlCol="0">
            <a:noAutofit/>
          </a:bodyPr>
          <a:lstStyle/>
          <a:p>
            <a:r>
              <a:rPr lang="zh-CN" altLang="en-US" sz="1200" dirty="0">
                <a:solidFill>
                  <a:srgbClr val="99CCFF">
                    <a:lumMod val="50000"/>
                  </a:srgbClr>
                </a:solidFill>
                <a:latin typeface="+mn-ea"/>
              </a:rPr>
              <a:t>主干打通：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交付上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ERP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，在主干平台拉通销售、交付、供应、财经核心业务信息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185" name="直接箭头连接符 220"/>
          <p:cNvCxnSpPr>
            <a:endCxn id="173" idx="0"/>
          </p:cNvCxnSpPr>
          <p:nvPr/>
        </p:nvCxnSpPr>
        <p:spPr bwMode="auto">
          <a:xfrm>
            <a:off x="1460980" y="4343537"/>
            <a:ext cx="1" cy="22692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86" name="直接箭头连接符 221"/>
          <p:cNvCxnSpPr>
            <a:endCxn id="174" idx="0"/>
          </p:cNvCxnSpPr>
          <p:nvPr/>
        </p:nvCxnSpPr>
        <p:spPr bwMode="auto">
          <a:xfrm>
            <a:off x="2851539" y="4343537"/>
            <a:ext cx="0" cy="22692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87" name="直接箭头连接符 222"/>
          <p:cNvCxnSpPr>
            <a:endCxn id="175" idx="0"/>
          </p:cNvCxnSpPr>
          <p:nvPr/>
        </p:nvCxnSpPr>
        <p:spPr bwMode="auto">
          <a:xfrm>
            <a:off x="4390900" y="4317498"/>
            <a:ext cx="0" cy="25296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88" name="直接箭头连接符 223"/>
          <p:cNvCxnSpPr>
            <a:endCxn id="176" idx="0"/>
          </p:cNvCxnSpPr>
          <p:nvPr/>
        </p:nvCxnSpPr>
        <p:spPr bwMode="auto">
          <a:xfrm flipH="1">
            <a:off x="5930262" y="4317498"/>
            <a:ext cx="631" cy="25296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89" name="直接箭头连接符 261"/>
          <p:cNvCxnSpPr>
            <a:stCxn id="166" idx="2"/>
            <a:endCxn id="236" idx="0"/>
          </p:cNvCxnSpPr>
          <p:nvPr/>
        </p:nvCxnSpPr>
        <p:spPr bwMode="auto">
          <a:xfrm flipH="1">
            <a:off x="3376986" y="2335751"/>
            <a:ext cx="0" cy="85977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0" name="直接箭头连接符 115"/>
          <p:cNvCxnSpPr/>
          <p:nvPr/>
        </p:nvCxnSpPr>
        <p:spPr bwMode="auto">
          <a:xfrm>
            <a:off x="2644403" y="2764028"/>
            <a:ext cx="19940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1" name="直接箭头连接符 117"/>
          <p:cNvCxnSpPr/>
          <p:nvPr/>
        </p:nvCxnSpPr>
        <p:spPr bwMode="auto">
          <a:xfrm>
            <a:off x="3256226" y="2764028"/>
            <a:ext cx="172196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2" name="直接箭头连接符 119"/>
          <p:cNvCxnSpPr/>
          <p:nvPr/>
        </p:nvCxnSpPr>
        <p:spPr bwMode="auto">
          <a:xfrm>
            <a:off x="3840841" y="2764028"/>
            <a:ext cx="13293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3" name="直接箭头连接符 121"/>
          <p:cNvCxnSpPr/>
          <p:nvPr/>
        </p:nvCxnSpPr>
        <p:spPr bwMode="auto">
          <a:xfrm>
            <a:off x="4386199" y="2764028"/>
            <a:ext cx="172196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4" name="直接箭头连接符 123"/>
          <p:cNvCxnSpPr/>
          <p:nvPr/>
        </p:nvCxnSpPr>
        <p:spPr bwMode="auto">
          <a:xfrm>
            <a:off x="4970815" y="2764028"/>
            <a:ext cx="19940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5" name="直接箭头连接符 125"/>
          <p:cNvCxnSpPr/>
          <p:nvPr/>
        </p:nvCxnSpPr>
        <p:spPr bwMode="auto">
          <a:xfrm>
            <a:off x="5582640" y="2764028"/>
            <a:ext cx="172196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6" name="直接箭头连接符 127"/>
          <p:cNvCxnSpPr/>
          <p:nvPr/>
        </p:nvCxnSpPr>
        <p:spPr bwMode="auto">
          <a:xfrm>
            <a:off x="6167255" y="2764028"/>
            <a:ext cx="185801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7" name="直接箭头连接符 129"/>
          <p:cNvCxnSpPr>
            <a:stCxn id="222" idx="3"/>
            <a:endCxn id="223" idx="1"/>
          </p:cNvCxnSpPr>
          <p:nvPr/>
        </p:nvCxnSpPr>
        <p:spPr bwMode="auto">
          <a:xfrm>
            <a:off x="2644403" y="2937849"/>
            <a:ext cx="79762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8" name="直接箭头连接符 135"/>
          <p:cNvCxnSpPr>
            <a:stCxn id="223" idx="3"/>
            <a:endCxn id="224" idx="1"/>
          </p:cNvCxnSpPr>
          <p:nvPr/>
        </p:nvCxnSpPr>
        <p:spPr bwMode="auto">
          <a:xfrm>
            <a:off x="3854447" y="2937849"/>
            <a:ext cx="131577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9" name="直接箭头连接符 120"/>
          <p:cNvCxnSpPr>
            <a:stCxn id="169" idx="2"/>
          </p:cNvCxnSpPr>
          <p:nvPr/>
        </p:nvCxnSpPr>
        <p:spPr bwMode="auto">
          <a:xfrm>
            <a:off x="4883320" y="2335751"/>
            <a:ext cx="0" cy="75142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00" name="直接箭头连接符 175"/>
          <p:cNvCxnSpPr>
            <a:stCxn id="224" idx="3"/>
            <a:endCxn id="225" idx="1"/>
          </p:cNvCxnSpPr>
          <p:nvPr/>
        </p:nvCxnSpPr>
        <p:spPr bwMode="auto">
          <a:xfrm>
            <a:off x="5582640" y="2937849"/>
            <a:ext cx="770416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01" name="直接箭头连接符 122"/>
          <p:cNvCxnSpPr>
            <a:stCxn id="167" idx="2"/>
          </p:cNvCxnSpPr>
          <p:nvPr/>
        </p:nvCxnSpPr>
        <p:spPr bwMode="auto">
          <a:xfrm>
            <a:off x="6412105" y="2335751"/>
            <a:ext cx="0" cy="75142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02" name="直接箭头连接符 124"/>
          <p:cNvCxnSpPr>
            <a:stCxn id="232" idx="4"/>
          </p:cNvCxnSpPr>
          <p:nvPr/>
        </p:nvCxnSpPr>
        <p:spPr bwMode="auto">
          <a:xfrm flipH="1">
            <a:off x="2009246" y="3460977"/>
            <a:ext cx="4" cy="17825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6" name="组合 126"/>
          <p:cNvGrpSpPr/>
          <p:nvPr/>
        </p:nvGrpSpPr>
        <p:grpSpPr>
          <a:xfrm>
            <a:off x="1290250" y="3609843"/>
            <a:ext cx="3680565" cy="573721"/>
            <a:chOff x="1022514" y="4531879"/>
            <a:chExt cx="2346310" cy="764962"/>
          </a:xfrm>
          <a:solidFill>
            <a:srgbClr val="FACD72"/>
          </a:solidFill>
          <a:effectLst/>
        </p:grpSpPr>
        <p:sp>
          <p:nvSpPr>
            <p:cNvPr id="204" name="圆柱形 112"/>
            <p:cNvSpPr/>
            <p:nvPr/>
          </p:nvSpPr>
          <p:spPr bwMode="auto">
            <a:xfrm rot="5400000">
              <a:off x="1838683" y="3766700"/>
              <a:ext cx="713972" cy="2346310"/>
            </a:xfrm>
            <a:prstGeom prst="can">
              <a:avLst/>
            </a:prstGeom>
            <a:grpFill/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>
              <a:noAutofit/>
            </a:bodyPr>
            <a:lstStyle/>
            <a:p>
              <a:pPr algn="ctr" defTabSz="683260">
                <a:lnSpc>
                  <a:spcPct val="125000"/>
                </a:lnSpc>
                <a:defRPr/>
              </a:pPr>
              <a:endParaRPr lang="zh-CN" altLang="en-US" sz="12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05" name="矩形 114"/>
            <p:cNvSpPr/>
            <p:nvPr/>
          </p:nvSpPr>
          <p:spPr>
            <a:xfrm>
              <a:off x="1822394" y="4531879"/>
              <a:ext cx="712369" cy="738665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销售主平台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algn="ctr">
                <a:lnSpc>
                  <a:spcPct val="140000"/>
                </a:lnSpc>
              </a:pP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(Siebel)</a:t>
              </a:r>
              <a:endParaRPr lang="zh-CN" altLang="en-US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7" name="组合 128"/>
          <p:cNvGrpSpPr/>
          <p:nvPr/>
        </p:nvGrpSpPr>
        <p:grpSpPr>
          <a:xfrm>
            <a:off x="5192376" y="3594417"/>
            <a:ext cx="1706036" cy="583650"/>
            <a:chOff x="5125000" y="4511316"/>
            <a:chExt cx="1973025" cy="778200"/>
          </a:xfrm>
          <a:solidFill>
            <a:srgbClr val="FACD72"/>
          </a:solidFill>
          <a:effectLst/>
        </p:grpSpPr>
        <p:sp>
          <p:nvSpPr>
            <p:cNvPr id="207" name="圆柱形 116"/>
            <p:cNvSpPr/>
            <p:nvPr/>
          </p:nvSpPr>
          <p:spPr bwMode="auto">
            <a:xfrm rot="5400000">
              <a:off x="5754527" y="3946018"/>
              <a:ext cx="713971" cy="1973025"/>
            </a:xfrm>
            <a:prstGeom prst="can">
              <a:avLst/>
            </a:prstGeom>
            <a:grpFill/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>
              <a:noAutofit/>
            </a:bodyPr>
            <a:lstStyle/>
            <a:p>
              <a:pPr algn="ctr" defTabSz="683260">
                <a:lnSpc>
                  <a:spcPct val="125000"/>
                </a:lnSpc>
                <a:defRPr/>
              </a:pPr>
              <a:endParaRPr lang="zh-CN" altLang="en-US" sz="12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08" name="矩形 118"/>
            <p:cNvSpPr/>
            <p:nvPr/>
          </p:nvSpPr>
          <p:spPr>
            <a:xfrm>
              <a:off x="5301466" y="4511316"/>
              <a:ext cx="1646577" cy="738662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交付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/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财经主平台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algn="ctr">
                <a:lnSpc>
                  <a:spcPct val="140000"/>
                </a:lnSpc>
              </a:pP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(ERP)</a:t>
              </a:r>
              <a:endParaRPr lang="zh-CN" altLang="en-US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cxnSp>
        <p:nvCxnSpPr>
          <p:cNvPr id="209" name="直接箭头连接符 131"/>
          <p:cNvCxnSpPr>
            <a:stCxn id="204" idx="0"/>
            <a:endCxn id="207" idx="3"/>
          </p:cNvCxnSpPr>
          <p:nvPr/>
        </p:nvCxnSpPr>
        <p:spPr bwMode="auto">
          <a:xfrm flipV="1">
            <a:off x="4836945" y="3910334"/>
            <a:ext cx="355432" cy="549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10" name="TextBox 209"/>
          <p:cNvSpPr txBox="1"/>
          <p:nvPr/>
        </p:nvSpPr>
        <p:spPr>
          <a:xfrm>
            <a:off x="783273" y="3769881"/>
            <a:ext cx="501913" cy="392415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主干</a:t>
            </a:r>
            <a:endParaRPr lang="en-US" altLang="zh-CN" sz="1000" b="1" dirty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系统</a:t>
            </a:r>
            <a:endParaRPr lang="zh-CN" altLang="en-US" sz="10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793841" y="2872475"/>
            <a:ext cx="501913" cy="392415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作业</a:t>
            </a:r>
            <a:endParaRPr lang="en-US" altLang="zh-CN" sz="1000" b="1" dirty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系统</a:t>
            </a:r>
            <a:endParaRPr lang="zh-CN" altLang="en-US" sz="10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778922" y="1948050"/>
            <a:ext cx="501913" cy="392415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末端</a:t>
            </a:r>
            <a:endParaRPr lang="en-US" altLang="zh-CN" sz="1000" b="1" dirty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1000" b="1" dirty="0">
                <a:solidFill>
                  <a:srgbClr val="000000"/>
                </a:solidFill>
                <a:latin typeface="+mn-ea"/>
              </a:rPr>
              <a:t>工具</a:t>
            </a:r>
            <a:endParaRPr lang="zh-CN" altLang="en-US" sz="10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3" name="矩形 93"/>
          <p:cNvSpPr/>
          <p:nvPr/>
        </p:nvSpPr>
        <p:spPr bwMode="auto">
          <a:xfrm>
            <a:off x="2231982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4" name="矩形 94"/>
          <p:cNvSpPr/>
          <p:nvPr/>
        </p:nvSpPr>
        <p:spPr bwMode="auto">
          <a:xfrm>
            <a:off x="2843809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5" name="矩形 95"/>
          <p:cNvSpPr/>
          <p:nvPr/>
        </p:nvSpPr>
        <p:spPr bwMode="auto">
          <a:xfrm>
            <a:off x="3428424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6" name="矩形 96"/>
          <p:cNvSpPr/>
          <p:nvPr/>
        </p:nvSpPr>
        <p:spPr bwMode="auto">
          <a:xfrm>
            <a:off x="3973781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7" name="矩形 97"/>
          <p:cNvSpPr/>
          <p:nvPr/>
        </p:nvSpPr>
        <p:spPr bwMode="auto">
          <a:xfrm>
            <a:off x="4558396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8" name="矩形 98"/>
          <p:cNvSpPr/>
          <p:nvPr/>
        </p:nvSpPr>
        <p:spPr bwMode="auto">
          <a:xfrm>
            <a:off x="5170220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9" name="矩形 99"/>
          <p:cNvSpPr/>
          <p:nvPr/>
        </p:nvSpPr>
        <p:spPr bwMode="auto">
          <a:xfrm>
            <a:off x="5754836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0" name="矩形 100"/>
          <p:cNvSpPr/>
          <p:nvPr/>
        </p:nvSpPr>
        <p:spPr bwMode="auto">
          <a:xfrm>
            <a:off x="6353056" y="2728676"/>
            <a:ext cx="412419" cy="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1379866" y="2674244"/>
            <a:ext cx="821527" cy="196208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pPr algn="r"/>
            <a:r>
              <a:rPr lang="zh-CN" altLang="en-US" sz="900" dirty="0">
                <a:latin typeface="+mn-ea"/>
              </a:rPr>
              <a:t>大项目审批</a:t>
            </a:r>
            <a:endParaRPr lang="zh-CN" altLang="en-US" sz="900" dirty="0">
              <a:latin typeface="+mn-ea"/>
            </a:endParaRPr>
          </a:p>
        </p:txBody>
      </p:sp>
      <p:sp>
        <p:nvSpPr>
          <p:cNvPr id="222" name="矩形 83"/>
          <p:cNvSpPr/>
          <p:nvPr/>
        </p:nvSpPr>
        <p:spPr bwMode="auto">
          <a:xfrm>
            <a:off x="2231982" y="2897349"/>
            <a:ext cx="412419" cy="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3" name="矩形 85"/>
          <p:cNvSpPr/>
          <p:nvPr/>
        </p:nvSpPr>
        <p:spPr bwMode="auto">
          <a:xfrm>
            <a:off x="3442028" y="2897349"/>
            <a:ext cx="412419" cy="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4" name="矩形 87"/>
          <p:cNvSpPr/>
          <p:nvPr/>
        </p:nvSpPr>
        <p:spPr bwMode="auto">
          <a:xfrm>
            <a:off x="5170220" y="2897349"/>
            <a:ext cx="412419" cy="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5" name="矩形 91"/>
          <p:cNvSpPr/>
          <p:nvPr/>
        </p:nvSpPr>
        <p:spPr bwMode="auto">
          <a:xfrm>
            <a:off x="6353056" y="2897349"/>
            <a:ext cx="412419" cy="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1409458" y="2836688"/>
            <a:ext cx="791933" cy="190437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pPr algn="r"/>
            <a:r>
              <a:rPr lang="zh-CN" altLang="en-US" sz="900" dirty="0">
                <a:latin typeface="+mn-ea"/>
              </a:rPr>
              <a:t>小项目审批</a:t>
            </a:r>
            <a:endParaRPr lang="zh-CN" altLang="en-US" sz="900" dirty="0">
              <a:latin typeface="+mn-ea"/>
            </a:endParaRPr>
          </a:p>
        </p:txBody>
      </p:sp>
      <p:cxnSp>
        <p:nvCxnSpPr>
          <p:cNvPr id="227" name="直接箭头连接符 213"/>
          <p:cNvCxnSpPr>
            <a:stCxn id="241" idx="4"/>
          </p:cNvCxnSpPr>
          <p:nvPr/>
        </p:nvCxnSpPr>
        <p:spPr bwMode="auto">
          <a:xfrm>
            <a:off x="6167314" y="3460977"/>
            <a:ext cx="4822" cy="2072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8" name="TextBox 227"/>
          <p:cNvSpPr txBox="1"/>
          <p:nvPr/>
        </p:nvSpPr>
        <p:spPr>
          <a:xfrm>
            <a:off x="778922" y="1353984"/>
            <a:ext cx="501913" cy="392415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 anchor="ctr">
            <a:noAutofit/>
          </a:bodyPr>
          <a:lstStyle/>
          <a:p>
            <a:r>
              <a:rPr lang="zh-CN" altLang="en-US" sz="900" b="1" dirty="0">
                <a:latin typeface="+mn-ea"/>
              </a:rPr>
              <a:t>工作</a:t>
            </a:r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平台</a:t>
            </a:r>
            <a:endParaRPr lang="zh-CN" altLang="en-US" sz="900" b="1" dirty="0">
              <a:latin typeface="+mn-ea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778922" y="921936"/>
            <a:ext cx="501913" cy="392415"/>
          </a:xfrm>
          <a:prstGeom prst="rect">
            <a:avLst/>
          </a:prstGeom>
          <a:noFill/>
          <a:effectLst/>
        </p:spPr>
        <p:txBody>
          <a:bodyPr wrap="none" lIns="77943" tIns="38972" rIns="77943" bIns="38972" rtlCol="0">
            <a:noAutofit/>
          </a:bodyPr>
          <a:lstStyle/>
          <a:p>
            <a:r>
              <a:rPr lang="zh-CN" altLang="en-US" sz="1000" b="1" dirty="0">
                <a:latin typeface="+mn-ea"/>
              </a:rPr>
              <a:t>接入</a:t>
            </a:r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方式</a:t>
            </a:r>
            <a:endParaRPr lang="zh-CN" altLang="en-US" sz="1000" b="1" dirty="0">
              <a:latin typeface="+mn-ea"/>
            </a:endParaRPr>
          </a:p>
        </p:txBody>
      </p:sp>
      <p:cxnSp>
        <p:nvCxnSpPr>
          <p:cNvPr id="230" name="直接箭头连接符 245"/>
          <p:cNvCxnSpPr>
            <a:stCxn id="238" idx="4"/>
          </p:cNvCxnSpPr>
          <p:nvPr/>
        </p:nvCxnSpPr>
        <p:spPr bwMode="auto">
          <a:xfrm>
            <a:off x="4781292" y="3460977"/>
            <a:ext cx="2056" cy="18977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8" name="组合 253"/>
          <p:cNvGrpSpPr/>
          <p:nvPr/>
        </p:nvGrpSpPr>
        <p:grpSpPr>
          <a:xfrm>
            <a:off x="1477557" y="3109976"/>
            <a:ext cx="1063385" cy="351000"/>
            <a:chOff x="-2452290" y="3628946"/>
            <a:chExt cx="1152000" cy="468000"/>
          </a:xfrm>
          <a:solidFill>
            <a:srgbClr val="00B0F0"/>
          </a:solidFill>
          <a:effectLst/>
        </p:grpSpPr>
        <p:sp>
          <p:nvSpPr>
            <p:cNvPr id="232" name="圆柱形 251"/>
            <p:cNvSpPr/>
            <p:nvPr/>
          </p:nvSpPr>
          <p:spPr bwMode="auto">
            <a:xfrm rot="5400000">
              <a:off x="-2110290" y="3286946"/>
              <a:ext cx="468000" cy="1152000"/>
            </a:xfrm>
            <a:prstGeom prst="can">
              <a:avLst>
                <a:gd name="adj" fmla="val 16995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no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-2297170" y="3734659"/>
              <a:ext cx="748923" cy="261610"/>
            </a:xfrm>
            <a:prstGeom prst="rect">
              <a:avLst/>
            </a:prstGeom>
            <a:grpFill/>
          </p:spPr>
          <p:txBody>
            <a:bodyPr wrap="none" rtlCol="0">
              <a:no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+mn-ea"/>
                </a:rPr>
                <a:t>投标系统</a:t>
              </a: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" name="组合 255"/>
          <p:cNvGrpSpPr/>
          <p:nvPr/>
        </p:nvGrpSpPr>
        <p:grpSpPr>
          <a:xfrm>
            <a:off x="2863578" y="3109976"/>
            <a:ext cx="1063385" cy="351000"/>
            <a:chOff x="-2452291" y="3628945"/>
            <a:chExt cx="1152000" cy="468000"/>
          </a:xfrm>
          <a:solidFill>
            <a:srgbClr val="00B0F0"/>
          </a:solidFill>
          <a:effectLst/>
        </p:grpSpPr>
        <p:sp>
          <p:nvSpPr>
            <p:cNvPr id="235" name="圆柱形 256"/>
            <p:cNvSpPr/>
            <p:nvPr/>
          </p:nvSpPr>
          <p:spPr bwMode="auto">
            <a:xfrm rot="5400000">
              <a:off x="-2110291" y="3286945"/>
              <a:ext cx="468000" cy="1152000"/>
            </a:xfrm>
            <a:prstGeom prst="can">
              <a:avLst>
                <a:gd name="adj" fmla="val 16995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no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-2411625" y="3743008"/>
              <a:ext cx="1031051" cy="261610"/>
            </a:xfrm>
            <a:prstGeom prst="rect">
              <a:avLst/>
            </a:prstGeom>
            <a:grpFill/>
          </p:spPr>
          <p:txBody>
            <a:bodyPr wrap="none" rtlCol="0"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+mn-ea"/>
                </a:rPr>
                <a:t>合同评审系统</a:t>
              </a: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组合 258"/>
          <p:cNvGrpSpPr/>
          <p:nvPr/>
        </p:nvGrpSpPr>
        <p:grpSpPr>
          <a:xfrm>
            <a:off x="4249599" y="3109976"/>
            <a:ext cx="1063385" cy="351000"/>
            <a:chOff x="-2452291" y="3628945"/>
            <a:chExt cx="1152000" cy="468000"/>
          </a:xfrm>
          <a:solidFill>
            <a:srgbClr val="00B0F0"/>
          </a:solidFill>
          <a:effectLst/>
        </p:grpSpPr>
        <p:sp>
          <p:nvSpPr>
            <p:cNvPr id="238" name="圆柱形 259"/>
            <p:cNvSpPr/>
            <p:nvPr/>
          </p:nvSpPr>
          <p:spPr bwMode="auto">
            <a:xfrm rot="5400000">
              <a:off x="-2110291" y="3286945"/>
              <a:ext cx="468000" cy="1152000"/>
            </a:xfrm>
            <a:prstGeom prst="can">
              <a:avLst>
                <a:gd name="adj" fmla="val 16995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no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-2410335" y="3742256"/>
              <a:ext cx="1031052" cy="261610"/>
            </a:xfrm>
            <a:prstGeom prst="rect">
              <a:avLst/>
            </a:prstGeom>
            <a:grpFill/>
          </p:spPr>
          <p:txBody>
            <a:bodyPr wrap="none" rtlCol="0"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+mn-ea"/>
                </a:rPr>
                <a:t>合同注册系统</a:t>
              </a: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1" name="组合 262"/>
          <p:cNvGrpSpPr/>
          <p:nvPr/>
        </p:nvGrpSpPr>
        <p:grpSpPr>
          <a:xfrm>
            <a:off x="5635621" y="3109976"/>
            <a:ext cx="1063385" cy="351000"/>
            <a:chOff x="-2452291" y="3628945"/>
            <a:chExt cx="1152000" cy="468000"/>
          </a:xfrm>
          <a:solidFill>
            <a:srgbClr val="00B0F0"/>
          </a:solidFill>
          <a:effectLst/>
        </p:grpSpPr>
        <p:sp>
          <p:nvSpPr>
            <p:cNvPr id="241" name="圆柱形 263"/>
            <p:cNvSpPr/>
            <p:nvPr/>
          </p:nvSpPr>
          <p:spPr bwMode="auto">
            <a:xfrm rot="5400000">
              <a:off x="-2110291" y="3286945"/>
              <a:ext cx="468000" cy="1152000"/>
            </a:xfrm>
            <a:prstGeom prst="can">
              <a:avLst>
                <a:gd name="adj" fmla="val 16995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no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-2438131" y="3737499"/>
              <a:ext cx="1031051" cy="261610"/>
            </a:xfrm>
            <a:prstGeom prst="rect">
              <a:avLst/>
            </a:prstGeom>
            <a:grpFill/>
          </p:spPr>
          <p:txBody>
            <a:bodyPr wrap="none" rtlCol="0">
              <a:no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+mn-ea"/>
                </a:rPr>
                <a:t>物流管理系统</a:t>
              </a:r>
              <a:endParaRPr lang="zh-CN" altLang="en-US" sz="1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29" name="右箭头 208"/>
          <p:cNvSpPr/>
          <p:nvPr/>
        </p:nvSpPr>
        <p:spPr bwMode="auto">
          <a:xfrm>
            <a:off x="7159532" y="2034145"/>
            <a:ext cx="166878" cy="347409"/>
          </a:xfrm>
          <a:prstGeom prst="right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0" name="右箭头 208"/>
          <p:cNvSpPr/>
          <p:nvPr/>
        </p:nvSpPr>
        <p:spPr bwMode="auto">
          <a:xfrm>
            <a:off x="7159532" y="2919614"/>
            <a:ext cx="166878" cy="347409"/>
          </a:xfrm>
          <a:prstGeom prst="right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3" name="右箭头 208"/>
          <p:cNvSpPr/>
          <p:nvPr/>
        </p:nvSpPr>
        <p:spPr bwMode="auto">
          <a:xfrm>
            <a:off x="7159532" y="3827226"/>
            <a:ext cx="166878" cy="347409"/>
          </a:xfrm>
          <a:prstGeom prst="rightArrow">
            <a:avLst/>
          </a:prstGeom>
          <a:solidFill>
            <a:srgbClr val="F9C2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t" anchorCtr="0" compatLnSpc="1">
            <a:noAutofit/>
          </a:bodyPr>
          <a:lstStyle/>
          <a:p>
            <a:endParaRPr lang="zh-CN" altLang="en-US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7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13\20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117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9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9241" y="130979"/>
            <a:ext cx="7632700" cy="653653"/>
          </a:xfrm>
        </p:spPr>
        <p:txBody>
          <a:bodyPr/>
          <a:lstStyle/>
          <a:p>
            <a:r>
              <a:rPr lang="zh-CN" altLang="en-US" sz="2400" kern="1200" dirty="0">
                <a:solidFill>
                  <a:srgbClr val="0070C0"/>
                </a:solidFill>
                <a:latin typeface="+mn-ea"/>
                <a:ea typeface="+mn-ea"/>
              </a:rPr>
              <a:t>集成的</a:t>
            </a:r>
            <a: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  <a:t>IT</a:t>
            </a:r>
            <a:r>
              <a:rPr lang="zh-CN" altLang="en-US" sz="2400" kern="1200" dirty="0">
                <a:solidFill>
                  <a:srgbClr val="0070C0"/>
                </a:solidFill>
                <a:latin typeface="+mn-ea"/>
                <a:ea typeface="+mn-ea"/>
              </a:rPr>
              <a:t>及数据</a:t>
            </a:r>
            <a:br>
              <a:rPr lang="en-US" altLang="zh-CN" sz="2400" kern="1200" dirty="0">
                <a:solidFill>
                  <a:srgbClr val="0070C0"/>
                </a:solidFill>
                <a:latin typeface="+mn-ea"/>
                <a:ea typeface="+mn-ea"/>
              </a:rPr>
            </a:br>
            <a:r>
              <a:rPr lang="en-US" altLang="zh-CN" sz="1400" b="0" kern="1200" dirty="0">
                <a:solidFill>
                  <a:srgbClr val="0070C0"/>
                </a:solidFill>
                <a:latin typeface="+mn-ea"/>
                <a:ea typeface="+mn-ea"/>
              </a:rPr>
              <a:t>iSales</a:t>
            </a: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是化为销售流程的 </a:t>
            </a:r>
            <a:r>
              <a:rPr lang="en-US" altLang="zh-CN" sz="1400" b="0" kern="1200" dirty="0">
                <a:solidFill>
                  <a:srgbClr val="0070C0"/>
                </a:solidFill>
                <a:latin typeface="+mn-ea"/>
                <a:ea typeface="+mn-ea"/>
              </a:rPr>
              <a:t>IT </a:t>
            </a:r>
            <a:r>
              <a:rPr lang="zh-CN" altLang="en-US" sz="1400" b="0" kern="1200" dirty="0">
                <a:solidFill>
                  <a:srgbClr val="0070C0"/>
                </a:solidFill>
                <a:latin typeface="+mn-ea"/>
                <a:ea typeface="+mn-ea"/>
              </a:rPr>
              <a:t>主平台</a:t>
            </a:r>
            <a:endParaRPr lang="en-US" b="0" kern="12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25" name="Rectangle 61"/>
          <p:cNvSpPr>
            <a:spLocks noChangeArrowheads="1"/>
          </p:cNvSpPr>
          <p:nvPr/>
        </p:nvSpPr>
        <p:spPr bwMode="auto">
          <a:xfrm>
            <a:off x="721078" y="3292264"/>
            <a:ext cx="2078557" cy="2769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提供唯一的可靠数据源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28" name="Rectangle 61"/>
          <p:cNvSpPr>
            <a:spLocks noChangeArrowheads="1"/>
          </p:cNvSpPr>
          <p:nvPr/>
        </p:nvSpPr>
        <p:spPr bwMode="auto">
          <a:xfrm>
            <a:off x="721078" y="3589303"/>
            <a:ext cx="34909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实现线索、机会点、标书、合同及变更的录入和</a:t>
            </a:r>
            <a:endParaRPr lang="en-US" altLang="zh-CN" sz="1200" dirty="0">
              <a:solidFill>
                <a:srgbClr val="080808"/>
              </a:solidFill>
              <a:latin typeface="+mn-ea"/>
            </a:endParaRPr>
          </a:p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信息可视，帮助理解整体动态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31" name="Rectangle 61"/>
          <p:cNvSpPr>
            <a:spLocks noChangeArrowheads="1"/>
          </p:cNvSpPr>
          <p:nvPr/>
        </p:nvSpPr>
        <p:spPr bwMode="auto">
          <a:xfrm>
            <a:off x="721078" y="4083444"/>
            <a:ext cx="2533804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统一工具和模板并整合现有系统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34" name="Rectangle 61"/>
          <p:cNvSpPr>
            <a:spLocks noChangeArrowheads="1"/>
          </p:cNvSpPr>
          <p:nvPr/>
        </p:nvSpPr>
        <p:spPr bwMode="auto">
          <a:xfrm>
            <a:off x="721078" y="4368052"/>
            <a:ext cx="2651514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统一销售语言并使项目运作标准化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44" name="Rectangle 61"/>
          <p:cNvSpPr>
            <a:spLocks noChangeArrowheads="1"/>
          </p:cNvSpPr>
          <p:nvPr/>
        </p:nvSpPr>
        <p:spPr bwMode="auto">
          <a:xfrm>
            <a:off x="5305229" y="3650860"/>
            <a:ext cx="327600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支持销售管道管理并展示销售状态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47" name="Rectangle 61"/>
          <p:cNvSpPr>
            <a:spLocks noChangeArrowheads="1"/>
          </p:cNvSpPr>
          <p:nvPr/>
        </p:nvSpPr>
        <p:spPr bwMode="auto">
          <a:xfrm>
            <a:off x="5305229" y="4009456"/>
            <a:ext cx="327600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>
                <a:solidFill>
                  <a:srgbClr val="080808"/>
                </a:solidFill>
                <a:latin typeface="+mn-ea"/>
              </a:rPr>
              <a:t>准确预测销售</a:t>
            </a:r>
            <a:endParaRPr lang="zh-CN" altLang="en-US" sz="120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50" name="Rectangle 61"/>
          <p:cNvSpPr>
            <a:spLocks noChangeArrowheads="1"/>
          </p:cNvSpPr>
          <p:nvPr/>
        </p:nvSpPr>
        <p:spPr bwMode="auto">
          <a:xfrm>
            <a:off x="5305229" y="4368052"/>
            <a:ext cx="327600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简化并拉通评审及决策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53" name="Rectangle 61"/>
          <p:cNvSpPr>
            <a:spLocks noChangeArrowheads="1"/>
          </p:cNvSpPr>
          <p:nvPr/>
        </p:nvSpPr>
        <p:spPr bwMode="auto">
          <a:xfrm>
            <a:off x="5305229" y="3292264"/>
            <a:ext cx="327600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683260">
              <a:buClr>
                <a:schemeClr val="tx2"/>
              </a:buClr>
            </a:pPr>
            <a:r>
              <a:rPr lang="zh-CN" altLang="en-US" sz="1200" dirty="0">
                <a:solidFill>
                  <a:srgbClr val="080808"/>
                </a:solidFill>
                <a:latin typeface="+mn-ea"/>
              </a:rPr>
              <a:t>展示销售项目的整体视图及端到端的关键信息</a:t>
            </a:r>
            <a:endParaRPr lang="zh-CN" altLang="en-US" sz="1200" dirty="0">
              <a:solidFill>
                <a:srgbClr val="080808"/>
              </a:solidFill>
              <a:latin typeface="+mn-ea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7830021" y="2553462"/>
            <a:ext cx="930519" cy="180871"/>
          </a:xfrm>
          <a:prstGeom prst="rect">
            <a:avLst/>
          </a:prstGeom>
          <a:noFill/>
          <a:ln w="28575" cap="flat" cmpd="sng" algn="ctr">
            <a:solidFill>
              <a:srgbClr val="F7B02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582930">
              <a:defRPr/>
            </a:pPr>
            <a:r>
              <a:rPr lang="en-US" sz="1000" dirty="0" err="1">
                <a:latin typeface="+mn-ea"/>
              </a:rPr>
              <a:t>iSales</a:t>
            </a:r>
            <a:r>
              <a:rPr lang="zh-CN" altLang="en-US" sz="1000" dirty="0">
                <a:latin typeface="+mn-ea"/>
              </a:rPr>
              <a:t>集成</a:t>
            </a:r>
            <a:endParaRPr lang="en-US" sz="1000" dirty="0">
              <a:latin typeface="+mn-ea"/>
            </a:endParaRPr>
          </a:p>
        </p:txBody>
      </p:sp>
      <p:sp>
        <p:nvSpPr>
          <p:cNvPr id="196" name="AutoShape 21"/>
          <p:cNvSpPr>
            <a:spLocks noChangeArrowheads="1"/>
          </p:cNvSpPr>
          <p:nvPr/>
        </p:nvSpPr>
        <p:spPr bwMode="gray">
          <a:xfrm>
            <a:off x="7831017" y="896427"/>
            <a:ext cx="929053" cy="166688"/>
          </a:xfrm>
          <a:prstGeom prst="round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txBody>
          <a:bodyPr lIns="0" tIns="0" rIns="0" bIns="0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000" b="1" dirty="0">
                <a:latin typeface="+mn-ea"/>
              </a:rPr>
              <a:t>调用流程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93" name="Rectangle 194"/>
          <p:cNvSpPr/>
          <p:nvPr/>
        </p:nvSpPr>
        <p:spPr bwMode="auto">
          <a:xfrm>
            <a:off x="6832668" y="2553462"/>
            <a:ext cx="930519" cy="180871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lIns="77943" tIns="38972" rIns="77943" bIns="38972" anchor="ctr"/>
          <a:lstStyle/>
          <a:p>
            <a:pPr algn="ctr" defTabSz="582930">
              <a:defRPr/>
            </a:pPr>
            <a:r>
              <a:rPr lang="en-US" sz="1000" dirty="0">
                <a:latin typeface="+mn-ea"/>
              </a:rPr>
              <a:t>iSales</a:t>
            </a:r>
            <a:r>
              <a:rPr lang="zh-CN" altLang="en-US" sz="1000" dirty="0">
                <a:latin typeface="+mn-ea"/>
              </a:rPr>
              <a:t>支持</a:t>
            </a:r>
            <a:endParaRPr lang="en-US" sz="1000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3505" y="1120353"/>
            <a:ext cx="8676991" cy="1209661"/>
            <a:chOff x="233505" y="1120353"/>
            <a:chExt cx="8676991" cy="1209661"/>
          </a:xfrm>
        </p:grpSpPr>
        <p:grpSp>
          <p:nvGrpSpPr>
            <p:cNvPr id="95" name="组合 94"/>
            <p:cNvGrpSpPr/>
            <p:nvPr/>
          </p:nvGrpSpPr>
          <p:grpSpPr>
            <a:xfrm>
              <a:off x="233505" y="1120353"/>
              <a:ext cx="8676991" cy="1186972"/>
              <a:chOff x="348768" y="2175446"/>
              <a:chExt cx="8676991" cy="1186972"/>
            </a:xfrm>
          </p:grpSpPr>
          <p:grpSp>
            <p:nvGrpSpPr>
              <p:cNvPr id="97" name="组合 96"/>
              <p:cNvGrpSpPr/>
              <p:nvPr/>
            </p:nvGrpSpPr>
            <p:grpSpPr>
              <a:xfrm>
                <a:off x="348768" y="2175446"/>
                <a:ext cx="8676991" cy="1186972"/>
                <a:chOff x="348768" y="1791839"/>
                <a:chExt cx="8676991" cy="1999114"/>
              </a:xfrm>
            </p:grpSpPr>
            <p:sp>
              <p:nvSpPr>
                <p:cNvPr id="103" name="AutoShape 16"/>
                <p:cNvSpPr>
                  <a:spLocks noChangeArrowheads="1"/>
                </p:cNvSpPr>
                <p:nvPr/>
              </p:nvSpPr>
              <p:spPr bwMode="auto">
                <a:xfrm>
                  <a:off x="2085807" y="1791839"/>
                  <a:ext cx="3222877" cy="1999114"/>
                </a:xfrm>
                <a:prstGeom prst="chevron">
                  <a:avLst>
                    <a:gd name="adj" fmla="val 11465"/>
                  </a:avLst>
                </a:prstGeom>
                <a:solidFill>
                  <a:srgbClr val="0070C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lIns="77939" tIns="38970" rIns="77939" bIns="38970"/>
                <a:lstStyle/>
                <a:p>
                  <a:pPr algn="ctr" defTabSz="582930">
                    <a:defRPr/>
                  </a:pPr>
                  <a:endParaRPr lang="zh-HK" altLang="en-US" sz="10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AutoShape 12"/>
                <p:cNvSpPr>
                  <a:spLocks noChangeArrowheads="1"/>
                </p:cNvSpPr>
                <p:nvPr/>
              </p:nvSpPr>
              <p:spPr bwMode="gray">
                <a:xfrm>
                  <a:off x="3010145" y="2693194"/>
                  <a:ext cx="720000" cy="1028700"/>
                </a:xfrm>
                <a:prstGeom prst="chevron">
                  <a:avLst>
                    <a:gd name="adj" fmla="val 15458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  <a:buFont typeface="Wingdings" panose="05000000000000000000" pitchFamily="2" charset="2"/>
                    <a:buNone/>
                  </a:pPr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标前</a:t>
                  </a:r>
                  <a:br>
                    <a:rPr lang="en-US" altLang="zh-CN" sz="1000">
                      <a:latin typeface="+mn-ea"/>
                      <a:cs typeface="Arial" panose="020B0604020202020204" pitchFamily="34" charset="0"/>
                    </a:rPr>
                  </a:br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引导</a:t>
                  </a:r>
                  <a:endParaRPr lang="en-US" altLang="zh-CN" sz="1000"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Pentagon 57"/>
                <p:cNvSpPr/>
                <p:nvPr/>
              </p:nvSpPr>
              <p:spPr bwMode="auto">
                <a:xfrm>
                  <a:off x="348768" y="1791839"/>
                  <a:ext cx="1868213" cy="1999114"/>
                </a:xfrm>
                <a:prstGeom prst="homePlate">
                  <a:avLst>
                    <a:gd name="adj" fmla="val 12868"/>
                  </a:avLst>
                </a:prstGeom>
                <a:solidFill>
                  <a:srgbClr val="0070C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lIns="0" tIns="38970" rIns="0" bIns="38970"/>
                <a:lstStyle/>
                <a:p>
                  <a:pPr algn="ctr" defTabSz="582930">
                    <a:defRPr/>
                  </a:pPr>
                  <a:endParaRPr lang="zh-CN" altLang="en-US" sz="10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AutoShape 12"/>
                <p:cNvSpPr>
                  <a:spLocks noChangeArrowheads="1"/>
                </p:cNvSpPr>
                <p:nvPr/>
              </p:nvSpPr>
              <p:spPr bwMode="gray">
                <a:xfrm>
                  <a:off x="964589" y="2328865"/>
                  <a:ext cx="648000" cy="1393031"/>
                </a:xfrm>
                <a:prstGeom prst="chevron">
                  <a:avLst>
                    <a:gd name="adj" fmla="val 22403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/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验证和</a:t>
                  </a:r>
                  <a:br>
                    <a:rPr lang="en-US" altLang="zh-CN" sz="1000">
                      <a:latin typeface="+mn-ea"/>
                      <a:cs typeface="Arial" panose="020B0604020202020204" pitchFamily="34" charset="0"/>
                    </a:rPr>
                  </a:br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分发线索</a:t>
                  </a:r>
                  <a:endParaRPr lang="zh-CN" altLang="en-US" sz="1000"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AutoShape 13"/>
                <p:cNvSpPr>
                  <a:spLocks noChangeArrowheads="1"/>
                </p:cNvSpPr>
                <p:nvPr/>
              </p:nvSpPr>
              <p:spPr bwMode="gray">
                <a:xfrm>
                  <a:off x="1504216" y="2328866"/>
                  <a:ext cx="648000" cy="1393031"/>
                </a:xfrm>
                <a:prstGeom prst="chevron">
                  <a:avLst>
                    <a:gd name="adj" fmla="val 21940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/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跟踪和</a:t>
                  </a:r>
                  <a:br>
                    <a:rPr lang="en-US" altLang="zh-CN" sz="1000">
                      <a:latin typeface="+mn-ea"/>
                      <a:cs typeface="Arial" panose="020B0604020202020204" pitchFamily="34" charset="0"/>
                    </a:rPr>
                  </a:br>
                  <a:r>
                    <a:rPr lang="zh-CN" altLang="en-US" sz="1000">
                      <a:latin typeface="+mn-ea"/>
                      <a:cs typeface="Arial" panose="020B0604020202020204" pitchFamily="34" charset="0"/>
                    </a:rPr>
                    <a:t>培育线索</a:t>
                  </a:r>
                  <a:endParaRPr lang="zh-CN" altLang="en-US" sz="1000"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AutoShape 10"/>
                <p:cNvSpPr>
                  <a:spLocks noChangeArrowheads="1"/>
                </p:cNvSpPr>
                <p:nvPr/>
              </p:nvSpPr>
              <p:spPr bwMode="gray">
                <a:xfrm>
                  <a:off x="424962" y="2328865"/>
                  <a:ext cx="648000" cy="1393031"/>
                </a:xfrm>
                <a:prstGeom prst="chevron">
                  <a:avLst>
                    <a:gd name="adj" fmla="val 22630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/>
                  <a:r>
                    <a:rPr lang="zh-CN" altLang="en-US" sz="1000" dirty="0">
                      <a:latin typeface="+mn-ea"/>
                      <a:cs typeface="Arial" panose="020B0604020202020204" pitchFamily="34" charset="0"/>
                    </a:rPr>
                    <a:t>收集和</a:t>
                  </a:r>
                  <a:br>
                    <a:rPr lang="en-US" altLang="zh-CN" sz="1000" dirty="0">
                      <a:latin typeface="+mn-ea"/>
                      <a:cs typeface="Arial" panose="020B0604020202020204" pitchFamily="34" charset="0"/>
                    </a:rPr>
                  </a:br>
                  <a:r>
                    <a:rPr lang="zh-CN" altLang="en-US" sz="1000" dirty="0">
                      <a:latin typeface="+mn-ea"/>
                      <a:cs typeface="Arial" panose="020B0604020202020204" pitchFamily="34" charset="0"/>
                    </a:rPr>
                    <a:t>生成线索</a:t>
                  </a:r>
                  <a:endParaRPr lang="zh-CN" altLang="en-US" sz="1000" dirty="0"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" name="AutoShape 10"/>
                <p:cNvSpPr>
                  <a:spLocks noChangeArrowheads="1"/>
                </p:cNvSpPr>
                <p:nvPr/>
              </p:nvSpPr>
              <p:spPr bwMode="gray">
                <a:xfrm>
                  <a:off x="2258970" y="2333627"/>
                  <a:ext cx="2876550" cy="254886"/>
                </a:xfrm>
                <a:prstGeom prst="chevron">
                  <a:avLst>
                    <a:gd name="adj" fmla="val 15731"/>
                  </a:avLst>
                </a:prstGeom>
                <a:solidFill>
                  <a:schemeClr val="bg1"/>
                </a:solidFill>
                <a:ln w="12700" algn="ctr">
                  <a:noFill/>
                  <a:miter lim="800000"/>
                </a:ln>
                <a:effectLst/>
              </p:spPr>
              <p:txBody>
                <a:bodyPr lIns="0" tIns="7793" rIns="0" bIns="7793" anchor="ctr"/>
                <a:lstStyle/>
                <a:p>
                  <a:pPr algn="ctr" eaLnBrk="0" hangingPunct="0">
                    <a:buSzPct val="100000"/>
                  </a:pPr>
                  <a:r>
                    <a:rPr lang="zh-CN" altLang="en-US" sz="1000" dirty="0">
                      <a:latin typeface="+mn-ea"/>
                      <a:cs typeface="Arial" panose="020B0604020202020204" pitchFamily="34" charset="0"/>
                    </a:rPr>
                    <a:t>管理决策链</a:t>
                  </a:r>
                  <a:endParaRPr lang="zh-CN" altLang="en-US" sz="1000" dirty="0">
                    <a:latin typeface="+mn-ea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4" name="组合 113"/>
                <p:cNvGrpSpPr/>
                <p:nvPr/>
              </p:nvGrpSpPr>
              <p:grpSpPr>
                <a:xfrm>
                  <a:off x="3741617" y="2527847"/>
                  <a:ext cx="720000" cy="1194047"/>
                  <a:chOff x="3720980" y="2365922"/>
                  <a:chExt cx="720000" cy="1194047"/>
                </a:xfrm>
              </p:grpSpPr>
              <p:sp>
                <p:nvSpPr>
                  <p:cNvPr id="224" name="AutoShape 13"/>
                  <p:cNvSpPr>
                    <a:spLocks noChangeArrowheads="1"/>
                  </p:cNvSpPr>
                  <p:nvPr/>
                </p:nvSpPr>
                <p:spPr bwMode="gray">
                  <a:xfrm>
                    <a:off x="3720980" y="2531269"/>
                    <a:ext cx="720000" cy="1028700"/>
                  </a:xfrm>
                  <a:prstGeom prst="chevron">
                    <a:avLst>
                      <a:gd name="adj" fmla="val 16731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0" tIns="7793" rIns="0" bIns="7793" anchor="ctr"/>
                  <a:lstStyle/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GB" sz="1000" dirty="0">
                        <a:latin typeface="+mn-ea"/>
                        <a:cs typeface="Arial" panose="020B0604020202020204" pitchFamily="34" charset="0"/>
                      </a:rPr>
                      <a:t>制定并提交</a:t>
                    </a:r>
                    <a:endParaRPr lang="en-US" altLang="zh-CN" sz="1000" dirty="0">
                      <a:latin typeface="+mn-ea"/>
                      <a:cs typeface="Arial" panose="020B0604020202020204" pitchFamily="34" charset="0"/>
                    </a:endParaRPr>
                  </a:p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标书</a:t>
                    </a:r>
                    <a:endParaRPr lang="zh-CN" altLang="en-US" sz="10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25" name="Group 86"/>
                  <p:cNvGrpSpPr/>
                  <p:nvPr/>
                </p:nvGrpSpPr>
                <p:grpSpPr bwMode="auto">
                  <a:xfrm>
                    <a:off x="3804022" y="2365922"/>
                    <a:ext cx="553916" cy="362854"/>
                    <a:chOff x="3238488" y="2137953"/>
                    <a:chExt cx="617538" cy="415139"/>
                  </a:xfrm>
                  <a:effectLst/>
                </p:grpSpPr>
                <p:sp>
                  <p:nvSpPr>
                    <p:cNvPr id="226" name="AutoShap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95638" y="2222488"/>
                      <a:ext cx="503238" cy="246063"/>
                    </a:xfrm>
                    <a:prstGeom prst="diamond">
                      <a:avLst/>
                    </a:prstGeom>
                    <a:solidFill>
                      <a:srgbClr val="F7B021"/>
                    </a:solidFill>
                    <a:ln w="9525" algn="ctr">
                      <a:noFill/>
                      <a:miter lim="800000"/>
                    </a:ln>
                  </p:spPr>
                  <p:txBody>
                    <a:bodyPr lIns="0" tIns="0" rIns="0" bIns="0"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zh-CN" altLang="en-US" sz="1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27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38488" y="2137953"/>
                      <a:ext cx="617538" cy="415139"/>
                    </a:xfrm>
                    <a:prstGeom prst="rect">
                      <a:avLst/>
                    </a:prstGeom>
                    <a:noFill/>
                    <a:ln w="9525" algn="ctr">
                      <a:noFill/>
                      <a:miter lim="800000"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/>
                      <a:r>
                        <a:rPr lang="en-US" altLang="zh-CN" sz="800" dirty="0">
                          <a:latin typeface="+mn-ea"/>
                          <a:cs typeface="Arial" panose="020B0604020202020204" pitchFamily="34" charset="0"/>
                        </a:rPr>
                        <a:t>ATB</a:t>
                      </a:r>
                      <a:endParaRPr lang="en-US" altLang="zh-CN" sz="800" dirty="0"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15" name="组合 114"/>
                <p:cNvGrpSpPr/>
                <p:nvPr/>
              </p:nvGrpSpPr>
              <p:grpSpPr>
                <a:xfrm>
                  <a:off x="4473088" y="2527841"/>
                  <a:ext cx="720000" cy="1194053"/>
                  <a:chOff x="4454038" y="2365916"/>
                  <a:chExt cx="720000" cy="1194053"/>
                </a:xfrm>
              </p:grpSpPr>
              <p:sp>
                <p:nvSpPr>
                  <p:cNvPr id="220" name="AutoShape 14"/>
                  <p:cNvSpPr>
                    <a:spLocks noChangeArrowheads="1"/>
                  </p:cNvSpPr>
                  <p:nvPr/>
                </p:nvSpPr>
                <p:spPr bwMode="gray">
                  <a:xfrm>
                    <a:off x="4454038" y="2531269"/>
                    <a:ext cx="720000" cy="1028700"/>
                  </a:xfrm>
                  <a:prstGeom prst="chevron">
                    <a:avLst>
                      <a:gd name="adj" fmla="val 15657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0" tIns="7793" rIns="0" bIns="7793" anchor="ctr"/>
                  <a:lstStyle/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谈判和</a:t>
                    </a:r>
                    <a:br>
                      <a:rPr lang="en-US" altLang="zh-CN" sz="1000" dirty="0">
                        <a:latin typeface="+mn-ea"/>
                        <a:cs typeface="Arial" panose="020B0604020202020204" pitchFamily="34" charset="0"/>
                      </a:rPr>
                    </a:b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生成</a:t>
                    </a:r>
                    <a:endParaRPr lang="en-US" altLang="zh-CN" sz="1000" dirty="0">
                      <a:latin typeface="+mn-ea"/>
                      <a:cs typeface="Arial" panose="020B0604020202020204" pitchFamily="34" charset="0"/>
                    </a:endParaRPr>
                  </a:p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合同</a:t>
                    </a:r>
                    <a:endParaRPr lang="zh-CN" altLang="en-US" sz="10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21" name="Group 87"/>
                  <p:cNvGrpSpPr/>
                  <p:nvPr/>
                </p:nvGrpSpPr>
                <p:grpSpPr bwMode="auto">
                  <a:xfrm>
                    <a:off x="4536348" y="2365916"/>
                    <a:ext cx="555381" cy="362855"/>
                    <a:chOff x="4332285" y="2148014"/>
                    <a:chExt cx="574675" cy="395009"/>
                  </a:xfrm>
                  <a:effectLst/>
                </p:grpSpPr>
                <p:sp>
                  <p:nvSpPr>
                    <p:cNvPr id="222" name="AutoShap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9590" y="2220901"/>
                      <a:ext cx="500063" cy="249237"/>
                    </a:xfrm>
                    <a:prstGeom prst="diamond">
                      <a:avLst/>
                    </a:prstGeom>
                    <a:solidFill>
                      <a:srgbClr val="F7B021"/>
                    </a:solidFill>
                    <a:ln w="9525" algn="ctr">
                      <a:noFill/>
                      <a:miter lim="800000"/>
                    </a:ln>
                  </p:spPr>
                  <p:txBody>
                    <a:bodyPr lIns="0" tIns="0" rIns="0" bIns="0"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zh-CN" altLang="en-US" sz="1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23" name="Rectangle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32285" y="2148014"/>
                      <a:ext cx="574675" cy="395009"/>
                    </a:xfrm>
                    <a:prstGeom prst="rect">
                      <a:avLst/>
                    </a:prstGeom>
                    <a:noFill/>
                    <a:ln w="9525" algn="ctr">
                      <a:noFill/>
                      <a:miter lim="800000"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/>
                      <a:r>
                        <a:rPr lang="en-US" altLang="zh-CN" sz="800">
                          <a:latin typeface="+mn-ea"/>
                          <a:cs typeface="Arial" panose="020B0604020202020204" pitchFamily="34" charset="0"/>
                        </a:rPr>
                        <a:t>ATC</a:t>
                      </a:r>
                      <a:endParaRPr lang="en-US" altLang="zh-CN" sz="800"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16" name="组合 115"/>
                <p:cNvGrpSpPr/>
                <p:nvPr/>
              </p:nvGrpSpPr>
              <p:grpSpPr>
                <a:xfrm>
                  <a:off x="2278673" y="2527847"/>
                  <a:ext cx="720000" cy="1194047"/>
                  <a:chOff x="2269148" y="2365922"/>
                  <a:chExt cx="720000" cy="1194047"/>
                </a:xfrm>
              </p:grpSpPr>
              <p:sp>
                <p:nvSpPr>
                  <p:cNvPr id="216" name="AutoShape 10"/>
                  <p:cNvSpPr>
                    <a:spLocks noChangeArrowheads="1"/>
                  </p:cNvSpPr>
                  <p:nvPr/>
                </p:nvSpPr>
                <p:spPr bwMode="gray">
                  <a:xfrm>
                    <a:off x="2269148" y="2531269"/>
                    <a:ext cx="720000" cy="1028700"/>
                  </a:xfrm>
                  <a:prstGeom prst="chevron">
                    <a:avLst>
                      <a:gd name="adj" fmla="val 15685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0" tIns="7793" rIns="0" bIns="7793" anchor="ctr"/>
                  <a:lstStyle/>
                  <a:p>
                    <a:pPr algn="ctr" eaLnBrk="0" hangingPunct="0">
                      <a:buSzPct val="100000"/>
                    </a:pPr>
                    <a:r>
                      <a:rPr lang="zh-CN" altLang="en-US" sz="1000">
                        <a:latin typeface="+mn-ea"/>
                        <a:cs typeface="Arial" panose="020B0604020202020204" pitchFamily="34" charset="0"/>
                      </a:rPr>
                      <a:t>验证</a:t>
                    </a:r>
                    <a:endParaRPr lang="zh-CN" altLang="en-US" sz="1000">
                      <a:latin typeface="+mn-ea"/>
                      <a:cs typeface="Arial" panose="020B0604020202020204" pitchFamily="34" charset="0"/>
                    </a:endParaRPr>
                  </a:p>
                  <a:p>
                    <a:pPr algn="ctr" eaLnBrk="0" hangingPunct="0">
                      <a:buSzPct val="100000"/>
                    </a:pPr>
                    <a:r>
                      <a:rPr lang="zh-CN" altLang="en-US" sz="1000">
                        <a:latin typeface="+mn-ea"/>
                        <a:cs typeface="Arial" panose="020B0604020202020204" pitchFamily="34" charset="0"/>
                      </a:rPr>
                      <a:t>机会点 </a:t>
                    </a:r>
                    <a:endParaRPr lang="zh-CN" altLang="en-US" sz="100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17" name="Group 86"/>
                  <p:cNvGrpSpPr/>
                  <p:nvPr/>
                </p:nvGrpSpPr>
                <p:grpSpPr bwMode="auto">
                  <a:xfrm>
                    <a:off x="2352923" y="2365922"/>
                    <a:ext cx="552450" cy="362854"/>
                    <a:chOff x="3238488" y="2137953"/>
                    <a:chExt cx="617538" cy="415139"/>
                  </a:xfrm>
                  <a:effectLst/>
                </p:grpSpPr>
                <p:sp>
                  <p:nvSpPr>
                    <p:cNvPr id="218" name="AutoShap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95638" y="2222488"/>
                      <a:ext cx="503238" cy="246063"/>
                    </a:xfrm>
                    <a:prstGeom prst="diamond">
                      <a:avLst/>
                    </a:prstGeom>
                    <a:solidFill>
                      <a:srgbClr val="F7B021"/>
                    </a:solidFill>
                    <a:ln w="9525" algn="ctr">
                      <a:noFill/>
                      <a:miter lim="800000"/>
                    </a:ln>
                  </p:spPr>
                  <p:txBody>
                    <a:bodyPr lIns="0" tIns="0" rIns="0" bIns="0"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zh-CN" altLang="en-US" sz="1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9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38488" y="2137953"/>
                      <a:ext cx="617538" cy="415139"/>
                    </a:xfrm>
                    <a:prstGeom prst="rect">
                      <a:avLst/>
                    </a:prstGeom>
                    <a:noFill/>
                    <a:ln w="9525" algn="ctr">
                      <a:noFill/>
                      <a:miter lim="800000"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/>
                      <a:r>
                        <a:rPr lang="en-US" altLang="zh-CN" sz="800" dirty="0">
                          <a:latin typeface="+mn-ea"/>
                          <a:cs typeface="Arial" panose="020B0604020202020204" pitchFamily="34" charset="0"/>
                        </a:rPr>
                        <a:t>ATI</a:t>
                      </a:r>
                      <a:endParaRPr lang="en-US" altLang="zh-CN" sz="800" dirty="0"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17" name="组合 116"/>
                <p:cNvGrpSpPr/>
                <p:nvPr/>
              </p:nvGrpSpPr>
              <p:grpSpPr>
                <a:xfrm>
                  <a:off x="5189384" y="1791839"/>
                  <a:ext cx="3836375" cy="1999114"/>
                  <a:chOff x="5189384" y="1791839"/>
                  <a:chExt cx="3836375" cy="1999114"/>
                </a:xfrm>
              </p:grpSpPr>
              <p:sp>
                <p:nvSpPr>
                  <p:cNvPr id="118" name="AutoShape 16"/>
                  <p:cNvSpPr>
                    <a:spLocks noChangeArrowheads="1"/>
                  </p:cNvSpPr>
                  <p:nvPr/>
                </p:nvSpPr>
                <p:spPr bwMode="auto">
                  <a:xfrm>
                    <a:off x="5189384" y="1791839"/>
                    <a:ext cx="3836375" cy="1999114"/>
                  </a:xfrm>
                  <a:prstGeom prst="chevron">
                    <a:avLst>
                      <a:gd name="adj" fmla="val 12108"/>
                    </a:avLst>
                  </a:prstGeom>
                  <a:solidFill>
                    <a:srgbClr val="0070C0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lIns="77939" tIns="38970" rIns="77939" bIns="38970"/>
                  <a:lstStyle/>
                  <a:p>
                    <a:pPr algn="ctr" defTabSz="582930">
                      <a:defRPr/>
                    </a:pPr>
                    <a:endParaRPr lang="zh-CN" altLang="en-US" sz="1000" b="1" dirty="0">
                      <a:solidFill>
                        <a:srgbClr val="FFFFFF"/>
                      </a:solidFill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AutoShape 20"/>
                  <p:cNvSpPr>
                    <a:spLocks noChangeArrowheads="1"/>
                  </p:cNvSpPr>
                  <p:nvPr/>
                </p:nvSpPr>
                <p:spPr bwMode="gray">
                  <a:xfrm>
                    <a:off x="5308684" y="2330055"/>
                    <a:ext cx="889162" cy="1391841"/>
                  </a:xfrm>
                  <a:prstGeom prst="chevron">
                    <a:avLst>
                      <a:gd name="adj" fmla="val 11978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0" tIns="38970" rIns="0" bIns="15588" anchor="ctr"/>
                  <a:lstStyle/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US" sz="900" dirty="0">
                        <a:latin typeface="+mn-ea"/>
                        <a:cs typeface="Arial" panose="020B0604020202020204" pitchFamily="34" charset="0"/>
                      </a:rPr>
                      <a:t>管理合同</a:t>
                    </a:r>
                    <a:r>
                      <a:rPr lang="en-US" altLang="zh-CN" sz="900" dirty="0">
                        <a:latin typeface="+mn-ea"/>
                        <a:cs typeface="Arial" panose="020B0604020202020204" pitchFamily="34" charset="0"/>
                      </a:rPr>
                      <a:t>/PO</a:t>
                    </a:r>
                    <a:r>
                      <a:rPr lang="zh-CN" altLang="en-US" sz="900" dirty="0">
                        <a:latin typeface="+mn-ea"/>
                        <a:cs typeface="Arial" panose="020B0604020202020204" pitchFamily="34" charset="0"/>
                      </a:rPr>
                      <a:t>接收和确认</a:t>
                    </a:r>
                    <a:endParaRPr lang="zh-CN" altLang="en-US" sz="9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37" name="AutoShape 33"/>
                  <p:cNvCxnSpPr>
                    <a:cxnSpLocks noChangeShapeType="1"/>
                    <a:stCxn id="119" idx="3"/>
                    <a:endCxn id="142" idx="1"/>
                  </p:cNvCxnSpPr>
                  <p:nvPr/>
                </p:nvCxnSpPr>
                <p:spPr bwMode="auto">
                  <a:xfrm flipV="1">
                    <a:off x="6197846" y="2843214"/>
                    <a:ext cx="173266" cy="182761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sp>
                <p:nvSpPr>
                  <p:cNvPr id="138" name="AutoShape 25"/>
                  <p:cNvSpPr>
                    <a:spLocks noChangeArrowheads="1"/>
                  </p:cNvSpPr>
                  <p:nvPr/>
                </p:nvSpPr>
                <p:spPr bwMode="gray">
                  <a:xfrm>
                    <a:off x="8109441" y="2364583"/>
                    <a:ext cx="774733" cy="1357313"/>
                  </a:xfrm>
                  <a:prstGeom prst="chevron">
                    <a:avLst>
                      <a:gd name="adj" fmla="val 14454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0" tIns="7793" rIns="0" bIns="7793" anchor="ctr"/>
                  <a:lstStyle/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GB" sz="1000">
                        <a:latin typeface="+mn-ea"/>
                        <a:cs typeface="Arial" panose="020B0604020202020204" pitchFamily="34" charset="0"/>
                      </a:rPr>
                      <a:t>关闭和</a:t>
                    </a:r>
                    <a:br>
                      <a:rPr lang="en-US" altLang="zh-CN" sz="1000">
                        <a:latin typeface="+mn-ea"/>
                        <a:cs typeface="Arial" panose="020B0604020202020204" pitchFamily="34" charset="0"/>
                      </a:rPr>
                    </a:br>
                    <a:r>
                      <a:rPr lang="zh-CN" altLang="en-GB" sz="1000">
                        <a:latin typeface="+mn-ea"/>
                        <a:cs typeface="Arial" panose="020B0604020202020204" pitchFamily="34" charset="0"/>
                      </a:rPr>
                      <a:t>评价</a:t>
                    </a:r>
                    <a:br>
                      <a:rPr lang="en-US" altLang="zh-CN" sz="1000">
                        <a:latin typeface="+mn-ea"/>
                        <a:cs typeface="Arial" panose="020B0604020202020204" pitchFamily="34" charset="0"/>
                      </a:rPr>
                    </a:br>
                    <a:r>
                      <a:rPr lang="zh-CN" altLang="en-GB" sz="1000">
                        <a:latin typeface="+mn-ea"/>
                        <a:cs typeface="Arial" panose="020B0604020202020204" pitchFamily="34" charset="0"/>
                      </a:rPr>
                      <a:t>合同</a:t>
                    </a:r>
                    <a:endParaRPr lang="zh-CN" altLang="en-US" sz="100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39" name="AutoShape 34"/>
                  <p:cNvCxnSpPr>
                    <a:cxnSpLocks noChangeShapeType="1"/>
                    <a:stCxn id="141" idx="3"/>
                    <a:endCxn id="138" idx="1"/>
                  </p:cNvCxnSpPr>
                  <p:nvPr/>
                </p:nvCxnSpPr>
                <p:spPr bwMode="auto">
                  <a:xfrm>
                    <a:off x="7921871" y="2478885"/>
                    <a:ext cx="299550" cy="564355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grpSp>
                <p:nvGrpSpPr>
                  <p:cNvPr id="140" name="Group 138"/>
                  <p:cNvGrpSpPr/>
                  <p:nvPr/>
                </p:nvGrpSpPr>
                <p:grpSpPr bwMode="auto">
                  <a:xfrm>
                    <a:off x="8251583" y="2231963"/>
                    <a:ext cx="580293" cy="362854"/>
                    <a:chOff x="8991340" y="1439282"/>
                    <a:chExt cx="623434" cy="416113"/>
                  </a:xfrm>
                  <a:effectLst/>
                </p:grpSpPr>
                <p:sp>
                  <p:nvSpPr>
                    <p:cNvPr id="214" name="AutoShap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18623" y="1522721"/>
                      <a:ext cx="500062" cy="249237"/>
                    </a:xfrm>
                    <a:prstGeom prst="diamond">
                      <a:avLst/>
                    </a:prstGeom>
                    <a:solidFill>
                      <a:srgbClr val="F7B021"/>
                    </a:solidFill>
                    <a:ln w="9525" algn="ctr">
                      <a:noFill/>
                      <a:miter lim="800000"/>
                    </a:ln>
                  </p:spPr>
                  <p:txBody>
                    <a:bodyPr lIns="0" tIns="0" rIns="0" bIns="0"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zh-CN" altLang="en-US" sz="1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5" name="Rectangle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1340" y="1439282"/>
                      <a:ext cx="623434" cy="416113"/>
                    </a:xfrm>
                    <a:prstGeom prst="rect">
                      <a:avLst/>
                    </a:prstGeom>
                    <a:noFill/>
                    <a:ln w="9525" algn="ctr">
                      <a:noFill/>
                      <a:miter lim="800000"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/>
                      <a:r>
                        <a:rPr lang="en-US" altLang="zh-CN" sz="800">
                          <a:latin typeface="+mn-ea"/>
                          <a:cs typeface="Arial" panose="020B0604020202020204" pitchFamily="34" charset="0"/>
                        </a:rPr>
                        <a:t>ATCC</a:t>
                      </a:r>
                      <a:endParaRPr lang="en-US" altLang="zh-CN" sz="800">
                        <a:latin typeface="+mn-ea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1" name="AutoShape 21"/>
                  <p:cNvSpPr>
                    <a:spLocks noChangeArrowheads="1"/>
                  </p:cNvSpPr>
                  <p:nvPr/>
                </p:nvSpPr>
                <p:spPr bwMode="gray">
                  <a:xfrm>
                    <a:off x="6337791" y="2330056"/>
                    <a:ext cx="1584080" cy="297656"/>
                  </a:xfrm>
                  <a:prstGeom prst="chevron">
                    <a:avLst>
                      <a:gd name="adj" fmla="val 18146"/>
                    </a:avLst>
                  </a:prstGeom>
                  <a:solidFill>
                    <a:schemeClr val="bg1"/>
                  </a:solidFill>
                  <a:ln w="19050" algn="ctr">
                    <a:noFill/>
                    <a:prstDash val="dash"/>
                    <a:miter lim="800000"/>
                  </a:ln>
                  <a:effectLst/>
                </p:spPr>
                <p:txBody>
                  <a:bodyPr lIns="7793" tIns="38970" rIns="7793" bIns="38970" anchor="ctr"/>
                  <a:lstStyle/>
                  <a:p>
                    <a:pPr algn="ctr" eaLnBrk="0" hangingPunct="0">
                      <a:buSzPct val="100000"/>
                      <a:defRPr/>
                    </a:pP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管理交付</a:t>
                    </a:r>
                    <a:r>
                      <a:rPr lang="en-US" altLang="zh-CN" sz="1000" dirty="0">
                        <a:latin typeface="+mn-ea"/>
                        <a:cs typeface="Arial" panose="020B0604020202020204" pitchFamily="34" charset="0"/>
                      </a:rPr>
                      <a:t>(</a:t>
                    </a: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验收</a:t>
                    </a:r>
                    <a:r>
                      <a:rPr lang="en-US" altLang="zh-CN" sz="1000" dirty="0">
                        <a:latin typeface="+mn-ea"/>
                        <a:cs typeface="Arial" panose="020B0604020202020204" pitchFamily="34" charset="0"/>
                      </a:rPr>
                      <a:t>)</a:t>
                    </a:r>
                    <a:endParaRPr lang="en-US" altLang="zh-CN" sz="10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2" name="AutoShape 22"/>
                  <p:cNvSpPr>
                    <a:spLocks noChangeArrowheads="1"/>
                  </p:cNvSpPr>
                  <p:nvPr/>
                </p:nvSpPr>
                <p:spPr bwMode="gray">
                  <a:xfrm>
                    <a:off x="6337791" y="2693194"/>
                    <a:ext cx="1584080" cy="300038"/>
                  </a:xfrm>
                  <a:prstGeom prst="chevron">
                    <a:avLst>
                      <a:gd name="adj" fmla="val 18704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7793" tIns="38970" rIns="7793" bIns="15588" anchor="ctr"/>
                  <a:lstStyle/>
                  <a:p>
                    <a:pPr algn="ctr"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管理开票和回款</a:t>
                    </a:r>
                    <a:endParaRPr lang="en-US" altLang="zh-CN" sz="10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3" name="AutoShape 23"/>
                  <p:cNvSpPr>
                    <a:spLocks noChangeArrowheads="1"/>
                  </p:cNvSpPr>
                  <p:nvPr/>
                </p:nvSpPr>
                <p:spPr bwMode="gray">
                  <a:xfrm>
                    <a:off x="6337791" y="3423048"/>
                    <a:ext cx="1584080" cy="298847"/>
                  </a:xfrm>
                  <a:prstGeom prst="chevron">
                    <a:avLst>
                      <a:gd name="adj" fmla="val 19002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7793" tIns="38970" rIns="7793" bIns="15588" anchor="ctr"/>
                  <a:lstStyle/>
                  <a:p>
                    <a:pPr algn="ctr" eaLnBrk="0" hangingPunct="0">
                      <a:buSzPct val="100000"/>
                    </a:pPr>
                    <a:r>
                      <a:rPr lang="zh-CN" altLang="en-US" sz="1000">
                        <a:latin typeface="+mn-ea"/>
                        <a:cs typeface="Arial" panose="020B0604020202020204" pitchFamily="34" charset="0"/>
                      </a:rPr>
                      <a:t>管理风险和争议</a:t>
                    </a:r>
                    <a:endParaRPr lang="en-US" altLang="zh-CN" sz="100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8" name="AutoShape 21"/>
                  <p:cNvSpPr>
                    <a:spLocks noChangeArrowheads="1"/>
                  </p:cNvSpPr>
                  <p:nvPr/>
                </p:nvSpPr>
                <p:spPr bwMode="gray">
                  <a:xfrm>
                    <a:off x="6337791" y="3058716"/>
                    <a:ext cx="1584080" cy="298847"/>
                  </a:xfrm>
                  <a:prstGeom prst="chevron">
                    <a:avLst>
                      <a:gd name="adj" fmla="val 18084"/>
                    </a:avLst>
                  </a:prstGeom>
                  <a:solidFill>
                    <a:schemeClr val="bg1"/>
                  </a:solidFill>
                  <a:ln w="12700" algn="ctr">
                    <a:noFill/>
                    <a:miter lim="800000"/>
                  </a:ln>
                  <a:effectLst/>
                </p:spPr>
                <p:txBody>
                  <a:bodyPr lIns="108000" tIns="38970" rIns="7793" bIns="15588" anchor="ctr"/>
                  <a:lstStyle/>
                  <a:p>
                    <a:pPr eaLnBrk="0" hangingPunct="0">
                      <a:buSzPct val="100000"/>
                      <a:buFont typeface="Wingdings" panose="05000000000000000000" pitchFamily="2" charset="2"/>
                      <a:buNone/>
                    </a:pPr>
                    <a:r>
                      <a:rPr lang="en-GB" sz="1000" dirty="0">
                        <a:latin typeface="+mn-ea"/>
                        <a:cs typeface="Arial" panose="020B0604020202020204" pitchFamily="34" charset="0"/>
                      </a:rPr>
                      <a:t>管理合同 </a:t>
                    </a:r>
                    <a:r>
                      <a:rPr lang="en-GB" altLang="zh-CN" sz="1000" dirty="0">
                        <a:latin typeface="+mn-ea"/>
                        <a:cs typeface="Arial" panose="020B0604020202020204" pitchFamily="34" charset="0"/>
                      </a:rPr>
                      <a:t>/ PO</a:t>
                    </a:r>
                    <a:r>
                      <a:rPr lang="zh-CN" altLang="en-US" sz="1000" dirty="0">
                        <a:latin typeface="+mn-ea"/>
                        <a:cs typeface="Arial" panose="020B0604020202020204" pitchFamily="34" charset="0"/>
                      </a:rPr>
                      <a:t>变更</a:t>
                    </a:r>
                    <a:endParaRPr lang="en-US" altLang="zh-CN" sz="10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99" name="AutoShape 33"/>
                  <p:cNvCxnSpPr>
                    <a:cxnSpLocks noChangeShapeType="1"/>
                    <a:stCxn id="119" idx="3"/>
                    <a:endCxn id="198" idx="1"/>
                  </p:cNvCxnSpPr>
                  <p:nvPr/>
                </p:nvCxnSpPr>
                <p:spPr bwMode="auto">
                  <a:xfrm>
                    <a:off x="6197846" y="3025975"/>
                    <a:ext cx="172033" cy="182165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0" name="AutoShape 33"/>
                  <p:cNvCxnSpPr>
                    <a:cxnSpLocks noChangeShapeType="1"/>
                    <a:stCxn id="119" idx="3"/>
                    <a:endCxn id="143" idx="1"/>
                  </p:cNvCxnSpPr>
                  <p:nvPr/>
                </p:nvCxnSpPr>
                <p:spPr bwMode="auto">
                  <a:xfrm>
                    <a:off x="6197846" y="3025975"/>
                    <a:ext cx="173662" cy="546497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1" name="AutoShape 34"/>
                  <p:cNvCxnSpPr>
                    <a:cxnSpLocks noChangeShapeType="1"/>
                    <a:stCxn id="142" idx="3"/>
                    <a:endCxn id="138" idx="1"/>
                  </p:cNvCxnSpPr>
                  <p:nvPr/>
                </p:nvCxnSpPr>
                <p:spPr bwMode="auto">
                  <a:xfrm>
                    <a:off x="7921871" y="2843214"/>
                    <a:ext cx="299550" cy="200026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2" name="AutoShape 34"/>
                  <p:cNvCxnSpPr>
                    <a:cxnSpLocks noChangeShapeType="1"/>
                    <a:stCxn id="198" idx="3"/>
                    <a:endCxn id="138" idx="1"/>
                  </p:cNvCxnSpPr>
                  <p:nvPr/>
                </p:nvCxnSpPr>
                <p:spPr bwMode="auto">
                  <a:xfrm flipV="1">
                    <a:off x="7921871" y="3043240"/>
                    <a:ext cx="299550" cy="1649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3" name="AutoShape 34"/>
                  <p:cNvCxnSpPr>
                    <a:cxnSpLocks noChangeShapeType="1"/>
                    <a:stCxn id="143" idx="3"/>
                    <a:endCxn id="138" idx="1"/>
                  </p:cNvCxnSpPr>
                  <p:nvPr/>
                </p:nvCxnSpPr>
                <p:spPr bwMode="auto">
                  <a:xfrm flipV="1">
                    <a:off x="7921871" y="3043240"/>
                    <a:ext cx="299550" cy="529232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4" name="AutoShape 33"/>
                  <p:cNvCxnSpPr>
                    <a:cxnSpLocks noChangeShapeType="1"/>
                    <a:stCxn id="119" idx="3"/>
                    <a:endCxn id="141" idx="1"/>
                  </p:cNvCxnSpPr>
                  <p:nvPr/>
                </p:nvCxnSpPr>
                <p:spPr bwMode="auto">
                  <a:xfrm flipV="1">
                    <a:off x="6197846" y="2478885"/>
                    <a:ext cx="172015" cy="54709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28575">
                    <a:noFill/>
                    <a:miter lim="800000"/>
                    <a:tailEnd type="triangle" w="med" len="med"/>
                  </a:ln>
                  <a:effectLst/>
                </p:spPr>
              </p:cxnSp>
              <p:cxnSp>
                <p:nvCxnSpPr>
                  <p:cNvPr id="206" name="肘形连接符 205"/>
                  <p:cNvCxnSpPr>
                    <a:stCxn id="119" idx="3"/>
                    <a:endCxn id="141" idx="1"/>
                  </p:cNvCxnSpPr>
                  <p:nvPr/>
                </p:nvCxnSpPr>
                <p:spPr bwMode="auto">
                  <a:xfrm flipV="1">
                    <a:off x="6197846" y="2478885"/>
                    <a:ext cx="172015" cy="54709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07" name="肘形连接符 206"/>
                  <p:cNvCxnSpPr>
                    <a:stCxn id="119" idx="3"/>
                    <a:endCxn id="142" idx="1"/>
                  </p:cNvCxnSpPr>
                  <p:nvPr/>
                </p:nvCxnSpPr>
                <p:spPr bwMode="auto">
                  <a:xfrm flipV="1">
                    <a:off x="6197846" y="2843214"/>
                    <a:ext cx="173266" cy="182761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08" name="肘形连接符 207"/>
                  <p:cNvCxnSpPr>
                    <a:stCxn id="119" idx="3"/>
                    <a:endCxn id="198" idx="1"/>
                  </p:cNvCxnSpPr>
                  <p:nvPr/>
                </p:nvCxnSpPr>
                <p:spPr bwMode="auto">
                  <a:xfrm>
                    <a:off x="6197846" y="3025975"/>
                    <a:ext cx="172033" cy="182165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09" name="肘形连接符 208"/>
                  <p:cNvCxnSpPr>
                    <a:stCxn id="119" idx="3"/>
                    <a:endCxn id="143" idx="1"/>
                  </p:cNvCxnSpPr>
                  <p:nvPr/>
                </p:nvCxnSpPr>
                <p:spPr bwMode="auto">
                  <a:xfrm>
                    <a:off x="6197846" y="3025975"/>
                    <a:ext cx="173662" cy="546497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10" name="肘形连接符 209"/>
                  <p:cNvCxnSpPr>
                    <a:stCxn id="141" idx="3"/>
                    <a:endCxn id="138" idx="1"/>
                  </p:cNvCxnSpPr>
                  <p:nvPr/>
                </p:nvCxnSpPr>
                <p:spPr bwMode="auto">
                  <a:xfrm>
                    <a:off x="7921871" y="2478885"/>
                    <a:ext cx="299550" cy="564355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11" name="肘形连接符 210"/>
                  <p:cNvCxnSpPr>
                    <a:endCxn id="138" idx="1"/>
                  </p:cNvCxnSpPr>
                  <p:nvPr/>
                </p:nvCxnSpPr>
                <p:spPr bwMode="auto">
                  <a:xfrm>
                    <a:off x="7926924" y="2843213"/>
                    <a:ext cx="294497" cy="200027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12" name="肘形连接符 211"/>
                  <p:cNvCxnSpPr>
                    <a:stCxn id="198" idx="3"/>
                    <a:endCxn id="138" idx="1"/>
                  </p:cNvCxnSpPr>
                  <p:nvPr/>
                </p:nvCxnSpPr>
                <p:spPr bwMode="auto">
                  <a:xfrm flipV="1">
                    <a:off x="7921871" y="3043240"/>
                    <a:ext cx="299550" cy="1649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13" name="肘形连接符 212"/>
                  <p:cNvCxnSpPr>
                    <a:stCxn id="143" idx="3"/>
                    <a:endCxn id="138" idx="1"/>
                  </p:cNvCxnSpPr>
                  <p:nvPr/>
                </p:nvCxnSpPr>
                <p:spPr bwMode="auto">
                  <a:xfrm flipV="1">
                    <a:off x="7921871" y="3043240"/>
                    <a:ext cx="299550" cy="529232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sp>
                <p:nvSpPr>
                  <p:cNvPr id="205" name="AutoShape 85"/>
                  <p:cNvSpPr>
                    <a:spLocks noChangeArrowheads="1"/>
                  </p:cNvSpPr>
                  <p:nvPr/>
                </p:nvSpPr>
                <p:spPr bwMode="auto">
                  <a:xfrm>
                    <a:off x="7579447" y="3059049"/>
                    <a:ext cx="445477" cy="227409"/>
                  </a:xfrm>
                  <a:prstGeom prst="diamond">
                    <a:avLst/>
                  </a:prstGeom>
                  <a:solidFill>
                    <a:srgbClr val="FBD893"/>
                  </a:solidFill>
                  <a:ln w="9525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lgDash"/>
                    <a:miter lim="800000"/>
                  </a:ln>
                  <a:effectLst/>
                </p:spPr>
                <p:txBody>
                  <a:bodyPr wrap="none" lIns="0" tIns="0" rIns="0" bIns="0" anchor="ctr" anchorCtr="1"/>
                  <a:lstStyle/>
                  <a:p>
                    <a:pPr algn="ctr" defTabSz="582930"/>
                    <a:r>
                      <a:rPr lang="en-US" altLang="zh-CN" sz="800" dirty="0">
                        <a:latin typeface="+mn-ea"/>
                        <a:cs typeface="Arial" panose="020B0604020202020204" pitchFamily="34" charset="0"/>
                      </a:rPr>
                      <a:t>ATAC</a:t>
                    </a:r>
                    <a:endParaRPr lang="en-US" altLang="zh-HK" sz="800" dirty="0">
                      <a:latin typeface="+mn-ea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00" name="矩形 99"/>
              <p:cNvSpPr/>
              <p:nvPr/>
            </p:nvSpPr>
            <p:spPr>
              <a:xfrm>
                <a:off x="6360588" y="2208157"/>
                <a:ext cx="145905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582930">
                  <a:defRPr/>
                </a:pPr>
                <a:r>
                  <a:rPr lang="zh-CN" altLang="en-US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管理合同执行</a:t>
                </a:r>
                <a:r>
                  <a:rPr lang="en-US" altLang="zh-CN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(MCE)</a:t>
                </a:r>
                <a:endParaRPr lang="zh-CN" altLang="en-US" sz="1100" b="1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3118288" y="2208157"/>
                <a:ext cx="125867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582930">
                  <a:defRPr/>
                </a:pPr>
                <a:r>
                  <a:rPr lang="zh-CN" altLang="en-US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管理机会点</a:t>
                </a:r>
                <a:r>
                  <a:rPr lang="en-US" altLang="zh-CN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(MO)</a:t>
                </a:r>
                <a:endParaRPr lang="zh-HK" altLang="en-US" sz="1100" b="1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749018" y="2208157"/>
                <a:ext cx="1079143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582930">
                  <a:defRPr/>
                </a:pPr>
                <a:r>
                  <a:rPr lang="zh-CN" altLang="en-US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管理线索</a:t>
                </a:r>
                <a:r>
                  <a:rPr lang="en-US" altLang="zh-CN" sz="1100" b="1" dirty="0">
                    <a:solidFill>
                      <a:srgbClr val="FFFFFF"/>
                    </a:solidFill>
                    <a:latin typeface="+mn-ea"/>
                    <a:cs typeface="Arial" panose="020B0604020202020204" pitchFamily="34" charset="0"/>
                  </a:rPr>
                  <a:t>(ML)</a:t>
                </a:r>
                <a:endParaRPr lang="zh-CN" altLang="en-US" sz="1100" b="1" dirty="0">
                  <a:solidFill>
                    <a:srgbClr val="FFFFFF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8" name="矩形 287"/>
            <p:cNvSpPr/>
            <p:nvPr/>
          </p:nvSpPr>
          <p:spPr bwMode="auto">
            <a:xfrm>
              <a:off x="6185099" y="1872560"/>
              <a:ext cx="1626561" cy="256616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85" name="矩形 284"/>
            <p:cNvSpPr/>
            <p:nvPr/>
          </p:nvSpPr>
          <p:spPr bwMode="auto">
            <a:xfrm>
              <a:off x="6176327" y="2072689"/>
              <a:ext cx="1700055" cy="257325"/>
            </a:xfrm>
            <a:prstGeom prst="rect">
              <a:avLst/>
            </a:prstGeom>
            <a:noFill/>
            <a:ln w="19050">
              <a:solidFill>
                <a:srgbClr val="F7B021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84" name="矩形 283"/>
            <p:cNvSpPr/>
            <p:nvPr/>
          </p:nvSpPr>
          <p:spPr bwMode="auto">
            <a:xfrm>
              <a:off x="6169414" y="1381676"/>
              <a:ext cx="1700055" cy="471091"/>
            </a:xfrm>
            <a:prstGeom prst="rect">
              <a:avLst/>
            </a:prstGeom>
            <a:noFill/>
            <a:ln w="19050">
              <a:solidFill>
                <a:srgbClr val="F7B021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86" name="矩形 285"/>
            <p:cNvSpPr/>
            <p:nvPr/>
          </p:nvSpPr>
          <p:spPr bwMode="auto">
            <a:xfrm>
              <a:off x="7989680" y="1381676"/>
              <a:ext cx="779231" cy="925649"/>
            </a:xfrm>
            <a:prstGeom prst="rect">
              <a:avLst/>
            </a:prstGeom>
            <a:noFill/>
            <a:ln w="19050">
              <a:solidFill>
                <a:srgbClr val="F7B021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87" name="矩形 286"/>
            <p:cNvSpPr/>
            <p:nvPr/>
          </p:nvSpPr>
          <p:spPr bwMode="auto">
            <a:xfrm>
              <a:off x="8040599" y="1409534"/>
              <a:ext cx="684000" cy="82800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97" name="矩形 296"/>
            <p:cNvSpPr/>
            <p:nvPr/>
          </p:nvSpPr>
          <p:spPr bwMode="auto">
            <a:xfrm>
              <a:off x="275797" y="1159267"/>
              <a:ext cx="4802028" cy="1107055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lg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 typeface="Wingdings" panose="05000000000000000000" pitchFamily="2" charset="2"/>
                <a:buChar char="n"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298" name="圆角矩形 297"/>
          <p:cNvSpPr/>
          <p:nvPr/>
        </p:nvSpPr>
        <p:spPr bwMode="auto">
          <a:xfrm>
            <a:off x="457002" y="2932999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defTabSz="683260">
              <a:buClr>
                <a:schemeClr val="tx2"/>
              </a:buClr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一线运作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99" name="圆角矩形 298"/>
          <p:cNvSpPr/>
          <p:nvPr/>
        </p:nvSpPr>
        <p:spPr bwMode="auto">
          <a:xfrm>
            <a:off x="4974089" y="2932999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管理效率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0" name="Oval 123"/>
          <p:cNvSpPr/>
          <p:nvPr/>
        </p:nvSpPr>
        <p:spPr bwMode="auto">
          <a:xfrm>
            <a:off x="474617" y="3658885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1" name="Oval 124"/>
          <p:cNvSpPr/>
          <p:nvPr/>
        </p:nvSpPr>
        <p:spPr bwMode="auto">
          <a:xfrm>
            <a:off x="474617" y="3340762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2" name="Oval 129"/>
          <p:cNvSpPr/>
          <p:nvPr/>
        </p:nvSpPr>
        <p:spPr bwMode="auto">
          <a:xfrm>
            <a:off x="474617" y="4131943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3" name="Oval 129"/>
          <p:cNvSpPr/>
          <p:nvPr/>
        </p:nvSpPr>
        <p:spPr bwMode="auto">
          <a:xfrm>
            <a:off x="474617" y="4416551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4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4" name="Oval 123"/>
          <p:cNvSpPr/>
          <p:nvPr/>
        </p:nvSpPr>
        <p:spPr bwMode="auto">
          <a:xfrm>
            <a:off x="5104897" y="369935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5" name="Oval 124"/>
          <p:cNvSpPr/>
          <p:nvPr/>
        </p:nvSpPr>
        <p:spPr bwMode="auto">
          <a:xfrm>
            <a:off x="5104897" y="3340762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6" name="Oval 129"/>
          <p:cNvSpPr/>
          <p:nvPr/>
        </p:nvSpPr>
        <p:spPr bwMode="auto">
          <a:xfrm>
            <a:off x="5104897" y="4009456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7" name="Oval 129"/>
          <p:cNvSpPr/>
          <p:nvPr/>
        </p:nvSpPr>
        <p:spPr bwMode="auto">
          <a:xfrm>
            <a:off x="5104897" y="4416551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4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8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14\20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94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6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387672" y="1701202"/>
            <a:ext cx="678433" cy="942968"/>
            <a:chOff x="3784630" y="2251401"/>
            <a:chExt cx="734734" cy="1257290"/>
          </a:xfrm>
          <a:effectLst/>
        </p:grpSpPr>
        <p:sp>
          <p:nvSpPr>
            <p:cNvPr id="62" name="TextBox 61"/>
            <p:cNvSpPr txBox="1"/>
            <p:nvPr/>
          </p:nvSpPr>
          <p:spPr>
            <a:xfrm>
              <a:off x="3929906" y="2251401"/>
              <a:ext cx="589457" cy="25138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 anchor="ctr">
              <a:noAutofit/>
            </a:bodyPr>
            <a:lstStyle/>
            <a:p>
              <a:r>
                <a:rPr lang="zh-CN" altLang="en-US" sz="900" dirty="0">
                  <a:solidFill>
                    <a:srgbClr val="000000"/>
                  </a:solidFill>
                  <a:latin typeface="+mn-ea"/>
                </a:rPr>
                <a:t>管理者</a:t>
              </a:r>
              <a:endParaRPr lang="zh-CN" altLang="en-US" sz="9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929906" y="2788181"/>
              <a:ext cx="589457" cy="2087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000000"/>
                  </a:solidFill>
                  <a:latin typeface="+mn-ea"/>
                </a:rPr>
                <a:t>作战人员</a:t>
              </a:r>
              <a:endParaRPr lang="zh-CN" altLang="en-US" sz="9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889797" y="3287308"/>
              <a:ext cx="629567" cy="2213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 anchor="ctr">
              <a:noAutofit/>
            </a:bodyPr>
            <a:lstStyle/>
            <a:p>
              <a:r>
                <a:rPr lang="zh-CN" altLang="en-US" sz="900" dirty="0">
                  <a:solidFill>
                    <a:srgbClr val="000000"/>
                  </a:solidFill>
                  <a:latin typeface="+mn-ea"/>
                </a:rPr>
                <a:t>支撑人员</a:t>
              </a:r>
              <a:endParaRPr lang="zh-CN" altLang="en-US" sz="900" dirty="0">
                <a:solidFill>
                  <a:srgbClr val="000000"/>
                </a:solidFill>
                <a:latin typeface="+mn-ea"/>
              </a:endParaRPr>
            </a:p>
          </p:txBody>
        </p:sp>
        <p:grpSp>
          <p:nvGrpSpPr>
            <p:cNvPr id="66" name="Group 57"/>
            <p:cNvGrpSpPr/>
            <p:nvPr/>
          </p:nvGrpSpPr>
          <p:grpSpPr bwMode="auto">
            <a:xfrm>
              <a:off x="3784630" y="2251401"/>
              <a:ext cx="142921" cy="272880"/>
              <a:chOff x="660400" y="4333875"/>
              <a:chExt cx="315913" cy="414338"/>
            </a:xfrm>
            <a:solidFill>
              <a:srgbClr val="92D050"/>
            </a:solidFill>
          </p:grpSpPr>
          <p:sp>
            <p:nvSpPr>
              <p:cNvPr id="73" name="AutoShape 98"/>
              <p:cNvSpPr>
                <a:spLocks noChangeAspect="1" noChangeArrowheads="1"/>
              </p:cNvSpPr>
              <p:nvPr/>
            </p:nvSpPr>
            <p:spPr bwMode="gray">
              <a:xfrm rot="-5400000">
                <a:off x="700088" y="4471987"/>
                <a:ext cx="236538" cy="315913"/>
              </a:xfrm>
              <a:prstGeom prst="flowChartDelay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miter lim="800000"/>
              </a:ln>
            </p:spPr>
            <p:txBody>
              <a:bodyPr rot="10800000" wrap="none" lIns="72000" tIns="72000" rIns="72000" bIns="72000" anchor="ctr"/>
              <a:lstStyle/>
              <a:p>
                <a:pPr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90000"/>
                  </a:buClr>
                  <a:buSzPct val="120000"/>
                  <a:defRPr/>
                </a:pPr>
                <a:endParaRPr lang="zh-CN" altLang="zh-CN" sz="600" b="1" kern="0" dirty="0">
                  <a:solidFill>
                    <a:srgbClr val="333333"/>
                  </a:solidFill>
                  <a:latin typeface="+mn-ea"/>
                </a:endParaRPr>
              </a:p>
            </p:txBody>
          </p:sp>
          <p:sp>
            <p:nvSpPr>
              <p:cNvPr id="74" name="Oval 71"/>
              <p:cNvSpPr>
                <a:spLocks noChangeAspect="1" noChangeArrowheads="1"/>
              </p:cNvSpPr>
              <p:nvPr/>
            </p:nvSpPr>
            <p:spPr bwMode="gray">
              <a:xfrm>
                <a:off x="682625" y="4333875"/>
                <a:ext cx="274638" cy="234950"/>
              </a:xfrm>
              <a:prstGeom prst="ellipse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round/>
              </a:ln>
            </p:spPr>
            <p:txBody>
              <a:bodyPr wrap="none" lIns="72000" tIns="72000" rIns="72000" bIns="72000" anchor="ctr"/>
              <a:lstStyle/>
              <a:p>
                <a:pPr algn="ctr"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defRPr/>
                </a:pPr>
                <a:endParaRPr lang="en-US" altLang="ja-JP" sz="900" b="1" kern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67" name="Group 57"/>
            <p:cNvGrpSpPr/>
            <p:nvPr/>
          </p:nvGrpSpPr>
          <p:grpSpPr bwMode="auto">
            <a:xfrm>
              <a:off x="3788698" y="2701926"/>
              <a:ext cx="142921" cy="272880"/>
              <a:chOff x="660400" y="4333875"/>
              <a:chExt cx="315913" cy="414338"/>
            </a:xfrm>
            <a:solidFill>
              <a:srgbClr val="92D050"/>
            </a:solidFill>
          </p:grpSpPr>
          <p:sp>
            <p:nvSpPr>
              <p:cNvPr id="71" name="AutoShape 98"/>
              <p:cNvSpPr>
                <a:spLocks noChangeAspect="1" noChangeArrowheads="1"/>
              </p:cNvSpPr>
              <p:nvPr/>
            </p:nvSpPr>
            <p:spPr bwMode="gray">
              <a:xfrm rot="-5400000">
                <a:off x="700088" y="4471987"/>
                <a:ext cx="236538" cy="315913"/>
              </a:xfrm>
              <a:prstGeom prst="flowChartDelay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miter lim="800000"/>
              </a:ln>
            </p:spPr>
            <p:txBody>
              <a:bodyPr rot="10800000" wrap="none" lIns="72000" tIns="72000" rIns="72000" bIns="72000" anchor="ctr"/>
              <a:lstStyle/>
              <a:p>
                <a:pPr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90000"/>
                  </a:buClr>
                  <a:buSzPct val="120000"/>
                  <a:defRPr/>
                </a:pPr>
                <a:endParaRPr lang="zh-CN" altLang="zh-CN" sz="600" b="1" kern="0" dirty="0">
                  <a:solidFill>
                    <a:srgbClr val="333333"/>
                  </a:solidFill>
                  <a:latin typeface="+mn-ea"/>
                </a:endParaRPr>
              </a:p>
            </p:txBody>
          </p:sp>
          <p:sp>
            <p:nvSpPr>
              <p:cNvPr id="72" name="Oval 71"/>
              <p:cNvSpPr>
                <a:spLocks noChangeAspect="1" noChangeArrowheads="1"/>
              </p:cNvSpPr>
              <p:nvPr/>
            </p:nvSpPr>
            <p:spPr bwMode="gray">
              <a:xfrm>
                <a:off x="682625" y="4333875"/>
                <a:ext cx="274638" cy="234950"/>
              </a:xfrm>
              <a:prstGeom prst="ellipse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round/>
              </a:ln>
            </p:spPr>
            <p:txBody>
              <a:bodyPr wrap="none" lIns="72000" tIns="72000" rIns="72000" bIns="72000" anchor="ctr"/>
              <a:lstStyle/>
              <a:p>
                <a:pPr algn="ctr"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defRPr/>
                </a:pPr>
                <a:endParaRPr lang="en-US" altLang="ja-JP" sz="900" b="1" kern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68" name="Group 57"/>
            <p:cNvGrpSpPr/>
            <p:nvPr/>
          </p:nvGrpSpPr>
          <p:grpSpPr bwMode="auto">
            <a:xfrm>
              <a:off x="3806008" y="3219868"/>
              <a:ext cx="142921" cy="272880"/>
              <a:chOff x="660400" y="4333875"/>
              <a:chExt cx="315913" cy="414338"/>
            </a:xfrm>
            <a:solidFill>
              <a:srgbClr val="92D050"/>
            </a:solidFill>
          </p:grpSpPr>
          <p:sp>
            <p:nvSpPr>
              <p:cNvPr id="69" name="AutoShape 98"/>
              <p:cNvSpPr>
                <a:spLocks noChangeAspect="1" noChangeArrowheads="1"/>
              </p:cNvSpPr>
              <p:nvPr/>
            </p:nvSpPr>
            <p:spPr bwMode="gray">
              <a:xfrm rot="-5400000">
                <a:off x="700088" y="4471987"/>
                <a:ext cx="236538" cy="315913"/>
              </a:xfrm>
              <a:prstGeom prst="flowChartDelay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miter lim="800000"/>
              </a:ln>
            </p:spPr>
            <p:txBody>
              <a:bodyPr rot="10800000" wrap="none" lIns="72000" tIns="72000" rIns="72000" bIns="72000" anchor="ctr"/>
              <a:lstStyle/>
              <a:p>
                <a:pPr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90000"/>
                  </a:buClr>
                  <a:buSzPct val="120000"/>
                  <a:defRPr/>
                </a:pPr>
                <a:endParaRPr lang="zh-CN" altLang="zh-CN" sz="600" b="1" kern="0" dirty="0">
                  <a:solidFill>
                    <a:srgbClr val="333333"/>
                  </a:solidFill>
                  <a:latin typeface="+mn-ea"/>
                </a:endParaRPr>
              </a:p>
            </p:txBody>
          </p:sp>
          <p:sp>
            <p:nvSpPr>
              <p:cNvPr id="70" name="Oval 71"/>
              <p:cNvSpPr>
                <a:spLocks noChangeAspect="1" noChangeArrowheads="1"/>
              </p:cNvSpPr>
              <p:nvPr/>
            </p:nvSpPr>
            <p:spPr bwMode="gray">
              <a:xfrm>
                <a:off x="682625" y="4333875"/>
                <a:ext cx="274638" cy="234950"/>
              </a:xfrm>
              <a:prstGeom prst="ellipse">
                <a:avLst/>
              </a:prstGeom>
              <a:solidFill>
                <a:srgbClr val="0070C0"/>
              </a:solidFill>
              <a:ln w="19050" algn="ctr">
                <a:solidFill>
                  <a:srgbClr val="FFFFFF"/>
                </a:solidFill>
                <a:round/>
              </a:ln>
            </p:spPr>
            <p:txBody>
              <a:bodyPr wrap="none" lIns="72000" tIns="72000" rIns="72000" bIns="72000" anchor="ctr"/>
              <a:lstStyle/>
              <a:p>
                <a:pPr algn="ctr"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defRPr/>
                </a:pPr>
                <a:endParaRPr lang="en-US" altLang="ja-JP" sz="900" b="1" kern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75" name="Freeform 5"/>
          <p:cNvSpPr/>
          <p:nvPr/>
        </p:nvSpPr>
        <p:spPr bwMode="auto">
          <a:xfrm>
            <a:off x="217530" y="897564"/>
            <a:ext cx="3149893" cy="2600941"/>
          </a:xfrm>
          <a:prstGeom prst="roundRect">
            <a:avLst>
              <a:gd name="adj" fmla="val 6186"/>
            </a:avLst>
          </a:prstGeom>
          <a:solidFill>
            <a:srgbClr val="E4E7E7"/>
          </a:solidFill>
          <a:ln w="0">
            <a:solidFill>
              <a:srgbClr val="E4E7E7"/>
            </a:solidFill>
            <a:round/>
          </a:ln>
          <a:effectLst/>
        </p:spPr>
        <p:txBody>
          <a:bodyPr lIns="77943" tIns="38972" rIns="77943" bIns="38972" anchor="ctr"/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Aft>
                <a:spcPts val="1535"/>
              </a:spcAft>
              <a:buClrTx/>
              <a:buSzPct val="100000"/>
              <a:buNone/>
            </a:pPr>
            <a:endParaRPr lang="en-US" altLang="zh-CN" sz="1400" b="1" i="1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2770" name="Object 1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473" y="120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2" imgW="12700" imgH="12700" progId="">
                  <p:embed/>
                </p:oleObj>
              </mc:Choice>
              <mc:Fallback>
                <p:oleObj name="think-cell Slide" r:id="rId2" imgW="12700" imgH="12700" progId="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" y="120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itle 1"/>
          <p:cNvSpPr txBox="1"/>
          <p:nvPr/>
        </p:nvSpPr>
        <p:spPr bwMode="gray">
          <a:xfrm>
            <a:off x="150087" y="151290"/>
            <a:ext cx="3199413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iSales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支撑市场工作例会</a:t>
            </a:r>
            <a:endParaRPr 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133"/>
          <p:cNvSpPr>
            <a:spLocks noChangeArrowheads="1"/>
          </p:cNvSpPr>
          <p:nvPr/>
        </p:nvSpPr>
        <p:spPr bwMode="auto">
          <a:xfrm>
            <a:off x="531935" y="4359974"/>
            <a:ext cx="3924300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94945" eaLnBrk="1" hangingPunct="1">
              <a:lnSpc>
                <a:spcPct val="100000"/>
              </a:lnSpc>
              <a:buClrTx/>
              <a:buSzTx/>
              <a:buNone/>
              <a:defRPr/>
            </a:pP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细化管道规则及分场景适配建议</a:t>
            </a:r>
            <a:endParaRPr lang="zh-CN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" name="Rectangle 133"/>
          <p:cNvSpPr>
            <a:spLocks noChangeArrowheads="1"/>
          </p:cNvSpPr>
          <p:nvPr/>
        </p:nvSpPr>
        <p:spPr bwMode="auto">
          <a:xfrm>
            <a:off x="531935" y="4082085"/>
            <a:ext cx="3924300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marL="194945" eaLnBrk="1" hangingPunct="1">
              <a:lnSpc>
                <a:spcPct val="100000"/>
              </a:lnSpc>
              <a:buClrTx/>
              <a:buSzTx/>
              <a:buNone/>
              <a:defRPr/>
            </a:pP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优化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ea typeface="+mn-ea"/>
              </a:rPr>
              <a:t>CC3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销售项目常用信息录入界面</a:t>
            </a:r>
            <a:endParaRPr lang="zh-CN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" name="Rectangle 133"/>
          <p:cNvSpPr>
            <a:spLocks noChangeArrowheads="1"/>
          </p:cNvSpPr>
          <p:nvPr/>
        </p:nvSpPr>
        <p:spPr bwMode="auto">
          <a:xfrm>
            <a:off x="4739306" y="4082085"/>
            <a:ext cx="3996000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提高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ea typeface="+mn-ea"/>
              </a:rPr>
              <a:t>iSales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的易用性和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ea typeface="+mn-ea"/>
              </a:rPr>
              <a:t>CC3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的信息录入效率</a:t>
            </a:r>
            <a:endParaRPr lang="en-US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Rectangle 133"/>
          <p:cNvSpPr>
            <a:spLocks noChangeArrowheads="1"/>
          </p:cNvSpPr>
          <p:nvPr/>
        </p:nvSpPr>
        <p:spPr bwMode="auto">
          <a:xfrm>
            <a:off x="4739306" y="4359974"/>
            <a:ext cx="3996000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确保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ea typeface="+mn-ea"/>
              </a:rPr>
              <a:t>iSales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管道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预测数据的准确性和有效性</a:t>
            </a:r>
            <a:endParaRPr lang="en-US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4" name="组合 6"/>
          <p:cNvGrpSpPr/>
          <p:nvPr/>
        </p:nvGrpSpPr>
        <p:grpSpPr>
          <a:xfrm>
            <a:off x="313227" y="1105004"/>
            <a:ext cx="3060060" cy="2373039"/>
            <a:chOff x="95340" y="652319"/>
            <a:chExt cx="3287575" cy="4140904"/>
          </a:xfrm>
          <a:effectLst/>
        </p:grpSpPr>
        <p:sp>
          <p:nvSpPr>
            <p:cNvPr id="25" name="矩形 2"/>
            <p:cNvSpPr/>
            <p:nvPr/>
          </p:nvSpPr>
          <p:spPr>
            <a:xfrm>
              <a:off x="95340" y="652319"/>
              <a:ext cx="3287575" cy="1933430"/>
            </a:xfrm>
            <a:prstGeom prst="rect">
              <a:avLst/>
            </a:prstGeom>
          </p:spPr>
          <p:txBody>
            <a:bodyPr vert="horz" wrap="square" lIns="0" tIns="0" rIns="0" bIns="0" anchor="ctr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+mn-ea"/>
                </a:rPr>
                <a:t>根据</a:t>
              </a:r>
              <a:r>
                <a:rPr lang="zh-CN" altLang="zh-CN" sz="1200" dirty="0">
                  <a:latin typeface="+mn-ea"/>
                </a:rPr>
                <a:t>客户群业务部销售业务管理函【</a:t>
              </a:r>
              <a:r>
                <a:rPr lang="en-US" altLang="zh-CN" sz="1200" dirty="0">
                  <a:latin typeface="+mn-ea"/>
                </a:rPr>
                <a:t>2013</a:t>
              </a:r>
              <a:r>
                <a:rPr lang="zh-CN" altLang="zh-CN" sz="1200" dirty="0">
                  <a:latin typeface="+mn-ea"/>
                </a:rPr>
                <a:t>】 </a:t>
              </a:r>
              <a:r>
                <a:rPr lang="en-US" altLang="zh-CN" sz="1200" dirty="0">
                  <a:latin typeface="+mn-ea"/>
                </a:rPr>
                <a:t>024</a:t>
              </a:r>
              <a:r>
                <a:rPr lang="zh-CN" altLang="zh-CN" sz="1200" dirty="0">
                  <a:latin typeface="+mn-ea"/>
                </a:rPr>
                <a:t>号</a:t>
              </a:r>
              <a:r>
                <a:rPr lang="zh-CN" altLang="en-US" sz="1200" dirty="0">
                  <a:latin typeface="+mn-ea"/>
                </a:rPr>
                <a:t>文件要求，全球各区域和大</a:t>
              </a:r>
              <a:r>
                <a:rPr lang="en-US" altLang="zh-CN" sz="1200" dirty="0" err="1">
                  <a:latin typeface="+mn-ea"/>
                </a:rPr>
                <a:t>T从</a:t>
              </a:r>
              <a:r>
                <a:rPr lang="en-US" altLang="zh-CN" sz="1200" dirty="0">
                  <a:latin typeface="+mn-ea"/>
                </a:rPr>
                <a:t> (2013</a:t>
              </a:r>
              <a:r>
                <a:rPr lang="zh-CN" altLang="en-US" sz="1200" dirty="0">
                  <a:latin typeface="+mn-ea"/>
                </a:rPr>
                <a:t>年）</a:t>
              </a:r>
              <a:r>
                <a:rPr lang="en-US" altLang="zh-CN" sz="1200" b="1" dirty="0">
                  <a:latin typeface="+mn-ea"/>
                </a:rPr>
                <a:t>12月</a:t>
              </a:r>
              <a:r>
                <a:rPr lang="en-US" altLang="zh-CN" sz="1200" dirty="0">
                  <a:latin typeface="+mn-ea"/>
                </a:rPr>
                <a:t>起</a:t>
              </a:r>
              <a:r>
                <a:rPr lang="zh-CN" altLang="en-US" sz="1200" dirty="0">
                  <a:latin typeface="+mn-ea"/>
                </a:rPr>
                <a:t>使用</a:t>
              </a:r>
              <a:r>
                <a:rPr lang="en-US" altLang="zh-CN" sz="1200" dirty="0">
                  <a:latin typeface="+mn-ea"/>
                </a:rPr>
                <a:t>iSales</a:t>
              </a:r>
              <a:r>
                <a:rPr lang="zh-CN" altLang="en-US" sz="1200" dirty="0">
                  <a:latin typeface="+mn-ea"/>
                </a:rPr>
                <a:t>系统报表召开市场工作例会</a:t>
              </a:r>
              <a:endParaRPr lang="zh-CN" altLang="en-US" sz="1200" dirty="0">
                <a:latin typeface="+mn-ea"/>
              </a:endParaRPr>
            </a:p>
          </p:txBody>
        </p:sp>
        <p:sp>
          <p:nvSpPr>
            <p:cNvPr id="26" name="Rectangle 1"/>
            <p:cNvSpPr>
              <a:spLocks noChangeArrowheads="1"/>
            </p:cNvSpPr>
            <p:nvPr/>
          </p:nvSpPr>
          <p:spPr bwMode="auto">
            <a:xfrm>
              <a:off x="231482" y="2496007"/>
              <a:ext cx="3106680" cy="229721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anchor="ctr" anchorCtr="0" compatLnSpc="1">
              <a:noAutofit/>
            </a:bodyPr>
            <a:lstStyle/>
            <a:p>
              <a:pPr marL="243840" indent="-243840">
                <a:lnSpc>
                  <a:spcPct val="150000"/>
                </a:lnSpc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使用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iSales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系统召开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市场工作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例会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marL="243840" indent="-243840">
                <a:lnSpc>
                  <a:spcPct val="150000"/>
                </a:lnSpc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使用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iSales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系统进行销售预测管理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  <a:p>
              <a:pPr marL="243840" indent="-243840">
                <a:lnSpc>
                  <a:spcPct val="150000"/>
                </a:lnSpc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使用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iSales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系统进行销售目标管理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  <a:p>
              <a:pPr marL="243840" indent="-243840">
                <a:lnSpc>
                  <a:spcPct val="150000"/>
                </a:lnSpc>
                <a:buClr>
                  <a:srgbClr val="0070C0"/>
                </a:buClr>
                <a:buFont typeface="Wingdings" panose="05000000000000000000" pitchFamily="2" charset="2"/>
                <a:buChar char="u"/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使用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iSales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系统进行机会点管理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4" name="Rectangle 1"/>
          <p:cNvSpPr/>
          <p:nvPr/>
        </p:nvSpPr>
        <p:spPr>
          <a:xfrm>
            <a:off x="531935" y="4616353"/>
            <a:ext cx="1694368" cy="263371"/>
          </a:xfrm>
          <a:prstGeom prst="rect">
            <a:avLst/>
          </a:prstGeom>
          <a:effectLst/>
        </p:spPr>
        <p:txBody>
          <a:bodyPr wrap="none" lIns="77943" tIns="38972" rIns="77943" bIns="38972">
            <a:spAutoFit/>
          </a:bodyPr>
          <a:lstStyle/>
          <a:p>
            <a:pPr marL="19494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iSales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支撑销售例会</a:t>
            </a:r>
            <a:endParaRPr lang="zh-CN" altLang="en-US" sz="120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0" name="Rectangle 133"/>
          <p:cNvSpPr>
            <a:spLocks noChangeArrowheads="1"/>
          </p:cNvSpPr>
          <p:nvPr/>
        </p:nvSpPr>
        <p:spPr bwMode="auto">
          <a:xfrm>
            <a:off x="4739306" y="4616353"/>
            <a:ext cx="3996001" cy="26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943" tIns="38972" rIns="77943" bIns="38972">
            <a:spAutoFit/>
          </a:bodyPr>
          <a:lstStyle>
            <a:lvl1pPr eaLnBrk="0" hangingPunct="0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14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140000"/>
              </a:lnSpc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140000"/>
              </a:lnSpc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FrutigerNext LT Medium" pitchFamily="34" charset="0"/>
              <a:buChar char="~"/>
              <a:defRPr sz="1200">
                <a:solidFill>
                  <a:schemeClr val="tx1"/>
                </a:solidFill>
                <a:latin typeface="FrutigerNext LT Medium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000000"/>
                </a:solidFill>
                <a:latin typeface="+mn-ea"/>
                <a:ea typeface="+mn-ea"/>
              </a:rPr>
              <a:t>提升销售例会的统一管理和效率，取消体内体外报表并行</a:t>
            </a:r>
            <a:endParaRPr lang="en-US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2" name="矩形 41"/>
          <p:cNvSpPr/>
          <p:nvPr/>
        </p:nvSpPr>
        <p:spPr bwMode="auto">
          <a:xfrm>
            <a:off x="4097319" y="2778505"/>
            <a:ext cx="4309597" cy="720000"/>
          </a:xfrm>
          <a:prstGeom prst="roundRect">
            <a:avLst/>
          </a:prstGeom>
          <a:solidFill>
            <a:srgbClr val="00B0F0"/>
          </a:solidFill>
          <a:ln w="19050" cap="flat" cmpd="sng" algn="ctr">
            <a:noFill/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3" name="矩形 93"/>
          <p:cNvSpPr/>
          <p:nvPr/>
        </p:nvSpPr>
        <p:spPr bwMode="auto">
          <a:xfrm>
            <a:off x="4097319" y="1333366"/>
            <a:ext cx="4309597" cy="1395776"/>
          </a:xfrm>
          <a:prstGeom prst="roundRect">
            <a:avLst>
              <a:gd name="adj" fmla="val 9160"/>
            </a:avLst>
          </a:prstGeom>
          <a:solidFill>
            <a:srgbClr val="F7B02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" name="圆角矩形 35"/>
          <p:cNvSpPr/>
          <p:nvPr/>
        </p:nvSpPr>
        <p:spPr bwMode="auto">
          <a:xfrm>
            <a:off x="4155961" y="1375198"/>
            <a:ext cx="228361" cy="12999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>
              <a:buClr>
                <a:srgbClr val="CC9900"/>
              </a:buCl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ctr">
              <a:buClr>
                <a:srgbClr val="CC9900"/>
              </a:buCl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移动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ctr">
              <a:buClr>
                <a:srgbClr val="CC9900"/>
              </a:buCl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/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ctr">
              <a:buClr>
                <a:srgbClr val="CC9900"/>
              </a:buCl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社区化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77559" y="1314150"/>
            <a:ext cx="755323" cy="250991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r>
              <a:rPr lang="zh-CN" altLang="en-US" sz="1100" b="1" dirty="0">
                <a:solidFill>
                  <a:schemeClr val="bg1"/>
                </a:solidFill>
                <a:latin typeface="+mn-ea"/>
              </a:rPr>
              <a:t>用户体验</a:t>
            </a:r>
            <a:endParaRPr lang="zh-CN" altLang="en-US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6" name="圆角矩形 53"/>
          <p:cNvSpPr/>
          <p:nvPr/>
        </p:nvSpPr>
        <p:spPr bwMode="auto">
          <a:xfrm>
            <a:off x="4677507" y="1552476"/>
            <a:ext cx="3540184" cy="252000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智能化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运营管理（管理报表）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" name="上箭头 90"/>
          <p:cNvSpPr/>
          <p:nvPr/>
        </p:nvSpPr>
        <p:spPr bwMode="auto">
          <a:xfrm>
            <a:off x="6094132" y="3100336"/>
            <a:ext cx="326593" cy="179809"/>
          </a:xfrm>
          <a:prstGeom prst="upArrow">
            <a:avLst/>
          </a:prstGeom>
          <a:solidFill>
            <a:srgbClr val="FBD89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9" name="下箭头 94"/>
          <p:cNvSpPr/>
          <p:nvPr/>
        </p:nvSpPr>
        <p:spPr bwMode="auto">
          <a:xfrm rot="5400000">
            <a:off x="8174545" y="1892536"/>
            <a:ext cx="402920" cy="368082"/>
          </a:xfrm>
          <a:prstGeom prst="downArrow">
            <a:avLst/>
          </a:prstGeom>
          <a:solidFill>
            <a:srgbClr val="FBD89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1" name="圆角矩形 36"/>
          <p:cNvSpPr/>
          <p:nvPr/>
        </p:nvSpPr>
        <p:spPr bwMode="auto">
          <a:xfrm>
            <a:off x="4677507" y="1822905"/>
            <a:ext cx="3540184" cy="252000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集成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销售作业（业务集成与分角色展示）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" name="圆角矩形 37"/>
          <p:cNvSpPr/>
          <p:nvPr/>
        </p:nvSpPr>
        <p:spPr bwMode="auto">
          <a:xfrm>
            <a:off x="4677507" y="2093334"/>
            <a:ext cx="3540184" cy="252000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高效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交易（简化业务场景）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3" name="圆角矩形 40"/>
          <p:cNvSpPr/>
          <p:nvPr/>
        </p:nvSpPr>
        <p:spPr bwMode="auto">
          <a:xfrm>
            <a:off x="4430099" y="1378403"/>
            <a:ext cx="228361" cy="12967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>
              <a:buClr>
                <a:srgbClr val="CC9900"/>
              </a:buCl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易用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性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77559" y="2726245"/>
            <a:ext cx="755323" cy="250991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r>
              <a:rPr lang="zh-CN" altLang="en-US" sz="1100" b="1" dirty="0">
                <a:solidFill>
                  <a:schemeClr val="bg1"/>
                </a:solidFill>
                <a:latin typeface="+mn-ea"/>
              </a:rPr>
              <a:t>数据质量</a:t>
            </a:r>
            <a:endParaRPr lang="zh-CN" altLang="en-US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Pentagon 4"/>
          <p:cNvSpPr/>
          <p:nvPr/>
        </p:nvSpPr>
        <p:spPr bwMode="auto">
          <a:xfrm rot="16200000">
            <a:off x="6114388" y="-1213821"/>
            <a:ext cx="289155" cy="4295901"/>
          </a:xfrm>
          <a:prstGeom prst="homePlate">
            <a:avLst>
              <a:gd name="adj" fmla="val 3231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" wrap="none" anchor="ctr"/>
          <a:lstStyle/>
          <a:p>
            <a:pPr algn="ct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支撑公司区域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代表处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客户群销售例会</a:t>
            </a:r>
            <a:endParaRPr 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6" name="Chevron 55"/>
          <p:cNvSpPr>
            <a:spLocks noChangeArrowheads="1"/>
          </p:cNvSpPr>
          <p:nvPr/>
        </p:nvSpPr>
        <p:spPr bwMode="auto">
          <a:xfrm>
            <a:off x="4104198" y="1124207"/>
            <a:ext cx="1069499" cy="167328"/>
          </a:xfrm>
          <a:prstGeom prst="chevron">
            <a:avLst>
              <a:gd name="adj" fmla="val 23365"/>
            </a:avLst>
          </a:prstGeom>
          <a:solidFill>
            <a:schemeClr val="bg1">
              <a:lumMod val="95000"/>
            </a:schemeClr>
          </a:solidFill>
          <a:ln w="6350" algn="ctr">
            <a:noFill/>
            <a:round/>
          </a:ln>
          <a:effectLst/>
        </p:spPr>
        <p:txBody>
          <a:bodyPr lIns="0" tIns="0" rIns="0" bIns="0" anchor="ctr"/>
          <a:lstStyle/>
          <a:p>
            <a:pPr algn="ctr" defTabSz="683260">
              <a:spcAft>
                <a:spcPts val="0"/>
              </a:spcAft>
              <a:buClr>
                <a:srgbClr val="990000"/>
              </a:buClr>
              <a:buSzPct val="120000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管理线索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(ML)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" name="Chevron 100"/>
          <p:cNvSpPr>
            <a:spLocks noChangeArrowheads="1"/>
          </p:cNvSpPr>
          <p:nvPr/>
        </p:nvSpPr>
        <p:spPr bwMode="auto">
          <a:xfrm>
            <a:off x="5273887" y="1124207"/>
            <a:ext cx="1510647" cy="167327"/>
          </a:xfrm>
          <a:prstGeom prst="chevron">
            <a:avLst>
              <a:gd name="adj" fmla="val 23365"/>
            </a:avLst>
          </a:prstGeom>
          <a:solidFill>
            <a:schemeClr val="bg1">
              <a:lumMod val="95000"/>
            </a:schemeClr>
          </a:solidFill>
          <a:ln w="6350" algn="ctr">
            <a:noFill/>
            <a:round/>
          </a:ln>
          <a:effectLst/>
        </p:spPr>
        <p:txBody>
          <a:bodyPr lIns="0" tIns="0" rIns="0" bIns="0" anchor="ctr"/>
          <a:lstStyle/>
          <a:p>
            <a:pPr algn="ctr" defTabSz="683260">
              <a:spcAft>
                <a:spcPts val="0"/>
              </a:spcAft>
              <a:buClr>
                <a:srgbClr val="990000"/>
              </a:buClr>
              <a:buSzPct val="120000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管理机会点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(MO)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" name="Chevron 100"/>
          <p:cNvSpPr>
            <a:spLocks noChangeArrowheads="1"/>
          </p:cNvSpPr>
          <p:nvPr/>
        </p:nvSpPr>
        <p:spPr bwMode="auto">
          <a:xfrm>
            <a:off x="6884723" y="1124207"/>
            <a:ext cx="1522191" cy="167327"/>
          </a:xfrm>
          <a:prstGeom prst="chevron">
            <a:avLst>
              <a:gd name="adj" fmla="val 23365"/>
            </a:avLst>
          </a:prstGeom>
          <a:solidFill>
            <a:schemeClr val="bg1">
              <a:lumMod val="95000"/>
            </a:schemeClr>
          </a:solidFill>
          <a:ln w="6350" algn="ctr">
            <a:noFill/>
            <a:round/>
          </a:ln>
          <a:effectLst/>
        </p:spPr>
        <p:txBody>
          <a:bodyPr lIns="0" tIns="0" rIns="0" bIns="0" anchor="ctr"/>
          <a:lstStyle/>
          <a:p>
            <a:pPr algn="ctr" defTabSz="683260">
              <a:spcAft>
                <a:spcPts val="0"/>
              </a:spcAft>
              <a:buClr>
                <a:srgbClr val="990000"/>
              </a:buClr>
              <a:buSzPct val="120000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管理合同执行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(MCE)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" name="上箭头 105"/>
          <p:cNvSpPr/>
          <p:nvPr/>
        </p:nvSpPr>
        <p:spPr bwMode="auto">
          <a:xfrm>
            <a:off x="5211797" y="2618881"/>
            <a:ext cx="366960" cy="368082"/>
          </a:xfrm>
          <a:prstGeom prst="upArrow">
            <a:avLst/>
          </a:prstGeom>
          <a:solidFill>
            <a:srgbClr val="FBD89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" name="上箭头 106"/>
          <p:cNvSpPr/>
          <p:nvPr/>
        </p:nvSpPr>
        <p:spPr bwMode="auto">
          <a:xfrm rot="10800000">
            <a:off x="6739344" y="2565716"/>
            <a:ext cx="366960" cy="368082"/>
          </a:xfrm>
          <a:prstGeom prst="upArrow">
            <a:avLst/>
          </a:prstGeom>
          <a:solidFill>
            <a:srgbClr val="FBD89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endParaRPr lang="zh-CN" altLang="en-US" sz="12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" name="圆角矩形 27"/>
          <p:cNvSpPr/>
          <p:nvPr/>
        </p:nvSpPr>
        <p:spPr bwMode="auto">
          <a:xfrm>
            <a:off x="4677507" y="2363762"/>
            <a:ext cx="3540184" cy="252000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综合作战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支撑（信息库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痛点库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武器库）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2015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后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" name="圆角矩形 78"/>
          <p:cNvSpPr/>
          <p:nvPr/>
        </p:nvSpPr>
        <p:spPr bwMode="auto">
          <a:xfrm>
            <a:off x="457002" y="3726833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变革要点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0" name="圆角矩形 79"/>
          <p:cNvSpPr/>
          <p:nvPr/>
        </p:nvSpPr>
        <p:spPr bwMode="auto">
          <a:xfrm>
            <a:off x="4739306" y="3726833"/>
            <a:ext cx="3098071" cy="288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价值</a:t>
            </a:r>
            <a:endParaRPr lang="en-US" altLang="zh-CN" sz="16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1" name="Oval 123"/>
          <p:cNvSpPr/>
          <p:nvPr/>
        </p:nvSpPr>
        <p:spPr bwMode="auto">
          <a:xfrm>
            <a:off x="547314" y="4401659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2" name="Oval 124"/>
          <p:cNvSpPr/>
          <p:nvPr/>
        </p:nvSpPr>
        <p:spPr bwMode="auto">
          <a:xfrm>
            <a:off x="547314" y="4123770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4" name="Oval 129"/>
          <p:cNvSpPr/>
          <p:nvPr/>
        </p:nvSpPr>
        <p:spPr bwMode="auto">
          <a:xfrm>
            <a:off x="547314" y="4658038"/>
            <a:ext cx="180000" cy="1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972" tIns="38972" rIns="38972" bIns="38972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5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15\20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86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7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6" name="圆角矩形 44"/>
          <p:cNvSpPr/>
          <p:nvPr/>
        </p:nvSpPr>
        <p:spPr bwMode="auto">
          <a:xfrm>
            <a:off x="4158616" y="2938357"/>
            <a:ext cx="4153884" cy="167327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数据质量提升（基本准确）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" name="圆角矩形 42"/>
          <p:cNvSpPr/>
          <p:nvPr/>
        </p:nvSpPr>
        <p:spPr bwMode="auto">
          <a:xfrm>
            <a:off x="4158616" y="3260255"/>
            <a:ext cx="4153884" cy="167328"/>
          </a:xfrm>
          <a:prstGeom prst="round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客户（包括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BG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）维度数据构建</a:t>
            </a:r>
            <a:endParaRPr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圆角矩形 89"/>
          <p:cNvSpPr/>
          <p:nvPr/>
        </p:nvSpPr>
        <p:spPr bwMode="auto">
          <a:xfrm>
            <a:off x="8548539" y="949372"/>
            <a:ext cx="236038" cy="2509565"/>
          </a:xfrm>
          <a:prstGeom prst="roundRect">
            <a:avLst/>
          </a:prstGeom>
          <a:solidFill>
            <a:srgbClr val="0070C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运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服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务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1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473" y="120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2" imgW="12700" imgH="12700" progId="">
                  <p:embed/>
                </p:oleObj>
              </mc:Choice>
              <mc:Fallback>
                <p:oleObj name="think-cell Slide" r:id="rId2" imgW="12700" imgH="12700" progId="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" y="120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itle 1"/>
          <p:cNvSpPr txBox="1"/>
          <p:nvPr/>
        </p:nvSpPr>
        <p:spPr bwMode="gray">
          <a:xfrm>
            <a:off x="147663" y="148378"/>
            <a:ext cx="2809462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en-US" altLang="zh-CN" sz="1400" b="0" dirty="0" err="1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iSales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支撑市场工作例会</a:t>
            </a:r>
            <a:endParaRPr 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93445" y="812155"/>
            <a:ext cx="8627033" cy="1514870"/>
          </a:xfrm>
          <a:prstGeom prst="roundRect">
            <a:avLst>
              <a:gd name="adj" fmla="val 1095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ctr" anchorCtr="0" compatLnSpc="1"/>
          <a:lstStyle/>
          <a:p>
            <a:pPr algn="ctr" eaLnBrk="0" hangingPunct="0"/>
            <a:endParaRPr 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79518" y="2657475"/>
            <a:ext cx="8641713" cy="1804485"/>
          </a:xfrm>
          <a:prstGeom prst="roundRect">
            <a:avLst>
              <a:gd name="adj" fmla="val 1118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7943" tIns="38972" rIns="77943" bIns="38972" numCol="1" rtlCol="0" anchor="ctr" anchorCtr="0" compatLnSpc="1"/>
          <a:lstStyle/>
          <a:p>
            <a:pPr algn="ctr" eaLnBrk="0" hangingPunct="0"/>
            <a:endParaRPr 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矩形 22"/>
          <p:cNvSpPr>
            <a:spLocks noChangeArrowheads="1"/>
          </p:cNvSpPr>
          <p:nvPr/>
        </p:nvSpPr>
        <p:spPr bwMode="auto">
          <a:xfrm>
            <a:off x="3444476" y="3069986"/>
            <a:ext cx="2520000" cy="11520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</a:ln>
        </p:spPr>
        <p:txBody>
          <a:bodyPr lIns="108000" tIns="144000" rIns="77943" bIns="38972" anchor="t"/>
          <a:lstStyle/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统谈场景的父子机会点管理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规范产品行信息录入规则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机会点关闭规则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机会点与合同关联规则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区域、客户信息填写规则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矩形 22"/>
          <p:cNvSpPr>
            <a:spLocks noChangeArrowheads="1"/>
          </p:cNvSpPr>
          <p:nvPr/>
        </p:nvSpPr>
        <p:spPr bwMode="auto">
          <a:xfrm>
            <a:off x="6180777" y="3069986"/>
            <a:ext cx="2520000" cy="11520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</a:ln>
        </p:spPr>
        <p:txBody>
          <a:bodyPr lIns="108000" tIns="144000" rIns="77943" bIns="38972" anchor="t"/>
          <a:lstStyle/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拉通区域、客户、产品维度，</a:t>
            </a:r>
            <a:br>
              <a:rPr lang="en-US" altLang="zh-CN" sz="1200" dirty="0">
                <a:solidFill>
                  <a:srgbClr val="000000"/>
                </a:solidFill>
                <a:latin typeface="+mn-ea"/>
              </a:rPr>
            </a:b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实现业务与财务的订货数据对接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基线化支撑市场工作例会的系列报表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如：销售订货预测报表等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)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矩形 22"/>
          <p:cNvSpPr>
            <a:spLocks noChangeArrowheads="1"/>
          </p:cNvSpPr>
          <p:nvPr/>
        </p:nvSpPr>
        <p:spPr bwMode="auto">
          <a:xfrm>
            <a:off x="720045" y="3069986"/>
            <a:ext cx="2520000" cy="11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108000" tIns="144000" rIns="77943" bIns="38972" rtlCol="0" anchor="t">
            <a:noAutofit/>
          </a:bodyPr>
          <a:lstStyle/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整合常用信息录入界面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区分项目级别录入项目信息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产品选择只显示可销售产品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defTabSz="68326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自动生成重大项目简报及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PPVVC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报告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矩形 22"/>
          <p:cNvSpPr>
            <a:spLocks noChangeArrowheads="1"/>
          </p:cNvSpPr>
          <p:nvPr/>
        </p:nvSpPr>
        <p:spPr bwMode="auto">
          <a:xfrm>
            <a:off x="696202" y="2803332"/>
            <a:ext cx="2520000" cy="360897"/>
          </a:xfrm>
          <a:prstGeom prst="roundRect">
            <a:avLst/>
          </a:prstGeom>
          <a:solidFill>
            <a:srgbClr val="F7B02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wrap="square" lIns="77943" tIns="38972" rIns="77943" bIns="38972" rtlCol="0" anchor="ctr">
            <a:noAutofit/>
          </a:bodyPr>
          <a:lstStyle/>
          <a:p>
            <a:pPr algn="ctr" defTabSz="68326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kern="0" dirty="0">
                <a:solidFill>
                  <a:schemeClr val="bg1"/>
                </a:solidFill>
                <a:latin typeface="+mn-ea"/>
              </a:rPr>
              <a:t>CC3</a:t>
            </a: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销售项目平台</a:t>
            </a:r>
            <a:endParaRPr lang="en-US" altLang="zh-CN" sz="16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3420633" y="2803332"/>
            <a:ext cx="2520000" cy="360897"/>
          </a:xfrm>
          <a:prstGeom prst="roundRect">
            <a:avLst/>
          </a:prstGeom>
          <a:solidFill>
            <a:srgbClr val="F7B02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wrap="square" lIns="77943" tIns="38972" rIns="77943" bIns="38972" rtlCol="0" anchor="ctr">
            <a:noAutofit/>
          </a:bodyPr>
          <a:lstStyle/>
          <a:p>
            <a:pPr algn="ctr" defTabSz="68326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销售管道及预测规则 </a:t>
            </a:r>
            <a:endParaRPr lang="en-US" altLang="zh-CN" sz="16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矩形 22"/>
          <p:cNvSpPr>
            <a:spLocks noChangeArrowheads="1"/>
          </p:cNvSpPr>
          <p:nvPr/>
        </p:nvSpPr>
        <p:spPr bwMode="auto">
          <a:xfrm>
            <a:off x="6156934" y="2803332"/>
            <a:ext cx="2520000" cy="360897"/>
          </a:xfrm>
          <a:prstGeom prst="roundRect">
            <a:avLst/>
          </a:prstGeom>
          <a:solidFill>
            <a:srgbClr val="F7B02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wrap="square" lIns="77943" tIns="38972" rIns="77943" bIns="38972" rtlCol="0" anchor="ctr">
            <a:noAutofit/>
          </a:bodyPr>
          <a:lstStyle/>
          <a:p>
            <a:pPr algn="ctr" defTabSz="68326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kern="0" dirty="0">
                <a:solidFill>
                  <a:schemeClr val="bg1"/>
                </a:solidFill>
                <a:latin typeface="+mn-ea"/>
              </a:rPr>
              <a:t>iSales</a:t>
            </a: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多维度统计输出</a:t>
            </a:r>
            <a:endParaRPr lang="en-US" altLang="zh-CN" sz="16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9512" y="812155"/>
            <a:ext cx="467544" cy="1514870"/>
          </a:xfrm>
          <a:prstGeom prst="roundRect">
            <a:avLst/>
          </a:prstGeom>
          <a:solidFill>
            <a:srgbClr val="0070C0">
              <a:alpha val="90000"/>
            </a:srgbClr>
          </a:solidFill>
          <a:ln w="9525" cap="flat" cmpd="sng" algn="ctr">
            <a:noFill/>
            <a:prstDash val="solid"/>
          </a:ln>
          <a:effectLst>
            <a:innerShdw blurRad="114300">
              <a:srgbClr val="3366CC"/>
            </a:innerShdw>
          </a:effectLst>
        </p:spPr>
        <p:txBody>
          <a:bodyPr wrap="square" lIns="77943" tIns="38972" rIns="77943" bIns="38972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dirty="0">
                <a:solidFill>
                  <a:srgbClr val="FFFFFF"/>
                </a:solidFill>
                <a:latin typeface="+mn-ea"/>
              </a:rPr>
              <a:t>4</a:t>
            </a:r>
            <a:r>
              <a:rPr lang="zh-CN" altLang="en-US" kern="0" dirty="0">
                <a:solidFill>
                  <a:srgbClr val="FFFFFF"/>
                </a:solidFill>
                <a:latin typeface="+mn-ea"/>
              </a:rPr>
              <a:t>个输出</a:t>
            </a:r>
            <a:endParaRPr lang="zh-CN" altLang="en-US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2657475"/>
            <a:ext cx="467544" cy="1804485"/>
          </a:xfrm>
          <a:prstGeom prst="roundRect">
            <a:avLst/>
          </a:prstGeom>
          <a:solidFill>
            <a:srgbClr val="0070C0">
              <a:alpha val="90000"/>
            </a:srgbClr>
          </a:solidFill>
          <a:ln w="9525" cap="flat" cmpd="sng" algn="ctr">
            <a:noFill/>
            <a:prstDash val="solid"/>
          </a:ln>
          <a:effectLst>
            <a:innerShdw blurRad="114300">
              <a:srgbClr val="3366CC"/>
            </a:innerShdw>
          </a:effectLst>
        </p:spPr>
        <p:txBody>
          <a:bodyPr wrap="square" lIns="77943" tIns="38972" rIns="77943" bIns="38972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dirty="0">
                <a:solidFill>
                  <a:srgbClr val="FFFFFF"/>
                </a:solidFill>
                <a:latin typeface="+mn-ea"/>
              </a:rPr>
              <a:t>3</a:t>
            </a:r>
            <a:endParaRPr lang="en-US" altLang="zh-CN" kern="0" dirty="0">
              <a:solidFill>
                <a:srgbClr val="FFFFFF"/>
              </a:solidFill>
              <a:latin typeface="+mn-ea"/>
            </a:endParaRPr>
          </a:p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kern="0" dirty="0">
                <a:solidFill>
                  <a:srgbClr val="FFFFFF"/>
                </a:solidFill>
                <a:latin typeface="+mn-ea"/>
              </a:rPr>
              <a:t>个支撑</a:t>
            </a:r>
            <a:endParaRPr lang="zh-CN" altLang="en-US" kern="0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104352" y="1192578"/>
            <a:ext cx="1472104" cy="11121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矩形 118"/>
          <p:cNvSpPr/>
          <p:nvPr/>
        </p:nvSpPr>
        <p:spPr bwMode="auto">
          <a:xfrm>
            <a:off x="4860909" y="880630"/>
            <a:ext cx="2014538" cy="311948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销售项目群一览表</a:t>
            </a:r>
            <a:endParaRPr lang="en-US" altLang="zh-CN" sz="1600" kern="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6" name="Picture 3" descr="C:\Users\z00226473\Desktop\图片2.pn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7010152" y="1192578"/>
            <a:ext cx="1739070" cy="6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21"/>
          <p:cNvSpPr/>
          <p:nvPr/>
        </p:nvSpPr>
        <p:spPr bwMode="auto">
          <a:xfrm>
            <a:off x="7021030" y="880630"/>
            <a:ext cx="1728192" cy="311948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管道健康度</a:t>
            </a:r>
            <a:endParaRPr lang="zh-CN" altLang="en-US" sz="16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矩形 122"/>
          <p:cNvSpPr/>
          <p:nvPr/>
        </p:nvSpPr>
        <p:spPr bwMode="auto">
          <a:xfrm>
            <a:off x="2628544" y="880630"/>
            <a:ext cx="2088232" cy="311948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销售订货预测报表</a:t>
            </a:r>
            <a:endParaRPr lang="zh-CN" altLang="en-US" sz="1600" kern="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720045" y="1192578"/>
            <a:ext cx="1792842" cy="82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矩形 120"/>
          <p:cNvSpPr/>
          <p:nvPr/>
        </p:nvSpPr>
        <p:spPr bwMode="auto">
          <a:xfrm>
            <a:off x="706559" y="889818"/>
            <a:ext cx="1800200" cy="291791"/>
          </a:xfrm>
          <a:prstGeom prst="roundRect">
            <a:avLst/>
          </a:prstGeom>
          <a:solidFill>
            <a:srgbClr val="F7B02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68326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重大项目简报</a:t>
            </a:r>
            <a:endParaRPr lang="zh-CN" altLang="en-US" sz="1600" kern="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1" name="Picture 1" descr="C:\Users\l48934.CHINA\Desktop\图片1.png"/>
          <p:cNvPicPr>
            <a:picLocks noChangeAspect="1" noChangeArrowheads="1"/>
          </p:cNvPicPr>
          <p:nvPr/>
        </p:nvPicPr>
        <p:blipFill>
          <a:blip r:embed="rId7" cstate="print"/>
          <a:stretch>
            <a:fillRect/>
          </a:stretch>
        </p:blipFill>
        <p:spPr bwMode="auto">
          <a:xfrm>
            <a:off x="2728151" y="1192578"/>
            <a:ext cx="1772223" cy="11121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左大括号 3"/>
          <p:cNvSpPr/>
          <p:nvPr/>
        </p:nvSpPr>
        <p:spPr bwMode="auto">
          <a:xfrm rot="5400000">
            <a:off x="4392000" y="-210975"/>
            <a:ext cx="360000" cy="5436000"/>
          </a:xfrm>
          <a:prstGeom prst="leftBrace">
            <a:avLst>
              <a:gd name="adj1" fmla="val 128846"/>
              <a:gd name="adj2" fmla="val 5000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2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16\20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30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3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130"/>
          <p:cNvSpPr/>
          <p:nvPr/>
        </p:nvSpPr>
        <p:spPr bwMode="auto">
          <a:xfrm>
            <a:off x="764948" y="2021182"/>
            <a:ext cx="7824126" cy="2559770"/>
          </a:xfrm>
          <a:prstGeom prst="roundRect">
            <a:avLst>
              <a:gd name="adj" fmla="val 6047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35" tIns="45718" rIns="91435" bIns="45718" numCol="1" rtlCol="0" anchor="t" anchorCtr="0" compatLnSpc="1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4" name="矩形 138"/>
          <p:cNvSpPr/>
          <p:nvPr/>
        </p:nvSpPr>
        <p:spPr bwMode="auto">
          <a:xfrm>
            <a:off x="764948" y="964615"/>
            <a:ext cx="7824126" cy="879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35" tIns="45718" rIns="91435" bIns="45718" numCol="1" rtlCol="0" anchor="t" anchorCtr="0" compatLnSpc="1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gray">
          <a:xfrm>
            <a:off x="147663" y="160735"/>
            <a:ext cx="7539404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配置打通及交付上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ERP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实现了合同到回款业务流和配置数据的打通</a:t>
            </a:r>
            <a:endParaRPr lang="en-US" altLang="zh-CN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矩形 167"/>
          <p:cNvSpPr/>
          <p:nvPr/>
        </p:nvSpPr>
        <p:spPr>
          <a:xfrm>
            <a:off x="1309788" y="1051979"/>
            <a:ext cx="6873159" cy="7386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35" tIns="45718" rIns="91435" bIns="45718">
            <a:spAutoFit/>
          </a:bodyPr>
          <a:lstStyle/>
          <a:p>
            <a:pPr marL="288290" indent="-28829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0070C0"/>
                </a:solidFill>
                <a:latin typeface="+mn-ea"/>
              </a:rPr>
              <a:t>业务流打通：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实现销售、制造、供应、交付和财经业务流在集成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IT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平台打通</a:t>
            </a:r>
            <a:endParaRPr lang="en-US" altLang="zh-CN" sz="1400" kern="0" dirty="0">
              <a:solidFill>
                <a:schemeClr val="tx1"/>
              </a:solidFill>
              <a:latin typeface="+mn-ea"/>
            </a:endParaRPr>
          </a:p>
          <a:p>
            <a:pPr marL="288290" indent="-28829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0070C0"/>
                </a:solidFill>
                <a:latin typeface="+mn-ea"/>
              </a:rPr>
              <a:t>配置数据打通：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配置数据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C-S-B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在整个流程中都能贯通使用，提升业务质量和效率</a:t>
            </a:r>
            <a:endParaRPr lang="en-US" altLang="zh-CN" sz="14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矩形 35"/>
          <p:cNvSpPr/>
          <p:nvPr/>
        </p:nvSpPr>
        <p:spPr>
          <a:xfrm>
            <a:off x="1309788" y="2447250"/>
            <a:ext cx="7180430" cy="471170"/>
          </a:xfrm>
          <a:prstGeom prst="rect">
            <a:avLst/>
          </a:prstGeom>
          <a:effectLst/>
        </p:spPr>
        <p:txBody>
          <a:bodyPr wrap="square" lIns="71539" tIns="35769" rIns="71539" bIns="35769">
            <a:spAutoFit/>
          </a:bodyPr>
          <a:lstStyle/>
          <a:p>
            <a:pPr marL="288290" indent="-288290">
              <a:buFont typeface="+mj-lt"/>
              <a:buAutoNum type="arabicPeriod"/>
            </a:pPr>
            <a:r>
              <a:rPr lang="zh-CN" altLang="zh-CN" sz="1300" b="1" dirty="0">
                <a:solidFill>
                  <a:srgbClr val="0070C0"/>
                </a:solidFill>
                <a:latin typeface="+mn-ea"/>
              </a:rPr>
              <a:t>规范</a:t>
            </a:r>
            <a:r>
              <a:rPr lang="en-US" altLang="zh-CN" sz="1300" b="1" dirty="0">
                <a:solidFill>
                  <a:srgbClr val="0070C0"/>
                </a:solidFill>
                <a:latin typeface="+mn-ea"/>
              </a:rPr>
              <a:t>UPL</a:t>
            </a:r>
            <a:r>
              <a:rPr lang="zh-CN" altLang="en-US" sz="1300" b="1" dirty="0">
                <a:solidFill>
                  <a:srgbClr val="0070C0"/>
                </a:solidFill>
                <a:latin typeface="+mn-ea"/>
              </a:rPr>
              <a:t>（合同单价表）</a:t>
            </a:r>
            <a:r>
              <a:rPr lang="zh-CN" altLang="en-US" sz="1300" dirty="0">
                <a:solidFill>
                  <a:srgbClr val="0070C0"/>
                </a:solidFill>
                <a:latin typeface="+mn-ea"/>
              </a:rPr>
              <a:t>：</a:t>
            </a:r>
            <a:r>
              <a:rPr lang="zh-CN" altLang="en-US" sz="1300" dirty="0">
                <a:latin typeface="+mn-ea"/>
              </a:rPr>
              <a:t>建立客户编码和化为编码映射关系，并进入系统管理，提升</a:t>
            </a:r>
            <a:r>
              <a:rPr lang="en-US" altLang="zh-CN" sz="1300" dirty="0">
                <a:latin typeface="+mn-ea"/>
              </a:rPr>
              <a:t>PO</a:t>
            </a:r>
            <a:br>
              <a:rPr lang="en-US" altLang="zh-CN" sz="1300" dirty="0">
                <a:latin typeface="+mn-ea"/>
              </a:rPr>
            </a:br>
            <a:r>
              <a:rPr lang="zh-CN" altLang="en-US" sz="1300" dirty="0">
                <a:latin typeface="+mn-ea"/>
              </a:rPr>
              <a:t>处理效率和验收效率</a:t>
            </a:r>
            <a:endParaRPr lang="en-US" altLang="zh-CN" sz="1300" dirty="0">
              <a:latin typeface="+mn-ea"/>
            </a:endParaRPr>
          </a:p>
        </p:txBody>
      </p:sp>
      <p:sp>
        <p:nvSpPr>
          <p:cNvPr id="24" name="矩形 34"/>
          <p:cNvSpPr/>
          <p:nvPr/>
        </p:nvSpPr>
        <p:spPr>
          <a:xfrm>
            <a:off x="1313079" y="3495240"/>
            <a:ext cx="7173848" cy="472346"/>
          </a:xfrm>
          <a:prstGeom prst="rect">
            <a:avLst/>
          </a:prstGeom>
          <a:effectLst/>
        </p:spPr>
        <p:txBody>
          <a:bodyPr wrap="square" lIns="35999" tIns="35769" rIns="35999" bIns="35769">
            <a:spAutoFit/>
          </a:bodyPr>
          <a:lstStyle/>
          <a:p>
            <a:pPr marL="288290" indent="-288290">
              <a:buFont typeface="+mj-lt"/>
              <a:buAutoNum type="arabicPeriod" startAt="3"/>
            </a:pPr>
            <a:r>
              <a:rPr lang="zh-CN" altLang="en-US" sz="1300" b="1" dirty="0">
                <a:solidFill>
                  <a:srgbClr val="0070C0"/>
                </a:solidFill>
                <a:latin typeface="+mn-ea"/>
              </a:rPr>
              <a:t>服务拉通：</a:t>
            </a:r>
            <a:r>
              <a:rPr lang="zh-CN" altLang="en-US" sz="1300" dirty="0">
                <a:latin typeface="+mn-ea"/>
              </a:rPr>
              <a:t>服务</a:t>
            </a:r>
            <a:r>
              <a:rPr lang="en-US" altLang="zh-CN" sz="1300" dirty="0">
                <a:latin typeface="+mn-ea"/>
              </a:rPr>
              <a:t>BOM</a:t>
            </a:r>
            <a:r>
              <a:rPr lang="zh-CN" altLang="en-US" sz="1300" dirty="0">
                <a:latin typeface="+mn-ea"/>
              </a:rPr>
              <a:t>化，</a:t>
            </a:r>
            <a:r>
              <a:rPr lang="zh-CN" altLang="zh-CN" sz="1300" dirty="0">
                <a:latin typeface="+mn-ea"/>
              </a:rPr>
              <a:t>服务</a:t>
            </a:r>
            <a:r>
              <a:rPr lang="zh-CN" altLang="en-US" sz="1300" dirty="0">
                <a:latin typeface="+mn-ea"/>
              </a:rPr>
              <a:t>销售通过配置器报价，服务配置</a:t>
            </a:r>
            <a:r>
              <a:rPr lang="zh-CN" altLang="zh-CN" sz="1300" dirty="0">
                <a:latin typeface="+mn-ea"/>
              </a:rPr>
              <a:t>进入配置源</a:t>
            </a:r>
            <a:r>
              <a:rPr lang="zh-CN" altLang="en-US" sz="1300" dirty="0">
                <a:latin typeface="+mn-ea"/>
              </a:rPr>
              <a:t>管理，支</a:t>
            </a:r>
            <a:r>
              <a:rPr lang="zh-CN" altLang="zh-CN" sz="1300" dirty="0">
                <a:latin typeface="+mn-ea"/>
              </a:rPr>
              <a:t>撑高效</a:t>
            </a:r>
            <a:br>
              <a:rPr lang="en-US" altLang="zh-CN" sz="1300" dirty="0">
                <a:latin typeface="+mn-ea"/>
              </a:rPr>
            </a:br>
            <a:r>
              <a:rPr lang="zh-CN" altLang="zh-CN" sz="1300" dirty="0">
                <a:latin typeface="+mn-ea"/>
              </a:rPr>
              <a:t>交付</a:t>
            </a:r>
            <a:r>
              <a:rPr lang="zh-CN" altLang="en-US" sz="1300" dirty="0">
                <a:latin typeface="+mn-ea"/>
              </a:rPr>
              <a:t>和服务采购有源</a:t>
            </a:r>
            <a:endParaRPr lang="zh-CN" altLang="en-US" sz="1300" dirty="0">
              <a:latin typeface="+mn-ea"/>
            </a:endParaRPr>
          </a:p>
        </p:txBody>
      </p:sp>
      <p:sp>
        <p:nvSpPr>
          <p:cNvPr id="42" name="矩形 134"/>
          <p:cNvSpPr/>
          <p:nvPr/>
        </p:nvSpPr>
        <p:spPr>
          <a:xfrm>
            <a:off x="600518" y="964616"/>
            <a:ext cx="576000" cy="879213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35" tIns="45718" rIns="91435" bIns="45718" anchor="ctr">
            <a:sp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目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标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矩形 135"/>
          <p:cNvSpPr/>
          <p:nvPr/>
        </p:nvSpPr>
        <p:spPr>
          <a:xfrm>
            <a:off x="600518" y="2021182"/>
            <a:ext cx="576000" cy="255977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35" tIns="45718" rIns="91435" bIns="45718" anchor="ctr">
            <a:no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关键业务规则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矩形 52"/>
          <p:cNvSpPr/>
          <p:nvPr/>
        </p:nvSpPr>
        <p:spPr>
          <a:xfrm>
            <a:off x="1564290" y="2098501"/>
            <a:ext cx="1240134" cy="338550"/>
          </a:xfrm>
          <a:prstGeom prst="rect">
            <a:avLst/>
          </a:prstGeom>
          <a:noFill/>
          <a:effectLst/>
        </p:spPr>
        <p:txBody>
          <a:bodyPr wrap="square" lIns="91435" tIns="45718" rIns="91435" bIns="45718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配置打通</a:t>
            </a:r>
            <a:endParaRPr lang="zh-CN" altLang="en-US" sz="1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6" name="矩形 35"/>
          <p:cNvSpPr/>
          <p:nvPr/>
        </p:nvSpPr>
        <p:spPr>
          <a:xfrm>
            <a:off x="1309788" y="2971245"/>
            <a:ext cx="7180430" cy="472346"/>
          </a:xfrm>
          <a:prstGeom prst="rect">
            <a:avLst/>
          </a:prstGeom>
          <a:effectLst/>
        </p:spPr>
        <p:txBody>
          <a:bodyPr wrap="square" lIns="71539" tIns="35769" rIns="71539" bIns="35769">
            <a:spAutoFit/>
          </a:bodyPr>
          <a:lstStyle/>
          <a:p>
            <a:pPr marL="288290" indent="-288290">
              <a:buFont typeface="+mj-lt"/>
              <a:buAutoNum type="arabicPeriod" startAt="2"/>
            </a:pPr>
            <a:r>
              <a:rPr lang="zh-CN" altLang="en-US" sz="1300" b="1" dirty="0">
                <a:solidFill>
                  <a:srgbClr val="0070C0"/>
                </a:solidFill>
                <a:latin typeface="+mn-ea"/>
              </a:rPr>
              <a:t>销售对准验收：</a:t>
            </a:r>
            <a:r>
              <a:rPr lang="zh-CN" altLang="zh-CN" sz="1300" dirty="0">
                <a:latin typeface="+mn-ea"/>
              </a:rPr>
              <a:t>基于</a:t>
            </a:r>
            <a:r>
              <a:rPr lang="zh-CN" altLang="en-US" sz="1300" dirty="0">
                <a:latin typeface="+mn-ea"/>
              </a:rPr>
              <a:t>交付单元</a:t>
            </a:r>
            <a:r>
              <a:rPr lang="en-US" altLang="zh-CN" sz="1300" dirty="0">
                <a:latin typeface="+mn-ea"/>
              </a:rPr>
              <a:t>DU</a:t>
            </a:r>
            <a:r>
              <a:rPr lang="zh-CN" altLang="zh-CN" sz="1300" dirty="0">
                <a:latin typeface="+mn-ea"/>
              </a:rPr>
              <a:t>封装清晰</a:t>
            </a:r>
            <a:r>
              <a:rPr lang="zh-CN" altLang="en-US" sz="1300" dirty="0">
                <a:latin typeface="+mn-ea"/>
              </a:rPr>
              <a:t>的销售</a:t>
            </a:r>
            <a:r>
              <a:rPr lang="zh-CN" altLang="zh-CN" sz="1300" dirty="0">
                <a:latin typeface="+mn-ea"/>
              </a:rPr>
              <a:t>配置</a:t>
            </a:r>
            <a:r>
              <a:rPr lang="zh-CN" altLang="en-US" sz="1300" dirty="0">
                <a:latin typeface="+mn-ea"/>
              </a:rPr>
              <a:t>，通过交付单元</a:t>
            </a:r>
            <a:r>
              <a:rPr lang="en-US" altLang="zh-CN" sz="1300" dirty="0">
                <a:latin typeface="+mn-ea"/>
              </a:rPr>
              <a:t>DU</a:t>
            </a:r>
            <a:r>
              <a:rPr lang="zh-CN" altLang="en-US" sz="1300" dirty="0">
                <a:latin typeface="+mn-ea"/>
              </a:rPr>
              <a:t>拉通供应、交付</a:t>
            </a:r>
            <a:br>
              <a:rPr lang="en-US" altLang="zh-CN" sz="1300" dirty="0">
                <a:latin typeface="+mn-ea"/>
              </a:rPr>
            </a:br>
            <a:r>
              <a:rPr lang="zh-CN" altLang="en-US" sz="1300" dirty="0">
                <a:latin typeface="+mn-ea"/>
              </a:rPr>
              <a:t>和财经，支撑后端领料、验收，准确触发开票和收入确认</a:t>
            </a:r>
            <a:endParaRPr lang="en-US" altLang="zh-CN" sz="1300" dirty="0">
              <a:latin typeface="+mn-ea"/>
            </a:endParaRPr>
          </a:p>
        </p:txBody>
      </p:sp>
      <p:sp>
        <p:nvSpPr>
          <p:cNvPr id="58" name="矩形 34"/>
          <p:cNvSpPr/>
          <p:nvPr/>
        </p:nvSpPr>
        <p:spPr>
          <a:xfrm>
            <a:off x="1313079" y="4019236"/>
            <a:ext cx="7173848" cy="472346"/>
          </a:xfrm>
          <a:prstGeom prst="rect">
            <a:avLst/>
          </a:prstGeom>
          <a:effectLst/>
        </p:spPr>
        <p:txBody>
          <a:bodyPr wrap="square" lIns="35999" tIns="35769" rIns="35999" bIns="35769">
            <a:spAutoFit/>
          </a:bodyPr>
          <a:lstStyle/>
          <a:p>
            <a:pPr marL="288290" indent="-288290">
              <a:buFont typeface="+mj-lt"/>
              <a:buAutoNum type="arabicPeriod" startAt="4"/>
            </a:pPr>
            <a:r>
              <a:rPr lang="zh-CN" altLang="en-US" sz="1300" b="1" dirty="0">
                <a:solidFill>
                  <a:srgbClr val="0070C0"/>
                </a:solidFill>
                <a:latin typeface="+mn-ea"/>
              </a:rPr>
              <a:t>配置同源</a:t>
            </a:r>
            <a:r>
              <a:rPr lang="zh-CN" altLang="en-US" sz="1300" dirty="0">
                <a:solidFill>
                  <a:srgbClr val="0070C0"/>
                </a:solidFill>
                <a:latin typeface="+mn-ea"/>
              </a:rPr>
              <a:t>：</a:t>
            </a:r>
            <a:r>
              <a:rPr lang="zh-CN" altLang="en-US" sz="1300" dirty="0">
                <a:latin typeface="+mn-ea"/>
              </a:rPr>
              <a:t>构建统一的合同配置源，所有配置进入配置源管理，后端的制造、供应、交付都要依照配置源进行履行，包括配置变更，支撑按契约交付</a:t>
            </a:r>
            <a:endParaRPr lang="en-US" altLang="zh-CN" sz="1300" dirty="0">
              <a:latin typeface="+mn-ea"/>
            </a:endParaRPr>
          </a:p>
        </p:txBody>
      </p:sp>
      <p:sp>
        <p:nvSpPr>
          <p:cNvPr id="52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17\20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19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0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30"/>
          <p:cNvSpPr/>
          <p:nvPr/>
        </p:nvSpPr>
        <p:spPr bwMode="auto">
          <a:xfrm>
            <a:off x="764948" y="1934683"/>
            <a:ext cx="7824126" cy="3009346"/>
          </a:xfrm>
          <a:prstGeom prst="roundRect">
            <a:avLst>
              <a:gd name="adj" fmla="val 6047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35" tIns="45718" rIns="91435" bIns="45718" numCol="1" rtlCol="0" anchor="t" anchorCtr="0" compatLnSpc="1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8" name="矩形 138"/>
          <p:cNvSpPr/>
          <p:nvPr/>
        </p:nvSpPr>
        <p:spPr bwMode="auto">
          <a:xfrm>
            <a:off x="764948" y="964615"/>
            <a:ext cx="7824126" cy="879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35" tIns="45718" rIns="91435" bIns="45718" numCol="1" rtlCol="0" anchor="t" anchorCtr="0" compatLnSpc="1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9" name="矩形 134"/>
          <p:cNvSpPr/>
          <p:nvPr/>
        </p:nvSpPr>
        <p:spPr>
          <a:xfrm>
            <a:off x="600518" y="964616"/>
            <a:ext cx="576000" cy="879213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35" tIns="45718" rIns="91435" bIns="45718" anchor="ctr">
            <a:sp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目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标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0" name="矩形 135"/>
          <p:cNvSpPr/>
          <p:nvPr/>
        </p:nvSpPr>
        <p:spPr>
          <a:xfrm>
            <a:off x="600518" y="1934683"/>
            <a:ext cx="576000" cy="300934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35" tIns="45718" rIns="91435" bIns="45718" anchor="ctr">
            <a:no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+mn-ea"/>
              </a:rPr>
              <a:t>关键业务规则</a:t>
            </a:r>
            <a:endParaRPr lang="en-US" altLang="zh-CN" sz="16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6" name="Text Box 13"/>
          <p:cNvSpPr>
            <a:spLocks noChangeArrowheads="1"/>
          </p:cNvSpPr>
          <p:nvPr/>
        </p:nvSpPr>
        <p:spPr bwMode="auto">
          <a:xfrm>
            <a:off x="1309472" y="4033041"/>
            <a:ext cx="7154906" cy="441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1539" tIns="35769" rIns="71539" bIns="35769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5"/>
              <a:defRPr/>
            </a:pP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项目</a:t>
            </a:r>
            <a:r>
              <a:rPr lang="en-US" altLang="zh-CN" sz="1200" b="1" dirty="0">
                <a:solidFill>
                  <a:srgbClr val="0070C0"/>
                </a:solidFill>
                <a:latin typeface="+mn-ea"/>
              </a:rPr>
              <a:t>WBS</a:t>
            </a: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管理：</a:t>
            </a:r>
            <a:r>
              <a:rPr lang="zh-CN" altLang="en-US" sz="1200" dirty="0">
                <a:latin typeface="+mn-ea"/>
              </a:rPr>
              <a:t>在</a:t>
            </a:r>
            <a:r>
              <a:rPr lang="en-US" altLang="zh-CN" sz="1200" dirty="0">
                <a:latin typeface="+mn-ea"/>
              </a:rPr>
              <a:t>ERP</a:t>
            </a:r>
            <a:r>
              <a:rPr lang="zh-CN" altLang="en-US" sz="1200" dirty="0">
                <a:latin typeface="+mn-ea"/>
              </a:rPr>
              <a:t>中基于服务配置创建</a:t>
            </a:r>
            <a:r>
              <a:rPr lang="en-US" altLang="zh-CN" sz="1200" dirty="0">
                <a:latin typeface="+mn-ea"/>
              </a:rPr>
              <a:t>WBS</a:t>
            </a:r>
            <a:r>
              <a:rPr lang="zh-CN" altLang="en-US" sz="1200" dirty="0">
                <a:latin typeface="+mn-ea"/>
              </a:rPr>
              <a:t>管理项目，</a:t>
            </a:r>
            <a:r>
              <a:rPr lang="zh-CN" altLang="zh-CN" sz="1200" dirty="0">
                <a:latin typeface="+mn-ea"/>
              </a:rPr>
              <a:t>承载项目的交付范围</a:t>
            </a:r>
            <a:r>
              <a:rPr lang="zh-CN" altLang="en-US" sz="1200" dirty="0">
                <a:latin typeface="+mn-ea"/>
              </a:rPr>
              <a:t>，做为服务采购的源头，支撑</a:t>
            </a:r>
            <a:r>
              <a:rPr lang="zh-CN" altLang="zh-CN" sz="1200" dirty="0">
                <a:latin typeface="+mn-ea"/>
              </a:rPr>
              <a:t>采购有源</a:t>
            </a:r>
            <a:r>
              <a:rPr lang="zh-CN" altLang="en-US" sz="1200" dirty="0">
                <a:latin typeface="+mn-ea"/>
              </a:rPr>
              <a:t>、成本归集和及时触发开票和收入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6" name="Text Box 12"/>
          <p:cNvSpPr>
            <a:spLocks noChangeArrowheads="1"/>
          </p:cNvSpPr>
          <p:nvPr/>
        </p:nvSpPr>
        <p:spPr bwMode="auto">
          <a:xfrm>
            <a:off x="1309472" y="3145045"/>
            <a:ext cx="7154906" cy="441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1539" tIns="35769" rIns="71539" bIns="35769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子公司销售订单</a:t>
            </a:r>
            <a:r>
              <a:rPr lang="en-US" altLang="zh-CN" sz="1200" b="1" dirty="0">
                <a:solidFill>
                  <a:srgbClr val="0070C0"/>
                </a:solidFill>
                <a:latin typeface="+mn-ea"/>
              </a:rPr>
              <a:t>SO</a:t>
            </a: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：</a:t>
            </a:r>
            <a:r>
              <a:rPr lang="zh-CN" altLang="zh-CN" sz="1200" dirty="0">
                <a:latin typeface="+mn-ea"/>
              </a:rPr>
              <a:t>承载</a:t>
            </a:r>
            <a:r>
              <a:rPr lang="zh-CN" altLang="en-US" sz="1200" dirty="0">
                <a:latin typeface="+mn-ea"/>
              </a:rPr>
              <a:t>交付配置和</a:t>
            </a:r>
            <a:r>
              <a:rPr lang="zh-CN" altLang="zh-CN" sz="1200" dirty="0">
                <a:latin typeface="+mn-ea"/>
              </a:rPr>
              <a:t>收入金额，作为</a:t>
            </a:r>
            <a:r>
              <a:rPr lang="en-US" altLang="zh-CN" sz="1200" dirty="0">
                <a:latin typeface="+mn-ea"/>
              </a:rPr>
              <a:t>MR</a:t>
            </a:r>
            <a:r>
              <a:rPr lang="zh-CN" altLang="en-US" sz="1200" dirty="0">
                <a:latin typeface="+mn-ea"/>
              </a:rPr>
              <a:t>领料</a:t>
            </a:r>
            <a:r>
              <a:rPr lang="zh-CN" altLang="zh-CN" sz="1200" dirty="0">
                <a:latin typeface="+mn-ea"/>
              </a:rPr>
              <a:t>的源头，</a:t>
            </a:r>
            <a:r>
              <a:rPr lang="zh-CN" altLang="en-US" sz="1200" dirty="0">
                <a:latin typeface="+mn-ea"/>
              </a:rPr>
              <a:t>实现</a:t>
            </a:r>
            <a:r>
              <a:rPr lang="zh-CN" altLang="zh-CN" sz="1200" dirty="0">
                <a:latin typeface="+mn-ea"/>
              </a:rPr>
              <a:t>收入、成本</a:t>
            </a:r>
            <a:r>
              <a:rPr lang="zh-CN" altLang="en-US" sz="1200" dirty="0">
                <a:latin typeface="+mn-ea"/>
              </a:rPr>
              <a:t>匹配</a:t>
            </a:r>
            <a:r>
              <a:rPr lang="zh-CN" altLang="zh-CN" sz="1200" dirty="0">
                <a:latin typeface="+mn-ea"/>
              </a:rPr>
              <a:t>，</a:t>
            </a:r>
            <a:r>
              <a:rPr lang="zh-CN" altLang="en-US" sz="1200" dirty="0">
                <a:latin typeface="+mn-ea"/>
              </a:rPr>
              <a:t>支撑帐实一致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6" name="Text Box 12"/>
          <p:cNvSpPr>
            <a:spLocks noChangeArrowheads="1"/>
          </p:cNvSpPr>
          <p:nvPr/>
        </p:nvSpPr>
        <p:spPr bwMode="auto">
          <a:xfrm>
            <a:off x="1309472" y="4477041"/>
            <a:ext cx="7154906" cy="441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1539" tIns="35769" rIns="71539" bIns="35769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 计划协同：</a:t>
            </a:r>
            <a:r>
              <a:rPr lang="zh-CN" altLang="en-US" sz="1200" dirty="0">
                <a:latin typeface="+mn-ea"/>
              </a:rPr>
              <a:t>基于项目</a:t>
            </a:r>
            <a:r>
              <a:rPr lang="en-US" altLang="zh-CN" sz="1200" dirty="0">
                <a:latin typeface="+mn-ea"/>
              </a:rPr>
              <a:t>WBS</a:t>
            </a:r>
            <a:r>
              <a:rPr lang="zh-CN" altLang="en-US" sz="1200" dirty="0">
                <a:latin typeface="+mn-ea"/>
              </a:rPr>
              <a:t>和</a:t>
            </a:r>
            <a:r>
              <a:rPr lang="en-US" altLang="zh-CN" sz="1200" dirty="0">
                <a:latin typeface="+mn-ea"/>
              </a:rPr>
              <a:t>SO</a:t>
            </a:r>
            <a:r>
              <a:rPr lang="zh-CN" altLang="en-US" sz="1200" dirty="0">
                <a:latin typeface="+mn-ea"/>
              </a:rPr>
              <a:t>，制定集成的计划，实现交付计划、物料派送计划、分包采购计划和开票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收入触发计划在</a:t>
            </a:r>
            <a:r>
              <a:rPr lang="en-US" altLang="zh-CN" sz="1200" dirty="0">
                <a:latin typeface="+mn-ea"/>
              </a:rPr>
              <a:t>ERP</a:t>
            </a:r>
            <a:r>
              <a:rPr lang="zh-CN" altLang="en-US" sz="1200" dirty="0">
                <a:latin typeface="+mn-ea"/>
              </a:rPr>
              <a:t>中集成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599224" y="1983405"/>
            <a:ext cx="1367597" cy="338550"/>
          </a:xfrm>
          <a:prstGeom prst="rect">
            <a:avLst/>
          </a:prstGeom>
          <a:noFill/>
        </p:spPr>
        <p:txBody>
          <a:bodyPr wrap="square" lIns="91435" tIns="45718" rIns="91435" bIns="45718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交付上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</a:rPr>
              <a:t>ERP</a:t>
            </a:r>
            <a:endParaRPr lang="zh-CN" altLang="en-US" sz="1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5" name="Text Box 12"/>
          <p:cNvSpPr>
            <a:spLocks noChangeArrowheads="1"/>
          </p:cNvSpPr>
          <p:nvPr/>
        </p:nvSpPr>
        <p:spPr bwMode="auto">
          <a:xfrm>
            <a:off x="1309472" y="2250580"/>
            <a:ext cx="7154906" cy="441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1539" tIns="35769" rIns="71539" bIns="35769">
            <a:spAutoFit/>
          </a:bodyPr>
          <a:lstStyle/>
          <a:p>
            <a:pPr marL="288290" indent="-288290">
              <a:buFont typeface="+mj-lt"/>
              <a:buAutoNum type="arabicPeriod"/>
            </a:pP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“交付上</a:t>
            </a:r>
            <a:r>
              <a:rPr lang="en-US" altLang="zh-CN" sz="1200" b="1" dirty="0">
                <a:solidFill>
                  <a:srgbClr val="0070C0"/>
                </a:solidFill>
                <a:latin typeface="+mn-ea"/>
              </a:rPr>
              <a:t>ERP</a:t>
            </a: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”：</a:t>
            </a:r>
            <a:r>
              <a:rPr lang="zh-CN" altLang="en-US" sz="1200" dirty="0">
                <a:latin typeface="+mn-ea"/>
              </a:rPr>
              <a:t>交付的关键活动和主数据进入到</a:t>
            </a:r>
            <a:r>
              <a:rPr lang="en-US" altLang="zh-CN" sz="1200" dirty="0">
                <a:latin typeface="+mn-ea"/>
              </a:rPr>
              <a:t>ERP</a:t>
            </a:r>
            <a:r>
              <a:rPr lang="zh-CN" altLang="en-US" sz="1200" dirty="0">
                <a:latin typeface="+mn-ea"/>
              </a:rPr>
              <a:t>主平台，实现生产、采购、交付、财经数据都在</a:t>
            </a:r>
            <a:r>
              <a:rPr lang="en-US" altLang="zh-CN" sz="1200" dirty="0">
                <a:latin typeface="+mn-ea"/>
              </a:rPr>
              <a:t>ERP</a:t>
            </a:r>
            <a:r>
              <a:rPr lang="zh-CN" altLang="en-US" sz="1200" dirty="0">
                <a:latin typeface="+mn-ea"/>
              </a:rPr>
              <a:t>主平台集成管理</a:t>
            </a:r>
            <a:endParaRPr lang="zh-CN" altLang="en-US" sz="1200" dirty="0">
              <a:latin typeface="+mn-ea"/>
            </a:endParaRPr>
          </a:p>
        </p:txBody>
      </p:sp>
      <p:sp>
        <p:nvSpPr>
          <p:cNvPr id="65" name="Text Box 13"/>
          <p:cNvSpPr>
            <a:spLocks noChangeArrowheads="1"/>
          </p:cNvSpPr>
          <p:nvPr/>
        </p:nvSpPr>
        <p:spPr bwMode="auto">
          <a:xfrm>
            <a:off x="1309472" y="3589043"/>
            <a:ext cx="7154906" cy="441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1539" tIns="35769" rIns="71539" bIns="35769">
            <a:spAutoFit/>
          </a:bodyPr>
          <a:lstStyle/>
          <a:p>
            <a:pPr marL="342900" indent="-342900">
              <a:buFont typeface="+mj-lt"/>
              <a:buAutoNum type="arabicPeriod" startAt="4"/>
              <a:defRPr/>
            </a:pPr>
            <a:r>
              <a:rPr lang="zh-CN" altLang="en-US" sz="1200" b="1" dirty="0">
                <a:solidFill>
                  <a:srgbClr val="0070C0"/>
                </a:solidFill>
                <a:latin typeface="+mn-ea"/>
              </a:rPr>
              <a:t>项目作为基本经营单元：</a:t>
            </a:r>
            <a:r>
              <a:rPr lang="zh-CN" altLang="en-US" sz="1200" dirty="0">
                <a:latin typeface="+mn-ea"/>
              </a:rPr>
              <a:t>依据销售合同</a:t>
            </a:r>
            <a:r>
              <a:rPr lang="en-US" altLang="zh-CN" sz="1200" dirty="0">
                <a:latin typeface="+mn-ea"/>
              </a:rPr>
              <a:t>/PO</a:t>
            </a:r>
            <a:r>
              <a:rPr lang="zh-CN" altLang="en-US" sz="1200" dirty="0">
                <a:latin typeface="+mn-ea"/>
              </a:rPr>
              <a:t>，定义范围明确、可交付、可及时核算和关闭的交付</a:t>
            </a:r>
            <a:br>
              <a:rPr lang="en-US" altLang="zh-CN" sz="1200" dirty="0">
                <a:latin typeface="+mn-ea"/>
              </a:rPr>
            </a:br>
            <a:r>
              <a:rPr lang="zh-CN" altLang="en-US" sz="1200" dirty="0">
                <a:latin typeface="+mn-ea"/>
              </a:rPr>
              <a:t>项目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子项目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4" name="Title 1"/>
          <p:cNvSpPr txBox="1"/>
          <p:nvPr/>
        </p:nvSpPr>
        <p:spPr bwMode="gray">
          <a:xfrm>
            <a:off x="135306" y="159011"/>
            <a:ext cx="6944342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b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</a:b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配置打通及交付上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ERP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实现了合同到回款业务流和配置数据的打通</a:t>
            </a:r>
            <a:endParaRPr lang="en-US" altLang="zh-CN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09472" y="2694578"/>
            <a:ext cx="7154906" cy="448037"/>
          </a:xfrm>
          <a:prstGeom prst="rect">
            <a:avLst/>
          </a:prstGeom>
        </p:spPr>
        <p:txBody>
          <a:bodyPr wrap="square" lIns="77943" tIns="38972" rIns="77943" bIns="38972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zh-CN" sz="1200" b="1" dirty="0">
                <a:solidFill>
                  <a:srgbClr val="0070C0"/>
                </a:solidFill>
                <a:latin typeface="+mn-ea"/>
              </a:rPr>
              <a:t>疏管清源：</a:t>
            </a:r>
            <a:r>
              <a:rPr lang="zh-CN" altLang="zh-CN" sz="1200" dirty="0">
                <a:latin typeface="+mn-ea"/>
              </a:rPr>
              <a:t>进入</a:t>
            </a:r>
            <a:r>
              <a:rPr lang="en-US" altLang="zh-CN" sz="1200" dirty="0">
                <a:latin typeface="+mn-ea"/>
              </a:rPr>
              <a:t>ERP</a:t>
            </a:r>
            <a:r>
              <a:rPr lang="zh-CN" altLang="zh-CN" sz="1200" dirty="0">
                <a:latin typeface="+mn-ea"/>
              </a:rPr>
              <a:t>管道的业务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zh-CN" sz="1200" dirty="0">
                <a:latin typeface="+mn-ea"/>
              </a:rPr>
              <a:t>数据</a:t>
            </a:r>
            <a:r>
              <a:rPr lang="zh-CN" altLang="en-US" sz="1200" dirty="0">
                <a:latin typeface="+mn-ea"/>
              </a:rPr>
              <a:t>，</a:t>
            </a:r>
            <a:r>
              <a:rPr lang="zh-CN" altLang="zh-CN" sz="1200" dirty="0">
                <a:latin typeface="+mn-ea"/>
              </a:rPr>
              <a:t>必须通过内部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zh-CN" sz="1200" dirty="0">
                <a:latin typeface="+mn-ea"/>
              </a:rPr>
              <a:t>客户界面的优化</a:t>
            </a:r>
            <a:r>
              <a:rPr lang="zh-CN" altLang="en-US" sz="1200" dirty="0">
                <a:latin typeface="+mn-ea"/>
              </a:rPr>
              <a:t>改进</a:t>
            </a:r>
            <a:r>
              <a:rPr lang="zh-CN" altLang="zh-CN" sz="1200" dirty="0">
                <a:latin typeface="+mn-ea"/>
              </a:rPr>
              <a:t>，符合</a:t>
            </a:r>
            <a:r>
              <a:rPr lang="en-US" altLang="zh-CN" sz="1200" dirty="0">
                <a:latin typeface="+mn-ea"/>
              </a:rPr>
              <a:t>LTC S2/S3</a:t>
            </a:r>
            <a:r>
              <a:rPr lang="zh-CN" altLang="en-US" sz="1200" dirty="0">
                <a:latin typeface="+mn-ea"/>
              </a:rPr>
              <a:t>业务</a:t>
            </a:r>
            <a:br>
              <a:rPr lang="en-US" altLang="zh-CN" sz="1200" dirty="0">
                <a:latin typeface="+mn-ea"/>
              </a:rPr>
            </a:br>
            <a:r>
              <a:rPr lang="zh-CN" altLang="zh-CN" sz="1200" dirty="0">
                <a:latin typeface="+mn-ea"/>
              </a:rPr>
              <a:t>规范要求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14" name="矩形 167"/>
          <p:cNvSpPr/>
          <p:nvPr/>
        </p:nvSpPr>
        <p:spPr>
          <a:xfrm>
            <a:off x="1309788" y="1051979"/>
            <a:ext cx="6873159" cy="7386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35" tIns="45718" rIns="91435" bIns="45718">
            <a:spAutoFit/>
          </a:bodyPr>
          <a:lstStyle/>
          <a:p>
            <a:pPr marL="288290" indent="-28829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0070C0"/>
                </a:solidFill>
                <a:latin typeface="+mn-ea"/>
              </a:rPr>
              <a:t>业务流打通：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实现销售、制造、供应、交付和财经业务流在集成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IT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平台打通</a:t>
            </a:r>
            <a:endParaRPr lang="en-US" altLang="zh-CN" sz="1400" kern="0" dirty="0">
              <a:solidFill>
                <a:schemeClr val="tx1"/>
              </a:solidFill>
              <a:latin typeface="+mn-ea"/>
            </a:endParaRPr>
          </a:p>
          <a:p>
            <a:pPr marL="288290" indent="-28829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0070C0"/>
                </a:solidFill>
                <a:latin typeface="+mn-ea"/>
              </a:rPr>
              <a:t>配置数据打通：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配置数据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C-S-B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在整个流程中都能贯通使用，提升业务质量和效率</a:t>
            </a:r>
            <a:endParaRPr lang="en-US" altLang="zh-CN" sz="14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18\20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24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5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0"/>
          <p:cNvGrpSpPr/>
          <p:nvPr/>
        </p:nvGrpSpPr>
        <p:grpSpPr>
          <a:xfrm>
            <a:off x="153205" y="2612007"/>
            <a:ext cx="8872213" cy="988358"/>
            <a:chOff x="165208" y="2420889"/>
            <a:chExt cx="9611476" cy="1224136"/>
          </a:xfrm>
          <a:solidFill>
            <a:schemeClr val="bg1">
              <a:lumMod val="95000"/>
            </a:schemeClr>
          </a:solidFill>
        </p:grpSpPr>
        <p:sp>
          <p:nvSpPr>
            <p:cNvPr id="57" name="Pentagon 56"/>
            <p:cNvSpPr/>
            <p:nvPr/>
          </p:nvSpPr>
          <p:spPr bwMode="auto">
            <a:xfrm>
              <a:off x="165208" y="2420889"/>
              <a:ext cx="9611476" cy="1224136"/>
            </a:xfrm>
            <a:prstGeom prst="homePlate">
              <a:avLst>
                <a:gd name="adj" fmla="val 10290"/>
              </a:avLst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wordArtVert" rtlCol="0" anchor="ctr"/>
            <a:lstStyle/>
            <a:p>
              <a:pPr algn="ctr"/>
              <a:endParaRPr lang="en-US" sz="2400" b="1" dirty="0">
                <a:latin typeface="+mn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292513" y="2772657"/>
              <a:ext cx="426402" cy="6480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latin typeface="+mn-ea"/>
                </a:rPr>
                <a:t>服务</a:t>
              </a:r>
              <a:endParaRPr lang="en-US" sz="1400" b="1" dirty="0">
                <a:latin typeface="+mn-ea"/>
              </a:endParaRPr>
            </a:p>
          </p:txBody>
        </p:sp>
      </p:grpSp>
      <p:grpSp>
        <p:nvGrpSpPr>
          <p:cNvPr id="4" name="Group 1"/>
          <p:cNvGrpSpPr/>
          <p:nvPr/>
        </p:nvGrpSpPr>
        <p:grpSpPr>
          <a:xfrm>
            <a:off x="152500" y="1417210"/>
            <a:ext cx="8872918" cy="988358"/>
            <a:chOff x="165208" y="2420889"/>
            <a:chExt cx="9611476" cy="1224136"/>
          </a:xfrm>
          <a:solidFill>
            <a:schemeClr val="bg1">
              <a:lumMod val="95000"/>
            </a:schemeClr>
          </a:solidFill>
        </p:grpSpPr>
        <p:sp>
          <p:nvSpPr>
            <p:cNvPr id="63" name="Pentagon 62"/>
            <p:cNvSpPr/>
            <p:nvPr/>
          </p:nvSpPr>
          <p:spPr bwMode="auto">
            <a:xfrm>
              <a:off x="165208" y="2420889"/>
              <a:ext cx="9611476" cy="1224136"/>
            </a:xfrm>
            <a:prstGeom prst="homePlate">
              <a:avLst>
                <a:gd name="adj" fmla="val 10290"/>
              </a:avLst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wordArtVert" rtlCol="0" anchor="ctr"/>
            <a:lstStyle/>
            <a:p>
              <a:pPr algn="ctr"/>
              <a:endParaRPr lang="en-US" sz="2000" b="1" dirty="0">
                <a:latin typeface="+mn-ea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292513" y="2710085"/>
              <a:ext cx="426401" cy="6480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400" b="1" dirty="0">
                  <a:latin typeface="+mn-ea"/>
                </a:rPr>
                <a:t>设备</a:t>
              </a:r>
              <a:endParaRPr lang="en-US" sz="1400" b="1" dirty="0">
                <a:latin typeface="+mn-ea"/>
              </a:endParaRPr>
            </a:p>
          </p:txBody>
        </p:sp>
      </p:grpSp>
      <p:sp>
        <p:nvSpPr>
          <p:cNvPr id="67" name="矩形 131"/>
          <p:cNvSpPr>
            <a:spLocks noChangeArrowheads="1"/>
          </p:cNvSpPr>
          <p:nvPr/>
        </p:nvSpPr>
        <p:spPr bwMode="auto">
          <a:xfrm>
            <a:off x="1551858" y="1477684"/>
            <a:ext cx="1907025" cy="2052744"/>
          </a:xfrm>
          <a:prstGeom prst="roundRect">
            <a:avLst/>
          </a:prstGeom>
          <a:noFill/>
          <a:ln w="19050" algn="ctr">
            <a:solidFill>
              <a:srgbClr val="0070C0"/>
            </a:solidFill>
            <a:prstDash val="dash"/>
            <a:round/>
          </a:ln>
        </p:spPr>
        <p:txBody>
          <a:bodyPr wrap="square" lIns="91431" tIns="45716" rIns="91431" bIns="45716" anchor="ctr">
            <a:noAutofit/>
          </a:bodyPr>
          <a:lstStyle/>
          <a:p>
            <a:pPr algn="ctr"/>
            <a:endParaRPr lang="zh-CN" altLang="en-US" sz="2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8" name="TextBox 10"/>
          <p:cNvSpPr txBox="1">
            <a:spLocks noChangeArrowheads="1"/>
          </p:cNvSpPr>
          <p:nvPr/>
        </p:nvSpPr>
        <p:spPr bwMode="auto">
          <a:xfrm>
            <a:off x="1671318" y="1589187"/>
            <a:ext cx="790334" cy="373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latin typeface="+mn-ea"/>
              </a:rPr>
              <a:t>UPL</a:t>
            </a:r>
            <a:r>
              <a:rPr lang="zh-CN" altLang="en-US" sz="1000" dirty="0">
                <a:latin typeface="+mn-ea"/>
              </a:rPr>
              <a:t>管理</a:t>
            </a:r>
            <a:endParaRPr lang="en-US" altLang="zh-CN" sz="1000" dirty="0">
              <a:latin typeface="+mn-ea"/>
            </a:endParaRPr>
          </a:p>
        </p:txBody>
      </p:sp>
      <p:sp>
        <p:nvSpPr>
          <p:cNvPr id="69" name="TextBox 11"/>
          <p:cNvSpPr txBox="1">
            <a:spLocks noChangeArrowheads="1"/>
          </p:cNvSpPr>
          <p:nvPr/>
        </p:nvSpPr>
        <p:spPr bwMode="auto">
          <a:xfrm>
            <a:off x="1671318" y="1962035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产品经理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TextBox 10"/>
          <p:cNvSpPr txBox="1">
            <a:spLocks noChangeArrowheads="1"/>
          </p:cNvSpPr>
          <p:nvPr/>
        </p:nvSpPr>
        <p:spPr bwMode="auto">
          <a:xfrm>
            <a:off x="2580823" y="1589187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latin typeface="+mn-ea"/>
              </a:rPr>
              <a:t>清晰</a:t>
            </a:r>
            <a:endParaRPr lang="en-US" altLang="zh-CN" sz="1000" dirty="0">
              <a:latin typeface="+mn-ea"/>
            </a:endParaRPr>
          </a:p>
          <a:p>
            <a:pPr algn="ctr" eaLnBrk="0" hangingPunct="0"/>
            <a:r>
              <a:rPr lang="zh-CN" altLang="en-US" sz="1000" dirty="0">
                <a:latin typeface="+mn-ea"/>
              </a:rPr>
              <a:t>销售配置</a:t>
            </a:r>
            <a:endParaRPr lang="en-US" altLang="zh-CN" sz="1000" dirty="0">
              <a:latin typeface="+mn-ea"/>
            </a:endParaRPr>
          </a:p>
        </p:txBody>
      </p:sp>
      <p:sp>
        <p:nvSpPr>
          <p:cNvPr id="71" name="TextBox 11"/>
          <p:cNvSpPr txBox="1">
            <a:spLocks noChangeArrowheads="1"/>
          </p:cNvSpPr>
          <p:nvPr/>
        </p:nvSpPr>
        <p:spPr bwMode="auto">
          <a:xfrm>
            <a:off x="2580823" y="1962035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>
            <a:defPPr>
              <a:defRPr lang="en-US"/>
            </a:defPPr>
            <a:lvl1pPr algn="ctr" eaLnBrk="0" hangingPunct="0">
              <a:defRPr sz="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ea"/>
                <a:ea typeface="+mn-ea"/>
              </a:rPr>
              <a:t>PCE</a:t>
            </a:r>
            <a:endParaRPr lang="zh-CN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3741088" y="1593565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设备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交付配置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3741088" y="1962035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>
            <a:defPPr>
              <a:defRPr lang="en-US"/>
            </a:defPPr>
            <a:lvl1pPr algn="ctr" eaLnBrk="0" hangingPunct="0">
              <a:defRPr sz="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ea"/>
                <a:ea typeface="+mn-ea"/>
              </a:rPr>
              <a:t>DCE</a:t>
            </a:r>
            <a:endParaRPr lang="zh-CN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4701008" y="1593565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SO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销售订单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4701008" y="1962035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Order Desk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1" name="TextBox 10"/>
          <p:cNvSpPr txBox="1">
            <a:spLocks noChangeArrowheads="1"/>
          </p:cNvSpPr>
          <p:nvPr/>
        </p:nvSpPr>
        <p:spPr bwMode="auto">
          <a:xfrm>
            <a:off x="6566068" y="1593565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MR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领料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与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DN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发运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3" name="TextBox 11"/>
          <p:cNvSpPr txBox="1">
            <a:spLocks noChangeArrowheads="1"/>
          </p:cNvSpPr>
          <p:nvPr/>
        </p:nvSpPr>
        <p:spPr bwMode="auto">
          <a:xfrm>
            <a:off x="6566068" y="1962035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>
              <a:lnSpc>
                <a:spcPts val="11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MR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专员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  <a:p>
            <a:pPr algn="ctr" eaLnBrk="0" hangingPunct="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区域物流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7" name="直接箭头连接符 24"/>
          <p:cNvCxnSpPr>
            <a:stCxn id="68" idx="3"/>
            <a:endCxn id="70" idx="1"/>
          </p:cNvCxnSpPr>
          <p:nvPr/>
        </p:nvCxnSpPr>
        <p:spPr bwMode="auto">
          <a:xfrm flipV="1">
            <a:off x="2461652" y="1775611"/>
            <a:ext cx="119171" cy="5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直接箭头连接符 26"/>
          <p:cNvCxnSpPr>
            <a:stCxn id="72" idx="3"/>
            <a:endCxn id="78" idx="1"/>
          </p:cNvCxnSpPr>
          <p:nvPr/>
        </p:nvCxnSpPr>
        <p:spPr bwMode="auto">
          <a:xfrm>
            <a:off x="4531422" y="1779989"/>
            <a:ext cx="16958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直接箭头连接符 27"/>
          <p:cNvCxnSpPr>
            <a:stCxn id="78" idx="3"/>
            <a:endCxn id="75" idx="1"/>
          </p:cNvCxnSpPr>
          <p:nvPr/>
        </p:nvCxnSpPr>
        <p:spPr bwMode="auto">
          <a:xfrm>
            <a:off x="5491341" y="1779989"/>
            <a:ext cx="144162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" name="TextBox 10"/>
          <p:cNvSpPr txBox="1">
            <a:spLocks noChangeArrowheads="1"/>
          </p:cNvSpPr>
          <p:nvPr/>
        </p:nvSpPr>
        <p:spPr bwMode="auto">
          <a:xfrm>
            <a:off x="6566068" y="2730017"/>
            <a:ext cx="790334" cy="375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服务采购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PP/PR/PO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TextBox 11"/>
          <p:cNvSpPr txBox="1">
            <a:spLocks noChangeArrowheads="1"/>
          </p:cNvSpPr>
          <p:nvPr/>
        </p:nvSpPr>
        <p:spPr bwMode="auto">
          <a:xfrm>
            <a:off x="6566068" y="3108185"/>
            <a:ext cx="790334" cy="306391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PR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专员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7693520" y="2117700"/>
            <a:ext cx="790334" cy="375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开票触发 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/ 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收入成本确认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auto">
          <a:xfrm>
            <a:off x="7693520" y="2494310"/>
            <a:ext cx="790334" cy="306391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BTS / SA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TextBox 10"/>
          <p:cNvSpPr txBox="1">
            <a:spLocks noChangeArrowheads="1"/>
          </p:cNvSpPr>
          <p:nvPr/>
        </p:nvSpPr>
        <p:spPr bwMode="auto">
          <a:xfrm>
            <a:off x="2565101" y="2730017"/>
            <a:ext cx="790334" cy="375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服务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配置报价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9" name="TextBox 11"/>
          <p:cNvSpPr txBox="1">
            <a:spLocks noChangeArrowheads="1"/>
          </p:cNvSpPr>
          <p:nvPr/>
        </p:nvSpPr>
        <p:spPr bwMode="auto">
          <a:xfrm>
            <a:off x="2565101" y="3108185"/>
            <a:ext cx="790334" cy="306391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SSR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01" name="直接箭头连接符 99"/>
          <p:cNvCxnSpPr>
            <a:endCxn id="93" idx="1"/>
          </p:cNvCxnSpPr>
          <p:nvPr/>
        </p:nvCxnSpPr>
        <p:spPr bwMode="auto">
          <a:xfrm>
            <a:off x="5490032" y="2917805"/>
            <a:ext cx="107603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2" name="矩形 131"/>
          <p:cNvSpPr>
            <a:spLocks noChangeArrowheads="1"/>
          </p:cNvSpPr>
          <p:nvPr/>
        </p:nvSpPr>
        <p:spPr bwMode="auto">
          <a:xfrm>
            <a:off x="3637640" y="1477683"/>
            <a:ext cx="3858993" cy="910843"/>
          </a:xfrm>
          <a:prstGeom prst="roundRect">
            <a:avLst/>
          </a:prstGeom>
          <a:noFill/>
          <a:ln w="19050" algn="ctr">
            <a:solidFill>
              <a:srgbClr val="0070C0"/>
            </a:solidFill>
            <a:prstDash val="dash"/>
            <a:round/>
          </a:ln>
        </p:spPr>
        <p:txBody>
          <a:bodyPr wrap="square" lIns="91431" tIns="45716" rIns="91431" bIns="45716" anchor="ctr">
            <a:noAutofit/>
          </a:bodyPr>
          <a:lstStyle/>
          <a:p>
            <a:pPr algn="ctr"/>
            <a:endParaRPr lang="zh-CN" altLang="en-US" sz="2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3" name="矩形 131"/>
          <p:cNvSpPr>
            <a:spLocks noChangeArrowheads="1"/>
          </p:cNvSpPr>
          <p:nvPr/>
        </p:nvSpPr>
        <p:spPr bwMode="auto">
          <a:xfrm>
            <a:off x="7591598" y="1477681"/>
            <a:ext cx="1016100" cy="2052745"/>
          </a:xfrm>
          <a:prstGeom prst="roundRect">
            <a:avLst/>
          </a:prstGeom>
          <a:noFill/>
          <a:ln w="19050" algn="ctr">
            <a:solidFill>
              <a:srgbClr val="0070C0"/>
            </a:solidFill>
            <a:prstDash val="dash"/>
            <a:round/>
          </a:ln>
        </p:spPr>
        <p:txBody>
          <a:bodyPr wrap="square" lIns="91431" tIns="45716" rIns="91431" bIns="45716" anchor="ctr">
            <a:noAutofit/>
          </a:bodyPr>
          <a:lstStyle/>
          <a:p>
            <a:pPr algn="ctr"/>
            <a:endParaRPr lang="zh-CN" altLang="en-US" sz="2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4" name="矩形 131"/>
          <p:cNvSpPr>
            <a:spLocks noChangeArrowheads="1"/>
          </p:cNvSpPr>
          <p:nvPr/>
        </p:nvSpPr>
        <p:spPr bwMode="auto">
          <a:xfrm>
            <a:off x="3637640" y="2612007"/>
            <a:ext cx="3858993" cy="918421"/>
          </a:xfrm>
          <a:prstGeom prst="roundRect">
            <a:avLst/>
          </a:prstGeom>
          <a:noFill/>
          <a:ln w="19050" algn="ctr">
            <a:solidFill>
              <a:srgbClr val="0070C0"/>
            </a:solidFill>
            <a:prstDash val="dash"/>
            <a:round/>
          </a:ln>
        </p:spPr>
        <p:txBody>
          <a:bodyPr wrap="square" lIns="91431" tIns="45716" rIns="91431" bIns="45716" anchor="ctr">
            <a:noAutofit/>
          </a:bodyPr>
          <a:lstStyle/>
          <a:p>
            <a:pPr algn="ctr"/>
            <a:endParaRPr lang="zh-CN" altLang="en-US" sz="1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819597" y="3533852"/>
            <a:ext cx="595855" cy="307768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+mn-ea"/>
              </a:rPr>
              <a:t>交付</a:t>
            </a:r>
            <a:endParaRPr lang="en-US" sz="1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207588" y="1183714"/>
            <a:ext cx="595855" cy="307768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+mn-ea"/>
              </a:rPr>
              <a:t>售前</a:t>
            </a:r>
            <a:endParaRPr lang="en-US" sz="1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819597" y="1183714"/>
            <a:ext cx="595855" cy="307768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+mn-ea"/>
              </a:rPr>
              <a:t>供应</a:t>
            </a:r>
            <a:endParaRPr lang="en-US" sz="1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801720" y="1183714"/>
            <a:ext cx="595855" cy="307768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+mn-ea"/>
              </a:rPr>
              <a:t>财经</a:t>
            </a:r>
            <a:endParaRPr lang="en-US" sz="14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09" name="直接箭头连接符 25"/>
          <p:cNvCxnSpPr>
            <a:stCxn id="70" idx="3"/>
            <a:endCxn id="72" idx="1"/>
          </p:cNvCxnSpPr>
          <p:nvPr/>
        </p:nvCxnSpPr>
        <p:spPr bwMode="auto">
          <a:xfrm>
            <a:off x="3371157" y="1775611"/>
            <a:ext cx="369931" cy="437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接箭头连接符 25"/>
          <p:cNvCxnSpPr>
            <a:endCxn id="123" idx="1"/>
          </p:cNvCxnSpPr>
          <p:nvPr/>
        </p:nvCxnSpPr>
        <p:spPr bwMode="auto">
          <a:xfrm>
            <a:off x="3371157" y="2917805"/>
            <a:ext cx="369932" cy="136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2" name="直接箭头连接符 31"/>
          <p:cNvCxnSpPr>
            <a:stCxn id="95" idx="3"/>
            <a:endCxn id="97" idx="2"/>
          </p:cNvCxnSpPr>
          <p:nvPr/>
        </p:nvCxnSpPr>
        <p:spPr bwMode="auto">
          <a:xfrm flipV="1">
            <a:off x="7356402" y="2800702"/>
            <a:ext cx="732285" cy="460679"/>
          </a:xfrm>
          <a:prstGeom prst="bentConnector2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3" name="直接箭头连接符 31"/>
          <p:cNvCxnSpPr>
            <a:stCxn id="81" idx="3"/>
            <a:endCxn id="96" idx="0"/>
          </p:cNvCxnSpPr>
          <p:nvPr/>
        </p:nvCxnSpPr>
        <p:spPr bwMode="auto">
          <a:xfrm>
            <a:off x="7356402" y="1779989"/>
            <a:ext cx="732285" cy="337711"/>
          </a:xfrm>
          <a:prstGeom prst="bentConnector2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6" name="流程图: 多文档 144"/>
          <p:cNvSpPr/>
          <p:nvPr/>
        </p:nvSpPr>
        <p:spPr bwMode="auto">
          <a:xfrm>
            <a:off x="153205" y="1779698"/>
            <a:ext cx="370267" cy="1547685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0" hangingPunct="0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客户合同</a:t>
            </a:r>
            <a:endParaRPr lang="zh-CN" altLang="en-US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8" name="直接箭头连接符 31"/>
          <p:cNvCxnSpPr>
            <a:stCxn id="116" idx="2"/>
            <a:endCxn id="98" idx="1"/>
          </p:cNvCxnSpPr>
          <p:nvPr/>
        </p:nvCxnSpPr>
        <p:spPr bwMode="auto">
          <a:xfrm rot="5400000" flipH="1" flipV="1">
            <a:off x="1246931" y="2009213"/>
            <a:ext cx="409578" cy="2226762"/>
          </a:xfrm>
          <a:prstGeom prst="bentConnector4">
            <a:avLst>
              <a:gd name="adj1" fmla="val -55814"/>
              <a:gd name="adj2" fmla="val 85248"/>
            </a:avLst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9" name="TextBox 10"/>
          <p:cNvSpPr txBox="1">
            <a:spLocks noChangeArrowheads="1"/>
          </p:cNvSpPr>
          <p:nvPr/>
        </p:nvSpPr>
        <p:spPr bwMode="auto">
          <a:xfrm>
            <a:off x="658365" y="2195532"/>
            <a:ext cx="790334" cy="2965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DU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拉通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0" name="TextBox 11"/>
          <p:cNvSpPr txBox="1">
            <a:spLocks noChangeArrowheads="1"/>
          </p:cNvSpPr>
          <p:nvPr/>
        </p:nvSpPr>
        <p:spPr bwMode="auto">
          <a:xfrm>
            <a:off x="658365" y="2481047"/>
            <a:ext cx="790334" cy="296508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FR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21" name="直接箭头连接符 82"/>
          <p:cNvCxnSpPr/>
          <p:nvPr/>
        </p:nvCxnSpPr>
        <p:spPr bwMode="auto">
          <a:xfrm>
            <a:off x="523471" y="2506861"/>
            <a:ext cx="134893" cy="0"/>
          </a:xfrm>
          <a:prstGeom prst="straightConnector1">
            <a:avLst/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2" name="直接箭头连接符 31"/>
          <p:cNvCxnSpPr>
            <a:endCxn id="71" idx="2"/>
          </p:cNvCxnSpPr>
          <p:nvPr/>
        </p:nvCxnSpPr>
        <p:spPr bwMode="auto">
          <a:xfrm flipV="1">
            <a:off x="1464420" y="2264608"/>
            <a:ext cx="1511569" cy="227432"/>
          </a:xfrm>
          <a:prstGeom prst="bentConnector2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3" name="TextBox 122"/>
          <p:cNvSpPr txBox="1">
            <a:spLocks noChangeArrowheads="1"/>
          </p:cNvSpPr>
          <p:nvPr/>
        </p:nvSpPr>
        <p:spPr bwMode="auto">
          <a:xfrm>
            <a:off x="3741088" y="2732745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服务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交付配置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4" name="TextBox 123"/>
          <p:cNvSpPr txBox="1">
            <a:spLocks noChangeArrowheads="1"/>
          </p:cNvSpPr>
          <p:nvPr/>
        </p:nvSpPr>
        <p:spPr bwMode="auto">
          <a:xfrm>
            <a:off x="3741088" y="3112004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>
            <a:defPPr>
              <a:defRPr lang="en-US"/>
            </a:defPPr>
            <a:lvl1pPr algn="ctr" eaLnBrk="0" hangingPunct="0">
              <a:defRPr sz="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ea"/>
                <a:ea typeface="+mn-ea"/>
              </a:rPr>
              <a:t>DCE</a:t>
            </a:r>
            <a:endParaRPr lang="zh-CN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28" name="直接箭头连接符 26"/>
          <p:cNvCxnSpPr>
            <a:stCxn id="123" idx="3"/>
            <a:endCxn id="133" idx="1"/>
          </p:cNvCxnSpPr>
          <p:nvPr/>
        </p:nvCxnSpPr>
        <p:spPr bwMode="auto">
          <a:xfrm>
            <a:off x="4531422" y="2919169"/>
            <a:ext cx="313747" cy="7612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6" name="直接箭头连接符 31"/>
          <p:cNvCxnSpPr/>
          <p:nvPr/>
        </p:nvCxnSpPr>
        <p:spPr bwMode="auto">
          <a:xfrm>
            <a:off x="1464420" y="2492039"/>
            <a:ext cx="1511569" cy="237978"/>
          </a:xfrm>
          <a:prstGeom prst="bentConnector2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10"/>
          <p:cNvSpPr txBox="1">
            <a:spLocks noChangeArrowheads="1"/>
          </p:cNvSpPr>
          <p:nvPr/>
        </p:nvSpPr>
        <p:spPr bwMode="auto">
          <a:xfrm>
            <a:off x="5635503" y="1593565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预欠料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检查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" name="TextBox 11"/>
          <p:cNvSpPr txBox="1">
            <a:spLocks noChangeArrowheads="1"/>
          </p:cNvSpPr>
          <p:nvPr/>
        </p:nvSpPr>
        <p:spPr bwMode="auto">
          <a:xfrm>
            <a:off x="5635503" y="1970792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合管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物控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2" name="直接箭头连接符 27"/>
          <p:cNvCxnSpPr>
            <a:stCxn id="75" idx="3"/>
            <a:endCxn id="81" idx="1"/>
          </p:cNvCxnSpPr>
          <p:nvPr/>
        </p:nvCxnSpPr>
        <p:spPr bwMode="auto">
          <a:xfrm>
            <a:off x="6425837" y="1779989"/>
            <a:ext cx="140231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0" name="直接箭头连接符 31"/>
          <p:cNvCxnSpPr/>
          <p:nvPr/>
        </p:nvCxnSpPr>
        <p:spPr bwMode="auto">
          <a:xfrm rot="5400000" flipH="1" flipV="1">
            <a:off x="4936861" y="2496660"/>
            <a:ext cx="465410" cy="1308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3" name="TextBox 132"/>
          <p:cNvSpPr txBox="1">
            <a:spLocks noChangeArrowheads="1"/>
          </p:cNvSpPr>
          <p:nvPr/>
        </p:nvSpPr>
        <p:spPr bwMode="auto">
          <a:xfrm>
            <a:off x="4845169" y="2740357"/>
            <a:ext cx="790334" cy="3728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项目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WBS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4" name="TextBox 133"/>
          <p:cNvSpPr txBox="1">
            <a:spLocks noChangeArrowheads="1"/>
          </p:cNvSpPr>
          <p:nvPr/>
        </p:nvSpPr>
        <p:spPr bwMode="auto">
          <a:xfrm>
            <a:off x="4845169" y="3108827"/>
            <a:ext cx="790334" cy="302572"/>
          </a:xfrm>
          <a:prstGeom prst="rect">
            <a:avLst/>
          </a:prstGeom>
          <a:solidFill>
            <a:srgbClr val="F7B021"/>
          </a:solidFill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eaLnBrk="0" hangingPunct="0"/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PM/PCM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85052" y="3793506"/>
            <a:ext cx="2531356" cy="1154509"/>
          </a:xfrm>
          <a:prstGeom prst="roundRect">
            <a:avLst>
              <a:gd name="adj" fmla="val 10245"/>
            </a:avLst>
          </a:prstGeom>
          <a:solidFill>
            <a:srgbClr val="00B0F0"/>
          </a:solidFill>
        </p:spPr>
        <p:txBody>
          <a:bodyPr wrap="square" lIns="0" tIns="0" rIns="0" bIns="0" rtlCol="0" anchor="ctr">
            <a:noAutofit/>
          </a:bodyPr>
          <a:lstStyle/>
          <a:p>
            <a:pPr marL="215900" indent="-107950">
              <a:lnSpc>
                <a:spcPts val="1365"/>
              </a:lnSpc>
              <a:buFont typeface="+mj-lt"/>
              <a:buAutoNum type="arabicPeriod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引入</a:t>
            </a:r>
            <a:r>
              <a:rPr lang="en-US" altLang="zh-CN" sz="1000" b="1" dirty="0">
                <a:solidFill>
                  <a:schemeClr val="bg1"/>
                </a:solidFill>
                <a:latin typeface="+mn-ea"/>
              </a:rPr>
              <a:t>DU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拉通售前售后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引入</a:t>
            </a:r>
            <a:r>
              <a:rPr lang="en-US" altLang="zh-CN" sz="1000" b="1" dirty="0">
                <a:solidFill>
                  <a:schemeClr val="bg1"/>
                </a:solidFill>
                <a:latin typeface="+mn-ea"/>
              </a:rPr>
              <a:t>UPL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管理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C-S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关系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按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DU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封装清晰销售配置，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销售对准</a:t>
            </a:r>
            <a:br>
              <a:rPr lang="en-US" altLang="zh-CN" sz="1000" b="1" dirty="0">
                <a:solidFill>
                  <a:schemeClr val="bg1"/>
                </a:solidFill>
                <a:latin typeface="+mn-ea"/>
              </a:rPr>
            </a:b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验收</a:t>
            </a:r>
            <a:endParaRPr lang="en-US" altLang="zh-CN" sz="1000" b="1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发布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交付配置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，体现准确的站点需求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52155" y="3797526"/>
            <a:ext cx="3382622" cy="1146468"/>
          </a:xfrm>
          <a:prstGeom prst="roundRect">
            <a:avLst>
              <a:gd name="adj" fmla="val 9122"/>
            </a:avLst>
          </a:prstGeom>
          <a:solidFill>
            <a:srgbClr val="00B0F0"/>
          </a:solidFill>
        </p:spPr>
        <p:txBody>
          <a:bodyPr wrap="square" lIns="0" tIns="0" rIns="0" bIns="0" rtlCol="0" anchor="ctr">
            <a:noAutofit/>
          </a:bodyPr>
          <a:lstStyle/>
          <a:p>
            <a:pPr marL="215900" indent="-107950">
              <a:lnSpc>
                <a:spcPts val="1365"/>
              </a:lnSpc>
              <a:buFont typeface="+mj-lt"/>
              <a:buAutoNum type="arabicPeriod" startAt="5"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集成交付配置、物料到站计划日期和收入金额，生成交付、</a:t>
            </a:r>
            <a:br>
              <a:rPr lang="en-US" altLang="zh-CN" sz="900" dirty="0">
                <a:solidFill>
                  <a:schemeClr val="bg1"/>
                </a:solidFill>
                <a:latin typeface="+mn-ea"/>
              </a:rPr>
            </a:b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供应和财经共同使用的数据管理实体</a:t>
            </a: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SO</a:t>
            </a:r>
            <a:endParaRPr lang="en-US" altLang="zh-CN" sz="900" b="1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5"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维护</a:t>
            </a: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WBS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，项目交付计划进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ERP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，实现计划集成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5"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根据交付计划和交付配置进行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预欠料检查</a:t>
            </a:r>
            <a:endParaRPr lang="en-US" altLang="zh-CN" sz="900" b="1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5"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基于交付配置生成</a:t>
            </a: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MR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，需求自动匹配库存，生成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DN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发运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170525" y="3797526"/>
            <a:ext cx="2777694" cy="1146468"/>
          </a:xfrm>
          <a:prstGeom prst="roundRect">
            <a:avLst>
              <a:gd name="adj" fmla="val 9122"/>
            </a:avLst>
          </a:prstGeom>
          <a:solidFill>
            <a:srgbClr val="00B0F0"/>
          </a:solidFill>
        </p:spPr>
        <p:txBody>
          <a:bodyPr wrap="square" lIns="0" tIns="0" rIns="0" bIns="0" rtlCol="0" anchor="ctr">
            <a:noAutofit/>
          </a:bodyPr>
          <a:lstStyle/>
          <a:p>
            <a:pPr marL="215900" indent="-107950">
              <a:lnSpc>
                <a:spcPts val="1365"/>
              </a:lnSpc>
              <a:buFont typeface="+mj-lt"/>
              <a:buAutoNum type="arabicPeriod" startAt="9"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开票</a:t>
            </a:r>
            <a:r>
              <a:rPr lang="en-US" altLang="zh-CN" sz="9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收入触发计划集成项目交付计划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，基于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SO</a:t>
            </a:r>
            <a:br>
              <a:rPr lang="en-US" altLang="zh-CN" sz="900" dirty="0">
                <a:solidFill>
                  <a:schemeClr val="bg1"/>
                </a:solidFill>
                <a:latin typeface="+mn-ea"/>
              </a:rPr>
            </a:b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确认收入成本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9"/>
            </a:pP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服务报价进配置器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 </a:t>
            </a:r>
            <a:endParaRPr lang="en-US" altLang="zh-CN" sz="900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9"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基于服务销售配置创建项目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WBS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管理交付范围</a:t>
            </a:r>
            <a:endParaRPr lang="en-US" altLang="zh-CN" sz="900" b="1" dirty="0">
              <a:solidFill>
                <a:schemeClr val="bg1"/>
              </a:solidFill>
              <a:latin typeface="+mn-ea"/>
            </a:endParaRPr>
          </a:p>
          <a:p>
            <a:pPr marL="215900" indent="-107950">
              <a:lnSpc>
                <a:spcPts val="1365"/>
              </a:lnSpc>
              <a:buFont typeface="+mj-lt"/>
              <a:buAutoNum type="arabicPeriod" startAt="9"/>
            </a:pP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基于项目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WBS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创建服务采购需求</a:t>
            </a:r>
            <a:r>
              <a:rPr lang="en-US" altLang="zh-CN" sz="900" dirty="0">
                <a:solidFill>
                  <a:schemeClr val="bg1"/>
                </a:solidFill>
                <a:latin typeface="+mn-ea"/>
              </a:rPr>
              <a:t>PR/PO</a:t>
            </a:r>
            <a:r>
              <a:rPr lang="zh-CN" altLang="en-US" sz="900" dirty="0">
                <a:solidFill>
                  <a:schemeClr val="bg1"/>
                </a:solidFill>
                <a:latin typeface="+mn-ea"/>
              </a:rPr>
              <a:t>，</a:t>
            </a: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实现</a:t>
            </a:r>
            <a:br>
              <a:rPr lang="en-US" altLang="zh-CN" sz="900" b="1" dirty="0">
                <a:solidFill>
                  <a:schemeClr val="bg1"/>
                </a:solidFill>
                <a:latin typeface="+mn-ea"/>
              </a:rPr>
            </a:br>
            <a:r>
              <a:rPr lang="zh-CN" altLang="en-US" sz="900" b="1" dirty="0">
                <a:solidFill>
                  <a:schemeClr val="bg1"/>
                </a:solidFill>
                <a:latin typeface="+mn-ea"/>
              </a:rPr>
              <a:t>采购有源</a:t>
            </a:r>
            <a:endParaRPr lang="en-US" altLang="zh-CN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172556" y="701676"/>
            <a:ext cx="6898412" cy="632681"/>
          </a:xfrm>
          <a:prstGeom prst="rect">
            <a:avLst/>
          </a:prstGeom>
        </p:spPr>
        <p:txBody>
          <a:bodyPr wrap="square" lIns="77921" tIns="38961" rIns="77921" bIns="38961">
            <a:spAutoFit/>
          </a:bodyPr>
          <a:lstStyle/>
          <a:p>
            <a:pPr marL="171450" indent="-17145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zh-CN" sz="1200" kern="0" dirty="0">
                <a:latin typeface="+mn-ea"/>
              </a:rPr>
              <a:t>业务流打通：实现销售、制造、供应、交付和财经业务流在集成</a:t>
            </a:r>
            <a:r>
              <a:rPr lang="en-US" altLang="zh-CN" sz="1200" kern="0" dirty="0">
                <a:latin typeface="+mn-ea"/>
              </a:rPr>
              <a:t>IT</a:t>
            </a:r>
            <a:r>
              <a:rPr lang="zh-CN" altLang="zh-CN" sz="1200" kern="0" dirty="0">
                <a:latin typeface="+mn-ea"/>
              </a:rPr>
              <a:t>平台打通 </a:t>
            </a:r>
            <a:endParaRPr lang="zh-CN" altLang="zh-CN" sz="1200" kern="0" dirty="0">
              <a:latin typeface="+mn-ea"/>
            </a:endParaRPr>
          </a:p>
          <a:p>
            <a:pPr marL="171450" indent="-171450" eaLnBrk="0" hangingPunct="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/>
            </a:pPr>
            <a:r>
              <a:rPr lang="zh-CN" altLang="zh-CN" sz="1200" kern="0" dirty="0">
                <a:latin typeface="+mn-ea"/>
              </a:rPr>
              <a:t>配置数据打通：配置数据</a:t>
            </a:r>
            <a:r>
              <a:rPr lang="en-US" altLang="zh-CN" sz="1200" kern="0" dirty="0">
                <a:latin typeface="+mn-ea"/>
              </a:rPr>
              <a:t>C-S-B</a:t>
            </a:r>
            <a:r>
              <a:rPr lang="zh-CN" altLang="zh-CN" sz="1200" kern="0" dirty="0">
                <a:latin typeface="+mn-ea"/>
              </a:rPr>
              <a:t>在整个流程中都能贯通使用，提升业务质量和效率 </a:t>
            </a:r>
            <a:endParaRPr lang="zh-CN" altLang="zh-CN" sz="1200" kern="0" dirty="0">
              <a:latin typeface="+mn-ea"/>
            </a:endParaRPr>
          </a:p>
        </p:txBody>
      </p:sp>
      <p:sp>
        <p:nvSpPr>
          <p:cNvPr id="144" name="椭圆 416"/>
          <p:cNvSpPr/>
          <p:nvPr/>
        </p:nvSpPr>
        <p:spPr bwMode="auto">
          <a:xfrm>
            <a:off x="665132" y="2237001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1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椭圆 416"/>
          <p:cNvSpPr/>
          <p:nvPr/>
        </p:nvSpPr>
        <p:spPr bwMode="auto">
          <a:xfrm>
            <a:off x="1686941" y="1607662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2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椭圆 416"/>
          <p:cNvSpPr/>
          <p:nvPr/>
        </p:nvSpPr>
        <p:spPr bwMode="auto">
          <a:xfrm>
            <a:off x="2599576" y="1607662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3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7" name="椭圆 416"/>
          <p:cNvSpPr/>
          <p:nvPr/>
        </p:nvSpPr>
        <p:spPr bwMode="auto">
          <a:xfrm>
            <a:off x="3747478" y="1616627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4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8" name="椭圆 416"/>
          <p:cNvSpPr/>
          <p:nvPr/>
        </p:nvSpPr>
        <p:spPr bwMode="auto">
          <a:xfrm>
            <a:off x="4715506" y="1607662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5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9" name="椭圆 416"/>
          <p:cNvSpPr/>
          <p:nvPr/>
        </p:nvSpPr>
        <p:spPr bwMode="auto">
          <a:xfrm>
            <a:off x="4870022" y="2716363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6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0" name="椭圆 416"/>
          <p:cNvSpPr/>
          <p:nvPr/>
        </p:nvSpPr>
        <p:spPr bwMode="auto">
          <a:xfrm>
            <a:off x="5646071" y="1607662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7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1" name="椭圆 416"/>
          <p:cNvSpPr/>
          <p:nvPr/>
        </p:nvSpPr>
        <p:spPr bwMode="auto">
          <a:xfrm>
            <a:off x="6576636" y="1607662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8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2" name="椭圆 416"/>
          <p:cNvSpPr/>
          <p:nvPr/>
        </p:nvSpPr>
        <p:spPr bwMode="auto">
          <a:xfrm>
            <a:off x="7625922" y="2086437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9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4" name="椭圆 416"/>
          <p:cNvSpPr/>
          <p:nvPr/>
        </p:nvSpPr>
        <p:spPr bwMode="auto">
          <a:xfrm>
            <a:off x="2552640" y="2705928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500" b="1" kern="0" dirty="0">
                <a:solidFill>
                  <a:schemeClr val="bg1"/>
                </a:solidFill>
                <a:latin typeface="+mn-ea"/>
              </a:rPr>
              <a:t>10</a:t>
            </a:r>
            <a:endParaRPr lang="zh-CN" altLang="en-US" sz="5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6" name="椭圆 416"/>
          <p:cNvSpPr/>
          <p:nvPr/>
        </p:nvSpPr>
        <p:spPr bwMode="auto">
          <a:xfrm>
            <a:off x="3702653" y="2716363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700" b="1" kern="0" dirty="0">
                <a:solidFill>
                  <a:schemeClr val="bg1"/>
                </a:solidFill>
                <a:latin typeface="+mn-ea"/>
              </a:rPr>
              <a:t> 4</a:t>
            </a:r>
            <a:endParaRPr lang="zh-CN" altLang="en-US" sz="7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8" name="椭圆 416"/>
          <p:cNvSpPr/>
          <p:nvPr/>
        </p:nvSpPr>
        <p:spPr bwMode="auto">
          <a:xfrm>
            <a:off x="5401773" y="2705928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500" b="1" kern="0" dirty="0">
                <a:solidFill>
                  <a:schemeClr val="bg1"/>
                </a:solidFill>
                <a:latin typeface="+mn-ea"/>
              </a:rPr>
              <a:t>11</a:t>
            </a:r>
            <a:endParaRPr lang="zh-CN" altLang="en-US" sz="5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9" name="椭圆 416"/>
          <p:cNvSpPr/>
          <p:nvPr/>
        </p:nvSpPr>
        <p:spPr bwMode="auto">
          <a:xfrm>
            <a:off x="6540776" y="2716363"/>
            <a:ext cx="144015" cy="14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>
              <a:buClr>
                <a:srgbClr val="CC9900"/>
              </a:buClr>
              <a:defRPr/>
            </a:pPr>
            <a:r>
              <a:rPr lang="en-US" altLang="zh-CN" sz="500" b="1" kern="0" dirty="0">
                <a:solidFill>
                  <a:schemeClr val="bg1"/>
                </a:solidFill>
                <a:latin typeface="+mn-ea"/>
              </a:rPr>
              <a:t>12</a:t>
            </a:r>
            <a:endParaRPr lang="zh-CN" altLang="en-US" sz="5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5" name="肘形连接符 84"/>
          <p:cNvCxnSpPr/>
          <p:nvPr/>
        </p:nvCxnSpPr>
        <p:spPr bwMode="auto">
          <a:xfrm rot="5400000" flipH="1" flipV="1">
            <a:off x="4404972" y="2240988"/>
            <a:ext cx="466994" cy="531751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7" name="Title 1"/>
          <p:cNvSpPr txBox="1"/>
          <p:nvPr/>
        </p:nvSpPr>
        <p:spPr bwMode="gray">
          <a:xfrm>
            <a:off x="156572" y="149259"/>
            <a:ext cx="7539404" cy="6286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972" tIns="38972" rIns="38972" bIns="38972" numCol="1" anchor="ctr" anchorCtr="0" compatLnSpc="1"/>
          <a:lstStyle>
            <a:lvl1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algn="l" defTabSz="802005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4572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9144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13716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1828800" algn="l" defTabSz="802005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CC3300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集成的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及数据</a:t>
            </a:r>
            <a:endParaRPr lang="en-US" altLang="zh-CN" sz="240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配置打通及交付上</a:t>
            </a:r>
            <a:r>
              <a:rPr lang="en-US" altLang="zh-CN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ERP</a:t>
            </a:r>
            <a:r>
              <a:rPr lang="zh-CN" altLang="en-US" sz="1400" b="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rPr>
              <a:t>方案总览</a:t>
            </a:r>
            <a:endParaRPr lang="en-US" sz="1400" b="0" dirty="0">
              <a:solidFill>
                <a:srgbClr val="0070C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1" name="直接箭头连接符 31"/>
          <p:cNvCxnSpPr>
            <a:stCxn id="116" idx="0"/>
          </p:cNvCxnSpPr>
          <p:nvPr/>
        </p:nvCxnSpPr>
        <p:spPr bwMode="auto">
          <a:xfrm rot="16200000" flipH="1">
            <a:off x="944952" y="1173084"/>
            <a:ext cx="291" cy="1213519"/>
          </a:xfrm>
          <a:prstGeom prst="bentConnector4">
            <a:avLst>
              <a:gd name="adj1" fmla="val -56112027"/>
              <a:gd name="adj2" fmla="val 59781"/>
            </a:avLst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2" name="灯片编号占位符 2"/>
          <p:cNvSpPr>
            <a:spLocks noGrp="1" noChangeArrowheads="1"/>
          </p:cNvSpPr>
          <p:nvPr/>
        </p:nvSpPr>
        <p:spPr bwMode="auto">
          <a:xfrm flipH="1">
            <a:off x="8558454" y="4826000"/>
            <a:ext cx="64800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1000" dirty="0">
                <a:latin typeface="+mn-ea"/>
              </a:rPr>
              <a:t>19\20</a:t>
            </a:r>
            <a:endParaRPr lang="zh-CN" altLang="en-US" sz="1000" dirty="0">
              <a:latin typeface="+mn-ea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7373134" y="108042"/>
            <a:ext cx="488655" cy="573498"/>
            <a:chOff x="7373134" y="108042"/>
            <a:chExt cx="488655" cy="573498"/>
          </a:xfrm>
        </p:grpSpPr>
        <p:sp>
          <p:nvSpPr>
            <p:cNvPr id="100" name="Rectangle 90"/>
            <p:cNvSpPr/>
            <p:nvPr/>
          </p:nvSpPr>
          <p:spPr bwMode="auto">
            <a:xfrm>
              <a:off x="7373134" y="108042"/>
              <a:ext cx="231238" cy="57349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15588" tIns="15588" rIns="15588" bIns="15588" numCol="1" rtlCol="0" anchor="ctr" anchorCtr="0" compatLnSpc="1">
              <a:noAutofit/>
            </a:bodyPr>
            <a:lstStyle/>
            <a:p>
              <a:pPr algn="ctr"/>
              <a:r>
                <a:rPr lang="en-US" altLang="zh-CN" sz="900" dirty="0" err="1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iSales</a:t>
              </a:r>
              <a:r>
                <a:rPr lang="en-US" altLang="zh-CN" sz="9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Rectangle 91"/>
            <p:cNvSpPr/>
            <p:nvPr/>
          </p:nvSpPr>
          <p:spPr bwMode="auto">
            <a:xfrm>
              <a:off x="7630551" y="108042"/>
              <a:ext cx="231238" cy="573498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algn="ctr"/>
              <a:r>
                <a:rPr lang="zh-CN" altLang="en-US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配置打通及交付上</a:t>
              </a:r>
              <a:r>
                <a:rPr lang="en-US" altLang="zh-CN" sz="700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ERP</a:t>
              </a:r>
              <a:endParaRPr lang="en-US" altLang="zh-CN" sz="7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587552" y="1577531"/>
            <a:ext cx="3697961" cy="707886"/>
          </a:xfrm>
          <a:prstGeom prst="rect">
            <a:avLst/>
          </a:prstGeom>
        </p:spPr>
        <p:txBody>
          <a:bodyPr lIns="91405" tIns="45703" rIns="91405" bIns="45703"/>
          <a:lstStyle>
            <a:defPPr>
              <a:defRPr lang="zh-CN"/>
            </a:defPPr>
            <a:lvl1pPr defTabSz="852170" fontAlgn="base">
              <a:defRPr sz="4000" b="1" i="0">
                <a:gradFill>
                  <a:gsLst>
                    <a:gs pos="0">
                      <a:srgbClr val="DE0000">
                        <a:alpha val="82745"/>
                      </a:srgbClr>
                    </a:gs>
                    <a:gs pos="67000">
                      <a:srgbClr val="990000"/>
                    </a:gs>
                  </a:gsLst>
                  <a:lin ang="5400000" scaled="1"/>
                </a:gradFill>
                <a:effectLst>
                  <a:outerShdw dist="38100" dir="5400000" algn="t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/>
            <a:r>
              <a:rPr lang="en-US" altLang="zh-CN" sz="4500" dirty="0">
                <a:solidFill>
                  <a:schemeClr val="accent2"/>
                </a:solidFill>
                <a:effectLst/>
                <a:ea typeface="微软雅黑" panose="020B0503020204020204" charset="-122"/>
              </a:rPr>
              <a:t>Thank you</a:t>
            </a:r>
            <a:endParaRPr lang="en-US" altLang="zh-CN" sz="4500" dirty="0">
              <a:solidFill>
                <a:schemeClr val="accent2"/>
              </a:solidFill>
              <a:effectLst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STYLE" val="AcnSubjectTitle"/>
  <p:tag name="DATE" val="11/17/2007 9:35:04 PM"/>
</p:tagLst>
</file>

<file path=ppt/tags/tag2.xml><?xml version="1.0" encoding="utf-8"?>
<p:tagLst xmlns:p="http://schemas.openxmlformats.org/presentationml/2006/main">
  <p:tag name="STYLE" val="AcnStamp"/>
  <p:tag name="DATE" val="11/18/2007 10:44:04 PM"/>
</p:tagLst>
</file>

<file path=ppt/tags/tag3.xml><?xml version="1.0" encoding="utf-8"?>
<p:tagLst xmlns:p="http://schemas.openxmlformats.org/presentationml/2006/main">
  <p:tag name="STYLE" val="AcnStpConnector"/>
  <p:tag name="DATE" val="11/18/2007 10:44:04 PM"/>
</p:tagLst>
</file>

<file path=ppt/tags/tag4.xml><?xml version="1.0" encoding="utf-8"?>
<p:tagLst xmlns:p="http://schemas.openxmlformats.org/presentationml/2006/main">
  <p:tag name="STYLE" val="AcnStpConnector"/>
  <p:tag name="DATE" val="11/18/2007 10:44:04 PM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THINKCELLSHAPEDONOTDELETE" val="thinkcellActiveDocDoNotDelete"/>
</p:tagLst>
</file>

<file path=ppt/tags/tag10.xml><?xml version="1.0" encoding="utf-8"?>
<p:tagLst xmlns:p="http://schemas.openxmlformats.org/presentationml/2006/main">
  <p:tag name="THINKCELLSHAPEDONOTDELETE" val="thinkcellActiveDocDoNotDelete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1_CRM-PMO-CM-PPT Template-V1.2-110321-CH">
  <a:themeElements>
    <a:clrScheme name="附件1：CRM变革项目群胶片模板 4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99CCFF"/>
      </a:accent1>
      <a:accent2>
        <a:srgbClr val="669900"/>
      </a:accent2>
      <a:accent3>
        <a:srgbClr val="FFFFFF"/>
      </a:accent3>
      <a:accent4>
        <a:srgbClr val="000000"/>
      </a:accent4>
      <a:accent5>
        <a:srgbClr val="CAE2FF"/>
      </a:accent5>
      <a:accent6>
        <a:srgbClr val="5C8A00"/>
      </a:accent6>
      <a:hlink>
        <a:srgbClr val="FF9900"/>
      </a:hlink>
      <a:folHlink>
        <a:srgbClr val="DDDDDD"/>
      </a:folHlink>
    </a:clrScheme>
    <a:fontScheme name="附件1：CRM变革项目群胶片模板">
      <a:majorFont>
        <a:latin typeface="Arial"/>
        <a:ea typeface="华文细黑"/>
        <a:cs typeface="Arial"/>
      </a:majorFont>
      <a:minorFont>
        <a:latin typeface="Arial"/>
        <a:ea typeface="华文细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附件1：CRM变革项目群胶片模板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附件1：CRM变革项目群胶片模板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正文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/>
          </a:solidFill>
        </a:ln>
      </a:spPr>
      <a:bodyPr vert="horz" wrap="squar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anose="05000000000000000000" pitchFamily="2" charset="2"/>
          <a:buChar char="n"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BBED3E4E06BD143B37A368B2FC51697" ma:contentTypeVersion="0" ma:contentTypeDescription="新建文档。" ma:contentTypeScope="" ma:versionID="4aa9c9c7cc93fd7ecb19e48322d70e3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adfd09ad98667f9c194c646e975416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2.xml><?xml version="1.0" encoding="utf-8"?>
<ds:datastoreItem xmlns:ds="http://schemas.openxmlformats.org/officeDocument/2006/customXml" ds:itemID="{1A1D72C5-E0CC-498A-84A6-B3961784EBCA}">
  <ds:schemaRefs/>
</ds:datastoreItem>
</file>

<file path=customXml/itemProps13.xml><?xml version="1.0" encoding="utf-8"?>
<ds:datastoreItem xmlns:ds="http://schemas.openxmlformats.org/officeDocument/2006/customXml" ds:itemID="{2D4F3091-E424-4E91-A69D-CD30316AB257}">
  <ds:schemaRefs/>
</ds:datastoreItem>
</file>

<file path=customXml/itemProps14.xml><?xml version="1.0" encoding="utf-8"?>
<ds:datastoreItem xmlns:ds="http://schemas.openxmlformats.org/officeDocument/2006/customXml" ds:itemID="{57F216DA-5311-4BE7-B6C4-2DD9184957F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14773</Words>
  <Application>WPS 演示</Application>
  <PresentationFormat>全屏显示(16:9)</PresentationFormat>
  <Paragraphs>2855</Paragraphs>
  <Slides>41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Calibri</vt:lpstr>
      <vt:lpstr>华文细黑</vt:lpstr>
      <vt:lpstr>FrutigerNext LT Regular</vt:lpstr>
      <vt:lpstr>MS PGothic</vt:lpstr>
      <vt:lpstr>微软雅黑</vt:lpstr>
      <vt:lpstr>FrutigerNext LT Medium</vt:lpstr>
      <vt:lpstr>Calibri</vt:lpstr>
      <vt:lpstr>黑体</vt:lpstr>
      <vt:lpstr>FrutigerNext LT Bold</vt:lpstr>
      <vt:lpstr>Segoe Print</vt:lpstr>
      <vt:lpstr>Arial Unicode MS</vt:lpstr>
      <vt:lpstr>Arial</vt:lpstr>
      <vt:lpstr>Times New Roman</vt:lpstr>
      <vt:lpstr>Raavi</vt:lpstr>
      <vt:lpstr>Segoe UI Symbol</vt:lpstr>
      <vt:lpstr>Times New Roman</vt:lpstr>
      <vt:lpstr>PMingLiU</vt:lpstr>
      <vt:lpstr>1_CRM-PMO-CM-PPT Template-V1.2-110321-CH</vt:lpstr>
      <vt:lpstr>正文页</vt:lpstr>
      <vt:lpstr>PowerPoint 演示文稿</vt:lpstr>
      <vt:lpstr>LTC总体解决方案</vt:lpstr>
      <vt:lpstr>LTC总体解决方案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LTC总体解决方案 </vt:lpstr>
      <vt:lpstr>LTC 管理体系 管理授权与行权(MAE)方案包含授权、评审与决策</vt:lpstr>
      <vt:lpstr>LTC 管理体系 管理授权与行权(MAE)：授权</vt:lpstr>
      <vt:lpstr>LTC 管理体系 管理授权与行权(MAE)：评审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组织、R&amp;R及能力 LTC一线组织优化范围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组织、R&amp;R及能力 以CC3为核心的项目制</vt:lpstr>
      <vt:lpstr>组织、R&amp;R及能力 Deal Hub方案构想</vt:lpstr>
      <vt:lpstr>组织、R&amp;R及能力 质量运营组织</vt:lpstr>
      <vt:lpstr>LTC总体解决方案</vt:lpstr>
      <vt:lpstr>PowerPoint 演示文稿</vt:lpstr>
      <vt:lpstr>集成的IT及数据 iSales是化为销售流程的 IT 主平台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业界实践</dc:title>
  <dc:creator>更多免费资料加V：hnustyaozhiming</dc:creator>
  <cp:lastModifiedBy>马思聪</cp:lastModifiedBy>
  <cp:revision>2176</cp:revision>
  <dcterms:created xsi:type="dcterms:W3CDTF">2013-07-26T06:07:00Z</dcterms:created>
  <dcterms:modified xsi:type="dcterms:W3CDTF">2025-03-22T11:49:38Z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(9)XG2DzjcmZU95VGzVsyuUDiWviwFP3zwq6zxGxUhtC77mSmec1t7HRgwsJw+6UypDEYfqhkde_x000d_ XG4MRv5FmDD5L+cvEzXgsVlXZEVDWwFsGO7Ywa+XElpVD4CgN1mIeyyOCMqrDR9v9Ow0NUur_x000d_ wjCHcnEPFLmoGHhLPWNfPzg3dh4ip+WkGGQuTeTuTN/B5LtczUwhfTaPZu78xbAdZUsWXvA2_x000d_ H34MmQF9WZzJ7JSZL/</vt:lpwstr>
  </property>
  <property fmtid="{D5CDD505-2E9C-101B-9397-08002B2CF9AE}" pid="3" name="_ms_pID_7253431">
    <vt:lpwstr>+qDn40iLpeiOv9jwubKbDRkVGZuI4ugaukJVAoLbVK+3BJJ/AGQJkF_x000d_ X15TusSQ8UtURkrmI5RXJPjBvmuvQGoV7t1DXh5XRNUYjBy7aRK2KAVfy/pIKMfgDYbwDiUG_x000d_ fnC53dW7LKsUcpRuqwxcXOvseXtM8YM+HlHW0ZnEs7ubuKi6+j0ZXmNRLbhdBxbUN0StioYH_x000d_ w+LBQWCR1xKXJNF17hqM+MxDALHVYFimbA9K</vt:lpwstr>
  </property>
  <property fmtid="{D5CDD505-2E9C-101B-9397-08002B2CF9AE}" pid="4" name="_ms_pID_7253432">
    <vt:lpwstr>DdH5doOaB5N3Nlh/0+5d3CAIPU19fXQfYMhQ_x000d_ E6d67pFDLNeWlgzANAVfle/pIsugwMSemec68n/B1HCez5R5vy5hzg6RxUY3R5W8QFGe0vde_x000d_ Z0vQRekPFZ0TG21bAtUWXaXsevzHQ95xJLI3FNwi9wEdqFSAXOHW0wFfdH/zqr4Za0FU6Z5z_x000d_ QMl4FbGvku29D8U/plf+QCrUXcskmqn8WRlmh31fzEr0wT//4wXdxR</vt:lpwstr>
  </property>
  <property fmtid="{D5CDD505-2E9C-101B-9397-08002B2CF9AE}" pid="5" name="_ms_pID_7253433">
    <vt:lpwstr>Z2QZ9jMIwUWrplK8Ak_x000d_ BGsRCqnRrVH4ie7vIty9ZnH18+bf1wF9VSBAX6MOq68h/ZmHNDAqgprFCRAzI2UtqqSIE/1m_x000d_ LCzi3tXqBOCD54m3SJqhBIKTUltTCIscFj4J5lqzMbVhK7W7jxc22GCMz8e2GvULXWkweOBE_x000d_ qeSYqJ7hGdc6QA7lncBuHdxHP5N0QqZCOd3F6/JciIVOf6wG0/7G9cmyaxSKvzD6CvXlRDEh</vt:lpwstr>
  </property>
  <property fmtid="{D5CDD505-2E9C-101B-9397-08002B2CF9AE}" pid="6" name="_ms_pID_7253434">
    <vt:lpwstr>_x000d_ IT9SfMSxD068RqECIwVFGVimFWajf/q/80ei2BAhzIsK6bQAR3wkGpxTyMhiSBfiVny19YQG_x000d_ mgbPde1Ppxadbw3p9yuXQqP5TYQa3+OlNKoDesfrBFplE5E3xORMSq9nfxJ/oJrUWoxcFiS3_x000d_ qycCnIF0BVJiWOCMgdCvyc2D6dW6H7O7UiiCgvAJTyO3eACRbgxgPzEF6K1Yuw6J1DxrMANc_x000d_ yzdlGkzAnUYC75PQ</vt:lpwstr>
  </property>
  <property fmtid="{D5CDD505-2E9C-101B-9397-08002B2CF9AE}" pid="7" name="_ms_pID_7253435">
    <vt:lpwstr>1YfpIY72jz/JOBW3MVS1tw1IJ3GC2JqBd+pCQY0f4takYIwHMPXnUwjU_x000d_ /py9Jq2J8bd2eM6D5j1tzwgY9De+GfmswhGxjMddOYzm6pCd20vxKWwMN6TFMRS5lrkOH8pj_x000d_ x8yPxoMXbBus8yYeCaePypAKzfhss6hHeZKhW2Wg/mAk5LVFuttSZPtKfxjjS58rRyR5v3Hm_x000d_ 31str+xojmp3tH0jp/1DoKqA1RIF0Gvys4</vt:lpwstr>
  </property>
  <property fmtid="{D5CDD505-2E9C-101B-9397-08002B2CF9AE}" pid="8" name="_ms_pID_7253436">
    <vt:lpwstr>m5mYSOqZYgKaH3OUUD03sT5Dm5DgkIZHe6RXVe_x000d_ izw0bCLYiwUPz0EGDDwVljIu/tx02OFpRWGv6JuvxYg08sOaZS8+v09dNxuT0qRcfV4y43io_x000d_ A1ZCqEdQtItyLA+J73pmDR3/NJ9pyUZc/+jnXG8VuqsN6Zfg1mkLqh2R42GMcY75nE9bfqtx_x000d_ M50gVMlx0RonbF2hVaiNhnMIh6YOsf2waI0m1i3cK4Gf1scFqCny</vt:lpwstr>
  </property>
  <property fmtid="{D5CDD505-2E9C-101B-9397-08002B2CF9AE}" pid="9" name="_ms_pID_7253437">
    <vt:lpwstr>VCqTtYYOq6X42CmgJRRF_x000d_ MwPbJRwHZRfV+7343+YbZkaHo9TWB0PO/pZYa7Cn2xFYMaSpjhDRXuftIaca0HobXLfJOIzY_x000d_ 37BdfWu3K6iraa/4z/8BKYs6fOjUAZmW5f1xKXoiAaDkAuqj/Q+SmCA1PHf2T7Hvm5eZB/nz_x000d_ RqBqbvhkAZ+BXvJUVC50YfFR7NB4T81SUL28QReL4ArlpBF94NPvjKRC1jvFbkqOWnjACv</vt:lpwstr>
  </property>
  <property fmtid="{D5CDD505-2E9C-101B-9397-08002B2CF9AE}" pid="10" name="_ms_pID_7253438">
    <vt:lpwstr>kk_x000d_ pGeipg==</vt:lpwstr>
  </property>
  <property fmtid="{D5CDD505-2E9C-101B-9397-08002B2CF9AE}" pid="11" name="_new_ms_pID_72543">
    <vt:lpwstr>(4)1aqjDPZ3jUa+GJjp06qN/Akr+REmhNbe/+eef7UmKLeBxCIuo/i1ja1c/VGgv62qxV2WbjXF
OCO+xOJbI0X3SuepCJ1g9QksAPfcefj/tx4ZvbsqUHMip0+ft5JlaWyIZKJC6xYrJ8rkREdz
Vqb6IqI/d6IA35+1sgO7vlgUHs92YX97wseftjpnn4c+7kMOXS2OjeOTKCRBYDmbA2hexDrO
MV80+yqR6PjNc7DlJt</vt:lpwstr>
  </property>
  <property fmtid="{D5CDD505-2E9C-101B-9397-08002B2CF9AE}" pid="12" name="_new_ms_pID_725431">
    <vt:lpwstr>4WmRUezL1qpArGRQHEBhc0OePC1uait/jYkNlqN9oketIvdqAL0NFq
mW0VOFsyL02fMoe9j6zXZB/B6btNcKmTewpwVH+FVDJGzFpJCeGgI+P+xmJrAJZgk+xDK2pK
66W+clEwfi06y3HkPxgw6wCERbZw1tedkX3ghqPhIM8p4zc5CHJL3k3LProuRAUkkyYO+tm4
Dq7hRI6QfEg3vWsw5+lJwxBYHqN3lGUhICKt</vt:lpwstr>
  </property>
  <property fmtid="{D5CDD505-2E9C-101B-9397-08002B2CF9AE}" pid="13" name="_new_ms_pID_725432">
    <vt:lpwstr>v0u2OyYmClWowNGtwdAR+t7LhDd3DeRLary5
v+o2mgs4YH2aG6F2eRRhvVRVEUKsjFOMdxioUELvbJsQhA193H0jRLZVzrtzaqm4IwQcP/s7
/IVHlO5XcxKFips3S++O2XGHsXqMNtwvekTvNxnYc206GX+TNeb6vhBK2vPLTKzciwEz5Yzh
k7HMp7CID0hr98f9vbOl4p5Ow+1abE4hpWOyYV9B/Q8hmPaibnx19A</vt:lpwstr>
  </property>
  <property fmtid="{D5CDD505-2E9C-101B-9397-08002B2CF9AE}" pid="14" name="sflag">
    <vt:lpwstr>1440828626</vt:lpwstr>
  </property>
  <property fmtid="{D5CDD505-2E9C-101B-9397-08002B2CF9AE}" pid="15" name="_new_ms_pID_725433">
    <vt:lpwstr>mAJM/s1FHCv1fM0hC4
4Tpoe0oz9Dl+Br+x5TTaXa3oPe0=</vt:lpwstr>
  </property>
  <property fmtid="{D5CDD505-2E9C-101B-9397-08002B2CF9AE}" pid="16" name="ContentTypeId">
    <vt:lpwstr>0x010100CBBED3E4E06BD143B37A368B2FC51697</vt:lpwstr>
  </property>
  <property fmtid="{D5CDD505-2E9C-101B-9397-08002B2CF9AE}" pid="17" name="ICV">
    <vt:lpwstr>729B4D5E872F40D7970B8413899E27CD_13</vt:lpwstr>
  </property>
  <property fmtid="{D5CDD505-2E9C-101B-9397-08002B2CF9AE}" pid="18" name="KSOProductBuildVer">
    <vt:lpwstr>2052-12.1.0.20305</vt:lpwstr>
  </property>
</Properties>
</file>